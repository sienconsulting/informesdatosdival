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8.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6"/>
  </p:notesMasterIdLst>
  <p:sldIdLst>
    <p:sldId id="256" r:id="rId3"/>
    <p:sldId id="257" r:id="rId4"/>
    <p:sldId id="329" r:id="rId5"/>
    <p:sldId id="304" r:id="rId6"/>
    <p:sldId id="321" r:id="rId7"/>
    <p:sldId id="326" r:id="rId8"/>
    <p:sldId id="327" r:id="rId9"/>
    <p:sldId id="328" r:id="rId10"/>
    <p:sldId id="305" r:id="rId11"/>
    <p:sldId id="322" r:id="rId12"/>
    <p:sldId id="324" r:id="rId13"/>
    <p:sldId id="303" r:id="rId14"/>
    <p:sldId id="265" r:id="rId15"/>
    <p:sldId id="307" r:id="rId16"/>
    <p:sldId id="314" r:id="rId17"/>
    <p:sldId id="325" r:id="rId18"/>
    <p:sldId id="313" r:id="rId19"/>
    <p:sldId id="271" r:id="rId20"/>
    <p:sldId id="270" r:id="rId21"/>
    <p:sldId id="272" r:id="rId22"/>
    <p:sldId id="309" r:id="rId23"/>
    <p:sldId id="273" r:id="rId24"/>
    <p:sldId id="299" r:id="rId25"/>
    <p:sldId id="281" r:id="rId26"/>
    <p:sldId id="317" r:id="rId27"/>
    <p:sldId id="282" r:id="rId28"/>
    <p:sldId id="316" r:id="rId29"/>
    <p:sldId id="320" r:id="rId30"/>
    <p:sldId id="319" r:id="rId31"/>
    <p:sldId id="300" r:id="rId32"/>
    <p:sldId id="297" r:id="rId33"/>
    <p:sldId id="298" r:id="rId34"/>
    <p:sldId id="301" r:id="rId3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guide id="3" pos="461" userDrawn="1">
          <p15:clr>
            <a:srgbClr val="A4A3A4"/>
          </p15:clr>
        </p15:guide>
        <p15:guide id="4" orient="horz" pos="822" userDrawn="1">
          <p15:clr>
            <a:srgbClr val="A4A3A4"/>
          </p15:clr>
        </p15:guide>
        <p15:guide id="5" orient="horz" pos="3861" userDrawn="1">
          <p15:clr>
            <a:srgbClr val="A4A3A4"/>
          </p15:clr>
        </p15:guide>
        <p15:guide id="6" pos="7219" userDrawn="1">
          <p15:clr>
            <a:srgbClr val="A4A3A4"/>
          </p15:clr>
        </p15:guide>
        <p15:guide id="7" orient="horz" pos="981" userDrawn="1">
          <p15:clr>
            <a:srgbClr val="A4A3A4"/>
          </p15:clr>
        </p15:guide>
        <p15:guide id="8" orient="horz" pos="1661" userDrawn="1">
          <p15:clr>
            <a:srgbClr val="A4A3A4"/>
          </p15:clr>
        </p15:guide>
        <p15:guide id="9" orient="horz" pos="3339"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2C43"/>
    <a:srgbClr val="373736"/>
    <a:srgbClr val="FFD58D"/>
    <a:srgbClr val="8D0000"/>
    <a:srgbClr val="F47856"/>
    <a:srgbClr val="000000"/>
    <a:srgbClr val="BCBCBC"/>
    <a:srgbClr val="80BADD"/>
    <a:srgbClr val="EEB220"/>
    <a:srgbClr val="C2C5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87083F-44E8-A702-3EDF-3ECD3565CF7C}" v="28" dt="2026-03-17T10:55:27.5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17"/>
        <p:guide pos="461"/>
        <p:guide orient="horz" pos="822"/>
        <p:guide orient="horz" pos="3861"/>
        <p:guide pos="7219"/>
        <p:guide orient="horz" pos="981"/>
        <p:guide orient="horz" pos="1661"/>
        <p:guide orient="horz" pos="3339"/>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42"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esa Rodríguez" userId="S::teresa@sienconsulting.com::92c709ef-9354-4e71-b78a-0c3f72bfb1f2" providerId="AD" clId="Web-{B687083F-44E8-A702-3EDF-3ECD3565CF7C}"/>
    <pc:docChg chg="modSld">
      <pc:chgData name="Teresa Rodríguez" userId="S::teresa@sienconsulting.com::92c709ef-9354-4e71-b78a-0c3f72bfb1f2" providerId="AD" clId="Web-{B687083F-44E8-A702-3EDF-3ECD3565CF7C}" dt="2026-03-17T10:55:18.945" v="20" actId="20577"/>
      <pc:docMkLst>
        <pc:docMk/>
      </pc:docMkLst>
      <pc:sldChg chg="modSp">
        <pc:chgData name="Teresa Rodríguez" userId="S::teresa@sienconsulting.com::92c709ef-9354-4e71-b78a-0c3f72bfb1f2" providerId="AD" clId="Web-{B687083F-44E8-A702-3EDF-3ECD3565CF7C}" dt="2026-03-17T10:54:20.594" v="19" actId="20577"/>
        <pc:sldMkLst>
          <pc:docMk/>
          <pc:sldMk cId="2089034034" sldId="298"/>
        </pc:sldMkLst>
        <pc:spChg chg="mod">
          <ac:chgData name="Teresa Rodríguez" userId="S::teresa@sienconsulting.com::92c709ef-9354-4e71-b78a-0c3f72bfb1f2" providerId="AD" clId="Web-{B687083F-44E8-A702-3EDF-3ECD3565CF7C}" dt="2026-03-17T10:54:20.594" v="19" actId="20577"/>
          <ac:spMkLst>
            <pc:docMk/>
            <pc:sldMk cId="2089034034" sldId="298"/>
            <ac:spMk id="3" creationId="{4794660A-F323-7E0B-E13F-C388316A964C}"/>
          </ac:spMkLst>
        </pc:spChg>
        <pc:spChg chg="mod">
          <ac:chgData name="Teresa Rodríguez" userId="S::teresa@sienconsulting.com::92c709ef-9354-4e71-b78a-0c3f72bfb1f2" providerId="AD" clId="Web-{B687083F-44E8-A702-3EDF-3ECD3565CF7C}" dt="2026-03-17T10:54:17.094" v="15" actId="20577"/>
          <ac:spMkLst>
            <pc:docMk/>
            <pc:sldMk cId="2089034034" sldId="298"/>
            <ac:spMk id="12" creationId="{A25B502C-2F73-C6A3-1A2E-CA1B444BF5DE}"/>
          </ac:spMkLst>
        </pc:spChg>
      </pc:sldChg>
      <pc:sldChg chg="modSp">
        <pc:chgData name="Teresa Rodríguez" userId="S::teresa@sienconsulting.com::92c709ef-9354-4e71-b78a-0c3f72bfb1f2" providerId="AD" clId="Web-{B687083F-44E8-A702-3EDF-3ECD3565CF7C}" dt="2026-03-17T10:55:18.945" v="20" actId="20577"/>
        <pc:sldMkLst>
          <pc:docMk/>
          <pc:sldMk cId="649995208" sldId="321"/>
        </pc:sldMkLst>
        <pc:spChg chg="mod">
          <ac:chgData name="Teresa Rodríguez" userId="S::teresa@sienconsulting.com::92c709ef-9354-4e71-b78a-0c3f72bfb1f2" providerId="AD" clId="Web-{B687083F-44E8-A702-3EDF-3ECD3565CF7C}" dt="2026-03-17T10:55:18.945" v="20" actId="20577"/>
          <ac:spMkLst>
            <pc:docMk/>
            <pc:sldMk cId="649995208" sldId="321"/>
            <ac:spMk id="12" creationId="{6832BF13-7A27-CDED-AAD0-950647C27BFE}"/>
          </ac:spMkLst>
        </pc:spChg>
      </pc:sldChg>
    </pc:docChg>
  </pc:docChgLst>
  <pc:docChgLst>
    <pc:chgData name="Pere Lloret" userId="7910d177-ec33-4b32-99c4-b326d77bd835" providerId="ADAL" clId="{973F77B8-E743-4F45-A151-13F35AD2D5DE}"/>
    <pc:docChg chg="modSld modMainMaster">
      <pc:chgData name="Pere Lloret" userId="7910d177-ec33-4b32-99c4-b326d77bd835" providerId="ADAL" clId="{973F77B8-E743-4F45-A151-13F35AD2D5DE}" dt="2026-02-26T14:04:54.324" v="48" actId="14100"/>
      <pc:docMkLst>
        <pc:docMk/>
      </pc:docMkLst>
      <pc:sldChg chg="modSp mod">
        <pc:chgData name="Pere Lloret" userId="7910d177-ec33-4b32-99c4-b326d77bd835" providerId="ADAL" clId="{973F77B8-E743-4F45-A151-13F35AD2D5DE}" dt="2026-02-26T13:41:44.994" v="14" actId="20577"/>
        <pc:sldMkLst>
          <pc:docMk/>
          <pc:sldMk cId="800913457" sldId="256"/>
        </pc:sldMkLst>
        <pc:spChg chg="mod">
          <ac:chgData name="Pere Lloret" userId="7910d177-ec33-4b32-99c4-b326d77bd835" providerId="ADAL" clId="{973F77B8-E743-4F45-A151-13F35AD2D5DE}" dt="2026-02-26T13:41:44.994" v="14" actId="20577"/>
          <ac:spMkLst>
            <pc:docMk/>
            <pc:sldMk cId="800913457" sldId="256"/>
            <ac:spMk id="15" creationId="{B8E12F29-AEFF-1648-82DB-A98A3FE6A988}"/>
          </ac:spMkLst>
        </pc:spChg>
      </pc:sldChg>
      <pc:sldChg chg="modSp mod">
        <pc:chgData name="Pere Lloret" userId="7910d177-ec33-4b32-99c4-b326d77bd835" providerId="ADAL" clId="{973F77B8-E743-4F45-A151-13F35AD2D5DE}" dt="2026-02-26T13:47:43.741" v="33" actId="27918"/>
        <pc:sldMkLst>
          <pc:docMk/>
          <pc:sldMk cId="3094545759" sldId="273"/>
        </pc:sldMkLst>
        <pc:graphicFrameChg chg="mod">
          <ac:chgData name="Pere Lloret" userId="7910d177-ec33-4b32-99c4-b326d77bd835" providerId="ADAL" clId="{973F77B8-E743-4F45-A151-13F35AD2D5DE}" dt="2026-02-26T13:47:23.835" v="30" actId="14100"/>
          <ac:graphicFrameMkLst>
            <pc:docMk/>
            <pc:sldMk cId="3094545759" sldId="273"/>
            <ac:graphicFrameMk id="6" creationId="{0698CDB0-0C4B-4B1C-BBD3-981C8330F54A}"/>
          </ac:graphicFrameMkLst>
        </pc:graphicFrameChg>
      </pc:sldChg>
      <pc:sldChg chg="mod">
        <pc:chgData name="Pere Lloret" userId="7910d177-ec33-4b32-99c4-b326d77bd835" providerId="ADAL" clId="{973F77B8-E743-4F45-A151-13F35AD2D5DE}" dt="2026-02-26T13:49:23.448" v="41" actId="27918"/>
        <pc:sldMkLst>
          <pc:docMk/>
          <pc:sldMk cId="1794738533" sldId="282"/>
        </pc:sldMkLst>
      </pc:sldChg>
      <pc:sldChg chg="modSp mod">
        <pc:chgData name="Pere Lloret" userId="7910d177-ec33-4b32-99c4-b326d77bd835" providerId="ADAL" clId="{973F77B8-E743-4F45-A151-13F35AD2D5DE}" dt="2026-02-26T13:42:24.554" v="17" actId="14100"/>
        <pc:sldMkLst>
          <pc:docMk/>
          <pc:sldMk cId="3710067054" sldId="304"/>
        </pc:sldMkLst>
        <pc:graphicFrameChg chg="mod">
          <ac:chgData name="Pere Lloret" userId="7910d177-ec33-4b32-99c4-b326d77bd835" providerId="ADAL" clId="{973F77B8-E743-4F45-A151-13F35AD2D5DE}" dt="2026-02-26T13:42:24.554" v="17" actId="14100"/>
          <ac:graphicFrameMkLst>
            <pc:docMk/>
            <pc:sldMk cId="3710067054" sldId="304"/>
            <ac:graphicFrameMk id="2" creationId="{7CB66C9D-E8C7-011A-BA08-AEC8D6E7910E}"/>
          </ac:graphicFrameMkLst>
        </pc:graphicFrameChg>
      </pc:sldChg>
      <pc:sldChg chg="modSp mod">
        <pc:chgData name="Pere Lloret" userId="7910d177-ec33-4b32-99c4-b326d77bd835" providerId="ADAL" clId="{973F77B8-E743-4F45-A151-13F35AD2D5DE}" dt="2026-02-26T13:44:22.823" v="24" actId="14100"/>
        <pc:sldMkLst>
          <pc:docMk/>
          <pc:sldMk cId="410762095" sldId="307"/>
        </pc:sldMkLst>
        <pc:graphicFrameChg chg="mod">
          <ac:chgData name="Pere Lloret" userId="7910d177-ec33-4b32-99c4-b326d77bd835" providerId="ADAL" clId="{973F77B8-E743-4F45-A151-13F35AD2D5DE}" dt="2026-02-26T13:44:22.823" v="24" actId="14100"/>
          <ac:graphicFrameMkLst>
            <pc:docMk/>
            <pc:sldMk cId="410762095" sldId="307"/>
            <ac:graphicFrameMk id="3" creationId="{31ABE668-A408-CC0F-A1A0-048110586267}"/>
          </ac:graphicFrameMkLst>
        </pc:graphicFrameChg>
      </pc:sldChg>
      <pc:sldChg chg="mod">
        <pc:chgData name="Pere Lloret" userId="7910d177-ec33-4b32-99c4-b326d77bd835" providerId="ADAL" clId="{973F77B8-E743-4F45-A151-13F35AD2D5DE}" dt="2026-02-26T13:48:43.998" v="37" actId="27918"/>
        <pc:sldMkLst>
          <pc:docMk/>
          <pc:sldMk cId="354789228" sldId="309"/>
        </pc:sldMkLst>
      </pc:sldChg>
      <pc:sldChg chg="modSp mod">
        <pc:chgData name="Pere Lloret" userId="7910d177-ec33-4b32-99c4-b326d77bd835" providerId="ADAL" clId="{973F77B8-E743-4F45-A151-13F35AD2D5DE}" dt="2026-02-26T14:04:47.899" v="47" actId="14100"/>
        <pc:sldMkLst>
          <pc:docMk/>
          <pc:sldMk cId="176255801" sldId="319"/>
        </pc:sldMkLst>
        <pc:graphicFrameChg chg="mod">
          <ac:chgData name="Pere Lloret" userId="7910d177-ec33-4b32-99c4-b326d77bd835" providerId="ADAL" clId="{973F77B8-E743-4F45-A151-13F35AD2D5DE}" dt="2026-02-26T14:04:47.899" v="47" actId="14100"/>
          <ac:graphicFrameMkLst>
            <pc:docMk/>
            <pc:sldMk cId="176255801" sldId="319"/>
            <ac:graphicFrameMk id="9" creationId="{AB551BB9-201E-C3CF-48FB-1C326A54E8F6}"/>
          </ac:graphicFrameMkLst>
        </pc:graphicFrameChg>
      </pc:sldChg>
      <pc:sldChg chg="modSp mod">
        <pc:chgData name="Pere Lloret" userId="7910d177-ec33-4b32-99c4-b326d77bd835" providerId="ADAL" clId="{973F77B8-E743-4F45-A151-13F35AD2D5DE}" dt="2026-02-26T14:04:54.324" v="48" actId="14100"/>
        <pc:sldMkLst>
          <pc:docMk/>
          <pc:sldMk cId="3850799201" sldId="320"/>
        </pc:sldMkLst>
        <pc:graphicFrameChg chg="mod">
          <ac:chgData name="Pere Lloret" userId="7910d177-ec33-4b32-99c4-b326d77bd835" providerId="ADAL" clId="{973F77B8-E743-4F45-A151-13F35AD2D5DE}" dt="2026-02-26T14:04:54.324" v="48" actId="14100"/>
          <ac:graphicFrameMkLst>
            <pc:docMk/>
            <pc:sldMk cId="3850799201" sldId="320"/>
            <ac:graphicFrameMk id="10" creationId="{C2CA99ED-68AF-AC34-50F0-B24AC7426068}"/>
          </ac:graphicFrameMkLst>
        </pc:graphicFrameChg>
      </pc:sldChg>
      <pc:sldChg chg="modSp mod">
        <pc:chgData name="Pere Lloret" userId="7910d177-ec33-4b32-99c4-b326d77bd835" providerId="ADAL" clId="{973F77B8-E743-4F45-A151-13F35AD2D5DE}" dt="2026-02-26T13:45:12.678" v="25" actId="14100"/>
        <pc:sldMkLst>
          <pc:docMk/>
          <pc:sldMk cId="2772840578" sldId="322"/>
        </pc:sldMkLst>
        <pc:graphicFrameChg chg="mod">
          <ac:chgData name="Pere Lloret" userId="7910d177-ec33-4b32-99c4-b326d77bd835" providerId="ADAL" clId="{973F77B8-E743-4F45-A151-13F35AD2D5DE}" dt="2026-02-26T13:45:12.678" v="25" actId="14100"/>
          <ac:graphicFrameMkLst>
            <pc:docMk/>
            <pc:sldMk cId="2772840578" sldId="322"/>
            <ac:graphicFrameMk id="9" creationId="{23E6A37E-0573-32CD-AEF2-D126A8E76F7B}"/>
          </ac:graphicFrameMkLst>
        </pc:graphicFrameChg>
      </pc:sldChg>
      <pc:sldMasterChg chg="modSldLayout">
        <pc:chgData name="Pere Lloret" userId="7910d177-ec33-4b32-99c4-b326d77bd835" providerId="ADAL" clId="{973F77B8-E743-4F45-A151-13F35AD2D5DE}" dt="2026-02-26T13:41:34.899" v="12" actId="20577"/>
        <pc:sldMasterMkLst>
          <pc:docMk/>
          <pc:sldMasterMk cId="2281390595" sldId="2147483648"/>
        </pc:sldMasterMkLst>
        <pc:sldLayoutChg chg="modSp mod">
          <pc:chgData name="Pere Lloret" userId="7910d177-ec33-4b32-99c4-b326d77bd835" providerId="ADAL" clId="{973F77B8-E743-4F45-A151-13F35AD2D5DE}" dt="2026-02-26T13:41:22.772" v="1" actId="20577"/>
          <pc:sldLayoutMkLst>
            <pc:docMk/>
            <pc:sldMasterMk cId="2281390595" sldId="2147483648"/>
            <pc:sldLayoutMk cId="2781411672" sldId="2147483649"/>
          </pc:sldLayoutMkLst>
          <pc:spChg chg="mod">
            <ac:chgData name="Pere Lloret" userId="7910d177-ec33-4b32-99c4-b326d77bd835" providerId="ADAL" clId="{973F77B8-E743-4F45-A151-13F35AD2D5DE}" dt="2026-02-26T13:41:22.772" v="1" actId="20577"/>
            <ac:spMkLst>
              <pc:docMk/>
              <pc:sldMasterMk cId="2281390595" sldId="2147483648"/>
              <pc:sldLayoutMk cId="2781411672" sldId="2147483649"/>
              <ac:spMk id="12" creationId="{883F979F-F063-A34C-8307-6B7B894805C3}"/>
            </ac:spMkLst>
          </pc:spChg>
        </pc:sldLayoutChg>
        <pc:sldLayoutChg chg="modSp mod">
          <pc:chgData name="Pere Lloret" userId="7910d177-ec33-4b32-99c4-b326d77bd835" providerId="ADAL" clId="{973F77B8-E743-4F45-A151-13F35AD2D5DE}" dt="2026-02-26T13:41:34.899" v="12" actId="20577"/>
          <pc:sldLayoutMkLst>
            <pc:docMk/>
            <pc:sldMasterMk cId="2281390595" sldId="2147483648"/>
            <pc:sldLayoutMk cId="3175631938" sldId="2147483650"/>
          </pc:sldLayoutMkLst>
          <pc:spChg chg="mod">
            <ac:chgData name="Pere Lloret" userId="7910d177-ec33-4b32-99c4-b326d77bd835" providerId="ADAL" clId="{973F77B8-E743-4F45-A151-13F35AD2D5DE}" dt="2026-02-26T13:41:34.899" v="12" actId="20577"/>
            <ac:spMkLst>
              <pc:docMk/>
              <pc:sldMasterMk cId="2281390595" sldId="2147483648"/>
              <pc:sldLayoutMk cId="3175631938" sldId="2147483650"/>
              <ac:spMk id="12" creationId="{883F979F-F063-A34C-8307-6B7B894805C3}"/>
            </ac:spMkLst>
          </pc:spChg>
        </pc:sldLayoutChg>
      </pc:sldMasterChg>
    </pc:docChg>
  </pc:docChgLst>
  <pc:docChgLst>
    <pc:chgData name="Ana Azorín" userId="572af90a-0d97-4f50-8168-31cee500a102" providerId="ADAL" clId="{04D6B3B9-BFA8-4CA1-AE06-B26525510BCF}"/>
    <pc:docChg chg="undo redo custSel addSld delSld modSld sldOrd">
      <pc:chgData name="Ana Azorín" userId="572af90a-0d97-4f50-8168-31cee500a102" providerId="ADAL" clId="{04D6B3B9-BFA8-4CA1-AE06-B26525510BCF}" dt="2026-03-12T15:12:25.713" v="3359" actId="20577"/>
      <pc:docMkLst>
        <pc:docMk/>
      </pc:docMkLst>
      <pc:sldChg chg="addSp delSp modSp mod">
        <pc:chgData name="Ana Azorín" userId="572af90a-0d97-4f50-8168-31cee500a102" providerId="ADAL" clId="{04D6B3B9-BFA8-4CA1-AE06-B26525510BCF}" dt="2026-03-12T08:32:24.232" v="2395" actId="1076"/>
        <pc:sldMkLst>
          <pc:docMk/>
          <pc:sldMk cId="1256230658" sldId="265"/>
        </pc:sldMkLst>
        <pc:spChg chg="add mod">
          <ac:chgData name="Ana Azorín" userId="572af90a-0d97-4f50-8168-31cee500a102" providerId="ADAL" clId="{04D6B3B9-BFA8-4CA1-AE06-B26525510BCF}" dt="2026-02-26T09:21:30.915" v="663"/>
          <ac:spMkLst>
            <pc:docMk/>
            <pc:sldMk cId="1256230658" sldId="265"/>
            <ac:spMk id="8" creationId="{F8758020-B5D2-7E9E-5522-0DAC28DC192D}"/>
          </ac:spMkLst>
        </pc:spChg>
        <pc:spChg chg="mod">
          <ac:chgData name="Ana Azorín" userId="572af90a-0d97-4f50-8168-31cee500a102" providerId="ADAL" clId="{04D6B3B9-BFA8-4CA1-AE06-B26525510BCF}" dt="2026-03-12T08:32:24.232" v="2395" actId="1076"/>
          <ac:spMkLst>
            <pc:docMk/>
            <pc:sldMk cId="1256230658" sldId="265"/>
            <ac:spMk id="12" creationId="{51C9942B-0A87-DD42-BC8A-4FE73ECEC448}"/>
          </ac:spMkLst>
        </pc:spChg>
        <pc:graphicFrameChg chg="mod">
          <ac:chgData name="Ana Azorín" userId="572af90a-0d97-4f50-8168-31cee500a102" providerId="ADAL" clId="{04D6B3B9-BFA8-4CA1-AE06-B26525510BCF}" dt="2026-03-03T12:14:07.956" v="1230" actId="1076"/>
          <ac:graphicFrameMkLst>
            <pc:docMk/>
            <pc:sldMk cId="1256230658" sldId="265"/>
            <ac:graphicFrameMk id="3" creationId="{05E8517A-8CEB-273C-175D-13092EC7242D}"/>
          </ac:graphicFrameMkLst>
        </pc:graphicFrameChg>
      </pc:sldChg>
      <pc:sldChg chg="addSp delSp modSp mod">
        <pc:chgData name="Ana Azorín" userId="572af90a-0d97-4f50-8168-31cee500a102" providerId="ADAL" clId="{04D6B3B9-BFA8-4CA1-AE06-B26525510BCF}" dt="2026-03-12T09:07:03.242" v="2675" actId="20577"/>
        <pc:sldMkLst>
          <pc:docMk/>
          <pc:sldMk cId="492302419" sldId="270"/>
        </pc:sldMkLst>
        <pc:spChg chg="add mod">
          <ac:chgData name="Ana Azorín" userId="572af90a-0d97-4f50-8168-31cee500a102" providerId="ADAL" clId="{04D6B3B9-BFA8-4CA1-AE06-B26525510BCF}" dt="2026-03-12T09:07:03.242" v="2675" actId="20577"/>
          <ac:spMkLst>
            <pc:docMk/>
            <pc:sldMk cId="492302419" sldId="270"/>
            <ac:spMk id="4" creationId="{8B80B99E-2294-96A5-718B-A5B581FD4DD8}"/>
          </ac:spMkLst>
        </pc:spChg>
        <pc:spChg chg="add mod">
          <ac:chgData name="Ana Azorín" userId="572af90a-0d97-4f50-8168-31cee500a102" providerId="ADAL" clId="{04D6B3B9-BFA8-4CA1-AE06-B26525510BCF}" dt="2026-03-10T16:35:09.100" v="2023" actId="404"/>
          <ac:spMkLst>
            <pc:docMk/>
            <pc:sldMk cId="492302419" sldId="270"/>
            <ac:spMk id="5" creationId="{422B0280-A1EF-B0D9-F53C-88FB9C3AB8BC}"/>
          </ac:spMkLst>
        </pc:spChg>
      </pc:sldChg>
      <pc:sldChg chg="modSp mod modShow">
        <pc:chgData name="Ana Azorín" userId="572af90a-0d97-4f50-8168-31cee500a102" providerId="ADAL" clId="{04D6B3B9-BFA8-4CA1-AE06-B26525510BCF}" dt="2026-03-12T09:03:01.741" v="2669"/>
        <pc:sldMkLst>
          <pc:docMk/>
          <pc:sldMk cId="2119977243" sldId="271"/>
        </pc:sldMkLst>
        <pc:spChg chg="mod">
          <ac:chgData name="Ana Azorín" userId="572af90a-0d97-4f50-8168-31cee500a102" providerId="ADAL" clId="{04D6B3B9-BFA8-4CA1-AE06-B26525510BCF}" dt="2026-03-12T09:01:08.610" v="2653" actId="20577"/>
          <ac:spMkLst>
            <pc:docMk/>
            <pc:sldMk cId="2119977243" sldId="271"/>
            <ac:spMk id="10" creationId="{E5585DDF-1162-364C-93D6-09AB71A7B6BE}"/>
          </ac:spMkLst>
        </pc:spChg>
        <pc:spChg chg="mod">
          <ac:chgData name="Ana Azorín" userId="572af90a-0d97-4f50-8168-31cee500a102" providerId="ADAL" clId="{04D6B3B9-BFA8-4CA1-AE06-B26525510BCF}" dt="2026-03-12T09:03:01.741" v="2669"/>
          <ac:spMkLst>
            <pc:docMk/>
            <pc:sldMk cId="2119977243" sldId="271"/>
            <ac:spMk id="11" creationId="{0B5F7BD0-6DBF-5447-8B94-BC6D8E119919}"/>
          </ac:spMkLst>
        </pc:spChg>
      </pc:sldChg>
      <pc:sldChg chg="addSp modSp mod">
        <pc:chgData name="Ana Azorín" userId="572af90a-0d97-4f50-8168-31cee500a102" providerId="ADAL" clId="{04D6B3B9-BFA8-4CA1-AE06-B26525510BCF}" dt="2026-03-12T09:09:47.495" v="2695" actId="20577"/>
        <pc:sldMkLst>
          <pc:docMk/>
          <pc:sldMk cId="892734568" sldId="272"/>
        </pc:sldMkLst>
        <pc:spChg chg="add mod">
          <ac:chgData name="Ana Azorín" userId="572af90a-0d97-4f50-8168-31cee500a102" providerId="ADAL" clId="{04D6B3B9-BFA8-4CA1-AE06-B26525510BCF}" dt="2026-02-26T09:03:35.915" v="442" actId="1076"/>
          <ac:spMkLst>
            <pc:docMk/>
            <pc:sldMk cId="892734568" sldId="272"/>
            <ac:spMk id="3" creationId="{ADEEC2B6-A07D-01C2-7E67-0F35A5E22784}"/>
          </ac:spMkLst>
        </pc:spChg>
        <pc:spChg chg="mod">
          <ac:chgData name="Ana Azorín" userId="572af90a-0d97-4f50-8168-31cee500a102" providerId="ADAL" clId="{04D6B3B9-BFA8-4CA1-AE06-B26525510BCF}" dt="2026-02-26T09:03:00.746" v="434" actId="1076"/>
          <ac:spMkLst>
            <pc:docMk/>
            <pc:sldMk cId="892734568" sldId="272"/>
            <ac:spMk id="4" creationId="{2D149263-FB8C-5B4C-8A8F-D13F40D71EB8}"/>
          </ac:spMkLst>
        </pc:spChg>
        <pc:spChg chg="add mod">
          <ac:chgData name="Ana Azorín" userId="572af90a-0d97-4f50-8168-31cee500a102" providerId="ADAL" clId="{04D6B3B9-BFA8-4CA1-AE06-B26525510BCF}" dt="2026-02-26T09:13:41.274" v="491" actId="1076"/>
          <ac:spMkLst>
            <pc:docMk/>
            <pc:sldMk cId="892734568" sldId="272"/>
            <ac:spMk id="10" creationId="{8FC97438-7750-061E-5787-5CA456D65430}"/>
          </ac:spMkLst>
        </pc:spChg>
        <pc:spChg chg="add mod">
          <ac:chgData name="Ana Azorín" userId="572af90a-0d97-4f50-8168-31cee500a102" providerId="ADAL" clId="{04D6B3B9-BFA8-4CA1-AE06-B26525510BCF}" dt="2026-02-26T09:23:30.478" v="716" actId="1076"/>
          <ac:spMkLst>
            <pc:docMk/>
            <pc:sldMk cId="892734568" sldId="272"/>
            <ac:spMk id="11" creationId="{1EA3328D-CC73-D747-180F-39A5820D7614}"/>
          </ac:spMkLst>
        </pc:spChg>
        <pc:spChg chg="mod">
          <ac:chgData name="Ana Azorín" userId="572af90a-0d97-4f50-8168-31cee500a102" providerId="ADAL" clId="{04D6B3B9-BFA8-4CA1-AE06-B26525510BCF}" dt="2026-03-12T09:09:47.495" v="2695" actId="20577"/>
          <ac:spMkLst>
            <pc:docMk/>
            <pc:sldMk cId="892734568" sldId="272"/>
            <ac:spMk id="12" creationId="{51C9942B-0A87-DD42-BC8A-4FE73ECEC448}"/>
          </ac:spMkLst>
        </pc:spChg>
        <pc:spChg chg="mod">
          <ac:chgData name="Ana Azorín" userId="572af90a-0d97-4f50-8168-31cee500a102" providerId="ADAL" clId="{04D6B3B9-BFA8-4CA1-AE06-B26525510BCF}" dt="2026-02-26T09:13:35.112" v="490" actId="1076"/>
          <ac:spMkLst>
            <pc:docMk/>
            <pc:sldMk cId="892734568" sldId="272"/>
            <ac:spMk id="17" creationId="{036F50AA-9851-7042-A390-A8165345B7C3}"/>
          </ac:spMkLst>
        </pc:spChg>
        <pc:spChg chg="mod">
          <ac:chgData name="Ana Azorín" userId="572af90a-0d97-4f50-8168-31cee500a102" providerId="ADAL" clId="{04D6B3B9-BFA8-4CA1-AE06-B26525510BCF}" dt="2026-02-26T09:03:32.491" v="441" actId="1076"/>
          <ac:spMkLst>
            <pc:docMk/>
            <pc:sldMk cId="892734568" sldId="272"/>
            <ac:spMk id="18" creationId="{7C2B5E86-75A8-1D45-9967-530032F56EC0}"/>
          </ac:spMkLst>
        </pc:spChg>
        <pc:spChg chg="mod">
          <ac:chgData name="Ana Azorín" userId="572af90a-0d97-4f50-8168-31cee500a102" providerId="ADAL" clId="{04D6B3B9-BFA8-4CA1-AE06-B26525510BCF}" dt="2026-02-26T09:02:11.488" v="422" actId="1076"/>
          <ac:spMkLst>
            <pc:docMk/>
            <pc:sldMk cId="892734568" sldId="272"/>
            <ac:spMk id="19" creationId="{BA6523F9-A172-4A4D-A9B9-774AD189D6AB}"/>
          </ac:spMkLst>
        </pc:spChg>
        <pc:picChg chg="mod">
          <ac:chgData name="Ana Azorín" userId="572af90a-0d97-4f50-8168-31cee500a102" providerId="ADAL" clId="{04D6B3B9-BFA8-4CA1-AE06-B26525510BCF}" dt="2026-02-26T09:02:43.975" v="429" actId="1076"/>
          <ac:picMkLst>
            <pc:docMk/>
            <pc:sldMk cId="892734568" sldId="272"/>
            <ac:picMk id="7" creationId="{FF2CBA5E-2F7E-C44B-B443-2928F07E9E49}"/>
          </ac:picMkLst>
        </pc:picChg>
        <pc:picChg chg="mod">
          <ac:chgData name="Ana Azorín" userId="572af90a-0d97-4f50-8168-31cee500a102" providerId="ADAL" clId="{04D6B3B9-BFA8-4CA1-AE06-B26525510BCF}" dt="2026-02-26T09:02:27.473" v="426" actId="1076"/>
          <ac:picMkLst>
            <pc:docMk/>
            <pc:sldMk cId="892734568" sldId="272"/>
            <ac:picMk id="8" creationId="{BEE88C91-AC94-C249-9C48-E43666C3D292}"/>
          </ac:picMkLst>
        </pc:picChg>
        <pc:picChg chg="add mod">
          <ac:chgData name="Ana Azorín" userId="572af90a-0d97-4f50-8168-31cee500a102" providerId="ADAL" clId="{04D6B3B9-BFA8-4CA1-AE06-B26525510BCF}" dt="2026-02-26T09:06:24.739" v="477" actId="1076"/>
          <ac:picMkLst>
            <pc:docMk/>
            <pc:sldMk cId="892734568" sldId="272"/>
            <ac:picMk id="9" creationId="{8D4E4AD9-DF02-A3E3-90C0-28CD290EF116}"/>
          </ac:picMkLst>
        </pc:picChg>
      </pc:sldChg>
      <pc:sldChg chg="addSp delSp modSp mod">
        <pc:chgData name="Ana Azorín" userId="572af90a-0d97-4f50-8168-31cee500a102" providerId="ADAL" clId="{04D6B3B9-BFA8-4CA1-AE06-B26525510BCF}" dt="2026-03-12T15:11:28.477" v="3289" actId="20577"/>
        <pc:sldMkLst>
          <pc:docMk/>
          <pc:sldMk cId="3094545759" sldId="273"/>
        </pc:sldMkLst>
        <pc:spChg chg="add mod">
          <ac:chgData name="Ana Azorín" userId="572af90a-0d97-4f50-8168-31cee500a102" providerId="ADAL" clId="{04D6B3B9-BFA8-4CA1-AE06-B26525510BCF}" dt="2026-02-26T09:23:56.735" v="721"/>
          <ac:spMkLst>
            <pc:docMk/>
            <pc:sldMk cId="3094545759" sldId="273"/>
            <ac:spMk id="11" creationId="{8E6B3667-C632-5BC8-9869-48529B712B56}"/>
          </ac:spMkLst>
        </pc:spChg>
        <pc:spChg chg="mod">
          <ac:chgData name="Ana Azorín" userId="572af90a-0d97-4f50-8168-31cee500a102" providerId="ADAL" clId="{04D6B3B9-BFA8-4CA1-AE06-B26525510BCF}" dt="2026-03-12T15:11:28.477" v="3289" actId="20577"/>
          <ac:spMkLst>
            <pc:docMk/>
            <pc:sldMk cId="3094545759" sldId="273"/>
            <ac:spMk id="12" creationId="{51C9942B-0A87-DD42-BC8A-4FE73ECEC448}"/>
          </ac:spMkLst>
        </pc:spChg>
      </pc:sldChg>
      <pc:sldChg chg="addSp modSp mod">
        <pc:chgData name="Ana Azorín" userId="572af90a-0d97-4f50-8168-31cee500a102" providerId="ADAL" clId="{04D6B3B9-BFA8-4CA1-AE06-B26525510BCF}" dt="2026-03-12T09:28:11.208" v="2791" actId="20577"/>
        <pc:sldMkLst>
          <pc:docMk/>
          <pc:sldMk cId="2195567013" sldId="281"/>
        </pc:sldMkLst>
        <pc:spChg chg="add mod">
          <ac:chgData name="Ana Azorín" userId="572af90a-0d97-4f50-8168-31cee500a102" providerId="ADAL" clId="{04D6B3B9-BFA8-4CA1-AE06-B26525510BCF}" dt="2026-03-10T16:42:18.434" v="2094" actId="20577"/>
          <ac:spMkLst>
            <pc:docMk/>
            <pc:sldMk cId="2195567013" sldId="281"/>
            <ac:spMk id="3" creationId="{A1F3C2FE-572A-5FE9-2972-977B5B371855}"/>
          </ac:spMkLst>
        </pc:spChg>
        <pc:spChg chg="add mod">
          <ac:chgData name="Ana Azorín" userId="572af90a-0d97-4f50-8168-31cee500a102" providerId="ADAL" clId="{04D6B3B9-BFA8-4CA1-AE06-B26525510BCF}" dt="2026-03-12T09:28:11.208" v="2791" actId="20577"/>
          <ac:spMkLst>
            <pc:docMk/>
            <pc:sldMk cId="2195567013" sldId="281"/>
            <ac:spMk id="4" creationId="{D9803E4A-68BE-2D50-2896-0A0FDD6676E0}"/>
          </ac:spMkLst>
        </pc:spChg>
      </pc:sldChg>
      <pc:sldChg chg="addSp modSp mod">
        <pc:chgData name="Ana Azorín" userId="572af90a-0d97-4f50-8168-31cee500a102" providerId="ADAL" clId="{04D6B3B9-BFA8-4CA1-AE06-B26525510BCF}" dt="2026-03-12T14:39:51.534" v="3156" actId="20577"/>
        <pc:sldMkLst>
          <pc:docMk/>
          <pc:sldMk cId="1794738533" sldId="282"/>
        </pc:sldMkLst>
        <pc:spChg chg="add mod">
          <ac:chgData name="Ana Azorín" userId="572af90a-0d97-4f50-8168-31cee500a102" providerId="ADAL" clId="{04D6B3B9-BFA8-4CA1-AE06-B26525510BCF}" dt="2026-02-26T09:24:21.151" v="725"/>
          <ac:spMkLst>
            <pc:docMk/>
            <pc:sldMk cId="1794738533" sldId="282"/>
            <ac:spMk id="4" creationId="{694B7319-E151-1FF7-0361-B1DD7B169FAF}"/>
          </ac:spMkLst>
        </pc:spChg>
        <pc:spChg chg="mod">
          <ac:chgData name="Ana Azorín" userId="572af90a-0d97-4f50-8168-31cee500a102" providerId="ADAL" clId="{04D6B3B9-BFA8-4CA1-AE06-B26525510BCF}" dt="2026-03-11T07:34:15.437" v="2128" actId="20577"/>
          <ac:spMkLst>
            <pc:docMk/>
            <pc:sldMk cId="1794738533" sldId="282"/>
            <ac:spMk id="5" creationId="{4542C7C5-2210-1A41-9098-AAEB1E779BF3}"/>
          </ac:spMkLst>
        </pc:spChg>
        <pc:spChg chg="mod">
          <ac:chgData name="Ana Azorín" userId="572af90a-0d97-4f50-8168-31cee500a102" providerId="ADAL" clId="{04D6B3B9-BFA8-4CA1-AE06-B26525510BCF}" dt="2026-03-12T14:39:51.534" v="3156" actId="20577"/>
          <ac:spMkLst>
            <pc:docMk/>
            <pc:sldMk cId="1794738533" sldId="282"/>
            <ac:spMk id="14" creationId="{2D38D1C3-4EEA-BE4B-AD55-7887288761F2}"/>
          </ac:spMkLst>
        </pc:spChg>
      </pc:sldChg>
      <pc:sldChg chg="modSp mod">
        <pc:chgData name="Ana Azorín" userId="572af90a-0d97-4f50-8168-31cee500a102" providerId="ADAL" clId="{04D6B3B9-BFA8-4CA1-AE06-B26525510BCF}" dt="2026-03-03T12:14:45.404" v="1232" actId="20577"/>
        <pc:sldMkLst>
          <pc:docMk/>
          <pc:sldMk cId="2089034034" sldId="298"/>
        </pc:sldMkLst>
        <pc:spChg chg="mod">
          <ac:chgData name="Ana Azorín" userId="572af90a-0d97-4f50-8168-31cee500a102" providerId="ADAL" clId="{04D6B3B9-BFA8-4CA1-AE06-B26525510BCF}" dt="2026-03-03T12:14:45.404" v="1232" actId="20577"/>
          <ac:spMkLst>
            <pc:docMk/>
            <pc:sldMk cId="2089034034" sldId="298"/>
            <ac:spMk id="3" creationId="{4794660A-F323-7E0B-E13F-C388316A964C}"/>
          </ac:spMkLst>
        </pc:spChg>
      </pc:sldChg>
      <pc:sldChg chg="modSp mod modShow">
        <pc:chgData name="Ana Azorín" userId="572af90a-0d97-4f50-8168-31cee500a102" providerId="ADAL" clId="{04D6B3B9-BFA8-4CA1-AE06-B26525510BCF}" dt="2026-03-12T15:12:25.713" v="3359" actId="20577"/>
        <pc:sldMkLst>
          <pc:docMk/>
          <pc:sldMk cId="2641551217" sldId="299"/>
        </pc:sldMkLst>
        <pc:spChg chg="mod">
          <ac:chgData name="Ana Azorín" userId="572af90a-0d97-4f50-8168-31cee500a102" providerId="ADAL" clId="{04D6B3B9-BFA8-4CA1-AE06-B26525510BCF}" dt="2026-03-12T09:17:50.401" v="2706" actId="20577"/>
          <ac:spMkLst>
            <pc:docMk/>
            <pc:sldMk cId="2641551217" sldId="299"/>
            <ac:spMk id="10" creationId="{7318337E-25DE-5BF2-AA5F-6892A58DDC13}"/>
          </ac:spMkLst>
        </pc:spChg>
        <pc:spChg chg="mod">
          <ac:chgData name="Ana Azorín" userId="572af90a-0d97-4f50-8168-31cee500a102" providerId="ADAL" clId="{04D6B3B9-BFA8-4CA1-AE06-B26525510BCF}" dt="2026-03-12T15:12:25.713" v="3359" actId="20577"/>
          <ac:spMkLst>
            <pc:docMk/>
            <pc:sldMk cId="2641551217" sldId="299"/>
            <ac:spMk id="11" creationId="{2FFF3CF5-1AD4-1325-088F-D2FA1B0A30C2}"/>
          </ac:spMkLst>
        </pc:spChg>
      </pc:sldChg>
      <pc:sldChg chg="modSp mod modShow">
        <pc:chgData name="Ana Azorín" userId="572af90a-0d97-4f50-8168-31cee500a102" providerId="ADAL" clId="{04D6B3B9-BFA8-4CA1-AE06-B26525510BCF}" dt="2026-03-12T14:40:40.095" v="3171" actId="20577"/>
        <pc:sldMkLst>
          <pc:docMk/>
          <pc:sldMk cId="289521520" sldId="300"/>
        </pc:sldMkLst>
        <pc:spChg chg="mod">
          <ac:chgData name="Ana Azorín" userId="572af90a-0d97-4f50-8168-31cee500a102" providerId="ADAL" clId="{04D6B3B9-BFA8-4CA1-AE06-B26525510BCF}" dt="2026-03-12T14:40:40.095" v="3171" actId="20577"/>
          <ac:spMkLst>
            <pc:docMk/>
            <pc:sldMk cId="289521520" sldId="300"/>
            <ac:spMk id="10" creationId="{BF45F7E6-D765-5E02-B210-BCC2B286E7C2}"/>
          </ac:spMkLst>
        </pc:spChg>
        <pc:spChg chg="mod">
          <ac:chgData name="Ana Azorín" userId="572af90a-0d97-4f50-8168-31cee500a102" providerId="ADAL" clId="{04D6B3B9-BFA8-4CA1-AE06-B26525510BCF}" dt="2026-03-12T09:48:59.173" v="2956" actId="20577"/>
          <ac:spMkLst>
            <pc:docMk/>
            <pc:sldMk cId="289521520" sldId="300"/>
            <ac:spMk id="11" creationId="{3D5EA613-BD06-FF33-116F-7A876550B9A5}"/>
          </ac:spMkLst>
        </pc:spChg>
      </pc:sldChg>
      <pc:sldChg chg="addSp delSp modSp mod">
        <pc:chgData name="Ana Azorín" userId="572af90a-0d97-4f50-8168-31cee500a102" providerId="ADAL" clId="{04D6B3B9-BFA8-4CA1-AE06-B26525510BCF}" dt="2026-03-12T08:32:18.308" v="2394" actId="1076"/>
        <pc:sldMkLst>
          <pc:docMk/>
          <pc:sldMk cId="56725272" sldId="303"/>
        </pc:sldMkLst>
        <pc:spChg chg="add mod">
          <ac:chgData name="Ana Azorín" userId="572af90a-0d97-4f50-8168-31cee500a102" providerId="ADAL" clId="{04D6B3B9-BFA8-4CA1-AE06-B26525510BCF}" dt="2026-02-26T09:20:51.468" v="658" actId="1076"/>
          <ac:spMkLst>
            <pc:docMk/>
            <pc:sldMk cId="56725272" sldId="303"/>
            <ac:spMk id="4" creationId="{62D25E12-6D9A-8C55-28D5-381306BDF3F0}"/>
          </ac:spMkLst>
        </pc:spChg>
        <pc:spChg chg="mod">
          <ac:chgData name="Ana Azorín" userId="572af90a-0d97-4f50-8168-31cee500a102" providerId="ADAL" clId="{04D6B3B9-BFA8-4CA1-AE06-B26525510BCF}" dt="2026-03-12T08:32:18.308" v="2394" actId="1076"/>
          <ac:spMkLst>
            <pc:docMk/>
            <pc:sldMk cId="56725272" sldId="303"/>
            <ac:spMk id="12" creationId="{ABEDCDFC-3103-518C-061C-208E8904D0A6}"/>
          </ac:spMkLst>
        </pc:spChg>
      </pc:sldChg>
      <pc:sldChg chg="addSp delSp modSp mod ord">
        <pc:chgData name="Ana Azorín" userId="572af90a-0d97-4f50-8168-31cee500a102" providerId="ADAL" clId="{04D6B3B9-BFA8-4CA1-AE06-B26525510BCF}" dt="2026-03-12T08:31:46.852" v="2388" actId="1076"/>
        <pc:sldMkLst>
          <pc:docMk/>
          <pc:sldMk cId="3710067054" sldId="304"/>
        </pc:sldMkLst>
        <pc:spChg chg="mod">
          <ac:chgData name="Ana Azorín" userId="572af90a-0d97-4f50-8168-31cee500a102" providerId="ADAL" clId="{04D6B3B9-BFA8-4CA1-AE06-B26525510BCF}" dt="2026-03-12T08:31:46.852" v="2388" actId="1076"/>
          <ac:spMkLst>
            <pc:docMk/>
            <pc:sldMk cId="3710067054" sldId="304"/>
            <ac:spMk id="4" creationId="{F6CFBBAE-1D73-B075-4E06-05707B66979D}"/>
          </ac:spMkLst>
        </pc:spChg>
      </pc:sldChg>
      <pc:sldChg chg="addSp delSp modSp mod ord modNotesTx">
        <pc:chgData name="Ana Azorín" userId="572af90a-0d97-4f50-8168-31cee500a102" providerId="ADAL" clId="{04D6B3B9-BFA8-4CA1-AE06-B26525510BCF}" dt="2026-03-12T13:21:30.691" v="3050" actId="20577"/>
        <pc:sldMkLst>
          <pc:docMk/>
          <pc:sldMk cId="4105542699" sldId="305"/>
        </pc:sldMkLst>
        <pc:spChg chg="add mod">
          <ac:chgData name="Ana Azorín" userId="572af90a-0d97-4f50-8168-31cee500a102" providerId="ADAL" clId="{04D6B3B9-BFA8-4CA1-AE06-B26525510BCF}" dt="2026-02-26T09:21:07.252" v="662" actId="1076"/>
          <ac:spMkLst>
            <pc:docMk/>
            <pc:sldMk cId="4105542699" sldId="305"/>
            <ac:spMk id="9" creationId="{526732BA-6FA0-29A9-3230-59990BB68E68}"/>
          </ac:spMkLst>
        </pc:spChg>
        <pc:spChg chg="mod">
          <ac:chgData name="Ana Azorín" userId="572af90a-0d97-4f50-8168-31cee500a102" providerId="ADAL" clId="{04D6B3B9-BFA8-4CA1-AE06-B26525510BCF}" dt="2026-03-12T08:32:11.434" v="2393" actId="1076"/>
          <ac:spMkLst>
            <pc:docMk/>
            <pc:sldMk cId="4105542699" sldId="305"/>
            <ac:spMk id="12" creationId="{1E105BE2-4014-8142-7A2E-892EB845FD99}"/>
          </ac:spMkLst>
        </pc:spChg>
        <pc:graphicFrameChg chg="mod">
          <ac:chgData name="Ana Azorín" userId="572af90a-0d97-4f50-8168-31cee500a102" providerId="ADAL" clId="{04D6B3B9-BFA8-4CA1-AE06-B26525510BCF}" dt="2026-03-03T12:14:14.682" v="1231" actId="1076"/>
          <ac:graphicFrameMkLst>
            <pc:docMk/>
            <pc:sldMk cId="4105542699" sldId="305"/>
            <ac:graphicFrameMk id="4" creationId="{7DFAD60B-8AF7-1519-5F6F-A3803DC9B850}"/>
          </ac:graphicFrameMkLst>
        </pc:graphicFrameChg>
      </pc:sldChg>
      <pc:sldChg chg="addSp modSp mod">
        <pc:chgData name="Ana Azorín" userId="572af90a-0d97-4f50-8168-31cee500a102" providerId="ADAL" clId="{04D6B3B9-BFA8-4CA1-AE06-B26525510BCF}" dt="2026-03-12T13:24:23.368" v="3124" actId="20577"/>
        <pc:sldMkLst>
          <pc:docMk/>
          <pc:sldMk cId="410762095" sldId="307"/>
        </pc:sldMkLst>
        <pc:spChg chg="mod">
          <ac:chgData name="Ana Azorín" userId="572af90a-0d97-4f50-8168-31cee500a102" providerId="ADAL" clId="{04D6B3B9-BFA8-4CA1-AE06-B26525510BCF}" dt="2026-03-12T13:24:13.200" v="3119" actId="20577"/>
          <ac:spMkLst>
            <pc:docMk/>
            <pc:sldMk cId="410762095" sldId="307"/>
            <ac:spMk id="4" creationId="{8BBF0898-F079-D5D3-E853-6161585133F1}"/>
          </ac:spMkLst>
        </pc:spChg>
        <pc:spChg chg="mod">
          <ac:chgData name="Ana Azorín" userId="572af90a-0d97-4f50-8168-31cee500a102" providerId="ADAL" clId="{04D6B3B9-BFA8-4CA1-AE06-B26525510BCF}" dt="2026-03-12T13:24:15.403" v="3120" actId="20577"/>
          <ac:spMkLst>
            <pc:docMk/>
            <pc:sldMk cId="410762095" sldId="307"/>
            <ac:spMk id="5" creationId="{E1BD391F-06F8-7D5F-2658-73E21B394257}"/>
          </ac:spMkLst>
        </pc:spChg>
        <pc:spChg chg="mod">
          <ac:chgData name="Ana Azorín" userId="572af90a-0d97-4f50-8168-31cee500a102" providerId="ADAL" clId="{04D6B3B9-BFA8-4CA1-AE06-B26525510BCF}" dt="2026-03-12T13:24:17.563" v="3121" actId="20577"/>
          <ac:spMkLst>
            <pc:docMk/>
            <pc:sldMk cId="410762095" sldId="307"/>
            <ac:spMk id="6" creationId="{BC3B80F3-DA29-AB41-9B7A-593AF1577E52}"/>
          </ac:spMkLst>
        </pc:spChg>
        <pc:spChg chg="mod">
          <ac:chgData name="Ana Azorín" userId="572af90a-0d97-4f50-8168-31cee500a102" providerId="ADAL" clId="{04D6B3B9-BFA8-4CA1-AE06-B26525510BCF}" dt="2026-03-12T13:24:19.810" v="3122" actId="20577"/>
          <ac:spMkLst>
            <pc:docMk/>
            <pc:sldMk cId="410762095" sldId="307"/>
            <ac:spMk id="7" creationId="{3FDB86DA-AAE2-6C1F-760C-477E2E1FB9AC}"/>
          </ac:spMkLst>
        </pc:spChg>
        <pc:spChg chg="mod">
          <ac:chgData name="Ana Azorín" userId="572af90a-0d97-4f50-8168-31cee500a102" providerId="ADAL" clId="{04D6B3B9-BFA8-4CA1-AE06-B26525510BCF}" dt="2026-03-12T13:24:21.601" v="3123" actId="20577"/>
          <ac:spMkLst>
            <pc:docMk/>
            <pc:sldMk cId="410762095" sldId="307"/>
            <ac:spMk id="8" creationId="{16EA2D4E-92AD-7B49-2384-689E9BB5A881}"/>
          </ac:spMkLst>
        </pc:spChg>
        <pc:spChg chg="add mod">
          <ac:chgData name="Ana Azorín" userId="572af90a-0d97-4f50-8168-31cee500a102" providerId="ADAL" clId="{04D6B3B9-BFA8-4CA1-AE06-B26525510BCF}" dt="2026-03-12T13:24:23.368" v="3124" actId="20577"/>
          <ac:spMkLst>
            <pc:docMk/>
            <pc:sldMk cId="410762095" sldId="307"/>
            <ac:spMk id="15" creationId="{9434B160-9834-66BB-B610-71E5D335EFB3}"/>
          </ac:spMkLst>
        </pc:spChg>
        <pc:spChg chg="mod">
          <ac:chgData name="Ana Azorín" userId="572af90a-0d97-4f50-8168-31cee500a102" providerId="ADAL" clId="{04D6B3B9-BFA8-4CA1-AE06-B26525510BCF}" dt="2026-03-12T08:56:03.436" v="2549" actId="207"/>
          <ac:spMkLst>
            <pc:docMk/>
            <pc:sldMk cId="410762095" sldId="307"/>
            <ac:spMk id="19" creationId="{8AE9AAEF-C414-7C6C-6287-F954421020F0}"/>
          </ac:spMkLst>
        </pc:spChg>
        <pc:graphicFrameChg chg="mod">
          <ac:chgData name="Ana Azorín" userId="572af90a-0d97-4f50-8168-31cee500a102" providerId="ADAL" clId="{04D6B3B9-BFA8-4CA1-AE06-B26525510BCF}" dt="2026-03-12T08:33:22.085" v="2396" actId="14100"/>
          <ac:graphicFrameMkLst>
            <pc:docMk/>
            <pc:sldMk cId="410762095" sldId="307"/>
            <ac:graphicFrameMk id="3" creationId="{31ABE668-A408-CC0F-A1A0-048110586267}"/>
          </ac:graphicFrameMkLst>
        </pc:graphicFrameChg>
      </pc:sldChg>
      <pc:sldChg chg="addSp modSp mod ord">
        <pc:chgData name="Ana Azorín" userId="572af90a-0d97-4f50-8168-31cee500a102" providerId="ADAL" clId="{04D6B3B9-BFA8-4CA1-AE06-B26525510BCF}" dt="2026-03-12T09:15:13.351" v="2700"/>
        <pc:sldMkLst>
          <pc:docMk/>
          <pc:sldMk cId="354789228" sldId="309"/>
        </pc:sldMkLst>
        <pc:spChg chg="add mod">
          <ac:chgData name="Ana Azorín" userId="572af90a-0d97-4f50-8168-31cee500a102" providerId="ADAL" clId="{04D6B3B9-BFA8-4CA1-AE06-B26525510BCF}" dt="2026-02-26T09:23:50.444" v="719" actId="1076"/>
          <ac:spMkLst>
            <pc:docMk/>
            <pc:sldMk cId="354789228" sldId="309"/>
            <ac:spMk id="3" creationId="{E2C4410B-E5F7-6CA9-BFC5-4F109F08AAB6}"/>
          </ac:spMkLst>
        </pc:spChg>
        <pc:spChg chg="mod">
          <ac:chgData name="Ana Azorín" userId="572af90a-0d97-4f50-8168-31cee500a102" providerId="ADAL" clId="{04D6B3B9-BFA8-4CA1-AE06-B26525510BCF}" dt="2026-03-11T07:33:12.266" v="2120" actId="14100"/>
          <ac:spMkLst>
            <pc:docMk/>
            <pc:sldMk cId="354789228" sldId="309"/>
            <ac:spMk id="12" creationId="{FC217964-2D10-5BEC-78E0-F9D80635047E}"/>
          </ac:spMkLst>
        </pc:spChg>
      </pc:sldChg>
      <pc:sldChg chg="addSp delSp modSp mod">
        <pc:chgData name="Ana Azorín" userId="572af90a-0d97-4f50-8168-31cee500a102" providerId="ADAL" clId="{04D6B3B9-BFA8-4CA1-AE06-B26525510BCF}" dt="2026-03-10T10:42:22.064" v="1943" actId="208"/>
        <pc:sldMkLst>
          <pc:docMk/>
          <pc:sldMk cId="700427917" sldId="313"/>
        </pc:sldMkLst>
        <pc:spChg chg="add mod">
          <ac:chgData name="Ana Azorín" userId="572af90a-0d97-4f50-8168-31cee500a102" providerId="ADAL" clId="{04D6B3B9-BFA8-4CA1-AE06-B26525510BCF}" dt="2026-02-26T09:23:10.491" v="714"/>
          <ac:spMkLst>
            <pc:docMk/>
            <pc:sldMk cId="700427917" sldId="313"/>
            <ac:spMk id="3" creationId="{84B7D166-24A5-F125-B0AB-CC57F315D48B}"/>
          </ac:spMkLst>
        </pc:spChg>
        <pc:graphicFrameChg chg="mod">
          <ac:chgData name="Ana Azorín" userId="572af90a-0d97-4f50-8168-31cee500a102" providerId="ADAL" clId="{04D6B3B9-BFA8-4CA1-AE06-B26525510BCF}" dt="2026-03-10T10:42:22.064" v="1943" actId="208"/>
          <ac:graphicFrameMkLst>
            <pc:docMk/>
            <pc:sldMk cId="700427917" sldId="313"/>
            <ac:graphicFrameMk id="4" creationId="{7F1C5E29-2A09-A9FD-FE7D-DBF8B9942E6A}"/>
          </ac:graphicFrameMkLst>
        </pc:graphicFrameChg>
      </pc:sldChg>
      <pc:sldChg chg="modSp mod">
        <pc:chgData name="Ana Azorín" userId="572af90a-0d97-4f50-8168-31cee500a102" providerId="ADAL" clId="{04D6B3B9-BFA8-4CA1-AE06-B26525510BCF}" dt="2026-03-12T08:31:07.017" v="2387" actId="1076"/>
        <pc:sldMkLst>
          <pc:docMk/>
          <pc:sldMk cId="3815257453" sldId="314"/>
        </pc:sldMkLst>
        <pc:spChg chg="mod">
          <ac:chgData name="Ana Azorín" userId="572af90a-0d97-4f50-8168-31cee500a102" providerId="ADAL" clId="{04D6B3B9-BFA8-4CA1-AE06-B26525510BCF}" dt="2026-03-12T08:31:07.017" v="2387" actId="1076"/>
          <ac:spMkLst>
            <pc:docMk/>
            <pc:sldMk cId="3815257453" sldId="314"/>
            <ac:spMk id="19" creationId="{E8C2989F-5940-417E-6B59-4F625851220F}"/>
          </ac:spMkLst>
        </pc:spChg>
      </pc:sldChg>
      <pc:sldChg chg="addSp delSp modSp mod">
        <pc:chgData name="Ana Azorín" userId="572af90a-0d97-4f50-8168-31cee500a102" providerId="ADAL" clId="{04D6B3B9-BFA8-4CA1-AE06-B26525510BCF}" dt="2026-03-12T09:36:19.126" v="2832" actId="20577"/>
        <pc:sldMkLst>
          <pc:docMk/>
          <pc:sldMk cId="4265134299" sldId="316"/>
        </pc:sldMkLst>
        <pc:spChg chg="add mod">
          <ac:chgData name="Ana Azorín" userId="572af90a-0d97-4f50-8168-31cee500a102" providerId="ADAL" clId="{04D6B3B9-BFA8-4CA1-AE06-B26525510BCF}" dt="2026-03-12T09:36:19.126" v="2832" actId="20577"/>
          <ac:spMkLst>
            <pc:docMk/>
            <pc:sldMk cId="4265134299" sldId="316"/>
            <ac:spMk id="4" creationId="{EB0ADDEB-3DE3-4044-D6C6-F790819D6FB7}"/>
          </ac:spMkLst>
        </pc:spChg>
        <pc:spChg chg="add mod">
          <ac:chgData name="Ana Azorín" userId="572af90a-0d97-4f50-8168-31cee500a102" providerId="ADAL" clId="{04D6B3B9-BFA8-4CA1-AE06-B26525510BCF}" dt="2026-02-26T09:24:24.895" v="726"/>
          <ac:spMkLst>
            <pc:docMk/>
            <pc:sldMk cId="4265134299" sldId="316"/>
            <ac:spMk id="7" creationId="{3FD8A601-6DA6-283F-3E59-216F7D504C6D}"/>
          </ac:spMkLst>
        </pc:spChg>
        <pc:graphicFrameChg chg="mod">
          <ac:chgData name="Ana Azorín" userId="572af90a-0d97-4f50-8168-31cee500a102" providerId="ADAL" clId="{04D6B3B9-BFA8-4CA1-AE06-B26525510BCF}" dt="2026-02-26T09:15:47.288" v="550" actId="14100"/>
          <ac:graphicFrameMkLst>
            <pc:docMk/>
            <pc:sldMk cId="4265134299" sldId="316"/>
            <ac:graphicFrameMk id="3" creationId="{DA773E05-5147-AA67-02AA-353A3CA53A21}"/>
          </ac:graphicFrameMkLst>
        </pc:graphicFrameChg>
      </pc:sldChg>
      <pc:sldChg chg="addSp delSp modSp mod">
        <pc:chgData name="Ana Azorín" userId="572af90a-0d97-4f50-8168-31cee500a102" providerId="ADAL" clId="{04D6B3B9-BFA8-4CA1-AE06-B26525510BCF}" dt="2026-03-12T14:39:14.361" v="3154" actId="20577"/>
        <pc:sldMkLst>
          <pc:docMk/>
          <pc:sldMk cId="4162460084" sldId="317"/>
        </pc:sldMkLst>
        <pc:spChg chg="mod">
          <ac:chgData name="Ana Azorín" userId="572af90a-0d97-4f50-8168-31cee500a102" providerId="ADAL" clId="{04D6B3B9-BFA8-4CA1-AE06-B26525510BCF}" dt="2026-02-26T07:01:36.224" v="18" actId="20577"/>
          <ac:spMkLst>
            <pc:docMk/>
            <pc:sldMk cId="4162460084" sldId="317"/>
            <ac:spMk id="5" creationId="{ABCEC1DE-A3F8-EBBA-D150-C611272767A6}"/>
          </ac:spMkLst>
        </pc:spChg>
        <pc:spChg chg="mod">
          <ac:chgData name="Ana Azorín" userId="572af90a-0d97-4f50-8168-31cee500a102" providerId="ADAL" clId="{04D6B3B9-BFA8-4CA1-AE06-B26525510BCF}" dt="2026-03-12T09:32:27.887" v="2825" actId="1076"/>
          <ac:spMkLst>
            <pc:docMk/>
            <pc:sldMk cId="4162460084" sldId="317"/>
            <ac:spMk id="6" creationId="{E8ABA7D3-9F30-2B46-FC70-848A91376E29}"/>
          </ac:spMkLst>
        </pc:spChg>
        <pc:spChg chg="mod">
          <ac:chgData name="Ana Azorín" userId="572af90a-0d97-4f50-8168-31cee500a102" providerId="ADAL" clId="{04D6B3B9-BFA8-4CA1-AE06-B26525510BCF}" dt="2026-03-12T09:31:42.522" v="2818" actId="1076"/>
          <ac:spMkLst>
            <pc:docMk/>
            <pc:sldMk cId="4162460084" sldId="317"/>
            <ac:spMk id="7" creationId="{9166070E-1F52-7DFE-01FB-0978259D7CF2}"/>
          </ac:spMkLst>
        </pc:spChg>
        <pc:spChg chg="mod">
          <ac:chgData name="Ana Azorín" userId="572af90a-0d97-4f50-8168-31cee500a102" providerId="ADAL" clId="{04D6B3B9-BFA8-4CA1-AE06-B26525510BCF}" dt="2026-03-12T14:38:02.835" v="3133" actId="20577"/>
          <ac:spMkLst>
            <pc:docMk/>
            <pc:sldMk cId="4162460084" sldId="317"/>
            <ac:spMk id="9" creationId="{F92C1A9D-E007-FC8A-42CF-4E93BD7D9E88}"/>
          </ac:spMkLst>
        </pc:spChg>
        <pc:spChg chg="add mod">
          <ac:chgData name="Ana Azorín" userId="572af90a-0d97-4f50-8168-31cee500a102" providerId="ADAL" clId="{04D6B3B9-BFA8-4CA1-AE06-B26525510BCF}" dt="2026-02-26T09:24:17.035" v="724" actId="1076"/>
          <ac:spMkLst>
            <pc:docMk/>
            <pc:sldMk cId="4162460084" sldId="317"/>
            <ac:spMk id="11" creationId="{76CDE1FE-C656-E91B-267C-F6AF19950F5E}"/>
          </ac:spMkLst>
        </pc:spChg>
        <pc:spChg chg="mod">
          <ac:chgData name="Ana Azorín" userId="572af90a-0d97-4f50-8168-31cee500a102" providerId="ADAL" clId="{04D6B3B9-BFA8-4CA1-AE06-B26525510BCF}" dt="2026-03-12T14:39:14.361" v="3154" actId="20577"/>
          <ac:spMkLst>
            <pc:docMk/>
            <pc:sldMk cId="4162460084" sldId="317"/>
            <ac:spMk id="16" creationId="{CA046757-C5B5-9C04-FB2E-4577F77EAD78}"/>
          </ac:spMkLst>
        </pc:spChg>
        <pc:spChg chg="mod">
          <ac:chgData name="Ana Azorín" userId="572af90a-0d97-4f50-8168-31cee500a102" providerId="ADAL" clId="{04D6B3B9-BFA8-4CA1-AE06-B26525510BCF}" dt="2026-02-27T08:20:56.345" v="928" actId="20577"/>
          <ac:spMkLst>
            <pc:docMk/>
            <pc:sldMk cId="4162460084" sldId="317"/>
            <ac:spMk id="19" creationId="{C902B545-579D-6081-584E-AE23101DA6CB}"/>
          </ac:spMkLst>
        </pc:spChg>
        <pc:spChg chg="mod">
          <ac:chgData name="Ana Azorín" userId="572af90a-0d97-4f50-8168-31cee500a102" providerId="ADAL" clId="{04D6B3B9-BFA8-4CA1-AE06-B26525510BCF}" dt="2026-03-12T14:38:45.853" v="3142" actId="20577"/>
          <ac:spMkLst>
            <pc:docMk/>
            <pc:sldMk cId="4162460084" sldId="317"/>
            <ac:spMk id="20" creationId="{3FA1799C-0D20-5048-7E7E-C88BE1238C4B}"/>
          </ac:spMkLst>
        </pc:spChg>
        <pc:cxnChg chg="add mod">
          <ac:chgData name="Ana Azorín" userId="572af90a-0d97-4f50-8168-31cee500a102" providerId="ADAL" clId="{04D6B3B9-BFA8-4CA1-AE06-B26525510BCF}" dt="2026-03-12T09:32:52.252" v="2827" actId="208"/>
          <ac:cxnSpMkLst>
            <pc:docMk/>
            <pc:sldMk cId="4162460084" sldId="317"/>
            <ac:cxnSpMk id="8" creationId="{E5B7423C-4CAF-7833-1A6A-9DDC7727D750}"/>
          </ac:cxnSpMkLst>
        </pc:cxnChg>
        <pc:cxnChg chg="add mod">
          <ac:chgData name="Ana Azorín" userId="572af90a-0d97-4f50-8168-31cee500a102" providerId="ADAL" clId="{04D6B3B9-BFA8-4CA1-AE06-B26525510BCF}" dt="2026-03-12T09:33:02.470" v="2828" actId="208"/>
          <ac:cxnSpMkLst>
            <pc:docMk/>
            <pc:sldMk cId="4162460084" sldId="317"/>
            <ac:cxnSpMk id="13" creationId="{6CDA7863-5D57-4A06-2A75-7CA4B769510E}"/>
          </ac:cxnSpMkLst>
        </pc:cxnChg>
      </pc:sldChg>
      <pc:sldChg chg="addSp delSp modSp mod">
        <pc:chgData name="Ana Azorín" userId="572af90a-0d97-4f50-8168-31cee500a102" providerId="ADAL" clId="{04D6B3B9-BFA8-4CA1-AE06-B26525510BCF}" dt="2026-03-12T14:41:07.040" v="3176" actId="20577"/>
        <pc:sldMkLst>
          <pc:docMk/>
          <pc:sldMk cId="176255801" sldId="319"/>
        </pc:sldMkLst>
        <pc:spChg chg="add mod">
          <ac:chgData name="Ana Azorín" userId="572af90a-0d97-4f50-8168-31cee500a102" providerId="ADAL" clId="{04D6B3B9-BFA8-4CA1-AE06-B26525510BCF}" dt="2026-03-12T14:40:56.604" v="3172" actId="20577"/>
          <ac:spMkLst>
            <pc:docMk/>
            <pc:sldMk cId="176255801" sldId="319"/>
            <ac:spMk id="10" creationId="{08681372-CFCF-F07D-889C-BCFBE1929A09}"/>
          </ac:spMkLst>
        </pc:spChg>
        <pc:spChg chg="add mod">
          <ac:chgData name="Ana Azorín" userId="572af90a-0d97-4f50-8168-31cee500a102" providerId="ADAL" clId="{04D6B3B9-BFA8-4CA1-AE06-B26525510BCF}" dt="2026-02-26T09:14:22.379" v="510" actId="20577"/>
          <ac:spMkLst>
            <pc:docMk/>
            <pc:sldMk cId="176255801" sldId="319"/>
            <ac:spMk id="11" creationId="{23171ADF-44EA-9B21-EE2B-7D572B148E24}"/>
          </ac:spMkLst>
        </pc:spChg>
        <pc:spChg chg="add mod">
          <ac:chgData name="Ana Azorín" userId="572af90a-0d97-4f50-8168-31cee500a102" providerId="ADAL" clId="{04D6B3B9-BFA8-4CA1-AE06-B26525510BCF}" dt="2026-03-12T14:41:01.667" v="3174" actId="14100"/>
          <ac:spMkLst>
            <pc:docMk/>
            <pc:sldMk cId="176255801" sldId="319"/>
            <ac:spMk id="12" creationId="{D9679DE4-1D7E-6EA4-BCE0-CE242C5E26C7}"/>
          </ac:spMkLst>
        </pc:spChg>
        <pc:spChg chg="add mod">
          <ac:chgData name="Ana Azorín" userId="572af90a-0d97-4f50-8168-31cee500a102" providerId="ADAL" clId="{04D6B3B9-BFA8-4CA1-AE06-B26525510BCF}" dt="2026-03-12T14:41:04.257" v="3175" actId="20577"/>
          <ac:spMkLst>
            <pc:docMk/>
            <pc:sldMk cId="176255801" sldId="319"/>
            <ac:spMk id="13" creationId="{BD3ADFB4-CA35-F21B-3C8E-08702E52FA49}"/>
          </ac:spMkLst>
        </pc:spChg>
        <pc:spChg chg="add mod">
          <ac:chgData name="Ana Azorín" userId="572af90a-0d97-4f50-8168-31cee500a102" providerId="ADAL" clId="{04D6B3B9-BFA8-4CA1-AE06-B26525510BCF}" dt="2026-03-12T14:41:07.040" v="3176" actId="20577"/>
          <ac:spMkLst>
            <pc:docMk/>
            <pc:sldMk cId="176255801" sldId="319"/>
            <ac:spMk id="14" creationId="{BA4B705E-D94F-72D0-1AD8-4154B790497C}"/>
          </ac:spMkLst>
        </pc:spChg>
        <pc:spChg chg="mod">
          <ac:chgData name="Ana Azorín" userId="572af90a-0d97-4f50-8168-31cee500a102" providerId="ADAL" clId="{04D6B3B9-BFA8-4CA1-AE06-B26525510BCF}" dt="2026-03-12T09:23:19.136" v="2713" actId="207"/>
          <ac:spMkLst>
            <pc:docMk/>
            <pc:sldMk cId="176255801" sldId="319"/>
            <ac:spMk id="19" creationId="{EF4E067D-CD46-7F51-6618-3F200267F0A5}"/>
          </ac:spMkLst>
        </pc:spChg>
        <pc:spChg chg="mod">
          <ac:chgData name="Ana Azorín" userId="572af90a-0d97-4f50-8168-31cee500a102" providerId="ADAL" clId="{04D6B3B9-BFA8-4CA1-AE06-B26525510BCF}" dt="2026-02-26T07:57:00.113" v="118" actId="20577"/>
          <ac:spMkLst>
            <pc:docMk/>
            <pc:sldMk cId="176255801" sldId="319"/>
            <ac:spMk id="20" creationId="{B2F34C4E-24ED-0A6D-1AEF-014219248372}"/>
          </ac:spMkLst>
        </pc:spChg>
        <pc:graphicFrameChg chg="add del mod">
          <ac:chgData name="Ana Azorín" userId="572af90a-0d97-4f50-8168-31cee500a102" providerId="ADAL" clId="{04D6B3B9-BFA8-4CA1-AE06-B26525510BCF}" dt="2026-02-26T09:15:11.939" v="543" actId="14100"/>
          <ac:graphicFrameMkLst>
            <pc:docMk/>
            <pc:sldMk cId="176255801" sldId="319"/>
            <ac:graphicFrameMk id="9" creationId="{AB551BB9-201E-C3CF-48FB-1C326A54E8F6}"/>
          </ac:graphicFrameMkLst>
        </pc:graphicFrameChg>
      </pc:sldChg>
      <pc:sldChg chg="addSp delSp modSp mod ord">
        <pc:chgData name="Ana Azorín" userId="572af90a-0d97-4f50-8168-31cee500a102" providerId="ADAL" clId="{04D6B3B9-BFA8-4CA1-AE06-B26525510BCF}" dt="2026-03-12T09:38:07.836" v="2874" actId="14100"/>
        <pc:sldMkLst>
          <pc:docMk/>
          <pc:sldMk cId="3850799201" sldId="320"/>
        </pc:sldMkLst>
        <pc:spChg chg="add mod">
          <ac:chgData name="Ana Azorín" userId="572af90a-0d97-4f50-8168-31cee500a102" providerId="ADAL" clId="{04D6B3B9-BFA8-4CA1-AE06-B26525510BCF}" dt="2026-03-03T16:05:16.519" v="1321" actId="20577"/>
          <ac:spMkLst>
            <pc:docMk/>
            <pc:sldMk cId="3850799201" sldId="320"/>
            <ac:spMk id="12" creationId="{8A23EF84-63A1-4816-A19D-B4E950570ED4}"/>
          </ac:spMkLst>
        </pc:spChg>
        <pc:spChg chg="add mod">
          <ac:chgData name="Ana Azorín" userId="572af90a-0d97-4f50-8168-31cee500a102" providerId="ADAL" clId="{04D6B3B9-BFA8-4CA1-AE06-B26525510BCF}" dt="2026-02-26T09:17:17.540" v="601" actId="1076"/>
          <ac:spMkLst>
            <pc:docMk/>
            <pc:sldMk cId="3850799201" sldId="320"/>
            <ac:spMk id="13" creationId="{42A1D321-7764-A830-038E-E685945E1FC0}"/>
          </ac:spMkLst>
        </pc:spChg>
        <pc:spChg chg="add mod">
          <ac:chgData name="Ana Azorín" userId="572af90a-0d97-4f50-8168-31cee500a102" providerId="ADAL" clId="{04D6B3B9-BFA8-4CA1-AE06-B26525510BCF}" dt="2026-02-26T09:17:17.540" v="601" actId="1076"/>
          <ac:spMkLst>
            <pc:docMk/>
            <pc:sldMk cId="3850799201" sldId="320"/>
            <ac:spMk id="14" creationId="{D513D7E1-2457-C64F-EA02-789E39160CD1}"/>
          </ac:spMkLst>
        </pc:spChg>
        <pc:spChg chg="add mod">
          <ac:chgData name="Ana Azorín" userId="572af90a-0d97-4f50-8168-31cee500a102" providerId="ADAL" clId="{04D6B3B9-BFA8-4CA1-AE06-B26525510BCF}" dt="2026-02-26T09:17:17.540" v="601" actId="1076"/>
          <ac:spMkLst>
            <pc:docMk/>
            <pc:sldMk cId="3850799201" sldId="320"/>
            <ac:spMk id="15" creationId="{C05F5A92-D203-5E75-1C74-2535D7AB8F47}"/>
          </ac:spMkLst>
        </pc:spChg>
        <pc:spChg chg="add mod">
          <ac:chgData name="Ana Azorín" userId="572af90a-0d97-4f50-8168-31cee500a102" providerId="ADAL" clId="{04D6B3B9-BFA8-4CA1-AE06-B26525510BCF}" dt="2026-02-26T09:17:17.540" v="601" actId="1076"/>
          <ac:spMkLst>
            <pc:docMk/>
            <pc:sldMk cId="3850799201" sldId="320"/>
            <ac:spMk id="16" creationId="{24B250E8-15FA-236B-FA01-CA45ACEF1C81}"/>
          </ac:spMkLst>
        </pc:spChg>
        <pc:spChg chg="add mod">
          <ac:chgData name="Ana Azorín" userId="572af90a-0d97-4f50-8168-31cee500a102" providerId="ADAL" clId="{04D6B3B9-BFA8-4CA1-AE06-B26525510BCF}" dt="2026-02-26T09:17:17.540" v="601" actId="1076"/>
          <ac:spMkLst>
            <pc:docMk/>
            <pc:sldMk cId="3850799201" sldId="320"/>
            <ac:spMk id="17" creationId="{2FCBE656-8C30-6450-F2EC-1C3597566C2C}"/>
          </ac:spMkLst>
        </pc:spChg>
        <pc:spChg chg="mod">
          <ac:chgData name="Ana Azorín" userId="572af90a-0d97-4f50-8168-31cee500a102" providerId="ADAL" clId="{04D6B3B9-BFA8-4CA1-AE06-B26525510BCF}" dt="2026-03-12T09:38:07.836" v="2874" actId="14100"/>
          <ac:spMkLst>
            <pc:docMk/>
            <pc:sldMk cId="3850799201" sldId="320"/>
            <ac:spMk id="21" creationId="{21B39BE8-F59D-0FEF-AF5A-55B1A5D7C796}"/>
          </ac:spMkLst>
        </pc:spChg>
        <pc:graphicFrameChg chg="mod">
          <ac:chgData name="Ana Azorín" userId="572af90a-0d97-4f50-8168-31cee500a102" providerId="ADAL" clId="{04D6B3B9-BFA8-4CA1-AE06-B26525510BCF}" dt="2026-02-26T09:17:03.760" v="600" actId="14100"/>
          <ac:graphicFrameMkLst>
            <pc:docMk/>
            <pc:sldMk cId="3850799201" sldId="320"/>
            <ac:graphicFrameMk id="10" creationId="{C2CA99ED-68AF-AC34-50F0-B24AC7426068}"/>
          </ac:graphicFrameMkLst>
        </pc:graphicFrameChg>
      </pc:sldChg>
      <pc:sldChg chg="addSp modSp mod modNotesTx">
        <pc:chgData name="Ana Azorín" userId="572af90a-0d97-4f50-8168-31cee500a102" providerId="ADAL" clId="{04D6B3B9-BFA8-4CA1-AE06-B26525510BCF}" dt="2026-03-12T13:20:31.098" v="3010" actId="13926"/>
        <pc:sldMkLst>
          <pc:docMk/>
          <pc:sldMk cId="649995208" sldId="321"/>
        </pc:sldMkLst>
        <pc:spChg chg="add mod">
          <ac:chgData name="Ana Azorín" userId="572af90a-0d97-4f50-8168-31cee500a102" providerId="ADAL" clId="{04D6B3B9-BFA8-4CA1-AE06-B26525510BCF}" dt="2026-02-26T09:20:41.374" v="655" actId="20577"/>
          <ac:spMkLst>
            <pc:docMk/>
            <pc:sldMk cId="649995208" sldId="321"/>
            <ac:spMk id="4" creationId="{5CCFABB7-0A14-6DC1-834E-2D103DAA6A00}"/>
          </ac:spMkLst>
        </pc:spChg>
        <pc:spChg chg="mod">
          <ac:chgData name="Ana Azorín" userId="572af90a-0d97-4f50-8168-31cee500a102" providerId="ADAL" clId="{04D6B3B9-BFA8-4CA1-AE06-B26525510BCF}" dt="2026-03-12T08:31:52.187" v="2389" actId="1076"/>
          <ac:spMkLst>
            <pc:docMk/>
            <pc:sldMk cId="649995208" sldId="321"/>
            <ac:spMk id="12" creationId="{6832BF13-7A27-CDED-AAD0-950647C27BFE}"/>
          </ac:spMkLst>
        </pc:spChg>
      </pc:sldChg>
      <pc:sldChg chg="addSp modSp mod ord">
        <pc:chgData name="Ana Azorín" userId="572af90a-0d97-4f50-8168-31cee500a102" providerId="ADAL" clId="{04D6B3B9-BFA8-4CA1-AE06-B26525510BCF}" dt="2026-03-12T08:55:33.013" v="2544"/>
        <pc:sldMkLst>
          <pc:docMk/>
          <pc:sldMk cId="2772840578" sldId="322"/>
        </pc:sldMkLst>
        <pc:spChg chg="add mod">
          <ac:chgData name="Ana Azorín" userId="572af90a-0d97-4f50-8168-31cee500a102" providerId="ADAL" clId="{04D6B3B9-BFA8-4CA1-AE06-B26525510BCF}" dt="2026-02-26T09:57:29.914" v="899" actId="20577"/>
          <ac:spMkLst>
            <pc:docMk/>
            <pc:sldMk cId="2772840578" sldId="322"/>
            <ac:spMk id="3" creationId="{24456FF5-8193-4D2F-CFBF-80A8C9814DF7}"/>
          </ac:spMkLst>
        </pc:spChg>
        <pc:spChg chg="mod">
          <ac:chgData name="Ana Azorín" userId="572af90a-0d97-4f50-8168-31cee500a102" providerId="ADAL" clId="{04D6B3B9-BFA8-4CA1-AE06-B26525510BCF}" dt="2026-02-26T09:55:46.925" v="874" actId="404"/>
          <ac:spMkLst>
            <pc:docMk/>
            <pc:sldMk cId="2772840578" sldId="322"/>
            <ac:spMk id="4" creationId="{7AB25B23-C9CF-C1DB-EE32-93887013C339}"/>
          </ac:spMkLst>
        </pc:spChg>
        <pc:spChg chg="mod">
          <ac:chgData name="Ana Azorín" userId="572af90a-0d97-4f50-8168-31cee500a102" providerId="ADAL" clId="{04D6B3B9-BFA8-4CA1-AE06-B26525510BCF}" dt="2026-02-26T09:56:20.129" v="878" actId="1076"/>
          <ac:spMkLst>
            <pc:docMk/>
            <pc:sldMk cId="2772840578" sldId="322"/>
            <ac:spMk id="5" creationId="{E493B707-EFA0-012D-228B-B8E33E4E10F9}"/>
          </ac:spMkLst>
        </pc:spChg>
        <pc:spChg chg="mod">
          <ac:chgData name="Ana Azorín" userId="572af90a-0d97-4f50-8168-31cee500a102" providerId="ADAL" clId="{04D6B3B9-BFA8-4CA1-AE06-B26525510BCF}" dt="2026-02-26T09:56:26.836" v="879" actId="1076"/>
          <ac:spMkLst>
            <pc:docMk/>
            <pc:sldMk cId="2772840578" sldId="322"/>
            <ac:spMk id="6" creationId="{028C7730-CD41-2B10-8EAC-F3932950F600}"/>
          </ac:spMkLst>
        </pc:spChg>
        <pc:spChg chg="mod">
          <ac:chgData name="Ana Azorín" userId="572af90a-0d97-4f50-8168-31cee500a102" providerId="ADAL" clId="{04D6B3B9-BFA8-4CA1-AE06-B26525510BCF}" dt="2026-02-26T09:56:30.562" v="880" actId="1076"/>
          <ac:spMkLst>
            <pc:docMk/>
            <pc:sldMk cId="2772840578" sldId="322"/>
            <ac:spMk id="7" creationId="{5F6BCCFB-AD7E-F4A0-E172-9CF49DD9DABF}"/>
          </ac:spMkLst>
        </pc:spChg>
        <pc:spChg chg="mod">
          <ac:chgData name="Ana Azorín" userId="572af90a-0d97-4f50-8168-31cee500a102" providerId="ADAL" clId="{04D6B3B9-BFA8-4CA1-AE06-B26525510BCF}" dt="2026-02-26T09:56:35.248" v="881" actId="1076"/>
          <ac:spMkLst>
            <pc:docMk/>
            <pc:sldMk cId="2772840578" sldId="322"/>
            <ac:spMk id="8" creationId="{AEB81458-07B7-B465-8329-CD7D35B05325}"/>
          </ac:spMkLst>
        </pc:spChg>
        <pc:graphicFrameChg chg="mod">
          <ac:chgData name="Ana Azorín" userId="572af90a-0d97-4f50-8168-31cee500a102" providerId="ADAL" clId="{04D6B3B9-BFA8-4CA1-AE06-B26525510BCF}" dt="2026-02-26T09:57:04.879" v="887" actId="1076"/>
          <ac:graphicFrameMkLst>
            <pc:docMk/>
            <pc:sldMk cId="2772840578" sldId="322"/>
            <ac:graphicFrameMk id="9" creationId="{23E6A37E-0573-32CD-AEF2-D126A8E76F7B}"/>
          </ac:graphicFrameMkLst>
        </pc:graphicFrameChg>
      </pc:sldChg>
      <pc:sldChg chg="addSp delSp modSp add mod ord">
        <pc:chgData name="Ana Azorín" userId="572af90a-0d97-4f50-8168-31cee500a102" providerId="ADAL" clId="{04D6B3B9-BFA8-4CA1-AE06-B26525510BCF}" dt="2026-03-12T08:55:53.632" v="2548"/>
        <pc:sldMkLst>
          <pc:docMk/>
          <pc:sldMk cId="705646376" sldId="324"/>
        </pc:sldMkLst>
        <pc:spChg chg="mod">
          <ac:chgData name="Ana Azorín" userId="572af90a-0d97-4f50-8168-31cee500a102" providerId="ADAL" clId="{04D6B3B9-BFA8-4CA1-AE06-B26525510BCF}" dt="2026-03-03T11:20:52.800" v="1117" actId="20577"/>
          <ac:spMkLst>
            <pc:docMk/>
            <pc:sldMk cId="705646376" sldId="324"/>
            <ac:spMk id="3" creationId="{D04695A5-730E-6C79-0E2A-3E7446570BD0}"/>
          </ac:spMkLst>
        </pc:spChg>
        <pc:spChg chg="mod">
          <ac:chgData name="Ana Azorín" userId="572af90a-0d97-4f50-8168-31cee500a102" providerId="ADAL" clId="{04D6B3B9-BFA8-4CA1-AE06-B26525510BCF}" dt="2026-03-03T11:20:56.922" v="1118" actId="20577"/>
          <ac:spMkLst>
            <pc:docMk/>
            <pc:sldMk cId="705646376" sldId="324"/>
            <ac:spMk id="19" creationId="{3222E523-7112-A40A-4DDF-F6A0F200A64B}"/>
          </ac:spMkLst>
        </pc:spChg>
        <pc:spChg chg="mod">
          <ac:chgData name="Ana Azorín" userId="572af90a-0d97-4f50-8168-31cee500a102" providerId="ADAL" clId="{04D6B3B9-BFA8-4CA1-AE06-B26525510BCF}" dt="2026-03-03T11:09:01.207" v="1062" actId="20577"/>
          <ac:spMkLst>
            <pc:docMk/>
            <pc:sldMk cId="705646376" sldId="324"/>
            <ac:spMk id="20" creationId="{F1BFAF7E-23C7-D8D3-5EEB-A939A338BEB1}"/>
          </ac:spMkLst>
        </pc:spChg>
        <pc:graphicFrameChg chg="add mod">
          <ac:chgData name="Ana Azorín" userId="572af90a-0d97-4f50-8168-31cee500a102" providerId="ADAL" clId="{04D6B3B9-BFA8-4CA1-AE06-B26525510BCF}" dt="2026-03-03T15:06:29.618" v="1265" actId="208"/>
          <ac:graphicFrameMkLst>
            <pc:docMk/>
            <pc:sldMk cId="705646376" sldId="324"/>
            <ac:graphicFrameMk id="5" creationId="{B162BE12-F6FB-5672-888A-9055E20A128A}"/>
          </ac:graphicFrameMkLst>
        </pc:graphicFrameChg>
      </pc:sldChg>
      <pc:sldChg chg="addSp modSp add mod">
        <pc:chgData name="Ana Azorín" userId="572af90a-0d97-4f50-8168-31cee500a102" providerId="ADAL" clId="{04D6B3B9-BFA8-4CA1-AE06-B26525510BCF}" dt="2026-03-12T08:53:29.036" v="2542" actId="20577"/>
        <pc:sldMkLst>
          <pc:docMk/>
          <pc:sldMk cId="1142100597" sldId="325"/>
        </pc:sldMkLst>
        <pc:spChg chg="mod">
          <ac:chgData name="Ana Azorín" userId="572af90a-0d97-4f50-8168-31cee500a102" providerId="ADAL" clId="{04D6B3B9-BFA8-4CA1-AE06-B26525510BCF}" dt="2026-03-03T11:36:25.175" v="1160" actId="1076"/>
          <ac:spMkLst>
            <pc:docMk/>
            <pc:sldMk cId="1142100597" sldId="325"/>
            <ac:spMk id="5" creationId="{0EF2EB1A-7C17-6391-74D3-8929295E6FBD}"/>
          </ac:spMkLst>
        </pc:spChg>
        <pc:spChg chg="mod">
          <ac:chgData name="Ana Azorín" userId="572af90a-0d97-4f50-8168-31cee500a102" providerId="ADAL" clId="{04D6B3B9-BFA8-4CA1-AE06-B26525510BCF}" dt="2026-03-12T08:53:29.036" v="2542" actId="20577"/>
          <ac:spMkLst>
            <pc:docMk/>
            <pc:sldMk cId="1142100597" sldId="325"/>
            <ac:spMk id="6" creationId="{6BA74240-3F7C-7265-62F6-FD5B769D1240}"/>
          </ac:spMkLst>
        </pc:spChg>
        <pc:spChg chg="mod">
          <ac:chgData name="Ana Azorín" userId="572af90a-0d97-4f50-8168-31cee500a102" providerId="ADAL" clId="{04D6B3B9-BFA8-4CA1-AE06-B26525510BCF}" dt="2026-03-12T08:52:18.799" v="2502" actId="1076"/>
          <ac:spMkLst>
            <pc:docMk/>
            <pc:sldMk cId="1142100597" sldId="325"/>
            <ac:spMk id="7" creationId="{4F982979-BA2B-0950-5FE7-B25C7975AFD2}"/>
          </ac:spMkLst>
        </pc:spChg>
        <pc:spChg chg="add mod">
          <ac:chgData name="Ana Azorín" userId="572af90a-0d97-4f50-8168-31cee500a102" providerId="ADAL" clId="{04D6B3B9-BFA8-4CA1-AE06-B26525510BCF}" dt="2026-03-03T15:58:41.806" v="1293" actId="20577"/>
          <ac:spMkLst>
            <pc:docMk/>
            <pc:sldMk cId="1142100597" sldId="325"/>
            <ac:spMk id="8" creationId="{135151ED-0732-C568-E77A-E35A1B0BD94D}"/>
          </ac:spMkLst>
        </pc:spChg>
        <pc:spChg chg="mod">
          <ac:chgData name="Ana Azorín" userId="572af90a-0d97-4f50-8168-31cee500a102" providerId="ADAL" clId="{04D6B3B9-BFA8-4CA1-AE06-B26525510BCF}" dt="2026-03-03T11:44:09.601" v="1166" actId="13926"/>
          <ac:spMkLst>
            <pc:docMk/>
            <pc:sldMk cId="1142100597" sldId="325"/>
            <ac:spMk id="20" creationId="{C2A9CDA2-B0E9-FD77-A66A-76EC3642E5E9}"/>
          </ac:spMkLst>
        </pc:spChg>
        <pc:graphicFrameChg chg="mod">
          <ac:chgData name="Ana Azorín" userId="572af90a-0d97-4f50-8168-31cee500a102" providerId="ADAL" clId="{04D6B3B9-BFA8-4CA1-AE06-B26525510BCF}" dt="2026-03-03T11:36:25.175" v="1160" actId="1076"/>
          <ac:graphicFrameMkLst>
            <pc:docMk/>
            <pc:sldMk cId="1142100597" sldId="325"/>
            <ac:graphicFrameMk id="3" creationId="{AD8B7A57-27AB-7D00-054B-C855437EDAC9}"/>
          </ac:graphicFrameMkLst>
        </pc:graphicFrameChg>
      </pc:sldChg>
      <pc:sldChg chg="addSp delSp modSp add mod">
        <pc:chgData name="Ana Azorín" userId="572af90a-0d97-4f50-8168-31cee500a102" providerId="ADAL" clId="{04D6B3B9-BFA8-4CA1-AE06-B26525510BCF}" dt="2026-03-12T08:31:57.030" v="2390" actId="1076"/>
        <pc:sldMkLst>
          <pc:docMk/>
          <pc:sldMk cId="3990078525" sldId="326"/>
        </pc:sldMkLst>
        <pc:spChg chg="mod">
          <ac:chgData name="Ana Azorín" userId="572af90a-0d97-4f50-8168-31cee500a102" providerId="ADAL" clId="{04D6B3B9-BFA8-4CA1-AE06-B26525510BCF}" dt="2026-03-10T08:46:40.566" v="1465" actId="20577"/>
          <ac:spMkLst>
            <pc:docMk/>
            <pc:sldMk cId="3990078525" sldId="326"/>
            <ac:spMk id="5" creationId="{78B4F225-313E-E699-5387-ED7B6FC333E6}"/>
          </ac:spMkLst>
        </pc:spChg>
        <pc:spChg chg="add mod">
          <ac:chgData name="Ana Azorín" userId="572af90a-0d97-4f50-8168-31cee500a102" providerId="ADAL" clId="{04D6B3B9-BFA8-4CA1-AE06-B26525510BCF}" dt="2026-03-10T10:39:31.154" v="1933" actId="14100"/>
          <ac:spMkLst>
            <pc:docMk/>
            <pc:sldMk cId="3990078525" sldId="326"/>
            <ac:spMk id="8" creationId="{DA5A6386-23E7-521D-ED0E-06B6E1E0F39A}"/>
          </ac:spMkLst>
        </pc:spChg>
        <pc:spChg chg="mod">
          <ac:chgData name="Ana Azorín" userId="572af90a-0d97-4f50-8168-31cee500a102" providerId="ADAL" clId="{04D6B3B9-BFA8-4CA1-AE06-B26525510BCF}" dt="2026-03-12T08:31:57.030" v="2390" actId="1076"/>
          <ac:spMkLst>
            <pc:docMk/>
            <pc:sldMk cId="3990078525" sldId="326"/>
            <ac:spMk id="12" creationId="{C97BBB60-1FD3-B556-E5D5-A2AF415BAE6D}"/>
          </ac:spMkLst>
        </pc:spChg>
        <pc:graphicFrameChg chg="add mod">
          <ac:chgData name="Ana Azorín" userId="572af90a-0d97-4f50-8168-31cee500a102" providerId="ADAL" clId="{04D6B3B9-BFA8-4CA1-AE06-B26525510BCF}" dt="2026-03-10T17:02:01.360" v="2104" actId="1076"/>
          <ac:graphicFrameMkLst>
            <pc:docMk/>
            <pc:sldMk cId="3990078525" sldId="326"/>
            <ac:graphicFrameMk id="6" creationId="{DF705B6E-405B-B60D-E025-428051CE6E32}"/>
          </ac:graphicFrameMkLst>
        </pc:graphicFrameChg>
      </pc:sldChg>
      <pc:sldChg chg="addSp modSp add mod">
        <pc:chgData name="Ana Azorín" userId="572af90a-0d97-4f50-8168-31cee500a102" providerId="ADAL" clId="{04D6B3B9-BFA8-4CA1-AE06-B26525510BCF}" dt="2026-03-12T08:32:02.327" v="2391" actId="1076"/>
        <pc:sldMkLst>
          <pc:docMk/>
          <pc:sldMk cId="1844838439" sldId="327"/>
        </pc:sldMkLst>
        <pc:spChg chg="mod">
          <ac:chgData name="Ana Azorín" userId="572af90a-0d97-4f50-8168-31cee500a102" providerId="ADAL" clId="{04D6B3B9-BFA8-4CA1-AE06-B26525510BCF}" dt="2026-03-10T09:08:43.524" v="1697" actId="20577"/>
          <ac:spMkLst>
            <pc:docMk/>
            <pc:sldMk cId="1844838439" sldId="327"/>
            <ac:spMk id="5" creationId="{531D3E6F-D3DD-E72E-FA27-360A432588BC}"/>
          </ac:spMkLst>
        </pc:spChg>
        <pc:spChg chg="add mod">
          <ac:chgData name="Ana Azorín" userId="572af90a-0d97-4f50-8168-31cee500a102" providerId="ADAL" clId="{04D6B3B9-BFA8-4CA1-AE06-B26525510BCF}" dt="2026-03-10T10:39:37.237" v="1934" actId="14100"/>
          <ac:spMkLst>
            <pc:docMk/>
            <pc:sldMk cId="1844838439" sldId="327"/>
            <ac:spMk id="7" creationId="{A8D00895-5A7D-09B5-7776-1489E50F0B75}"/>
          </ac:spMkLst>
        </pc:spChg>
        <pc:spChg chg="mod">
          <ac:chgData name="Ana Azorín" userId="572af90a-0d97-4f50-8168-31cee500a102" providerId="ADAL" clId="{04D6B3B9-BFA8-4CA1-AE06-B26525510BCF}" dt="2026-03-12T08:32:02.327" v="2391" actId="1076"/>
          <ac:spMkLst>
            <pc:docMk/>
            <pc:sldMk cId="1844838439" sldId="327"/>
            <ac:spMk id="12" creationId="{2B7929F8-8C8A-C3D5-43F3-6B7B2F73522F}"/>
          </ac:spMkLst>
        </pc:spChg>
        <pc:graphicFrameChg chg="add mod">
          <ac:chgData name="Ana Azorín" userId="572af90a-0d97-4f50-8168-31cee500a102" providerId="ADAL" clId="{04D6B3B9-BFA8-4CA1-AE06-B26525510BCF}" dt="2026-03-10T09:08:38.087" v="1696" actId="14100"/>
          <ac:graphicFrameMkLst>
            <pc:docMk/>
            <pc:sldMk cId="1844838439" sldId="327"/>
            <ac:graphicFrameMk id="3" creationId="{13034FFF-C7D6-77FE-579B-8AD64002514C}"/>
          </ac:graphicFrameMkLst>
        </pc:graphicFrameChg>
      </pc:sldChg>
      <pc:sldChg chg="addSp modSp add mod modNotesTx">
        <pc:chgData name="Ana Azorín" userId="572af90a-0d97-4f50-8168-31cee500a102" providerId="ADAL" clId="{04D6B3B9-BFA8-4CA1-AE06-B26525510BCF}" dt="2026-03-12T13:22:38.155" v="3118" actId="20577"/>
        <pc:sldMkLst>
          <pc:docMk/>
          <pc:sldMk cId="757304700" sldId="328"/>
        </pc:sldMkLst>
        <pc:spChg chg="add mod">
          <ac:chgData name="Ana Azorín" userId="572af90a-0d97-4f50-8168-31cee500a102" providerId="ADAL" clId="{04D6B3B9-BFA8-4CA1-AE06-B26525510BCF}" dt="2026-03-10T10:36:52.208" v="1917" actId="1076"/>
          <ac:spMkLst>
            <pc:docMk/>
            <pc:sldMk cId="757304700" sldId="328"/>
            <ac:spMk id="3" creationId="{A19F091C-F9C5-E13D-0F4C-6243A1980798}"/>
          </ac:spMkLst>
        </pc:spChg>
        <pc:spChg chg="mod">
          <ac:chgData name="Ana Azorín" userId="572af90a-0d97-4f50-8168-31cee500a102" providerId="ADAL" clId="{04D6B3B9-BFA8-4CA1-AE06-B26525510BCF}" dt="2026-03-10T10:38:01.477" v="1932" actId="20577"/>
          <ac:spMkLst>
            <pc:docMk/>
            <pc:sldMk cId="757304700" sldId="328"/>
            <ac:spMk id="5" creationId="{05C0972C-EACC-C6A1-BB5A-8230FA5AB88A}"/>
          </ac:spMkLst>
        </pc:spChg>
        <pc:spChg chg="add mod">
          <ac:chgData name="Ana Azorín" userId="572af90a-0d97-4f50-8168-31cee500a102" providerId="ADAL" clId="{04D6B3B9-BFA8-4CA1-AE06-B26525510BCF}" dt="2026-03-10T10:36:20.983" v="1913" actId="1076"/>
          <ac:spMkLst>
            <pc:docMk/>
            <pc:sldMk cId="757304700" sldId="328"/>
            <ac:spMk id="6" creationId="{A280AF40-B7EE-651F-75AD-F25A2362F71F}"/>
          </ac:spMkLst>
        </pc:spChg>
        <pc:spChg chg="add mod">
          <ac:chgData name="Ana Azorín" userId="572af90a-0d97-4f50-8168-31cee500a102" providerId="ADAL" clId="{04D6B3B9-BFA8-4CA1-AE06-B26525510BCF}" dt="2026-03-10T10:36:20.983" v="1913" actId="1076"/>
          <ac:spMkLst>
            <pc:docMk/>
            <pc:sldMk cId="757304700" sldId="328"/>
            <ac:spMk id="7" creationId="{4D85D183-6BA3-25B7-B77B-E94102EDD114}"/>
          </ac:spMkLst>
        </pc:spChg>
        <pc:spChg chg="add mod">
          <ac:chgData name="Ana Azorín" userId="572af90a-0d97-4f50-8168-31cee500a102" providerId="ADAL" clId="{04D6B3B9-BFA8-4CA1-AE06-B26525510BCF}" dt="2026-03-10T10:35:15.514" v="1904" actId="14100"/>
          <ac:spMkLst>
            <pc:docMk/>
            <pc:sldMk cId="757304700" sldId="328"/>
            <ac:spMk id="8" creationId="{82531CA1-60AD-0955-CA4A-33478B593EDE}"/>
          </ac:spMkLst>
        </pc:spChg>
        <pc:spChg chg="add mod">
          <ac:chgData name="Ana Azorín" userId="572af90a-0d97-4f50-8168-31cee500a102" providerId="ADAL" clId="{04D6B3B9-BFA8-4CA1-AE06-B26525510BCF}" dt="2026-03-10T10:35:15.514" v="1904" actId="14100"/>
          <ac:spMkLst>
            <pc:docMk/>
            <pc:sldMk cId="757304700" sldId="328"/>
            <ac:spMk id="9" creationId="{D9EBC834-DA51-CB35-A499-499F2684D2E3}"/>
          </ac:spMkLst>
        </pc:spChg>
        <pc:spChg chg="add mod">
          <ac:chgData name="Ana Azorín" userId="572af90a-0d97-4f50-8168-31cee500a102" providerId="ADAL" clId="{04D6B3B9-BFA8-4CA1-AE06-B26525510BCF}" dt="2026-03-10T10:36:48.909" v="1916" actId="1076"/>
          <ac:spMkLst>
            <pc:docMk/>
            <pc:sldMk cId="757304700" sldId="328"/>
            <ac:spMk id="10" creationId="{4BC2FE52-DEDB-AD07-35D1-0CD68BCCCDA3}"/>
          </ac:spMkLst>
        </pc:spChg>
        <pc:spChg chg="add mod">
          <ac:chgData name="Ana Azorín" userId="572af90a-0d97-4f50-8168-31cee500a102" providerId="ADAL" clId="{04D6B3B9-BFA8-4CA1-AE06-B26525510BCF}" dt="2026-03-10T10:37:37.327" v="1925" actId="1076"/>
          <ac:spMkLst>
            <pc:docMk/>
            <pc:sldMk cId="757304700" sldId="328"/>
            <ac:spMk id="11" creationId="{E43423BE-7819-666F-4220-729FFECEAB62}"/>
          </ac:spMkLst>
        </pc:spChg>
        <pc:spChg chg="mod">
          <ac:chgData name="Ana Azorín" userId="572af90a-0d97-4f50-8168-31cee500a102" providerId="ADAL" clId="{04D6B3B9-BFA8-4CA1-AE06-B26525510BCF}" dt="2026-03-12T08:32:06.935" v="2392" actId="1076"/>
          <ac:spMkLst>
            <pc:docMk/>
            <pc:sldMk cId="757304700" sldId="328"/>
            <ac:spMk id="12" creationId="{601B7D82-6BC7-240A-3E5E-A9AA0633A6DA}"/>
          </ac:spMkLst>
        </pc:spChg>
        <pc:spChg chg="add mod">
          <ac:chgData name="Ana Azorín" userId="572af90a-0d97-4f50-8168-31cee500a102" providerId="ADAL" clId="{04D6B3B9-BFA8-4CA1-AE06-B26525510BCF}" dt="2026-03-10T10:36:20.983" v="1913" actId="1076"/>
          <ac:spMkLst>
            <pc:docMk/>
            <pc:sldMk cId="757304700" sldId="328"/>
            <ac:spMk id="13" creationId="{6524D92B-C716-4229-DE79-D914598B80DF}"/>
          </ac:spMkLst>
        </pc:spChg>
        <pc:spChg chg="add mod">
          <ac:chgData name="Ana Azorín" userId="572af90a-0d97-4f50-8168-31cee500a102" providerId="ADAL" clId="{04D6B3B9-BFA8-4CA1-AE06-B26525510BCF}" dt="2026-03-10T10:36:20.983" v="1913" actId="1076"/>
          <ac:spMkLst>
            <pc:docMk/>
            <pc:sldMk cId="757304700" sldId="328"/>
            <ac:spMk id="14" creationId="{33A5E1CE-6516-D369-63E1-253261C9A46F}"/>
          </ac:spMkLst>
        </pc:spChg>
        <pc:spChg chg="add mod">
          <ac:chgData name="Ana Azorín" userId="572af90a-0d97-4f50-8168-31cee500a102" providerId="ADAL" clId="{04D6B3B9-BFA8-4CA1-AE06-B26525510BCF}" dt="2026-03-10T10:36:00.735" v="1912" actId="1076"/>
          <ac:spMkLst>
            <pc:docMk/>
            <pc:sldMk cId="757304700" sldId="328"/>
            <ac:spMk id="15" creationId="{908A82A5-C52E-0996-4862-0EA91EFE95ED}"/>
          </ac:spMkLst>
        </pc:spChg>
        <pc:spChg chg="add mod">
          <ac:chgData name="Ana Azorín" userId="572af90a-0d97-4f50-8168-31cee500a102" providerId="ADAL" clId="{04D6B3B9-BFA8-4CA1-AE06-B26525510BCF}" dt="2026-03-10T10:35:54.400" v="1911" actId="1076"/>
          <ac:spMkLst>
            <pc:docMk/>
            <pc:sldMk cId="757304700" sldId="328"/>
            <ac:spMk id="16" creationId="{BBC2E695-D7A4-35E9-3738-D54658F179A7}"/>
          </ac:spMkLst>
        </pc:spChg>
        <pc:spChg chg="add mod">
          <ac:chgData name="Ana Azorín" userId="572af90a-0d97-4f50-8168-31cee500a102" providerId="ADAL" clId="{04D6B3B9-BFA8-4CA1-AE06-B26525510BCF}" dt="2026-03-10T10:40:58.811" v="1939" actId="1076"/>
          <ac:spMkLst>
            <pc:docMk/>
            <pc:sldMk cId="757304700" sldId="328"/>
            <ac:spMk id="17" creationId="{F82E4C77-46FE-3FF6-2CCE-4500354FC7F5}"/>
          </ac:spMkLst>
        </pc:spChg>
        <pc:spChg chg="add mod">
          <ac:chgData name="Ana Azorín" userId="572af90a-0d97-4f50-8168-31cee500a102" providerId="ADAL" clId="{04D6B3B9-BFA8-4CA1-AE06-B26525510BCF}" dt="2026-03-12T08:11:53.701" v="2370" actId="20577"/>
          <ac:spMkLst>
            <pc:docMk/>
            <pc:sldMk cId="757304700" sldId="328"/>
            <ac:spMk id="19" creationId="{6DEE367C-C329-1F4A-3104-27960DD1C275}"/>
          </ac:spMkLst>
        </pc:spChg>
      </pc:sldChg>
      <pc:sldChg chg="modSp add mod">
        <pc:chgData name="Ana Azorín" userId="572af90a-0d97-4f50-8168-31cee500a102" providerId="ADAL" clId="{04D6B3B9-BFA8-4CA1-AE06-B26525510BCF}" dt="2026-03-12T07:52:53.612" v="2251"/>
        <pc:sldMkLst>
          <pc:docMk/>
          <pc:sldMk cId="4070570924" sldId="329"/>
        </pc:sldMkLst>
        <pc:spChg chg="mod">
          <ac:chgData name="Ana Azorín" userId="572af90a-0d97-4f50-8168-31cee500a102" providerId="ADAL" clId="{04D6B3B9-BFA8-4CA1-AE06-B26525510BCF}" dt="2026-03-12T07:52:53.612" v="2251"/>
          <ac:spMkLst>
            <pc:docMk/>
            <pc:sldMk cId="4070570924" sldId="329"/>
            <ac:spMk id="4" creationId="{DBE349D4-75FD-B23E-4D81-EFB8A5B02006}"/>
          </ac:spMkLst>
        </pc:spChg>
      </pc:sldChg>
    </pc:docChg>
  </pc:docChgLst>
  <pc:docChgLst>
    <pc:chgData name="Mariano Torres" userId="1cae5b4b-ba01-4d06-9215-2b24011c98c7" providerId="ADAL" clId="{902FB08E-AD39-5366-8B4F-E9D6E67C2A38}"/>
    <pc:docChg chg="modSld">
      <pc:chgData name="Mariano Torres" userId="1cae5b4b-ba01-4d06-9215-2b24011c98c7" providerId="ADAL" clId="{902FB08E-AD39-5366-8B4F-E9D6E67C2A38}" dt="2026-03-12T12:39:12.065" v="143" actId="120"/>
      <pc:docMkLst>
        <pc:docMk/>
      </pc:docMkLst>
      <pc:sldChg chg="modSp mod">
        <pc:chgData name="Mariano Torres" userId="1cae5b4b-ba01-4d06-9215-2b24011c98c7" providerId="ADAL" clId="{902FB08E-AD39-5366-8B4F-E9D6E67C2A38}" dt="2026-03-12T12:39:12.065" v="143" actId="120"/>
        <pc:sldMkLst>
          <pc:docMk/>
          <pc:sldMk cId="2119977243" sldId="271"/>
        </pc:sldMkLst>
        <pc:spChg chg="mod">
          <ac:chgData name="Mariano Torres" userId="1cae5b4b-ba01-4d06-9215-2b24011c98c7" providerId="ADAL" clId="{902FB08E-AD39-5366-8B4F-E9D6E67C2A38}" dt="2026-03-12T12:39:12.065" v="143" actId="120"/>
          <ac:spMkLst>
            <pc:docMk/>
            <pc:sldMk cId="2119977243" sldId="271"/>
            <ac:spMk id="11" creationId="{0B5F7BD0-6DBF-5447-8B94-BC6D8E11991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30_DD23216E.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41_26BE23C8.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146_EDD3C43D.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147_6DF60027.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131_F4B59C2B.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_142_A5463082.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_144_2A0F4F28.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_12F_3618F18.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_109_4AE08F02.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_133_187BBB6F.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_13A_E368356D.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_145_44131275.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_139_29BFAE8D.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_135_1525A76C.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_111_B873055F.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https://d.docs.live.net/d4fe98b3a314c773/FORMACI&#211;N%20SIEN%20-%20copia/INFORMES%20DE%20SEGUIMIENTO%20SMOS/Guardamar/INFORME%20DE%20DATIS/Gr&#225;ficos.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_13C_FE38C8DB.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_140_E5868861.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_13F_A817339.xlsx"/><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'Afluencia Turística'!$A$14</c:f>
              <c:strCache>
                <c:ptCount val="1"/>
                <c:pt idx="0">
                  <c:v>Turismo nacional</c:v>
                </c:pt>
              </c:strCache>
            </c:strRef>
          </c:tx>
          <c:spPr>
            <a:solidFill>
              <a:srgbClr val="00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000000"/>
                    </a:solidFill>
                    <a:latin typeface="Montserrat Medium" panose="000006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'Afluencia Turística'!$B$13:$H$13</c:f>
              <c:numCache>
                <c:formatCode>General</c:formatCode>
                <c:ptCount val="7"/>
                <c:pt idx="0">
                  <c:v>2019</c:v>
                </c:pt>
                <c:pt idx="1">
                  <c:v>2020</c:v>
                </c:pt>
                <c:pt idx="2">
                  <c:v>2021</c:v>
                </c:pt>
                <c:pt idx="3">
                  <c:v>2022</c:v>
                </c:pt>
                <c:pt idx="4">
                  <c:v>2023</c:v>
                </c:pt>
                <c:pt idx="5">
                  <c:v>2024</c:v>
                </c:pt>
                <c:pt idx="6">
                  <c:v>2025</c:v>
                </c:pt>
              </c:numCache>
            </c:numRef>
          </c:cat>
          <c:val>
            <c:numRef>
              <c:f>'Afluencia Turística'!$B$14:$H$14</c:f>
              <c:numCache>
                <c:formatCode>#,##0</c:formatCode>
                <c:ptCount val="7"/>
                <c:pt idx="0" formatCode="General">
                  <c:v>88301</c:v>
                </c:pt>
                <c:pt idx="1">
                  <c:v>77205</c:v>
                </c:pt>
                <c:pt idx="2">
                  <c:v>121672</c:v>
                </c:pt>
                <c:pt idx="3">
                  <c:v>125672</c:v>
                </c:pt>
                <c:pt idx="4">
                  <c:v>146354</c:v>
                </c:pt>
                <c:pt idx="5">
                  <c:v>142579</c:v>
                </c:pt>
                <c:pt idx="6">
                  <c:v>108961</c:v>
                </c:pt>
              </c:numCache>
            </c:numRef>
          </c:val>
          <c:extLst>
            <c:ext xmlns:c16="http://schemas.microsoft.com/office/drawing/2014/chart" uri="{C3380CC4-5D6E-409C-BE32-E72D297353CC}">
              <c16:uniqueId val="{00000000-E701-4B8F-9F38-EF5FAA1DFAA3}"/>
            </c:ext>
          </c:extLst>
        </c:ser>
        <c:ser>
          <c:idx val="1"/>
          <c:order val="1"/>
          <c:tx>
            <c:strRef>
              <c:f>'Afluencia Turística'!$A$15</c:f>
              <c:strCache>
                <c:ptCount val="1"/>
                <c:pt idx="0">
                  <c:v>Turismo internacional</c:v>
                </c:pt>
              </c:strCache>
            </c:strRef>
          </c:tx>
          <c:spPr>
            <a:solidFill>
              <a:srgbClr val="E62C4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E62C43"/>
                    </a:solidFill>
                    <a:latin typeface="Montserrat Medium" panose="000006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'Afluencia Turística'!$B$13:$H$13</c:f>
              <c:numCache>
                <c:formatCode>General</c:formatCode>
                <c:ptCount val="7"/>
                <c:pt idx="0">
                  <c:v>2019</c:v>
                </c:pt>
                <c:pt idx="1">
                  <c:v>2020</c:v>
                </c:pt>
                <c:pt idx="2">
                  <c:v>2021</c:v>
                </c:pt>
                <c:pt idx="3">
                  <c:v>2022</c:v>
                </c:pt>
                <c:pt idx="4">
                  <c:v>2023</c:v>
                </c:pt>
                <c:pt idx="5">
                  <c:v>2024</c:v>
                </c:pt>
                <c:pt idx="6">
                  <c:v>2025</c:v>
                </c:pt>
              </c:numCache>
            </c:numRef>
          </c:cat>
          <c:val>
            <c:numRef>
              <c:f>'Afluencia Turística'!$B$15:$H$15</c:f>
              <c:numCache>
                <c:formatCode>#,##0</c:formatCode>
                <c:ptCount val="7"/>
                <c:pt idx="0">
                  <c:v>51146</c:v>
                </c:pt>
                <c:pt idx="1">
                  <c:v>30187</c:v>
                </c:pt>
                <c:pt idx="2">
                  <c:v>49376</c:v>
                </c:pt>
                <c:pt idx="3">
                  <c:v>91144</c:v>
                </c:pt>
                <c:pt idx="4">
                  <c:v>112664</c:v>
                </c:pt>
                <c:pt idx="5">
                  <c:v>98748</c:v>
                </c:pt>
                <c:pt idx="6">
                  <c:v>127619</c:v>
                </c:pt>
              </c:numCache>
            </c:numRef>
          </c:val>
          <c:extLst>
            <c:ext xmlns:c16="http://schemas.microsoft.com/office/drawing/2014/chart" uri="{C3380CC4-5D6E-409C-BE32-E72D297353CC}">
              <c16:uniqueId val="{00000001-E701-4B8F-9F38-EF5FAA1DFAA3}"/>
            </c:ext>
          </c:extLst>
        </c:ser>
        <c:ser>
          <c:idx val="2"/>
          <c:order val="2"/>
          <c:tx>
            <c:strRef>
              <c:f>'Afluencia Turística'!$A$16</c:f>
              <c:strCache>
                <c:ptCount val="1"/>
                <c:pt idx="0">
                  <c:v>Afluencia total </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1" i="0" u="none" strike="noStrike" kern="1200" baseline="0">
                    <a:solidFill>
                      <a:schemeClr val="tx1">
                        <a:lumMod val="50000"/>
                        <a:lumOff val="50000"/>
                      </a:schemeClr>
                    </a:solidFill>
                    <a:effectLst/>
                    <a:latin typeface="Montserrat Medium" panose="000006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'Afluencia Turística'!$B$13:$H$13</c:f>
              <c:numCache>
                <c:formatCode>General</c:formatCode>
                <c:ptCount val="7"/>
                <c:pt idx="0">
                  <c:v>2019</c:v>
                </c:pt>
                <c:pt idx="1">
                  <c:v>2020</c:v>
                </c:pt>
                <c:pt idx="2">
                  <c:v>2021</c:v>
                </c:pt>
                <c:pt idx="3">
                  <c:v>2022</c:v>
                </c:pt>
                <c:pt idx="4">
                  <c:v>2023</c:v>
                </c:pt>
                <c:pt idx="5">
                  <c:v>2024</c:v>
                </c:pt>
                <c:pt idx="6">
                  <c:v>2025</c:v>
                </c:pt>
              </c:numCache>
            </c:numRef>
          </c:cat>
          <c:val>
            <c:numRef>
              <c:f>'Afluencia Turística'!$B$16:$H$16</c:f>
              <c:numCache>
                <c:formatCode>#,##0</c:formatCode>
                <c:ptCount val="7"/>
                <c:pt idx="0">
                  <c:v>139447</c:v>
                </c:pt>
                <c:pt idx="1">
                  <c:v>107392</c:v>
                </c:pt>
                <c:pt idx="2">
                  <c:v>171048</c:v>
                </c:pt>
                <c:pt idx="3">
                  <c:v>216816</c:v>
                </c:pt>
                <c:pt idx="4">
                  <c:v>259018</c:v>
                </c:pt>
                <c:pt idx="5">
                  <c:v>241327</c:v>
                </c:pt>
                <c:pt idx="6">
                  <c:v>236580</c:v>
                </c:pt>
              </c:numCache>
            </c:numRef>
          </c:val>
          <c:extLst>
            <c:ext xmlns:c16="http://schemas.microsoft.com/office/drawing/2014/chart" uri="{C3380CC4-5D6E-409C-BE32-E72D297353CC}">
              <c16:uniqueId val="{00000002-E701-4B8F-9F38-EF5FAA1DFAA3}"/>
            </c:ext>
          </c:extLst>
        </c:ser>
        <c:dLbls>
          <c:dLblPos val="outEnd"/>
          <c:showLegendKey val="0"/>
          <c:showVal val="1"/>
          <c:showCatName val="0"/>
          <c:showSerName val="0"/>
          <c:showPercent val="0"/>
          <c:showBubbleSize val="0"/>
        </c:dLbls>
        <c:gapWidth val="206"/>
        <c:overlap val="-90"/>
        <c:axId val="998914016"/>
        <c:axId val="998910656"/>
      </c:barChart>
      <c:catAx>
        <c:axId val="9989140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cap="all" spc="120" normalizeH="0" baseline="0">
                <a:solidFill>
                  <a:schemeClr val="bg1"/>
                </a:solidFill>
                <a:latin typeface="Montserrat Medium" panose="00000600000000000000" pitchFamily="2" charset="0"/>
                <a:ea typeface="+mn-ea"/>
                <a:cs typeface="+mn-cs"/>
              </a:defRPr>
            </a:pPr>
            <a:endParaRPr lang="es-ES"/>
          </a:p>
        </c:txPr>
        <c:crossAx val="998910656"/>
        <c:crosses val="autoZero"/>
        <c:auto val="1"/>
        <c:lblAlgn val="ctr"/>
        <c:lblOffset val="100"/>
        <c:noMultiLvlLbl val="0"/>
      </c:catAx>
      <c:valAx>
        <c:axId val="998910656"/>
        <c:scaling>
          <c:orientation val="minMax"/>
        </c:scaling>
        <c:delete val="1"/>
        <c:axPos val="l"/>
        <c:numFmt formatCode="General" sourceLinked="1"/>
        <c:majorTickMark val="out"/>
        <c:minorTickMark val="none"/>
        <c:tickLblPos val="nextTo"/>
        <c:crossAx val="9989140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ontserrat Medium" panose="00000600000000000000" pitchFamily="2" charset="0"/>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'Afluencia Turística'!$A$2:$A$8</c:f>
              <c:numCache>
                <c:formatCode>General</c:formatCode>
                <c:ptCount val="7"/>
                <c:pt idx="0">
                  <c:v>2019</c:v>
                </c:pt>
                <c:pt idx="1">
                  <c:v>2020</c:v>
                </c:pt>
                <c:pt idx="2">
                  <c:v>2021</c:v>
                </c:pt>
                <c:pt idx="3">
                  <c:v>2022</c:v>
                </c:pt>
                <c:pt idx="4">
                  <c:v>2023</c:v>
                </c:pt>
                <c:pt idx="5">
                  <c:v>2024</c:v>
                </c:pt>
                <c:pt idx="6">
                  <c:v>2025</c:v>
                </c:pt>
              </c:numCache>
            </c:numRef>
          </c:cat>
          <c:val>
            <c:numRef>
              <c:f>'Afluencia Turística'!$B$2:$B$8</c:f>
              <c:numCache>
                <c:formatCode>#,##0</c:formatCode>
                <c:ptCount val="7"/>
                <c:pt idx="0">
                  <c:v>88301</c:v>
                </c:pt>
                <c:pt idx="1">
                  <c:v>77205</c:v>
                </c:pt>
                <c:pt idx="2">
                  <c:v>121672</c:v>
                </c:pt>
                <c:pt idx="3">
                  <c:v>125672</c:v>
                </c:pt>
                <c:pt idx="4">
                  <c:v>146354</c:v>
                </c:pt>
                <c:pt idx="5">
                  <c:v>142579</c:v>
                </c:pt>
                <c:pt idx="6">
                  <c:v>108961</c:v>
                </c:pt>
              </c:numCache>
            </c:numRef>
          </c:val>
          <c:extLst>
            <c:ext xmlns:c16="http://schemas.microsoft.com/office/drawing/2014/chart" uri="{C3380CC4-5D6E-409C-BE32-E72D297353CC}">
              <c16:uniqueId val="{00000000-E587-419D-9879-73668BDE9B69}"/>
            </c:ext>
          </c:extLst>
        </c:ser>
        <c:dLbls>
          <c:showLegendKey val="0"/>
          <c:showVal val="1"/>
          <c:showCatName val="0"/>
          <c:showSerName val="0"/>
          <c:showPercent val="0"/>
          <c:showBubbleSize val="0"/>
        </c:dLbls>
        <c:gapWidth val="120"/>
        <c:overlap val="100"/>
        <c:axId val="1030208960"/>
        <c:axId val="1030206080"/>
      </c:barChart>
      <c:catAx>
        <c:axId val="1030208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ontserrat Medium" panose="00000600000000000000" pitchFamily="2" charset="0"/>
                <a:ea typeface="+mn-ea"/>
                <a:cs typeface="+mn-cs"/>
              </a:defRPr>
            </a:pPr>
            <a:endParaRPr lang="es-ES"/>
          </a:p>
        </c:txPr>
        <c:crossAx val="1030206080"/>
        <c:crosses val="autoZero"/>
        <c:auto val="1"/>
        <c:lblAlgn val="ctr"/>
        <c:lblOffset val="100"/>
        <c:noMultiLvlLbl val="0"/>
      </c:catAx>
      <c:valAx>
        <c:axId val="1030206080"/>
        <c:scaling>
          <c:orientation val="minMax"/>
        </c:scaling>
        <c:delete val="1"/>
        <c:axPos val="l"/>
        <c:numFmt formatCode="#,##0" sourceLinked="1"/>
        <c:majorTickMark val="none"/>
        <c:minorTickMark val="none"/>
        <c:tickLblPos val="nextTo"/>
        <c:crossAx val="10302089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2576589747455068E-2"/>
          <c:y val="6.63407800694783E-2"/>
          <c:w val="0.95033150255559884"/>
          <c:h val="0.84472946452778108"/>
        </c:manualLayout>
      </c:layout>
      <c:barChart>
        <c:barDir val="col"/>
        <c:grouping val="clustered"/>
        <c:varyColors val="0"/>
        <c:ser>
          <c:idx val="0"/>
          <c:order val="0"/>
          <c:tx>
            <c:strRef>
              <c:f>Hoja1!$B$1</c:f>
              <c:strCache>
                <c:ptCount val="1"/>
                <c:pt idx="0">
                  <c:v>Nacional</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Hoja1!$B$2:$B$5</c:f>
              <c:numCache>
                <c:formatCode>_-* #,##0_-;\-* #,##0_-;_-* "-"??_-;_-@_-</c:formatCode>
                <c:ptCount val="4"/>
                <c:pt idx="0">
                  <c:v>7573043</c:v>
                </c:pt>
                <c:pt idx="1">
                  <c:v>8354522</c:v>
                </c:pt>
                <c:pt idx="2">
                  <c:v>8423646</c:v>
                </c:pt>
                <c:pt idx="3">
                  <c:v>7161234</c:v>
                </c:pt>
              </c:numCache>
            </c:numRef>
          </c:val>
          <c:extLst>
            <c:ext xmlns:c16="http://schemas.microsoft.com/office/drawing/2014/chart" uri="{C3380CC4-5D6E-409C-BE32-E72D297353CC}">
              <c16:uniqueId val="{00000000-19EA-42C5-8DD0-1158456C63B8}"/>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Hoja1!$C$2:$C$5</c:f>
              <c:numCache>
                <c:formatCode>General</c:formatCode>
                <c:ptCount val="4"/>
              </c:numCache>
            </c:numRef>
          </c:val>
          <c:extLst>
            <c:ext xmlns:c16="http://schemas.microsoft.com/office/drawing/2014/chart" uri="{C3380CC4-5D6E-409C-BE32-E72D297353CC}">
              <c16:uniqueId val="{00000001-19EA-42C5-8DD0-1158456C63B8}"/>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Hoja1!$D$2:$D$5</c:f>
              <c:numCache>
                <c:formatCode>General</c:formatCode>
                <c:ptCount val="4"/>
              </c:numCache>
            </c:numRef>
          </c:val>
          <c:extLst>
            <c:ext xmlns:c16="http://schemas.microsoft.com/office/drawing/2014/chart" uri="{C3380CC4-5D6E-409C-BE32-E72D297353CC}">
              <c16:uniqueId val="{00000002-19EA-42C5-8DD0-1158456C63B8}"/>
            </c:ext>
          </c:extLst>
        </c:ser>
        <c:dLbls>
          <c:showLegendKey val="0"/>
          <c:showVal val="1"/>
          <c:showCatName val="0"/>
          <c:showSerName val="0"/>
          <c:showPercent val="0"/>
          <c:showBubbleSize val="0"/>
        </c:dLbls>
        <c:gapWidth val="18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8600000"/>
          <c:min val="0"/>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FFD58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Hoja1!$B$2:$B$5</c:f>
              <c:numCache>
                <c:formatCode>_-* #,##0_-;\-* #,##0_-;_-* "-"??_-;_-@_-</c:formatCode>
                <c:ptCount val="4"/>
                <c:pt idx="0">
                  <c:v>16227308</c:v>
                </c:pt>
                <c:pt idx="1">
                  <c:v>19382714</c:v>
                </c:pt>
                <c:pt idx="2">
                  <c:v>18935982</c:v>
                </c:pt>
                <c:pt idx="3">
                  <c:v>17088622</c:v>
                </c:pt>
              </c:numCache>
            </c:numRef>
          </c:val>
          <c:extLst>
            <c:ext xmlns:c16="http://schemas.microsoft.com/office/drawing/2014/chart" uri="{C3380CC4-5D6E-409C-BE32-E72D297353CC}">
              <c16:uniqueId val="{00000000-2740-4B89-BFFD-96FB887A7912}"/>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Hoja1!$C$2:$C$5</c:f>
              <c:numCache>
                <c:formatCode>General</c:formatCode>
                <c:ptCount val="4"/>
              </c:numCache>
            </c:numRef>
          </c:val>
          <c:extLst>
            <c:ext xmlns:c16="http://schemas.microsoft.com/office/drawing/2014/chart" uri="{C3380CC4-5D6E-409C-BE32-E72D297353CC}">
              <c16:uniqueId val="{00000001-2740-4B89-BFFD-96FB887A7912}"/>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Hoja1!$D$2:$D$5</c:f>
              <c:numCache>
                <c:formatCode>General</c:formatCode>
                <c:ptCount val="4"/>
              </c:numCache>
            </c:numRef>
          </c:val>
          <c:extLst>
            <c:ext xmlns:c16="http://schemas.microsoft.com/office/drawing/2014/chart" uri="{C3380CC4-5D6E-409C-BE32-E72D297353CC}">
              <c16:uniqueId val="{00000002-2740-4B89-BFFD-96FB887A7912}"/>
            </c:ext>
          </c:extLst>
        </c:ser>
        <c:dLbls>
          <c:showLegendKey val="0"/>
          <c:showVal val="1"/>
          <c:showCatName val="0"/>
          <c:showSerName val="0"/>
          <c:showPercent val="0"/>
          <c:showBubbleSize val="0"/>
        </c:dLbls>
        <c:gapWidth val="18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10000000"/>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'Afluencia Turística'!$B$19</c:f>
              <c:strCache>
                <c:ptCount val="1"/>
                <c:pt idx="0">
                  <c:v>2023</c:v>
                </c:pt>
              </c:strCache>
            </c:strRef>
          </c:tx>
          <c:spPr>
            <a:ln w="28575" cap="rnd">
              <a:solidFill>
                <a:srgbClr val="FFD58D"/>
              </a:solidFill>
              <a:prstDash val="sysDot"/>
              <a:round/>
            </a:ln>
            <a:effectLst/>
          </c:spPr>
          <c:marker>
            <c:symbol val="circle"/>
            <c:size val="5"/>
            <c:spPr>
              <a:solidFill>
                <a:srgbClr val="FFD58D"/>
              </a:solidFill>
              <a:ln w="9525">
                <a:solidFill>
                  <a:srgbClr val="FFD58D"/>
                </a:solidFill>
              </a:ln>
              <a:effectLst/>
            </c:spPr>
          </c:marker>
          <c:cat>
            <c:strRef>
              <c:f>'Afluencia Turística'!$A$20:$A$31</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Turística'!$B$20:$B$31</c:f>
              <c:numCache>
                <c:formatCode>#,##0</c:formatCode>
                <c:ptCount val="12"/>
                <c:pt idx="0">
                  <c:v>2724</c:v>
                </c:pt>
                <c:pt idx="1">
                  <c:v>2203</c:v>
                </c:pt>
                <c:pt idx="2">
                  <c:v>4170</c:v>
                </c:pt>
                <c:pt idx="3">
                  <c:v>16157</c:v>
                </c:pt>
                <c:pt idx="4">
                  <c:v>11161</c:v>
                </c:pt>
                <c:pt idx="5">
                  <c:v>9133</c:v>
                </c:pt>
                <c:pt idx="6">
                  <c:v>31275</c:v>
                </c:pt>
                <c:pt idx="7">
                  <c:v>37076</c:v>
                </c:pt>
                <c:pt idx="8">
                  <c:v>13748</c:v>
                </c:pt>
                <c:pt idx="9">
                  <c:v>8886</c:v>
                </c:pt>
                <c:pt idx="10">
                  <c:v>4083</c:v>
                </c:pt>
                <c:pt idx="11">
                  <c:v>5738</c:v>
                </c:pt>
              </c:numCache>
            </c:numRef>
          </c:val>
          <c:smooth val="0"/>
          <c:extLst>
            <c:ext xmlns:c16="http://schemas.microsoft.com/office/drawing/2014/chart" uri="{C3380CC4-5D6E-409C-BE32-E72D297353CC}">
              <c16:uniqueId val="{00000000-F248-40ED-9ADD-1E0525723942}"/>
            </c:ext>
          </c:extLst>
        </c:ser>
        <c:ser>
          <c:idx val="1"/>
          <c:order val="1"/>
          <c:tx>
            <c:strRef>
              <c:f>'Afluencia Turística'!$C$19</c:f>
              <c:strCache>
                <c:ptCount val="1"/>
                <c:pt idx="0">
                  <c:v>2024</c:v>
                </c:pt>
              </c:strCache>
            </c:strRef>
          </c:tx>
          <c:spPr>
            <a:ln w="28575" cap="rnd">
              <a:solidFill>
                <a:srgbClr val="F47856"/>
              </a:solidFill>
              <a:prstDash val="sysDot"/>
              <a:round/>
            </a:ln>
            <a:effectLst/>
          </c:spPr>
          <c:marker>
            <c:symbol val="circle"/>
            <c:size val="5"/>
            <c:spPr>
              <a:solidFill>
                <a:srgbClr val="F47856"/>
              </a:solidFill>
              <a:ln w="9525">
                <a:solidFill>
                  <a:srgbClr val="F47856"/>
                </a:solidFill>
              </a:ln>
              <a:effectLst/>
            </c:spPr>
          </c:marker>
          <c:cat>
            <c:strRef>
              <c:f>'Afluencia Turística'!$A$20:$A$31</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Turística'!$C$20:$C$31</c:f>
              <c:numCache>
                <c:formatCode>#,##0</c:formatCode>
                <c:ptCount val="12"/>
                <c:pt idx="0">
                  <c:v>3356</c:v>
                </c:pt>
                <c:pt idx="1">
                  <c:v>3567</c:v>
                </c:pt>
                <c:pt idx="2">
                  <c:v>11013</c:v>
                </c:pt>
                <c:pt idx="3">
                  <c:v>12173</c:v>
                </c:pt>
                <c:pt idx="4">
                  <c:v>11703</c:v>
                </c:pt>
                <c:pt idx="5">
                  <c:v>10832</c:v>
                </c:pt>
                <c:pt idx="6">
                  <c:v>27526</c:v>
                </c:pt>
                <c:pt idx="7">
                  <c:v>36109</c:v>
                </c:pt>
                <c:pt idx="8">
                  <c:v>14181</c:v>
                </c:pt>
                <c:pt idx="9">
                  <c:v>4534</c:v>
                </c:pt>
                <c:pt idx="10">
                  <c:v>3309</c:v>
                </c:pt>
                <c:pt idx="11">
                  <c:v>4276</c:v>
                </c:pt>
              </c:numCache>
            </c:numRef>
          </c:val>
          <c:smooth val="0"/>
          <c:extLst>
            <c:ext xmlns:c16="http://schemas.microsoft.com/office/drawing/2014/chart" uri="{C3380CC4-5D6E-409C-BE32-E72D297353CC}">
              <c16:uniqueId val="{00000001-F248-40ED-9ADD-1E0525723942}"/>
            </c:ext>
          </c:extLst>
        </c:ser>
        <c:ser>
          <c:idx val="2"/>
          <c:order val="2"/>
          <c:tx>
            <c:strRef>
              <c:f>'Afluencia Turística'!$D$19</c:f>
              <c:strCache>
                <c:ptCount val="1"/>
                <c:pt idx="0">
                  <c:v>2025</c:v>
                </c:pt>
              </c:strCache>
            </c:strRef>
          </c:tx>
          <c:spPr>
            <a:ln w="28575" cap="rnd">
              <a:solidFill>
                <a:srgbClr val="8D0000"/>
              </a:solidFill>
              <a:prstDash val="sysDot"/>
              <a:round/>
            </a:ln>
            <a:effectLst/>
          </c:spPr>
          <c:marker>
            <c:symbol val="circle"/>
            <c:size val="5"/>
            <c:spPr>
              <a:solidFill>
                <a:srgbClr val="8D0000"/>
              </a:solidFill>
              <a:ln w="9525">
                <a:solidFill>
                  <a:srgbClr val="8D0000"/>
                </a:solidFill>
              </a:ln>
              <a:effectLst/>
            </c:spPr>
          </c:marker>
          <c:cat>
            <c:strRef>
              <c:f>'Afluencia Turística'!$A$20:$A$31</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Turística'!$D$20:$D$31</c:f>
              <c:numCache>
                <c:formatCode>#,##0</c:formatCode>
                <c:ptCount val="12"/>
                <c:pt idx="0">
                  <c:v>3240</c:v>
                </c:pt>
                <c:pt idx="1">
                  <c:v>3551</c:v>
                </c:pt>
                <c:pt idx="2">
                  <c:v>4181</c:v>
                </c:pt>
                <c:pt idx="3">
                  <c:v>13154</c:v>
                </c:pt>
                <c:pt idx="4">
                  <c:v>10467</c:v>
                </c:pt>
                <c:pt idx="5">
                  <c:v>12883</c:v>
                </c:pt>
                <c:pt idx="6">
                  <c:v>21769</c:v>
                </c:pt>
                <c:pt idx="7">
                  <c:v>29164</c:v>
                </c:pt>
                <c:pt idx="8">
                  <c:v>11202</c:v>
                </c:pt>
                <c:pt idx="9">
                  <c:v>3218</c:v>
                </c:pt>
                <c:pt idx="10">
                  <c:v>3558</c:v>
                </c:pt>
                <c:pt idx="11">
                  <c:v>3041</c:v>
                </c:pt>
              </c:numCache>
            </c:numRef>
          </c:val>
          <c:smooth val="0"/>
          <c:extLst>
            <c:ext xmlns:c16="http://schemas.microsoft.com/office/drawing/2014/chart" uri="{C3380CC4-5D6E-409C-BE32-E72D297353CC}">
              <c16:uniqueId val="{00000002-F248-40ED-9ADD-1E0525723942}"/>
            </c:ext>
          </c:extLst>
        </c:ser>
        <c:dLbls>
          <c:showLegendKey val="0"/>
          <c:showVal val="0"/>
          <c:showCatName val="0"/>
          <c:showSerName val="0"/>
          <c:showPercent val="0"/>
          <c:showBubbleSize val="0"/>
        </c:dLbls>
        <c:marker val="1"/>
        <c:smooth val="0"/>
        <c:axId val="713891855"/>
        <c:axId val="713888975"/>
      </c:lineChart>
      <c:catAx>
        <c:axId val="713891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ontserrat Medium" panose="00000600000000000000" pitchFamily="2" charset="0"/>
                <a:ea typeface="+mn-ea"/>
                <a:cs typeface="+mn-cs"/>
              </a:defRPr>
            </a:pPr>
            <a:endParaRPr lang="es-ES"/>
          </a:p>
        </c:txPr>
        <c:crossAx val="713888975"/>
        <c:crosses val="autoZero"/>
        <c:auto val="1"/>
        <c:lblAlgn val="ctr"/>
        <c:lblOffset val="100"/>
        <c:noMultiLvlLbl val="0"/>
      </c:catAx>
      <c:valAx>
        <c:axId val="71388897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lumOff val="50000"/>
                  </a:schemeClr>
                </a:solidFill>
                <a:latin typeface="Montserrat Medium" panose="00000600000000000000" pitchFamily="2" charset="0"/>
                <a:ea typeface="+mn-ea"/>
                <a:cs typeface="+mn-cs"/>
              </a:defRPr>
            </a:pPr>
            <a:endParaRPr lang="es-ES"/>
          </a:p>
        </c:txPr>
        <c:crossAx val="71389185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'Afluencia Turística'!$G$126:$G$131</c:f>
              <c:strCache>
                <c:ptCount val="6"/>
                <c:pt idx="0">
                  <c:v>Madrid</c:v>
                </c:pt>
                <c:pt idx="1">
                  <c:v>Murcia</c:v>
                </c:pt>
                <c:pt idx="2">
                  <c:v>Albacete</c:v>
                </c:pt>
                <c:pt idx="3">
                  <c:v>Valencia</c:v>
                </c:pt>
                <c:pt idx="4">
                  <c:v>Ciudad Real</c:v>
                </c:pt>
                <c:pt idx="5">
                  <c:v>Toledo </c:v>
                </c:pt>
              </c:strCache>
            </c:strRef>
          </c:cat>
          <c:val>
            <c:numRef>
              <c:f>'Afluencia Turística'!$H$126:$H$131</c:f>
              <c:numCache>
                <c:formatCode>#,##0</c:formatCode>
                <c:ptCount val="6"/>
                <c:pt idx="0">
                  <c:v>69130</c:v>
                </c:pt>
                <c:pt idx="1">
                  <c:v>12726</c:v>
                </c:pt>
                <c:pt idx="2">
                  <c:v>7969</c:v>
                </c:pt>
                <c:pt idx="3">
                  <c:v>4295</c:v>
                </c:pt>
                <c:pt idx="4">
                  <c:v>2519</c:v>
                </c:pt>
                <c:pt idx="5">
                  <c:v>2329</c:v>
                </c:pt>
              </c:numCache>
            </c:numRef>
          </c:val>
          <c:extLst>
            <c:ext xmlns:c16="http://schemas.microsoft.com/office/drawing/2014/chart" uri="{C3380CC4-5D6E-409C-BE32-E72D297353CC}">
              <c16:uniqueId val="{00000000-B02C-4C9E-A4ED-7D3DA0CF3E61}"/>
            </c:ext>
          </c:extLst>
        </c:ser>
        <c:dLbls>
          <c:dLblPos val="outEnd"/>
          <c:showLegendKey val="0"/>
          <c:showVal val="1"/>
          <c:showCatName val="0"/>
          <c:showSerName val="0"/>
          <c:showPercent val="0"/>
          <c:showBubbleSize val="0"/>
        </c:dLbls>
        <c:gapWidth val="206"/>
        <c:overlap val="-90"/>
        <c:axId val="1221847632"/>
        <c:axId val="1221845232"/>
      </c:barChart>
      <c:catAx>
        <c:axId val="12218476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bg1"/>
                </a:solidFill>
                <a:latin typeface="Montserrat" panose="00000500000000000000" pitchFamily="2" charset="0"/>
                <a:ea typeface="+mn-ea"/>
                <a:cs typeface="+mn-cs"/>
              </a:defRPr>
            </a:pPr>
            <a:endParaRPr lang="es-ES"/>
          </a:p>
        </c:txPr>
        <c:crossAx val="1221845232"/>
        <c:crosses val="autoZero"/>
        <c:auto val="1"/>
        <c:lblAlgn val="ctr"/>
        <c:lblOffset val="100"/>
        <c:noMultiLvlLbl val="0"/>
      </c:catAx>
      <c:valAx>
        <c:axId val="1221845232"/>
        <c:scaling>
          <c:orientation val="minMax"/>
        </c:scaling>
        <c:delete val="1"/>
        <c:axPos val="l"/>
        <c:numFmt formatCode="#,##0" sourceLinked="1"/>
        <c:majorTickMark val="none"/>
        <c:minorTickMark val="none"/>
        <c:tickLblPos val="nextTo"/>
        <c:crossAx val="12218476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'Afluencia Turística'!$B$167</c:f>
              <c:strCache>
                <c:ptCount val="1"/>
                <c:pt idx="0">
                  <c:v>2024</c:v>
                </c:pt>
              </c:strCache>
            </c:strRef>
          </c:tx>
          <c:spPr>
            <a:ln w="28575" cap="rnd">
              <a:solidFill>
                <a:srgbClr val="F47856"/>
              </a:solidFill>
              <a:prstDash val="sysDot"/>
              <a:round/>
            </a:ln>
            <a:effectLst/>
          </c:spPr>
          <c:marker>
            <c:symbol val="circle"/>
            <c:size val="5"/>
            <c:spPr>
              <a:solidFill>
                <a:srgbClr val="F47856"/>
              </a:solidFill>
              <a:ln w="9525">
                <a:solidFill>
                  <a:srgbClr val="F47856"/>
                </a:solidFill>
              </a:ln>
              <a:effectLst/>
            </c:spPr>
          </c:marker>
          <c:cat>
            <c:strRef>
              <c:f>'Afluencia Turística'!$A$168:$A$179</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Turística'!$B$168:$B$179</c:f>
              <c:numCache>
                <c:formatCode>#,##0</c:formatCode>
                <c:ptCount val="12"/>
                <c:pt idx="0">
                  <c:v>1831</c:v>
                </c:pt>
                <c:pt idx="1">
                  <c:v>2224</c:v>
                </c:pt>
                <c:pt idx="2">
                  <c:v>7879</c:v>
                </c:pt>
                <c:pt idx="3">
                  <c:v>7891</c:v>
                </c:pt>
                <c:pt idx="4">
                  <c:v>8756</c:v>
                </c:pt>
                <c:pt idx="5">
                  <c:v>6456</c:v>
                </c:pt>
                <c:pt idx="6">
                  <c:v>18126</c:v>
                </c:pt>
                <c:pt idx="7">
                  <c:v>25106</c:v>
                </c:pt>
                <c:pt idx="8">
                  <c:v>9388</c:v>
                </c:pt>
                <c:pt idx="9">
                  <c:v>2616</c:v>
                </c:pt>
                <c:pt idx="10">
                  <c:v>1960</c:v>
                </c:pt>
                <c:pt idx="11">
                  <c:v>2816</c:v>
                </c:pt>
              </c:numCache>
            </c:numRef>
          </c:val>
          <c:smooth val="0"/>
          <c:extLst>
            <c:ext xmlns:c16="http://schemas.microsoft.com/office/drawing/2014/chart" uri="{C3380CC4-5D6E-409C-BE32-E72D297353CC}">
              <c16:uniqueId val="{00000000-183B-4649-9FF1-BCD7D9ACDCAC}"/>
            </c:ext>
          </c:extLst>
        </c:ser>
        <c:ser>
          <c:idx val="1"/>
          <c:order val="1"/>
          <c:tx>
            <c:strRef>
              <c:f>'Afluencia Turística'!$C$167</c:f>
              <c:strCache>
                <c:ptCount val="1"/>
                <c:pt idx="0">
                  <c:v>2025</c:v>
                </c:pt>
              </c:strCache>
            </c:strRef>
          </c:tx>
          <c:spPr>
            <a:ln w="28575" cap="rnd">
              <a:solidFill>
                <a:srgbClr val="8D0000"/>
              </a:solidFill>
              <a:prstDash val="sysDot"/>
              <a:round/>
            </a:ln>
            <a:effectLst/>
          </c:spPr>
          <c:marker>
            <c:symbol val="circle"/>
            <c:size val="5"/>
            <c:spPr>
              <a:solidFill>
                <a:srgbClr val="8D0000"/>
              </a:solidFill>
              <a:ln w="9525">
                <a:solidFill>
                  <a:srgbClr val="8D0000"/>
                </a:solidFill>
              </a:ln>
              <a:effectLst/>
            </c:spPr>
          </c:marker>
          <c:cat>
            <c:strRef>
              <c:f>'Afluencia Turística'!$A$168:$A$179</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Turística'!$C$168:$C$179</c:f>
              <c:numCache>
                <c:formatCode>#,##0</c:formatCode>
                <c:ptCount val="12"/>
                <c:pt idx="0">
                  <c:v>2014</c:v>
                </c:pt>
                <c:pt idx="1">
                  <c:v>1811</c:v>
                </c:pt>
                <c:pt idx="2">
                  <c:v>2057</c:v>
                </c:pt>
                <c:pt idx="3">
                  <c:v>9390</c:v>
                </c:pt>
                <c:pt idx="4">
                  <c:v>1910</c:v>
                </c:pt>
                <c:pt idx="5">
                  <c:v>6886</c:v>
                </c:pt>
                <c:pt idx="6">
                  <c:v>14285</c:v>
                </c:pt>
                <c:pt idx="7">
                  <c:v>20011</c:v>
                </c:pt>
                <c:pt idx="8">
                  <c:v>6848</c:v>
                </c:pt>
                <c:pt idx="9">
                  <c:v>1972</c:v>
                </c:pt>
                <c:pt idx="10">
                  <c:v>1972</c:v>
                </c:pt>
                <c:pt idx="11">
                  <c:v>1973</c:v>
                </c:pt>
              </c:numCache>
            </c:numRef>
          </c:val>
          <c:smooth val="0"/>
          <c:extLst>
            <c:ext xmlns:c16="http://schemas.microsoft.com/office/drawing/2014/chart" uri="{C3380CC4-5D6E-409C-BE32-E72D297353CC}">
              <c16:uniqueId val="{00000001-183B-4649-9FF1-BCD7D9ACDCAC}"/>
            </c:ext>
          </c:extLst>
        </c:ser>
        <c:dLbls>
          <c:showLegendKey val="0"/>
          <c:showVal val="0"/>
          <c:showCatName val="0"/>
          <c:showSerName val="0"/>
          <c:showPercent val="0"/>
          <c:showBubbleSize val="0"/>
        </c:dLbls>
        <c:marker val="1"/>
        <c:smooth val="0"/>
        <c:axId val="1891895199"/>
        <c:axId val="1891896639"/>
      </c:lineChart>
      <c:catAx>
        <c:axId val="18918951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ontserrat" panose="00000500000000000000" pitchFamily="2" charset="0"/>
                <a:ea typeface="+mn-ea"/>
                <a:cs typeface="+mn-cs"/>
              </a:defRPr>
            </a:pPr>
            <a:endParaRPr lang="es-ES"/>
          </a:p>
        </c:txPr>
        <c:crossAx val="1891896639"/>
        <c:crosses val="autoZero"/>
        <c:auto val="1"/>
        <c:lblAlgn val="ctr"/>
        <c:lblOffset val="100"/>
        <c:noMultiLvlLbl val="0"/>
      </c:catAx>
      <c:valAx>
        <c:axId val="189189663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es-ES"/>
          </a:p>
        </c:txPr>
        <c:crossAx val="189189519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ontserrat" panose="00000500000000000000" pitchFamily="2" charset="0"/>
              <a:ea typeface="+mn-ea"/>
              <a:cs typeface="+mn-cs"/>
            </a:defRPr>
          </a:pPr>
          <a:endParaRPr lang="es-ES"/>
        </a:p>
      </c:txPr>
    </c:legend>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E62C43"/>
            </a:solidFill>
            <a:ln>
              <a:noFill/>
            </a:ln>
            <a:effectLst/>
          </c:spPr>
          <c:invertIfNegative val="0"/>
          <c:dLbls>
            <c:dLbl>
              <c:idx val="6"/>
              <c:tx>
                <c:rich>
                  <a:bodyPr/>
                  <a:lstStyle/>
                  <a:p>
                    <a:fld id="{D399F096-8C98-4F87-BD46-C563BAE905BD}" type="VALUE">
                      <a:rPr lang="en-US">
                        <a:solidFill>
                          <a:schemeClr val="tx1">
                            <a:lumMod val="75000"/>
                            <a:lumOff val="25000"/>
                          </a:schemeClr>
                        </a:solidFill>
                      </a:rPr>
                      <a:pPr/>
                      <a:t>[VALOR]</a:t>
                    </a:fld>
                    <a:endParaRPr lang="es-E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79A-4A21-A5B7-E32E606EC139}"/>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ontserrat Medium" panose="00000600000000000000" pitchFamily="2" charset="0"/>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'Afluencia Turística'!$E$2:$E$8</c:f>
              <c:numCache>
                <c:formatCode>General</c:formatCode>
                <c:ptCount val="7"/>
                <c:pt idx="0">
                  <c:v>2019</c:v>
                </c:pt>
                <c:pt idx="1">
                  <c:v>2020</c:v>
                </c:pt>
                <c:pt idx="2">
                  <c:v>2021</c:v>
                </c:pt>
                <c:pt idx="3">
                  <c:v>2022</c:v>
                </c:pt>
                <c:pt idx="4">
                  <c:v>2023</c:v>
                </c:pt>
                <c:pt idx="5">
                  <c:v>2024</c:v>
                </c:pt>
                <c:pt idx="6">
                  <c:v>2025</c:v>
                </c:pt>
              </c:numCache>
            </c:numRef>
          </c:cat>
          <c:val>
            <c:numRef>
              <c:f>'Afluencia Turística'!$F$2:$F$8</c:f>
              <c:numCache>
                <c:formatCode>#,##0</c:formatCode>
                <c:ptCount val="7"/>
                <c:pt idx="0">
                  <c:v>51146</c:v>
                </c:pt>
                <c:pt idx="1">
                  <c:v>30187</c:v>
                </c:pt>
                <c:pt idx="2">
                  <c:v>49376</c:v>
                </c:pt>
                <c:pt idx="3">
                  <c:v>91144</c:v>
                </c:pt>
                <c:pt idx="4">
                  <c:v>112664</c:v>
                </c:pt>
                <c:pt idx="5">
                  <c:v>98748</c:v>
                </c:pt>
                <c:pt idx="6">
                  <c:v>127619</c:v>
                </c:pt>
              </c:numCache>
            </c:numRef>
          </c:val>
          <c:extLst>
            <c:ext xmlns:c16="http://schemas.microsoft.com/office/drawing/2014/chart" uri="{C3380CC4-5D6E-409C-BE32-E72D297353CC}">
              <c16:uniqueId val="{00000000-279A-4A21-A5B7-E32E606EC139}"/>
            </c:ext>
          </c:extLst>
        </c:ser>
        <c:dLbls>
          <c:showLegendKey val="0"/>
          <c:showVal val="1"/>
          <c:showCatName val="0"/>
          <c:showSerName val="0"/>
          <c:showPercent val="0"/>
          <c:showBubbleSize val="0"/>
        </c:dLbls>
        <c:gapWidth val="120"/>
        <c:overlap val="100"/>
        <c:axId val="998913056"/>
        <c:axId val="998913536"/>
      </c:barChart>
      <c:catAx>
        <c:axId val="998913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ontserrat Medium" panose="00000600000000000000" pitchFamily="2" charset="0"/>
                <a:ea typeface="+mn-ea"/>
                <a:cs typeface="+mn-cs"/>
              </a:defRPr>
            </a:pPr>
            <a:endParaRPr lang="es-ES"/>
          </a:p>
        </c:txPr>
        <c:crossAx val="998913536"/>
        <c:crosses val="autoZero"/>
        <c:auto val="1"/>
        <c:lblAlgn val="ctr"/>
        <c:lblOffset val="100"/>
        <c:noMultiLvlLbl val="0"/>
      </c:catAx>
      <c:valAx>
        <c:axId val="998913536"/>
        <c:scaling>
          <c:orientation val="minMax"/>
        </c:scaling>
        <c:delete val="1"/>
        <c:axPos val="l"/>
        <c:numFmt formatCode="#,##0" sourceLinked="1"/>
        <c:majorTickMark val="none"/>
        <c:minorTickMark val="none"/>
        <c:tickLblPos val="nextTo"/>
        <c:crossAx val="9989130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'Afluencia Turística'!$B$35</c:f>
              <c:strCache>
                <c:ptCount val="1"/>
                <c:pt idx="0">
                  <c:v>2023</c:v>
                </c:pt>
              </c:strCache>
            </c:strRef>
          </c:tx>
          <c:spPr>
            <a:ln w="28575" cap="rnd">
              <a:solidFill>
                <a:srgbClr val="FFD58D"/>
              </a:solidFill>
              <a:prstDash val="sysDot"/>
              <a:round/>
            </a:ln>
            <a:effectLst/>
          </c:spPr>
          <c:marker>
            <c:symbol val="circle"/>
            <c:size val="5"/>
            <c:spPr>
              <a:solidFill>
                <a:srgbClr val="FFD58D"/>
              </a:solidFill>
              <a:ln w="9525">
                <a:solidFill>
                  <a:srgbClr val="FFD58D"/>
                </a:solidFill>
              </a:ln>
              <a:effectLst/>
            </c:spPr>
          </c:marker>
          <c:cat>
            <c:strRef>
              <c:f>'Afluencia Turística'!$A$36:$A$47</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Turística'!$B$36:$B$47</c:f>
              <c:numCache>
                <c:formatCode>#,##0</c:formatCode>
                <c:ptCount val="12"/>
                <c:pt idx="0">
                  <c:v>5063</c:v>
                </c:pt>
                <c:pt idx="1">
                  <c:v>4400</c:v>
                </c:pt>
                <c:pt idx="2">
                  <c:v>6180</c:v>
                </c:pt>
                <c:pt idx="3">
                  <c:v>9059</c:v>
                </c:pt>
                <c:pt idx="4">
                  <c:v>9415</c:v>
                </c:pt>
                <c:pt idx="5">
                  <c:v>10635</c:v>
                </c:pt>
                <c:pt idx="6">
                  <c:v>14047</c:v>
                </c:pt>
                <c:pt idx="7">
                  <c:v>17503</c:v>
                </c:pt>
                <c:pt idx="8">
                  <c:v>12505</c:v>
                </c:pt>
                <c:pt idx="9">
                  <c:v>13204</c:v>
                </c:pt>
                <c:pt idx="10">
                  <c:v>6352</c:v>
                </c:pt>
                <c:pt idx="11">
                  <c:v>4301</c:v>
                </c:pt>
              </c:numCache>
            </c:numRef>
          </c:val>
          <c:smooth val="0"/>
          <c:extLst>
            <c:ext xmlns:c16="http://schemas.microsoft.com/office/drawing/2014/chart" uri="{C3380CC4-5D6E-409C-BE32-E72D297353CC}">
              <c16:uniqueId val="{00000000-EB33-41F4-8081-B43C61917B03}"/>
            </c:ext>
          </c:extLst>
        </c:ser>
        <c:ser>
          <c:idx val="1"/>
          <c:order val="1"/>
          <c:tx>
            <c:strRef>
              <c:f>'Afluencia Turística'!$C$35</c:f>
              <c:strCache>
                <c:ptCount val="1"/>
                <c:pt idx="0">
                  <c:v>2024</c:v>
                </c:pt>
              </c:strCache>
            </c:strRef>
          </c:tx>
          <c:spPr>
            <a:ln w="28575" cap="rnd">
              <a:solidFill>
                <a:schemeClr val="accent2"/>
              </a:solidFill>
              <a:prstDash val="sysDot"/>
              <a:round/>
            </a:ln>
            <a:effectLst/>
          </c:spPr>
          <c:marker>
            <c:symbol val="circle"/>
            <c:size val="5"/>
            <c:spPr>
              <a:solidFill>
                <a:srgbClr val="F47856"/>
              </a:solidFill>
              <a:ln w="9525">
                <a:solidFill>
                  <a:schemeClr val="accent2"/>
                </a:solidFill>
              </a:ln>
              <a:effectLst/>
            </c:spPr>
          </c:marker>
          <c:cat>
            <c:strRef>
              <c:f>'Afluencia Turística'!$A$36:$A$47</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Turística'!$C$36:$C$47</c:f>
              <c:numCache>
                <c:formatCode>#,##0</c:formatCode>
                <c:ptCount val="12"/>
                <c:pt idx="0">
                  <c:v>5517</c:v>
                </c:pt>
                <c:pt idx="1">
                  <c:v>4918</c:v>
                </c:pt>
                <c:pt idx="2">
                  <c:v>5812</c:v>
                </c:pt>
                <c:pt idx="3">
                  <c:v>8197</c:v>
                </c:pt>
                <c:pt idx="4">
                  <c:v>8884</c:v>
                </c:pt>
                <c:pt idx="5">
                  <c:v>8406</c:v>
                </c:pt>
                <c:pt idx="6">
                  <c:v>12060</c:v>
                </c:pt>
                <c:pt idx="7">
                  <c:v>13865</c:v>
                </c:pt>
                <c:pt idx="8">
                  <c:v>9246</c:v>
                </c:pt>
                <c:pt idx="9">
                  <c:v>11484</c:v>
                </c:pt>
                <c:pt idx="10">
                  <c:v>6104</c:v>
                </c:pt>
                <c:pt idx="11">
                  <c:v>4255</c:v>
                </c:pt>
              </c:numCache>
            </c:numRef>
          </c:val>
          <c:smooth val="0"/>
          <c:extLst>
            <c:ext xmlns:c16="http://schemas.microsoft.com/office/drawing/2014/chart" uri="{C3380CC4-5D6E-409C-BE32-E72D297353CC}">
              <c16:uniqueId val="{00000001-EB33-41F4-8081-B43C61917B03}"/>
            </c:ext>
          </c:extLst>
        </c:ser>
        <c:ser>
          <c:idx val="2"/>
          <c:order val="2"/>
          <c:tx>
            <c:strRef>
              <c:f>'Afluencia Turística'!$D$35</c:f>
              <c:strCache>
                <c:ptCount val="1"/>
                <c:pt idx="0">
                  <c:v>2025</c:v>
                </c:pt>
              </c:strCache>
            </c:strRef>
          </c:tx>
          <c:spPr>
            <a:ln w="28575" cap="rnd">
              <a:solidFill>
                <a:srgbClr val="8D0000"/>
              </a:solidFill>
              <a:prstDash val="sysDot"/>
              <a:round/>
            </a:ln>
            <a:effectLst/>
          </c:spPr>
          <c:marker>
            <c:symbol val="circle"/>
            <c:size val="5"/>
            <c:spPr>
              <a:solidFill>
                <a:srgbClr val="8D0000"/>
              </a:solidFill>
              <a:ln w="9525">
                <a:solidFill>
                  <a:srgbClr val="8D0000"/>
                </a:solidFill>
              </a:ln>
              <a:effectLst/>
            </c:spPr>
          </c:marker>
          <c:cat>
            <c:strRef>
              <c:f>'Afluencia Turística'!$A$36:$A$47</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Turística'!$D$36:$D$47</c:f>
              <c:numCache>
                <c:formatCode>#,##0</c:formatCode>
                <c:ptCount val="12"/>
                <c:pt idx="0">
                  <c:v>9910</c:v>
                </c:pt>
                <c:pt idx="1">
                  <c:v>4928</c:v>
                </c:pt>
                <c:pt idx="2">
                  <c:v>6274</c:v>
                </c:pt>
                <c:pt idx="3">
                  <c:v>10367</c:v>
                </c:pt>
                <c:pt idx="4">
                  <c:v>11460</c:v>
                </c:pt>
                <c:pt idx="5">
                  <c:v>12534</c:v>
                </c:pt>
                <c:pt idx="6">
                  <c:v>15474</c:v>
                </c:pt>
                <c:pt idx="7">
                  <c:v>17503</c:v>
                </c:pt>
                <c:pt idx="8">
                  <c:v>12474</c:v>
                </c:pt>
                <c:pt idx="9">
                  <c:v>13151</c:v>
                </c:pt>
                <c:pt idx="10">
                  <c:v>7960</c:v>
                </c:pt>
                <c:pt idx="11">
                  <c:v>5584</c:v>
                </c:pt>
              </c:numCache>
            </c:numRef>
          </c:val>
          <c:smooth val="0"/>
          <c:extLst>
            <c:ext xmlns:c16="http://schemas.microsoft.com/office/drawing/2014/chart" uri="{C3380CC4-5D6E-409C-BE32-E72D297353CC}">
              <c16:uniqueId val="{00000002-EB33-41F4-8081-B43C61917B03}"/>
            </c:ext>
          </c:extLst>
        </c:ser>
        <c:dLbls>
          <c:showLegendKey val="0"/>
          <c:showVal val="0"/>
          <c:showCatName val="0"/>
          <c:showSerName val="0"/>
          <c:showPercent val="0"/>
          <c:showBubbleSize val="0"/>
        </c:dLbls>
        <c:marker val="1"/>
        <c:smooth val="0"/>
        <c:axId val="991112048"/>
        <c:axId val="991112528"/>
      </c:lineChart>
      <c:catAx>
        <c:axId val="991112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ontserrat Medium" panose="00000600000000000000" pitchFamily="2" charset="0"/>
                <a:ea typeface="+mn-ea"/>
                <a:cs typeface="+mn-cs"/>
              </a:defRPr>
            </a:pPr>
            <a:endParaRPr lang="es-ES"/>
          </a:p>
        </c:txPr>
        <c:crossAx val="991112528"/>
        <c:crosses val="autoZero"/>
        <c:auto val="1"/>
        <c:lblAlgn val="ctr"/>
        <c:lblOffset val="100"/>
        <c:noMultiLvlLbl val="0"/>
      </c:catAx>
      <c:valAx>
        <c:axId val="99111252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lumOff val="50000"/>
                  </a:schemeClr>
                </a:solidFill>
                <a:latin typeface="Montserrat Medium" panose="00000600000000000000" pitchFamily="2" charset="0"/>
                <a:ea typeface="+mn-ea"/>
                <a:cs typeface="+mn-cs"/>
              </a:defRPr>
            </a:pPr>
            <a:endParaRPr lang="es-ES"/>
          </a:p>
        </c:txPr>
        <c:crossAx val="991112048"/>
        <c:crosses val="autoZero"/>
        <c:crossBetween val="between"/>
      </c:valAx>
      <c:spPr>
        <a:noFill/>
        <a:ln>
          <a:noFill/>
        </a:ln>
        <a:effectLst/>
      </c:spPr>
    </c:plotArea>
    <c:legend>
      <c:legendPos val="t"/>
      <c:layout>
        <c:manualLayout>
          <c:xMode val="edge"/>
          <c:yMode val="edge"/>
          <c:x val="0.26803715728715732"/>
          <c:y val="4.9388888888888892E-2"/>
          <c:w val="0.45934415584415583"/>
          <c:h val="6.374000000000000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E62C4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ontserrat Medium" panose="000006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'Afluencia Turística'!$A$64:$A$69</c:f>
              <c:strCache>
                <c:ptCount val="6"/>
                <c:pt idx="0">
                  <c:v>Reino Unido </c:v>
                </c:pt>
                <c:pt idx="1">
                  <c:v>Alemania</c:v>
                </c:pt>
                <c:pt idx="2">
                  <c:v>Bélgica</c:v>
                </c:pt>
                <c:pt idx="3">
                  <c:v>Países Bajos</c:v>
                </c:pt>
                <c:pt idx="4">
                  <c:v>Noruega</c:v>
                </c:pt>
                <c:pt idx="5">
                  <c:v>Francia </c:v>
                </c:pt>
              </c:strCache>
            </c:strRef>
          </c:cat>
          <c:val>
            <c:numRef>
              <c:f>'Afluencia Turística'!$B$64:$B$69</c:f>
              <c:numCache>
                <c:formatCode>#,##0</c:formatCode>
                <c:ptCount val="6"/>
                <c:pt idx="0">
                  <c:v>30937</c:v>
                </c:pt>
                <c:pt idx="1">
                  <c:v>13652</c:v>
                </c:pt>
                <c:pt idx="2">
                  <c:v>12915</c:v>
                </c:pt>
                <c:pt idx="3">
                  <c:v>10587</c:v>
                </c:pt>
                <c:pt idx="4">
                  <c:v>9674</c:v>
                </c:pt>
                <c:pt idx="5">
                  <c:v>9100</c:v>
                </c:pt>
              </c:numCache>
            </c:numRef>
          </c:val>
          <c:extLst>
            <c:ext xmlns:c16="http://schemas.microsoft.com/office/drawing/2014/chart" uri="{C3380CC4-5D6E-409C-BE32-E72D297353CC}">
              <c16:uniqueId val="{00000000-E84A-4E40-89BD-EDCB4B61E63F}"/>
            </c:ext>
          </c:extLst>
        </c:ser>
        <c:dLbls>
          <c:dLblPos val="outEnd"/>
          <c:showLegendKey val="0"/>
          <c:showVal val="1"/>
          <c:showCatName val="0"/>
          <c:showSerName val="0"/>
          <c:showPercent val="0"/>
          <c:showBubbleSize val="0"/>
        </c:dLbls>
        <c:gapWidth val="206"/>
        <c:overlap val="-90"/>
        <c:axId val="780911135"/>
        <c:axId val="780896735"/>
      </c:barChart>
      <c:catAx>
        <c:axId val="78091113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cap="all" spc="120" normalizeH="0" baseline="0">
                <a:solidFill>
                  <a:schemeClr val="bg1"/>
                </a:solidFill>
                <a:latin typeface="Montserrat" panose="00000500000000000000" pitchFamily="2" charset="0"/>
                <a:ea typeface="+mn-ea"/>
                <a:cs typeface="+mn-cs"/>
              </a:defRPr>
            </a:pPr>
            <a:endParaRPr lang="es-ES"/>
          </a:p>
        </c:txPr>
        <c:crossAx val="780896735"/>
        <c:crosses val="autoZero"/>
        <c:auto val="1"/>
        <c:lblAlgn val="ctr"/>
        <c:lblOffset val="100"/>
        <c:noMultiLvlLbl val="0"/>
      </c:catAx>
      <c:valAx>
        <c:axId val="780896735"/>
        <c:scaling>
          <c:orientation val="minMax"/>
        </c:scaling>
        <c:delete val="1"/>
        <c:axPos val="l"/>
        <c:numFmt formatCode="#,##0" sourceLinked="1"/>
        <c:majorTickMark val="none"/>
        <c:minorTickMark val="none"/>
        <c:tickLblPos val="nextTo"/>
        <c:crossAx val="78091113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'Afluencia Turística'!$B$151</c:f>
              <c:strCache>
                <c:ptCount val="1"/>
                <c:pt idx="0">
                  <c:v>2024</c:v>
                </c:pt>
              </c:strCache>
            </c:strRef>
          </c:tx>
          <c:spPr>
            <a:ln w="28575" cap="rnd">
              <a:solidFill>
                <a:srgbClr val="FFD58D"/>
              </a:solidFill>
              <a:prstDash val="sysDot"/>
              <a:round/>
            </a:ln>
            <a:effectLst/>
          </c:spPr>
          <c:marker>
            <c:symbol val="circle"/>
            <c:size val="5"/>
            <c:spPr>
              <a:solidFill>
                <a:srgbClr val="F47856"/>
              </a:solidFill>
              <a:ln w="9525">
                <a:solidFill>
                  <a:srgbClr val="FFD58D"/>
                </a:solidFill>
              </a:ln>
              <a:effectLst/>
            </c:spPr>
          </c:marker>
          <c:cat>
            <c:strRef>
              <c:f>'Afluencia Turística'!$A$152:$A$163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Turística'!$B$152:$B$163</c:f>
              <c:numCache>
                <c:formatCode>#,##0</c:formatCode>
                <c:ptCount val="12"/>
                <c:pt idx="0" formatCode="General">
                  <c:v>964</c:v>
                </c:pt>
                <c:pt idx="1">
                  <c:v>1148</c:v>
                </c:pt>
                <c:pt idx="2">
                  <c:v>1279</c:v>
                </c:pt>
                <c:pt idx="3">
                  <c:v>2045</c:v>
                </c:pt>
                <c:pt idx="4">
                  <c:v>2247</c:v>
                </c:pt>
                <c:pt idx="5">
                  <c:v>1978</c:v>
                </c:pt>
                <c:pt idx="6">
                  <c:v>2460</c:v>
                </c:pt>
                <c:pt idx="7">
                  <c:v>2949</c:v>
                </c:pt>
                <c:pt idx="8">
                  <c:v>2332</c:v>
                </c:pt>
                <c:pt idx="9">
                  <c:v>2490</c:v>
                </c:pt>
                <c:pt idx="10">
                  <c:v>1139</c:v>
                </c:pt>
                <c:pt idx="11" formatCode="General">
                  <c:v>740</c:v>
                </c:pt>
              </c:numCache>
            </c:numRef>
          </c:val>
          <c:smooth val="0"/>
          <c:extLst>
            <c:ext xmlns:c16="http://schemas.microsoft.com/office/drawing/2014/chart" uri="{C3380CC4-5D6E-409C-BE32-E72D297353CC}">
              <c16:uniqueId val="{00000000-4EF5-464E-9FB8-74751F2C3231}"/>
            </c:ext>
          </c:extLst>
        </c:ser>
        <c:ser>
          <c:idx val="1"/>
          <c:order val="1"/>
          <c:tx>
            <c:strRef>
              <c:f>'Afluencia Turística'!$C$151</c:f>
              <c:strCache>
                <c:ptCount val="1"/>
                <c:pt idx="0">
                  <c:v>2025</c:v>
                </c:pt>
              </c:strCache>
            </c:strRef>
          </c:tx>
          <c:spPr>
            <a:ln w="28575" cap="rnd">
              <a:solidFill>
                <a:srgbClr val="8D0000"/>
              </a:solidFill>
              <a:prstDash val="sysDot"/>
              <a:round/>
            </a:ln>
            <a:effectLst/>
          </c:spPr>
          <c:marker>
            <c:symbol val="circle"/>
            <c:size val="5"/>
            <c:spPr>
              <a:solidFill>
                <a:srgbClr val="8D0000"/>
              </a:solidFill>
              <a:ln w="9525">
                <a:solidFill>
                  <a:srgbClr val="8D0000"/>
                </a:solidFill>
              </a:ln>
              <a:effectLst/>
            </c:spPr>
          </c:marker>
          <c:cat>
            <c:strRef>
              <c:f>'Afluencia Turística'!$A$152:$A$163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Turística'!$C$152:$C$163</c:f>
              <c:numCache>
                <c:formatCode>General</c:formatCode>
                <c:ptCount val="12"/>
                <c:pt idx="0" formatCode="#,##0">
                  <c:v>1754</c:v>
                </c:pt>
                <c:pt idx="1">
                  <c:v>997</c:v>
                </c:pt>
                <c:pt idx="2" formatCode="#,##0">
                  <c:v>1326</c:v>
                </c:pt>
                <c:pt idx="3" formatCode="#,##0">
                  <c:v>2926</c:v>
                </c:pt>
                <c:pt idx="4" formatCode="#,##0">
                  <c:v>3284</c:v>
                </c:pt>
                <c:pt idx="5" formatCode="#,##0">
                  <c:v>3512</c:v>
                </c:pt>
                <c:pt idx="6" formatCode="#,##0">
                  <c:v>3512</c:v>
                </c:pt>
                <c:pt idx="7" formatCode="#,##0">
                  <c:v>4218</c:v>
                </c:pt>
                <c:pt idx="8" formatCode="#,##0">
                  <c:v>3390</c:v>
                </c:pt>
                <c:pt idx="9" formatCode="#,##0">
                  <c:v>3217</c:v>
                </c:pt>
                <c:pt idx="10" formatCode="#,##0">
                  <c:v>1629</c:v>
                </c:pt>
                <c:pt idx="11" formatCode="#,##0">
                  <c:v>1291</c:v>
                </c:pt>
              </c:numCache>
            </c:numRef>
          </c:val>
          <c:smooth val="0"/>
          <c:extLst>
            <c:ext xmlns:c16="http://schemas.microsoft.com/office/drawing/2014/chart" uri="{C3380CC4-5D6E-409C-BE32-E72D297353CC}">
              <c16:uniqueId val="{00000001-4EF5-464E-9FB8-74751F2C3231}"/>
            </c:ext>
          </c:extLst>
        </c:ser>
        <c:dLbls>
          <c:showLegendKey val="0"/>
          <c:showVal val="0"/>
          <c:showCatName val="0"/>
          <c:showSerName val="0"/>
          <c:showPercent val="0"/>
          <c:showBubbleSize val="0"/>
        </c:dLbls>
        <c:marker val="1"/>
        <c:smooth val="0"/>
        <c:axId val="988933263"/>
        <c:axId val="988931823"/>
      </c:lineChart>
      <c:catAx>
        <c:axId val="988933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ontserrat" panose="00000500000000000000" pitchFamily="2" charset="0"/>
                <a:ea typeface="+mn-ea"/>
                <a:cs typeface="+mn-cs"/>
              </a:defRPr>
            </a:pPr>
            <a:endParaRPr lang="es-ES"/>
          </a:p>
        </c:txPr>
        <c:crossAx val="988931823"/>
        <c:crosses val="autoZero"/>
        <c:auto val="1"/>
        <c:lblAlgn val="ctr"/>
        <c:lblOffset val="100"/>
        <c:noMultiLvlLbl val="0"/>
      </c:catAx>
      <c:valAx>
        <c:axId val="9889318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es-ES"/>
          </a:p>
        </c:txPr>
        <c:crossAx val="9889332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es-E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'Afluencia Turística'!$B$87</c:f>
              <c:strCache>
                <c:ptCount val="1"/>
                <c:pt idx="0">
                  <c:v>Población flotante</c:v>
                </c:pt>
              </c:strCache>
            </c:strRef>
          </c:tx>
          <c:spPr>
            <a:solidFill>
              <a:srgbClr val="E62C4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'Afluencia Turística'!$A$88:$A$90</c:f>
              <c:numCache>
                <c:formatCode>General</c:formatCode>
                <c:ptCount val="3"/>
                <c:pt idx="0">
                  <c:v>2023</c:v>
                </c:pt>
                <c:pt idx="1">
                  <c:v>2024</c:v>
                </c:pt>
                <c:pt idx="2">
                  <c:v>2025</c:v>
                </c:pt>
              </c:numCache>
            </c:numRef>
          </c:cat>
          <c:val>
            <c:numRef>
              <c:f>'Afluencia Turística'!$B$88:$B$90</c:f>
              <c:numCache>
                <c:formatCode>#,##0</c:formatCode>
                <c:ptCount val="3"/>
                <c:pt idx="0">
                  <c:v>60616</c:v>
                </c:pt>
                <c:pt idx="1">
                  <c:v>56339</c:v>
                </c:pt>
                <c:pt idx="2">
                  <c:v>58335</c:v>
                </c:pt>
              </c:numCache>
            </c:numRef>
          </c:val>
          <c:extLst>
            <c:ext xmlns:c16="http://schemas.microsoft.com/office/drawing/2014/chart" uri="{C3380CC4-5D6E-409C-BE32-E72D297353CC}">
              <c16:uniqueId val="{00000000-1618-4E6C-90BB-83B77A92CB23}"/>
            </c:ext>
          </c:extLst>
        </c:ser>
        <c:ser>
          <c:idx val="1"/>
          <c:order val="1"/>
          <c:tx>
            <c:strRef>
              <c:f>'Afluencia Turística'!$C$87</c:f>
              <c:strCache>
                <c:ptCount val="1"/>
                <c:pt idx="0">
                  <c:v>Población residente</c:v>
                </c:pt>
              </c:strCache>
            </c:strRef>
          </c:tx>
          <c:spPr>
            <a:solidFill>
              <a:srgbClr val="00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'Afluencia Turística'!$A$88:$A$90</c:f>
              <c:numCache>
                <c:formatCode>General</c:formatCode>
                <c:ptCount val="3"/>
                <c:pt idx="0">
                  <c:v>2023</c:v>
                </c:pt>
                <c:pt idx="1">
                  <c:v>2024</c:v>
                </c:pt>
                <c:pt idx="2">
                  <c:v>2025</c:v>
                </c:pt>
              </c:numCache>
            </c:numRef>
          </c:cat>
          <c:val>
            <c:numRef>
              <c:f>'Afluencia Turística'!$C$88:$C$90</c:f>
              <c:numCache>
                <c:formatCode>#,##0</c:formatCode>
                <c:ptCount val="3"/>
                <c:pt idx="0">
                  <c:v>24672</c:v>
                </c:pt>
                <c:pt idx="1">
                  <c:v>30650</c:v>
                </c:pt>
                <c:pt idx="2">
                  <c:v>22913</c:v>
                </c:pt>
              </c:numCache>
            </c:numRef>
          </c:val>
          <c:extLst>
            <c:ext xmlns:c16="http://schemas.microsoft.com/office/drawing/2014/chart" uri="{C3380CC4-5D6E-409C-BE32-E72D297353CC}">
              <c16:uniqueId val="{00000001-1618-4E6C-90BB-83B77A92CB23}"/>
            </c:ext>
          </c:extLst>
        </c:ser>
        <c:dLbls>
          <c:dLblPos val="outEnd"/>
          <c:showLegendKey val="0"/>
          <c:showVal val="1"/>
          <c:showCatName val="0"/>
          <c:showSerName val="0"/>
          <c:showPercent val="0"/>
          <c:showBubbleSize val="0"/>
        </c:dLbls>
        <c:gapWidth val="206"/>
        <c:overlap val="-90"/>
        <c:axId val="981609855"/>
        <c:axId val="981613215"/>
      </c:barChart>
      <c:catAx>
        <c:axId val="9816098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cap="all" spc="120" normalizeH="0" baseline="0">
                <a:solidFill>
                  <a:schemeClr val="bg1"/>
                </a:solidFill>
                <a:latin typeface="Montserrat" panose="00000500000000000000" pitchFamily="2" charset="0"/>
                <a:ea typeface="+mn-ea"/>
                <a:cs typeface="+mn-cs"/>
              </a:defRPr>
            </a:pPr>
            <a:endParaRPr lang="es-ES"/>
          </a:p>
        </c:txPr>
        <c:crossAx val="981613215"/>
        <c:crosses val="autoZero"/>
        <c:auto val="1"/>
        <c:lblAlgn val="ctr"/>
        <c:lblOffset val="100"/>
        <c:noMultiLvlLbl val="0"/>
      </c:catAx>
      <c:valAx>
        <c:axId val="981613215"/>
        <c:scaling>
          <c:orientation val="minMax"/>
        </c:scaling>
        <c:delete val="1"/>
        <c:axPos val="l"/>
        <c:numFmt formatCode="#,##0" sourceLinked="1"/>
        <c:majorTickMark val="none"/>
        <c:minorTickMark val="none"/>
        <c:tickLblPos val="nextTo"/>
        <c:crossAx val="98160985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'Afluencia Turística'!$B$104</c:f>
              <c:strCache>
                <c:ptCount val="1"/>
                <c:pt idx="0">
                  <c:v>Población residente</c:v>
                </c:pt>
              </c:strCache>
            </c:strRef>
          </c:tx>
          <c:spPr>
            <a:ln w="28575" cap="rnd">
              <a:solidFill>
                <a:srgbClr val="373736"/>
              </a:solidFill>
              <a:prstDash val="sysDot"/>
              <a:round/>
            </a:ln>
            <a:effectLst/>
          </c:spPr>
          <c:marker>
            <c:symbol val="circle"/>
            <c:size val="5"/>
            <c:spPr>
              <a:solidFill>
                <a:srgbClr val="373736"/>
              </a:solidFill>
              <a:ln w="9525">
                <a:solidFill>
                  <a:srgbClr val="373736"/>
                </a:solidFill>
                <a:prstDash val="sysDot"/>
              </a:ln>
              <a:effectLst/>
            </c:spPr>
          </c:marker>
          <c:dPt>
            <c:idx val="0"/>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1-8ACD-422F-8BBD-F9BC005BB0DB}"/>
              </c:ext>
            </c:extLst>
          </c:dPt>
          <c:dPt>
            <c:idx val="1"/>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8-8ACD-422F-8BBD-F9BC005BB0DB}"/>
              </c:ext>
            </c:extLst>
          </c:dPt>
          <c:dPt>
            <c:idx val="2"/>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C-8ACD-422F-8BBD-F9BC005BB0DB}"/>
              </c:ext>
            </c:extLst>
          </c:dPt>
          <c:dPt>
            <c:idx val="3"/>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7-8ACD-422F-8BBD-F9BC005BB0DB}"/>
              </c:ext>
            </c:extLst>
          </c:dPt>
          <c:dPt>
            <c:idx val="4"/>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6-8ACD-422F-8BBD-F9BC005BB0DB}"/>
              </c:ext>
            </c:extLst>
          </c:dPt>
          <c:dPt>
            <c:idx val="5"/>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5-8ACD-422F-8BBD-F9BC005BB0DB}"/>
              </c:ext>
            </c:extLst>
          </c:dPt>
          <c:dPt>
            <c:idx val="6"/>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4-8ACD-422F-8BBD-F9BC005BB0DB}"/>
              </c:ext>
            </c:extLst>
          </c:dPt>
          <c:dPt>
            <c:idx val="7"/>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3-8ACD-422F-8BBD-F9BC005BB0DB}"/>
              </c:ext>
            </c:extLst>
          </c:dPt>
          <c:dPt>
            <c:idx val="8"/>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2-8ACD-422F-8BBD-F9BC005BB0DB}"/>
              </c:ext>
            </c:extLst>
          </c:dPt>
          <c:dPt>
            <c:idx val="9"/>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9-8ACD-422F-8BBD-F9BC005BB0DB}"/>
              </c:ext>
            </c:extLst>
          </c:dPt>
          <c:dPt>
            <c:idx val="10"/>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A-8ACD-422F-8BBD-F9BC005BB0DB}"/>
              </c:ext>
            </c:extLst>
          </c:dPt>
          <c:dPt>
            <c:idx val="11"/>
            <c:marker>
              <c:symbol val="circle"/>
              <c:size val="5"/>
              <c:spPr>
                <a:solidFill>
                  <a:srgbClr val="373736"/>
                </a:solidFill>
                <a:ln w="9525">
                  <a:solidFill>
                    <a:srgbClr val="373736"/>
                  </a:solidFill>
                  <a:prstDash val="sysDot"/>
                </a:ln>
                <a:effectLst/>
              </c:spPr>
            </c:marker>
            <c:bubble3D val="0"/>
            <c:extLst>
              <c:ext xmlns:c16="http://schemas.microsoft.com/office/drawing/2014/chart" uri="{C3380CC4-5D6E-409C-BE32-E72D297353CC}">
                <c16:uniqueId val="{0000000B-8ACD-422F-8BBD-F9BC005BB0DB}"/>
              </c:ext>
            </c:extLst>
          </c:dPt>
          <c:cat>
            <c:strRef>
              <c:f>'Afluencia Turística'!$A$105:$A$116</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Turística'!$B$105:$B$116</c:f>
              <c:numCache>
                <c:formatCode>#,##0</c:formatCode>
                <c:ptCount val="12"/>
                <c:pt idx="0">
                  <c:v>22913</c:v>
                </c:pt>
                <c:pt idx="1">
                  <c:v>22913</c:v>
                </c:pt>
                <c:pt idx="2">
                  <c:v>22913</c:v>
                </c:pt>
                <c:pt idx="3">
                  <c:v>22913</c:v>
                </c:pt>
                <c:pt idx="4">
                  <c:v>22913</c:v>
                </c:pt>
                <c:pt idx="5">
                  <c:v>22913</c:v>
                </c:pt>
                <c:pt idx="6">
                  <c:v>22913</c:v>
                </c:pt>
                <c:pt idx="7">
                  <c:v>22913</c:v>
                </c:pt>
                <c:pt idx="8">
                  <c:v>22913</c:v>
                </c:pt>
                <c:pt idx="9">
                  <c:v>22913</c:v>
                </c:pt>
                <c:pt idx="10">
                  <c:v>22913</c:v>
                </c:pt>
                <c:pt idx="11">
                  <c:v>22913</c:v>
                </c:pt>
              </c:numCache>
            </c:numRef>
          </c:val>
          <c:smooth val="0"/>
          <c:extLst>
            <c:ext xmlns:c16="http://schemas.microsoft.com/office/drawing/2014/chart" uri="{C3380CC4-5D6E-409C-BE32-E72D297353CC}">
              <c16:uniqueId val="{00000001-D223-41AF-AB0B-838D634F07CC}"/>
            </c:ext>
          </c:extLst>
        </c:ser>
        <c:ser>
          <c:idx val="0"/>
          <c:order val="1"/>
          <c:tx>
            <c:strRef>
              <c:f>'Afluencia Turística'!$C$104</c:f>
              <c:strCache>
                <c:ptCount val="1"/>
                <c:pt idx="0">
                  <c:v>Población flotante</c:v>
                </c:pt>
              </c:strCache>
            </c:strRef>
          </c:tx>
          <c:spPr>
            <a:ln w="28575" cap="rnd">
              <a:solidFill>
                <a:srgbClr val="E62C43"/>
              </a:solidFill>
              <a:prstDash val="sysDot"/>
              <a:round/>
            </a:ln>
            <a:effectLst/>
          </c:spPr>
          <c:marker>
            <c:symbol val="circle"/>
            <c:size val="5"/>
            <c:spPr>
              <a:solidFill>
                <a:srgbClr val="E62C43"/>
              </a:solidFill>
              <a:ln w="9525">
                <a:solidFill>
                  <a:srgbClr val="E62C43"/>
                </a:solidFill>
                <a:prstDash val="sysDot"/>
              </a:ln>
              <a:effectLst/>
            </c:spPr>
          </c:marker>
          <c:cat>
            <c:strRef>
              <c:f>'Afluencia Turística'!$A$105:$A$116</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'Afluencia Turística'!$C$105:$C$116</c:f>
              <c:numCache>
                <c:formatCode>#,##0</c:formatCode>
                <c:ptCount val="12"/>
                <c:pt idx="0">
                  <c:v>20262</c:v>
                </c:pt>
                <c:pt idx="1">
                  <c:v>22189</c:v>
                </c:pt>
                <c:pt idx="2">
                  <c:v>23527</c:v>
                </c:pt>
                <c:pt idx="3">
                  <c:v>26885</c:v>
                </c:pt>
                <c:pt idx="4">
                  <c:v>25683</c:v>
                </c:pt>
                <c:pt idx="5">
                  <c:v>35934</c:v>
                </c:pt>
                <c:pt idx="6">
                  <c:v>49847</c:v>
                </c:pt>
                <c:pt idx="7">
                  <c:v>57858</c:v>
                </c:pt>
                <c:pt idx="8">
                  <c:v>34853</c:v>
                </c:pt>
                <c:pt idx="9">
                  <c:v>27008</c:v>
                </c:pt>
                <c:pt idx="10">
                  <c:v>20548</c:v>
                </c:pt>
                <c:pt idx="11">
                  <c:v>20692</c:v>
                </c:pt>
              </c:numCache>
            </c:numRef>
          </c:val>
          <c:smooth val="0"/>
          <c:extLst>
            <c:ext xmlns:c16="http://schemas.microsoft.com/office/drawing/2014/chart" uri="{C3380CC4-5D6E-409C-BE32-E72D297353CC}">
              <c16:uniqueId val="{00000000-8ACD-422F-8BBD-F9BC005BB0DB}"/>
            </c:ext>
          </c:extLst>
        </c:ser>
        <c:dLbls>
          <c:showLegendKey val="0"/>
          <c:showVal val="0"/>
          <c:showCatName val="0"/>
          <c:showSerName val="0"/>
          <c:showPercent val="0"/>
          <c:showBubbleSize val="0"/>
        </c:dLbls>
        <c:marker val="1"/>
        <c:smooth val="0"/>
        <c:axId val="984766303"/>
        <c:axId val="984757663"/>
      </c:lineChart>
      <c:catAx>
        <c:axId val="984766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bg1"/>
                </a:solidFill>
                <a:latin typeface="Montserrat" panose="00000500000000000000" pitchFamily="2" charset="0"/>
                <a:ea typeface="+mn-ea"/>
                <a:cs typeface="+mn-cs"/>
              </a:defRPr>
            </a:pPr>
            <a:endParaRPr lang="es-ES"/>
          </a:p>
        </c:txPr>
        <c:crossAx val="984757663"/>
        <c:crosses val="autoZero"/>
        <c:auto val="1"/>
        <c:lblAlgn val="ctr"/>
        <c:lblOffset val="100"/>
        <c:noMultiLvlLbl val="0"/>
      </c:catAx>
      <c:valAx>
        <c:axId val="984757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bg2">
                    <a:lumMod val="75000"/>
                  </a:schemeClr>
                </a:solidFill>
                <a:latin typeface="Montserrat" panose="00000500000000000000" pitchFamily="2" charset="0"/>
                <a:ea typeface="+mn-ea"/>
                <a:cs typeface="+mn-cs"/>
              </a:defRPr>
            </a:pPr>
            <a:endParaRPr lang="es-ES"/>
          </a:p>
        </c:txPr>
        <c:crossAx val="98476630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panose="00000500000000000000" pitchFamily="2" charset="0"/>
              <a:ea typeface="+mn-ea"/>
              <a:cs typeface="+mn-cs"/>
            </a:defRPr>
          </a:pPr>
          <a:endParaRPr lang="es-ES"/>
        </a:p>
      </c:txPr>
    </c:legend>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'Gasto Medio'!$A$15:$A$19</c:f>
              <c:strCache>
                <c:ptCount val="5"/>
                <c:pt idx="0">
                  <c:v>Ciudad Real</c:v>
                </c:pt>
                <c:pt idx="1">
                  <c:v>Albacete</c:v>
                </c:pt>
                <c:pt idx="2">
                  <c:v>Madrid</c:v>
                </c:pt>
                <c:pt idx="3">
                  <c:v>Valencia</c:v>
                </c:pt>
                <c:pt idx="4">
                  <c:v>Murcia</c:v>
                </c:pt>
              </c:strCache>
            </c:strRef>
          </c:cat>
          <c:val>
            <c:numRef>
              <c:f>'Gasto Medio'!$B$15:$B$19</c:f>
              <c:numCache>
                <c:formatCode>"€"#,##0.00_);[Red]\("€"#,##0.00\)</c:formatCode>
                <c:ptCount val="5"/>
                <c:pt idx="0">
                  <c:v>41.6</c:v>
                </c:pt>
                <c:pt idx="1">
                  <c:v>37.799999999999997</c:v>
                </c:pt>
                <c:pt idx="2">
                  <c:v>34.1</c:v>
                </c:pt>
                <c:pt idx="3">
                  <c:v>32.6</c:v>
                </c:pt>
                <c:pt idx="4">
                  <c:v>28.8</c:v>
                </c:pt>
              </c:numCache>
            </c:numRef>
          </c:val>
          <c:extLst>
            <c:ext xmlns:c16="http://schemas.microsoft.com/office/drawing/2014/chart" uri="{C3380CC4-5D6E-409C-BE32-E72D297353CC}">
              <c16:uniqueId val="{00000000-7AC3-4C41-94F8-3AE72A5E5B34}"/>
            </c:ext>
          </c:extLst>
        </c:ser>
        <c:dLbls>
          <c:dLblPos val="outEnd"/>
          <c:showLegendKey val="0"/>
          <c:showVal val="1"/>
          <c:showCatName val="0"/>
          <c:showSerName val="0"/>
          <c:showPercent val="0"/>
          <c:showBubbleSize val="0"/>
        </c:dLbls>
        <c:gapWidth val="206"/>
        <c:overlap val="-90"/>
        <c:axId val="1157017327"/>
        <c:axId val="1157020207"/>
      </c:barChart>
      <c:catAx>
        <c:axId val="115701732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bg1"/>
                </a:solidFill>
                <a:latin typeface="Montserrat" panose="00000500000000000000" pitchFamily="2" charset="0"/>
                <a:ea typeface="+mn-ea"/>
                <a:cs typeface="+mn-cs"/>
              </a:defRPr>
            </a:pPr>
            <a:endParaRPr lang="es-ES"/>
          </a:p>
        </c:txPr>
        <c:crossAx val="1157020207"/>
        <c:crosses val="autoZero"/>
        <c:auto val="1"/>
        <c:lblAlgn val="ctr"/>
        <c:lblOffset val="100"/>
        <c:noMultiLvlLbl val="0"/>
      </c:catAx>
      <c:valAx>
        <c:axId val="1157020207"/>
        <c:scaling>
          <c:orientation val="minMax"/>
          <c:max val="50"/>
        </c:scaling>
        <c:delete val="1"/>
        <c:axPos val="l"/>
        <c:numFmt formatCode="&quot;€&quot;#,##0.00_);[Red]\(&quot;€&quot;#,##0.00\)" sourceLinked="1"/>
        <c:majorTickMark val="out"/>
        <c:minorTickMark val="none"/>
        <c:tickLblPos val="nextTo"/>
        <c:crossAx val="115701732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827610720125116E-2"/>
          <c:y val="6.1977824627157022E-2"/>
          <c:w val="0.95034477855974975"/>
          <c:h val="0.84164246115405639"/>
        </c:manualLayout>
      </c:layout>
      <c:barChart>
        <c:barDir val="col"/>
        <c:grouping val="clustered"/>
        <c:varyColors val="0"/>
        <c:ser>
          <c:idx val="0"/>
          <c:order val="0"/>
          <c:spPr>
            <a:solidFill>
              <a:srgbClr val="E62C4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'Gasto Medio'!$A$3:$A$7</c:f>
              <c:strCache>
                <c:ptCount val="5"/>
                <c:pt idx="0">
                  <c:v>Alemania</c:v>
                </c:pt>
                <c:pt idx="1">
                  <c:v>Bélgica</c:v>
                </c:pt>
                <c:pt idx="2">
                  <c:v>Francia</c:v>
                </c:pt>
                <c:pt idx="3">
                  <c:v>Italia</c:v>
                </c:pt>
                <c:pt idx="4">
                  <c:v>Reino Unido </c:v>
                </c:pt>
              </c:strCache>
            </c:strRef>
          </c:cat>
          <c:val>
            <c:numRef>
              <c:f>'Gasto Medio'!$B$3:$B$7</c:f>
              <c:numCache>
                <c:formatCode>"€"#,##0.00_);[Red]\("€"#,##0.00\)</c:formatCode>
                <c:ptCount val="5"/>
                <c:pt idx="0">
                  <c:v>50.1</c:v>
                </c:pt>
                <c:pt idx="1">
                  <c:v>45.5</c:v>
                </c:pt>
                <c:pt idx="2">
                  <c:v>40.200000000000003</c:v>
                </c:pt>
                <c:pt idx="3">
                  <c:v>34.1</c:v>
                </c:pt>
                <c:pt idx="4">
                  <c:v>33.200000000000003</c:v>
                </c:pt>
              </c:numCache>
            </c:numRef>
          </c:val>
          <c:extLst>
            <c:ext xmlns:c16="http://schemas.microsoft.com/office/drawing/2014/chart" uri="{C3380CC4-5D6E-409C-BE32-E72D297353CC}">
              <c16:uniqueId val="{00000000-AED5-401F-A572-AD8E7A2911E1}"/>
            </c:ext>
          </c:extLst>
        </c:ser>
        <c:dLbls>
          <c:dLblPos val="outEnd"/>
          <c:showLegendKey val="0"/>
          <c:showVal val="1"/>
          <c:showCatName val="0"/>
          <c:showSerName val="0"/>
          <c:showPercent val="0"/>
          <c:showBubbleSize val="0"/>
        </c:dLbls>
        <c:gapWidth val="206"/>
        <c:overlap val="-90"/>
        <c:axId val="1106563231"/>
        <c:axId val="1106561311"/>
      </c:barChart>
      <c:catAx>
        <c:axId val="110656323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cap="all" spc="120" normalizeH="0" baseline="0">
                <a:solidFill>
                  <a:schemeClr val="bg1"/>
                </a:solidFill>
                <a:latin typeface="Montserrat" panose="00000500000000000000" pitchFamily="2" charset="0"/>
                <a:ea typeface="+mn-ea"/>
                <a:cs typeface="+mn-cs"/>
              </a:defRPr>
            </a:pPr>
            <a:endParaRPr lang="es-ES"/>
          </a:p>
        </c:txPr>
        <c:crossAx val="1106561311"/>
        <c:crosses val="autoZero"/>
        <c:auto val="1"/>
        <c:lblAlgn val="ctr"/>
        <c:lblOffset val="100"/>
        <c:noMultiLvlLbl val="0"/>
      </c:catAx>
      <c:valAx>
        <c:axId val="1106561311"/>
        <c:scaling>
          <c:orientation val="minMax"/>
        </c:scaling>
        <c:delete val="1"/>
        <c:axPos val="l"/>
        <c:numFmt formatCode="&quot;€&quot;#,##0.00_);[Red]\(&quot;€&quot;#,##0.00\)" sourceLinked="1"/>
        <c:majorTickMark val="none"/>
        <c:minorTickMark val="none"/>
        <c:tickLblPos val="nextTo"/>
        <c:crossAx val="110656323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530051530679759E-2"/>
          <c:y val="0.14438987954762661"/>
          <c:w val="0.94093989693864044"/>
          <c:h val="0.74559715947105965"/>
        </c:manualLayout>
      </c:layout>
      <c:barChart>
        <c:barDir val="col"/>
        <c:grouping val="clustered"/>
        <c:varyColors val="0"/>
        <c:ser>
          <c:idx val="0"/>
          <c:order val="0"/>
          <c:spPr>
            <a:solidFill>
              <a:srgbClr val="F47856"/>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Hoja1!$F$3:$F$6</c:f>
              <c:strCache>
                <c:ptCount val="4"/>
                <c:pt idx="0">
                  <c:v>Invierno</c:v>
                </c:pt>
                <c:pt idx="1">
                  <c:v>Primavera</c:v>
                </c:pt>
                <c:pt idx="2">
                  <c:v>Verano</c:v>
                </c:pt>
                <c:pt idx="3">
                  <c:v>Otoño</c:v>
                </c:pt>
              </c:strCache>
            </c:strRef>
          </c:cat>
          <c:val>
            <c:numRef>
              <c:f>Hoja1!$G$3:$G$6</c:f>
              <c:numCache>
                <c:formatCode>#,##0</c:formatCode>
                <c:ptCount val="4"/>
                <c:pt idx="0">
                  <c:v>239438</c:v>
                </c:pt>
                <c:pt idx="1">
                  <c:v>473929</c:v>
                </c:pt>
                <c:pt idx="2">
                  <c:v>1165895</c:v>
                </c:pt>
                <c:pt idx="3">
                  <c:v>473841</c:v>
                </c:pt>
              </c:numCache>
            </c:numRef>
          </c:val>
          <c:extLst>
            <c:ext xmlns:c16="http://schemas.microsoft.com/office/drawing/2014/chart" uri="{C3380CC4-5D6E-409C-BE32-E72D297353CC}">
              <c16:uniqueId val="{00000000-8A25-49A0-A489-208B5CE57B82}"/>
            </c:ext>
          </c:extLst>
        </c:ser>
        <c:dLbls>
          <c:dLblPos val="outEnd"/>
          <c:showLegendKey val="0"/>
          <c:showVal val="1"/>
          <c:showCatName val="0"/>
          <c:showSerName val="0"/>
          <c:showPercent val="0"/>
          <c:showBubbleSize val="0"/>
        </c:dLbls>
        <c:gapWidth val="206"/>
        <c:overlap val="-90"/>
        <c:axId val="900409007"/>
        <c:axId val="900411887"/>
      </c:barChart>
      <c:catAx>
        <c:axId val="9004090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tx1">
                    <a:lumMod val="65000"/>
                    <a:lumOff val="35000"/>
                  </a:schemeClr>
                </a:solidFill>
                <a:latin typeface="Montserrat" panose="00000500000000000000" pitchFamily="2" charset="0"/>
                <a:ea typeface="+mn-ea"/>
                <a:cs typeface="+mn-cs"/>
              </a:defRPr>
            </a:pPr>
            <a:endParaRPr lang="es-ES"/>
          </a:p>
        </c:txPr>
        <c:crossAx val="900411887"/>
        <c:crosses val="autoZero"/>
        <c:auto val="1"/>
        <c:lblAlgn val="ctr"/>
        <c:lblOffset val="100"/>
        <c:noMultiLvlLbl val="0"/>
      </c:catAx>
      <c:valAx>
        <c:axId val="900411887"/>
        <c:scaling>
          <c:orientation val="minMax"/>
        </c:scaling>
        <c:delete val="1"/>
        <c:axPos val="l"/>
        <c:numFmt formatCode="#,##0" sourceLinked="1"/>
        <c:majorTickMark val="none"/>
        <c:minorTickMark val="none"/>
        <c:tickLblPos val="nextTo"/>
        <c:crossAx val="90040900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555555555555555E-2"/>
          <c:y val="0.18441750100033991"/>
          <c:w val="0.93888888888888888"/>
          <c:h val="0.64384726423171745"/>
        </c:manualLayout>
      </c:layout>
      <c:barChart>
        <c:barDir val="col"/>
        <c:grouping val="clustered"/>
        <c:varyColors val="0"/>
        <c:ser>
          <c:idx val="0"/>
          <c:order val="0"/>
          <c:spPr>
            <a:solidFill>
              <a:srgbClr val="F47856"/>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Hoja1!$F$19:$F$22</c:f>
              <c:strCache>
                <c:ptCount val="4"/>
                <c:pt idx="0">
                  <c:v>Invierno</c:v>
                </c:pt>
                <c:pt idx="1">
                  <c:v>Primavera</c:v>
                </c:pt>
                <c:pt idx="2">
                  <c:v>Verano</c:v>
                </c:pt>
                <c:pt idx="3">
                  <c:v>Otoño</c:v>
                </c:pt>
              </c:strCache>
            </c:strRef>
          </c:cat>
          <c:val>
            <c:numRef>
              <c:f>Hoja1!$G$19:$G$22</c:f>
              <c:numCache>
                <c:formatCode>General</c:formatCode>
                <c:ptCount val="4"/>
                <c:pt idx="0">
                  <c:v>3.1</c:v>
                </c:pt>
                <c:pt idx="1">
                  <c:v>2.7</c:v>
                </c:pt>
                <c:pt idx="2">
                  <c:v>3.8</c:v>
                </c:pt>
                <c:pt idx="3">
                  <c:v>2.9</c:v>
                </c:pt>
              </c:numCache>
            </c:numRef>
          </c:val>
          <c:extLst>
            <c:ext xmlns:c16="http://schemas.microsoft.com/office/drawing/2014/chart" uri="{C3380CC4-5D6E-409C-BE32-E72D297353CC}">
              <c16:uniqueId val="{00000000-A175-41CE-AA7D-C274FD237146}"/>
            </c:ext>
          </c:extLst>
        </c:ser>
        <c:dLbls>
          <c:dLblPos val="outEnd"/>
          <c:showLegendKey val="0"/>
          <c:showVal val="1"/>
          <c:showCatName val="0"/>
          <c:showSerName val="0"/>
          <c:showPercent val="0"/>
          <c:showBubbleSize val="0"/>
        </c:dLbls>
        <c:gapWidth val="206"/>
        <c:overlap val="-90"/>
        <c:axId val="900414287"/>
        <c:axId val="900410927"/>
      </c:barChart>
      <c:catAx>
        <c:axId val="90041428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tx1">
                    <a:lumMod val="65000"/>
                    <a:lumOff val="35000"/>
                  </a:schemeClr>
                </a:solidFill>
                <a:latin typeface="Montserrat" panose="00000500000000000000" pitchFamily="2" charset="0"/>
                <a:ea typeface="+mn-ea"/>
                <a:cs typeface="+mn-cs"/>
              </a:defRPr>
            </a:pPr>
            <a:endParaRPr lang="es-ES"/>
          </a:p>
        </c:txPr>
        <c:crossAx val="900410927"/>
        <c:crosses val="autoZero"/>
        <c:auto val="1"/>
        <c:lblAlgn val="ctr"/>
        <c:lblOffset val="100"/>
        <c:noMultiLvlLbl val="0"/>
      </c:catAx>
      <c:valAx>
        <c:axId val="900410927"/>
        <c:scaling>
          <c:orientation val="minMax"/>
        </c:scaling>
        <c:delete val="1"/>
        <c:axPos val="l"/>
        <c:numFmt formatCode="General" sourceLinked="1"/>
        <c:majorTickMark val="none"/>
        <c:minorTickMark val="none"/>
        <c:tickLblPos val="nextTo"/>
        <c:crossAx val="90041428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0000"/>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Hoja1!$A$69:$A$73</c:f>
              <c:strCache>
                <c:ptCount val="5"/>
                <c:pt idx="0">
                  <c:v>Ciudad Real</c:v>
                </c:pt>
                <c:pt idx="1">
                  <c:v>Madrid</c:v>
                </c:pt>
                <c:pt idx="2">
                  <c:v>Toledo</c:v>
                </c:pt>
                <c:pt idx="3">
                  <c:v>Guadalajara</c:v>
                </c:pt>
                <c:pt idx="4">
                  <c:v>Albacete</c:v>
                </c:pt>
              </c:strCache>
            </c:strRef>
          </c:cat>
          <c:val>
            <c:numRef>
              <c:f>Hoja1!$B$69:$B$73</c:f>
              <c:numCache>
                <c:formatCode>General</c:formatCode>
                <c:ptCount val="5"/>
                <c:pt idx="0">
                  <c:v>7.7</c:v>
                </c:pt>
                <c:pt idx="1">
                  <c:v>6.7</c:v>
                </c:pt>
                <c:pt idx="2">
                  <c:v>6.4</c:v>
                </c:pt>
                <c:pt idx="3">
                  <c:v>6.3</c:v>
                </c:pt>
                <c:pt idx="4">
                  <c:v>3.6</c:v>
                </c:pt>
              </c:numCache>
            </c:numRef>
          </c:val>
          <c:extLst>
            <c:ext xmlns:c16="http://schemas.microsoft.com/office/drawing/2014/chart" uri="{C3380CC4-5D6E-409C-BE32-E72D297353CC}">
              <c16:uniqueId val="{00000000-EF44-4494-BA35-58E1B1A2E706}"/>
            </c:ext>
          </c:extLst>
        </c:ser>
        <c:dLbls>
          <c:dLblPos val="outEnd"/>
          <c:showLegendKey val="0"/>
          <c:showVal val="1"/>
          <c:showCatName val="0"/>
          <c:showSerName val="0"/>
          <c:showPercent val="0"/>
          <c:showBubbleSize val="0"/>
        </c:dLbls>
        <c:gapWidth val="206"/>
        <c:overlap val="-90"/>
        <c:axId val="1025304832"/>
        <c:axId val="1025306272"/>
      </c:barChart>
      <c:catAx>
        <c:axId val="102530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bg1"/>
                </a:solidFill>
                <a:latin typeface="Montserrat" panose="00000500000000000000" pitchFamily="2" charset="0"/>
                <a:ea typeface="+mn-ea"/>
                <a:cs typeface="+mn-cs"/>
              </a:defRPr>
            </a:pPr>
            <a:endParaRPr lang="es-ES"/>
          </a:p>
        </c:txPr>
        <c:crossAx val="1025306272"/>
        <c:crosses val="autoZero"/>
        <c:auto val="1"/>
        <c:lblAlgn val="ctr"/>
        <c:lblOffset val="100"/>
        <c:noMultiLvlLbl val="0"/>
      </c:catAx>
      <c:valAx>
        <c:axId val="1025306272"/>
        <c:scaling>
          <c:orientation val="minMax"/>
        </c:scaling>
        <c:delete val="1"/>
        <c:axPos val="l"/>
        <c:numFmt formatCode="General" sourceLinked="1"/>
        <c:majorTickMark val="none"/>
        <c:minorTickMark val="none"/>
        <c:tickLblPos val="nextTo"/>
        <c:crossAx val="10253048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E62C4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ontserrat" panose="00000500000000000000"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Hoja1!$A$45:$A$49</c:f>
              <c:strCache>
                <c:ptCount val="5"/>
                <c:pt idx="0">
                  <c:v>Italia</c:v>
                </c:pt>
                <c:pt idx="1">
                  <c:v>Francia</c:v>
                </c:pt>
                <c:pt idx="2">
                  <c:v>Belgica</c:v>
                </c:pt>
                <c:pt idx="3">
                  <c:v>Paises Bajos</c:v>
                </c:pt>
                <c:pt idx="4">
                  <c:v>Reino Unido</c:v>
                </c:pt>
              </c:strCache>
            </c:strRef>
          </c:cat>
          <c:val>
            <c:numRef>
              <c:f>Hoja1!$B$45:$B$49</c:f>
              <c:numCache>
                <c:formatCode>General</c:formatCode>
                <c:ptCount val="5"/>
                <c:pt idx="0">
                  <c:v>4.1399999999999997</c:v>
                </c:pt>
                <c:pt idx="1">
                  <c:v>3.28</c:v>
                </c:pt>
                <c:pt idx="2">
                  <c:v>3.25</c:v>
                </c:pt>
                <c:pt idx="3">
                  <c:v>3.13</c:v>
                </c:pt>
                <c:pt idx="4">
                  <c:v>2.65</c:v>
                </c:pt>
              </c:numCache>
            </c:numRef>
          </c:val>
          <c:extLst>
            <c:ext xmlns:c16="http://schemas.microsoft.com/office/drawing/2014/chart" uri="{C3380CC4-5D6E-409C-BE32-E72D297353CC}">
              <c16:uniqueId val="{00000000-DE07-4A80-ADB4-8D3ACDEB3AAA}"/>
            </c:ext>
          </c:extLst>
        </c:ser>
        <c:dLbls>
          <c:dLblPos val="outEnd"/>
          <c:showLegendKey val="0"/>
          <c:showVal val="1"/>
          <c:showCatName val="0"/>
          <c:showSerName val="0"/>
          <c:showPercent val="0"/>
          <c:showBubbleSize val="0"/>
        </c:dLbls>
        <c:gapWidth val="206"/>
        <c:overlap val="-90"/>
        <c:axId val="1029375200"/>
        <c:axId val="1029376160"/>
      </c:barChart>
      <c:catAx>
        <c:axId val="10293752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bg1"/>
                </a:solidFill>
                <a:latin typeface="Montserrat" panose="00000500000000000000" pitchFamily="2" charset="0"/>
                <a:ea typeface="+mn-ea"/>
                <a:cs typeface="+mn-cs"/>
              </a:defRPr>
            </a:pPr>
            <a:endParaRPr lang="es-ES"/>
          </a:p>
        </c:txPr>
        <c:crossAx val="1029376160"/>
        <c:crosses val="autoZero"/>
        <c:auto val="1"/>
        <c:lblAlgn val="ctr"/>
        <c:lblOffset val="100"/>
        <c:noMultiLvlLbl val="0"/>
      </c:catAx>
      <c:valAx>
        <c:axId val="1029376160"/>
        <c:scaling>
          <c:orientation val="minMax"/>
        </c:scaling>
        <c:delete val="1"/>
        <c:axPos val="l"/>
        <c:numFmt formatCode="General" sourceLinked="1"/>
        <c:majorTickMark val="none"/>
        <c:minorTickMark val="none"/>
        <c:tickLblPos val="nextTo"/>
        <c:crossAx val="10293752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19.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7A26F-784E-7F42-834D-0E6D7273BEEA}" type="datetimeFigureOut">
              <a:rPr lang="es-ES" smtClean="0"/>
              <a:t>17/03/2026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A88507-070F-6E43-B3F5-F34F7AEA0891}" type="slidenum">
              <a:rPr lang="es-ES" smtClean="0"/>
              <a:t>‹Nº›</a:t>
            </a:fld>
            <a:endParaRPr lang="es-ES"/>
          </a:p>
        </p:txBody>
      </p:sp>
    </p:spTree>
    <p:extLst>
      <p:ext uri="{BB962C8B-B14F-4D97-AF65-F5344CB8AC3E}">
        <p14:creationId xmlns:p14="http://schemas.microsoft.com/office/powerpoint/2010/main" val="1955556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C95E-D577-147D-DCC7-18E4883D8E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F4AB1D-C085-4F0A-5D97-82A0280A2A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58E94F-0285-8858-60E2-469ACE56EBDC}"/>
              </a:ext>
            </a:extLst>
          </p:cNvPr>
          <p:cNvSpPr>
            <a:spLocks noGrp="1"/>
          </p:cNvSpPr>
          <p:nvPr>
            <p:ph type="body" idx="1"/>
          </p:nvPr>
        </p:nvSpPr>
        <p:spPr/>
        <p:txBody>
          <a:bodyPr/>
          <a:lstStyle/>
          <a:p>
            <a:r>
              <a:rPr lang="es-ES"/>
              <a:t>CONTEXTUALIZAR LAS SIGUIENTES DIAPOS</a:t>
            </a:r>
          </a:p>
        </p:txBody>
      </p:sp>
      <p:sp>
        <p:nvSpPr>
          <p:cNvPr id="4" name="Marcador de número de diapositiva 3">
            <a:extLst>
              <a:ext uri="{FF2B5EF4-FFF2-40B4-BE49-F238E27FC236}">
                <a16:creationId xmlns:a16="http://schemas.microsoft.com/office/drawing/2014/main" id="{BA4CFA6D-53AE-7918-BB30-E815F732D3F2}"/>
              </a:ext>
            </a:extLst>
          </p:cNvPr>
          <p:cNvSpPr>
            <a:spLocks noGrp="1"/>
          </p:cNvSpPr>
          <p:nvPr>
            <p:ph type="sldNum" sz="quarter" idx="5"/>
          </p:nvPr>
        </p:nvSpPr>
        <p:spPr/>
        <p:txBody>
          <a:bodyPr/>
          <a:lstStyle/>
          <a:p>
            <a:fld id="{63A88507-070F-6E43-B3F5-F34F7AEA0891}" type="slidenum">
              <a:rPr lang="es-ES" smtClean="0"/>
              <a:t>5</a:t>
            </a:fld>
            <a:endParaRPr lang="es-ES"/>
          </a:p>
        </p:txBody>
      </p:sp>
    </p:spTree>
    <p:extLst>
      <p:ext uri="{BB962C8B-B14F-4D97-AF65-F5344CB8AC3E}">
        <p14:creationId xmlns:p14="http://schemas.microsoft.com/office/powerpoint/2010/main" val="1050084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B003A-EF07-5207-631F-849D90BBF0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9C19FB-3370-18A1-6AAB-6209A5DE04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6BA5C4-6914-92CF-DDA2-CBCBD9EF16B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E474934-FBAA-660A-0DA2-98B8A110C83C}"/>
              </a:ext>
            </a:extLst>
          </p:cNvPr>
          <p:cNvSpPr>
            <a:spLocks noGrp="1"/>
          </p:cNvSpPr>
          <p:nvPr>
            <p:ph type="sldNum" sz="quarter" idx="5"/>
          </p:nvPr>
        </p:nvSpPr>
        <p:spPr/>
        <p:txBody>
          <a:bodyPr/>
          <a:lstStyle/>
          <a:p>
            <a:fld id="{63A88507-070F-6E43-B3F5-F34F7AEA0891}" type="slidenum">
              <a:rPr lang="es-ES" smtClean="0"/>
              <a:t>6</a:t>
            </a:fld>
            <a:endParaRPr lang="es-ES"/>
          </a:p>
        </p:txBody>
      </p:sp>
    </p:spTree>
    <p:extLst>
      <p:ext uri="{BB962C8B-B14F-4D97-AF65-F5344CB8AC3E}">
        <p14:creationId xmlns:p14="http://schemas.microsoft.com/office/powerpoint/2010/main" val="869770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9A2B2-ECC6-EC5E-3107-4EFF6E3CE8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755C5E-F58F-E22E-3E83-23498D85AA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5D531B-5E2A-4AE7-278A-E9768B50618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2BC77E64-360F-4479-EE7E-9D2B98F46151}"/>
              </a:ext>
            </a:extLst>
          </p:cNvPr>
          <p:cNvSpPr>
            <a:spLocks noGrp="1"/>
          </p:cNvSpPr>
          <p:nvPr>
            <p:ph type="sldNum" sz="quarter" idx="5"/>
          </p:nvPr>
        </p:nvSpPr>
        <p:spPr/>
        <p:txBody>
          <a:bodyPr/>
          <a:lstStyle/>
          <a:p>
            <a:fld id="{63A88507-070F-6E43-B3F5-F34F7AEA0891}" type="slidenum">
              <a:rPr lang="es-ES" smtClean="0"/>
              <a:t>7</a:t>
            </a:fld>
            <a:endParaRPr lang="es-ES"/>
          </a:p>
        </p:txBody>
      </p:sp>
    </p:spTree>
    <p:extLst>
      <p:ext uri="{BB962C8B-B14F-4D97-AF65-F5344CB8AC3E}">
        <p14:creationId xmlns:p14="http://schemas.microsoft.com/office/powerpoint/2010/main" val="511435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60B0-4192-0254-16FC-9B6810CDE0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BAE2D6-0457-67F9-51E0-DD28701C782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5A085A-DD11-CBC4-BB0E-250A41013918}"/>
              </a:ext>
            </a:extLst>
          </p:cNvPr>
          <p:cNvSpPr>
            <a:spLocks noGrp="1"/>
          </p:cNvSpPr>
          <p:nvPr>
            <p:ph type="body" idx="1"/>
          </p:nvPr>
        </p:nvSpPr>
        <p:spPr/>
        <p:txBody>
          <a:bodyPr/>
          <a:lstStyle/>
          <a:p>
            <a:r>
              <a:rPr lang="es-ES"/>
              <a:t>CONTEXTUALIZAR ESTOS DESTINOS O HACER LO MISMO EN EL INTERNACIONAL</a:t>
            </a:r>
          </a:p>
        </p:txBody>
      </p:sp>
      <p:sp>
        <p:nvSpPr>
          <p:cNvPr id="4" name="Marcador de número de diapositiva 3">
            <a:extLst>
              <a:ext uri="{FF2B5EF4-FFF2-40B4-BE49-F238E27FC236}">
                <a16:creationId xmlns:a16="http://schemas.microsoft.com/office/drawing/2014/main" id="{7E071226-9798-575A-B2EC-C51821921055}"/>
              </a:ext>
            </a:extLst>
          </p:cNvPr>
          <p:cNvSpPr>
            <a:spLocks noGrp="1"/>
          </p:cNvSpPr>
          <p:nvPr>
            <p:ph type="sldNum" sz="quarter" idx="5"/>
          </p:nvPr>
        </p:nvSpPr>
        <p:spPr/>
        <p:txBody>
          <a:bodyPr/>
          <a:lstStyle/>
          <a:p>
            <a:fld id="{63A88507-070F-6E43-B3F5-F34F7AEA0891}" type="slidenum">
              <a:rPr lang="es-ES" smtClean="0"/>
              <a:t>8</a:t>
            </a:fld>
            <a:endParaRPr lang="es-ES"/>
          </a:p>
        </p:txBody>
      </p:sp>
    </p:spTree>
    <p:extLst>
      <p:ext uri="{BB962C8B-B14F-4D97-AF65-F5344CB8AC3E}">
        <p14:creationId xmlns:p14="http://schemas.microsoft.com/office/powerpoint/2010/main" val="1823642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O LA PONEMOS EN CONTEXTO O SE QUITA</a:t>
            </a:r>
          </a:p>
        </p:txBody>
      </p:sp>
      <p:sp>
        <p:nvSpPr>
          <p:cNvPr id="4" name="Marcador de número de diapositiva 3"/>
          <p:cNvSpPr>
            <a:spLocks noGrp="1"/>
          </p:cNvSpPr>
          <p:nvPr>
            <p:ph type="sldNum" sz="quarter" idx="5"/>
          </p:nvPr>
        </p:nvSpPr>
        <p:spPr/>
        <p:txBody>
          <a:bodyPr/>
          <a:lstStyle/>
          <a:p>
            <a:fld id="{63A88507-070F-6E43-B3F5-F34F7AEA0891}" type="slidenum">
              <a:rPr lang="es-ES" smtClean="0"/>
              <a:t>9</a:t>
            </a:fld>
            <a:endParaRPr lang="es-ES"/>
          </a:p>
        </p:txBody>
      </p:sp>
    </p:spTree>
    <p:extLst>
      <p:ext uri="{BB962C8B-B14F-4D97-AF65-F5344CB8AC3E}">
        <p14:creationId xmlns:p14="http://schemas.microsoft.com/office/powerpoint/2010/main" val="3973214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D40F6-DBE2-56B1-3D11-798939E2E5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61EFAB-B2EA-794C-C98E-0E616E811E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99989A-B6FB-105A-FB85-4A4636BA9894}"/>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BCF398B-AB5D-6272-974F-FA234A3FDCA2}"/>
              </a:ext>
            </a:extLst>
          </p:cNvPr>
          <p:cNvSpPr>
            <a:spLocks noGrp="1"/>
          </p:cNvSpPr>
          <p:nvPr>
            <p:ph type="sldNum" sz="quarter" idx="5"/>
          </p:nvPr>
        </p:nvSpPr>
        <p:spPr/>
        <p:txBody>
          <a:bodyPr/>
          <a:lstStyle/>
          <a:p>
            <a:fld id="{63A88507-070F-6E43-B3F5-F34F7AEA0891}" type="slidenum">
              <a:rPr lang="es-ES" smtClean="0"/>
              <a:t>25</a:t>
            </a:fld>
            <a:endParaRPr lang="es-ES"/>
          </a:p>
        </p:txBody>
      </p:sp>
    </p:spTree>
    <p:extLst>
      <p:ext uri="{BB962C8B-B14F-4D97-AF65-F5344CB8AC3E}">
        <p14:creationId xmlns:p14="http://schemas.microsoft.com/office/powerpoint/2010/main" val="288729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26</a:t>
            </a:fld>
            <a:endParaRPr lang="es-ES"/>
          </a:p>
        </p:txBody>
      </p:sp>
    </p:spTree>
    <p:extLst>
      <p:ext uri="{BB962C8B-B14F-4D97-AF65-F5344CB8AC3E}">
        <p14:creationId xmlns:p14="http://schemas.microsoft.com/office/powerpoint/2010/main" val="4174955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6EC3-F50B-BB3D-8497-F3D23ABD0F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52A539-5EA5-5331-FD91-AACC1E293D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04AE67-6C52-C8E5-80EC-085B537656B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916750E-AED0-8C1F-32C6-8F3964C7F39A}"/>
              </a:ext>
            </a:extLst>
          </p:cNvPr>
          <p:cNvSpPr>
            <a:spLocks noGrp="1"/>
          </p:cNvSpPr>
          <p:nvPr>
            <p:ph type="sldNum" sz="quarter" idx="5"/>
          </p:nvPr>
        </p:nvSpPr>
        <p:spPr/>
        <p:txBody>
          <a:bodyPr/>
          <a:lstStyle/>
          <a:p>
            <a:fld id="{63A88507-070F-6E43-B3F5-F34F7AEA0891}" type="slidenum">
              <a:rPr lang="es-ES" smtClean="0"/>
              <a:t>27</a:t>
            </a:fld>
            <a:endParaRPr lang="es-ES"/>
          </a:p>
        </p:txBody>
      </p:sp>
    </p:spTree>
    <p:extLst>
      <p:ext uri="{BB962C8B-B14F-4D97-AF65-F5344CB8AC3E}">
        <p14:creationId xmlns:p14="http://schemas.microsoft.com/office/powerpoint/2010/main" val="14717319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2" name="Imagen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734874"/>
            <a:ext cx="12192000" cy="1165653"/>
          </a:xfrm>
          <a:prstGeom prst="rect">
            <a:avLst/>
          </a:prstGeom>
        </p:spPr>
      </p:pic>
      <p:cxnSp>
        <p:nvCxnSpPr>
          <p:cNvPr id="11" name="Conector recto 10">
            <a:extLst>
              <a:ext uri="{FF2B5EF4-FFF2-40B4-BE49-F238E27FC236}">
                <a16:creationId xmlns:a16="http://schemas.microsoft.com/office/drawing/2014/main" id="{EBDE6EFE-52B0-754B-91B2-51909E58AE8D}"/>
              </a:ext>
            </a:extLst>
          </p:cNvPr>
          <p:cNvCxnSpPr>
            <a:cxnSpLocks/>
            <a:endCxn id="12" idx="1"/>
          </p:cNvCxnSpPr>
          <p:nvPr userDrawn="1"/>
        </p:nvCxnSpPr>
        <p:spPr>
          <a:xfrm>
            <a:off x="717632" y="520861"/>
            <a:ext cx="5416429" cy="3262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883F979F-F063-A34C-8307-6B7B894805C3}"/>
              </a:ext>
            </a:extLst>
          </p:cNvPr>
          <p:cNvSpPr/>
          <p:nvPr userDrawn="1"/>
        </p:nvSpPr>
        <p:spPr>
          <a:xfrm>
            <a:off x="6134061" y="430374"/>
            <a:ext cx="5431295" cy="246221"/>
          </a:xfrm>
          <a:prstGeom prst="rect">
            <a:avLst/>
          </a:prstGeom>
        </p:spPr>
        <p:txBody>
          <a:bodyPr wrap="none">
            <a:spAutoFit/>
          </a:bodyPr>
          <a:lstStyle/>
          <a:p>
            <a:pPr algn="r"/>
            <a:r>
              <a:rPr lang="es-ES" sz="1000" b="1">
                <a:solidFill>
                  <a:schemeClr val="bg2">
                    <a:lumMod val="90000"/>
                  </a:schemeClr>
                </a:solidFill>
                <a:latin typeface="Montserrat SemiBold" pitchFamily="2" charset="77"/>
              </a:rPr>
              <a:t>INFORME DE ANÁLISIS DE DATOS | SMART OFFICE GUARDAMAR | ENE – DIC 25</a:t>
            </a:r>
          </a:p>
        </p:txBody>
      </p:sp>
      <p:pic>
        <p:nvPicPr>
          <p:cNvPr id="14" name="Imagen 13">
            <a:extLst>
              <a:ext uri="{FF2B5EF4-FFF2-40B4-BE49-F238E27FC236}">
                <a16:creationId xmlns:a16="http://schemas.microsoft.com/office/drawing/2014/main" id="{186F85B8-CDF7-364E-B53F-7E0AA455358B}"/>
              </a:ext>
            </a:extLst>
          </p:cNvPr>
          <p:cNvPicPr>
            <a:picLocks noChangeAspect="1"/>
          </p:cNvPicPr>
          <p:nvPr userDrawn="1"/>
        </p:nvPicPr>
        <p:blipFill>
          <a:blip r:embed="rId3"/>
          <a:stretch>
            <a:fillRect/>
          </a:stretch>
        </p:blipFill>
        <p:spPr>
          <a:xfrm>
            <a:off x="686969" y="6124651"/>
            <a:ext cx="959505" cy="295562"/>
          </a:xfrm>
          <a:prstGeom prst="rect">
            <a:avLst/>
          </a:prstGeom>
        </p:spPr>
      </p:pic>
      <p:pic>
        <p:nvPicPr>
          <p:cNvPr id="16" name="Imagen 1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17777" y="5754856"/>
            <a:ext cx="1035151" cy="1035151"/>
          </a:xfrm>
          <a:prstGeom prst="rect">
            <a:avLst/>
          </a:prstGeom>
        </p:spPr>
      </p:pic>
    </p:spTree>
    <p:extLst>
      <p:ext uri="{BB962C8B-B14F-4D97-AF65-F5344CB8AC3E}">
        <p14:creationId xmlns:p14="http://schemas.microsoft.com/office/powerpoint/2010/main" val="278141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13" name="Imagen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00527"/>
          </a:xfrm>
          <a:prstGeom prst="rect">
            <a:avLst/>
          </a:prstGeom>
        </p:spPr>
      </p:pic>
      <p:pic>
        <p:nvPicPr>
          <p:cNvPr id="9" name="Imagen 8">
            <a:extLst>
              <a:ext uri="{FF2B5EF4-FFF2-40B4-BE49-F238E27FC236}">
                <a16:creationId xmlns:a16="http://schemas.microsoft.com/office/drawing/2014/main" id="{186F85B8-CDF7-364E-B53F-7E0AA455358B}"/>
              </a:ext>
            </a:extLst>
          </p:cNvPr>
          <p:cNvPicPr>
            <a:picLocks noChangeAspect="1"/>
          </p:cNvPicPr>
          <p:nvPr/>
        </p:nvPicPr>
        <p:blipFill>
          <a:blip r:embed="rId3"/>
          <a:stretch>
            <a:fillRect/>
          </a:stretch>
        </p:blipFill>
        <p:spPr>
          <a:xfrm>
            <a:off x="686969" y="6124651"/>
            <a:ext cx="959505" cy="295562"/>
          </a:xfrm>
          <a:prstGeom prst="rect">
            <a:avLst/>
          </a:prstGeom>
        </p:spPr>
      </p:pic>
      <p:cxnSp>
        <p:nvCxnSpPr>
          <p:cNvPr id="11" name="Conector recto 10">
            <a:extLst>
              <a:ext uri="{FF2B5EF4-FFF2-40B4-BE49-F238E27FC236}">
                <a16:creationId xmlns:a16="http://schemas.microsoft.com/office/drawing/2014/main" id="{EC5D585D-9B41-9645-8E51-8DC453901ABA}"/>
              </a:ext>
            </a:extLst>
          </p:cNvPr>
          <p:cNvCxnSpPr>
            <a:cxnSpLocks/>
          </p:cNvCxnSpPr>
          <p:nvPr userDrawn="1"/>
        </p:nvCxnSpPr>
        <p:spPr>
          <a:xfrm>
            <a:off x="717632" y="520861"/>
            <a:ext cx="5426047" cy="201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883F979F-F063-A34C-8307-6B7B894805C3}"/>
              </a:ext>
            </a:extLst>
          </p:cNvPr>
          <p:cNvSpPr/>
          <p:nvPr userDrawn="1"/>
        </p:nvSpPr>
        <p:spPr>
          <a:xfrm>
            <a:off x="6134061" y="430374"/>
            <a:ext cx="5431295" cy="246221"/>
          </a:xfrm>
          <a:prstGeom prst="rect">
            <a:avLst/>
          </a:prstGeom>
        </p:spPr>
        <p:txBody>
          <a:bodyPr wrap="none">
            <a:spAutoFit/>
          </a:bodyPr>
          <a:lstStyle/>
          <a:p>
            <a:pPr algn="r"/>
            <a:r>
              <a:rPr lang="es-ES" sz="1000" b="1">
                <a:solidFill>
                  <a:schemeClr val="bg1"/>
                </a:solidFill>
                <a:latin typeface="Montserrat SemiBold" pitchFamily="2" charset="77"/>
              </a:rPr>
              <a:t>INFORME DE ANÁLISIS DE DATOS | SMART OFFICE GUARDAMAR | ENE – DIC 25</a:t>
            </a:r>
          </a:p>
        </p:txBody>
      </p:sp>
      <p:pic>
        <p:nvPicPr>
          <p:cNvPr id="14" name="Imagen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17777" y="5754856"/>
            <a:ext cx="1035151" cy="1035151"/>
          </a:xfrm>
          <a:prstGeom prst="rect">
            <a:avLst/>
          </a:prstGeom>
        </p:spPr>
      </p:pic>
    </p:spTree>
    <p:extLst>
      <p:ext uri="{BB962C8B-B14F-4D97-AF65-F5344CB8AC3E}">
        <p14:creationId xmlns:p14="http://schemas.microsoft.com/office/powerpoint/2010/main" val="3175631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1B0B03-3A96-AA47-96A5-367F5A9FE11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E4153541-B962-8049-9C9A-20835E89D8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55D430-5020-9F46-A754-F18E0D8450D5}"/>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5" name="Marcador de pie de página 4">
            <a:extLst>
              <a:ext uri="{FF2B5EF4-FFF2-40B4-BE49-F238E27FC236}">
                <a16:creationId xmlns:a16="http://schemas.microsoft.com/office/drawing/2014/main" id="{072960E7-5107-4C49-ADA5-CD8E30B4150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DB5BDB9-793F-6149-8D38-40881A8A9DF7}"/>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563137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02E80-DC37-6B46-958B-5536BCE8952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E5089E4-58B4-7E4D-A389-499D103027A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7473EEF9-E661-CE4F-B898-BFF4B0F7C26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DC9FD7B-E7BC-024E-8E4C-97E35A43E58E}"/>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6" name="Marcador de pie de página 5">
            <a:extLst>
              <a:ext uri="{FF2B5EF4-FFF2-40B4-BE49-F238E27FC236}">
                <a16:creationId xmlns:a16="http://schemas.microsoft.com/office/drawing/2014/main" id="{2018E8A4-F883-FE46-BB08-B7FADDBEA26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D6F053D-D9CF-4C4B-90BA-FE303C544133}"/>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32538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EB26C-9185-D844-A60E-E8C8741A613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8E8FC9-A795-0A48-8FC5-DA012865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B8DCBDF-DFD5-A647-8BB5-28EFE9C8471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BBDB481-BE36-CF4F-A261-C6214ECA74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06CE9F1-8E87-2F43-9ACC-F3E29C74837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9D359626-EB36-DD41-8F9D-A94C2F0E3851}"/>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8" name="Marcador de pie de página 7">
            <a:extLst>
              <a:ext uri="{FF2B5EF4-FFF2-40B4-BE49-F238E27FC236}">
                <a16:creationId xmlns:a16="http://schemas.microsoft.com/office/drawing/2014/main" id="{A8EBD3DC-8F7C-1B4A-9E96-954C94505208}"/>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9639BFEA-7E1A-5A45-ABC9-B29F559DD790}"/>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956888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198808-6418-A64B-B456-048963DC551B}"/>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A48FC616-58C0-BE4A-8A6E-52A233FB87F0}"/>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4" name="Marcador de pie de página 3">
            <a:extLst>
              <a:ext uri="{FF2B5EF4-FFF2-40B4-BE49-F238E27FC236}">
                <a16:creationId xmlns:a16="http://schemas.microsoft.com/office/drawing/2014/main" id="{855D42DC-0930-9B48-8220-DA083C26391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ED36BC8-DF8D-6F46-BA2B-D7FC39E5A535}"/>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359338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9CD30FE-B598-4F43-9F49-D9887D3D8814}"/>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3" name="Marcador de pie de página 2">
            <a:extLst>
              <a:ext uri="{FF2B5EF4-FFF2-40B4-BE49-F238E27FC236}">
                <a16:creationId xmlns:a16="http://schemas.microsoft.com/office/drawing/2014/main" id="{CF7803AC-ACB0-3740-A0CE-DB432E41AEF0}"/>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3D7ECD6-9EAE-E540-A12C-724331C0D0F8}"/>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1580253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B91668-213C-BE4F-B83F-2AF6E3BA0AB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4D8A542-AF38-1E4A-96DD-39BB46F34C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D98054C6-7BE0-4941-A80F-AE934AFFFC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9E9BE9-8613-FD42-B5EC-0FB5D2D9211B}"/>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6" name="Marcador de pie de página 5">
            <a:extLst>
              <a:ext uri="{FF2B5EF4-FFF2-40B4-BE49-F238E27FC236}">
                <a16:creationId xmlns:a16="http://schemas.microsoft.com/office/drawing/2014/main" id="{7D809AA1-D8C7-674B-82ED-332E39E175E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4E5BE6F-375C-EA4B-B4AE-7ED1D0F0F022}"/>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901728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ABAC5B-59F2-E94A-9E98-618CBB0FA0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275C564-3375-784F-953B-C043A16049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67E6B11-4EF3-FB49-A277-3CCDF1783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8D4422-9A64-C84C-ADA2-80E875A3BA42}"/>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6" name="Marcador de pie de página 5">
            <a:extLst>
              <a:ext uri="{FF2B5EF4-FFF2-40B4-BE49-F238E27FC236}">
                <a16:creationId xmlns:a16="http://schemas.microsoft.com/office/drawing/2014/main" id="{64253235-4A3C-DC45-BEF3-388A4DAD764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7ED6E7E-393C-3C49-808D-CC4F7AAEBA20}"/>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624139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E164D2-DE86-9B47-922A-0961D6C98F7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F4AA528-67AB-594F-8F49-6D7F282CD7D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224EE8E-17CC-744E-8AB2-427171929088}"/>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5" name="Marcador de pie de página 4">
            <a:extLst>
              <a:ext uri="{FF2B5EF4-FFF2-40B4-BE49-F238E27FC236}">
                <a16:creationId xmlns:a16="http://schemas.microsoft.com/office/drawing/2014/main" id="{7EEF750D-A8EF-B740-8975-5E85BB3F8C4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9C788B9-20C3-BF45-88E6-7D8D1BB608D6}"/>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1167525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DDBCDB-A05F-3745-9388-85749F6DFC7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E7C68E1-8A15-E343-B37F-03713632CA0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EA0C50C-973E-D84F-AE7B-CEDAC8D6FC19}"/>
              </a:ext>
            </a:extLst>
          </p:cNvPr>
          <p:cNvSpPr>
            <a:spLocks noGrp="1"/>
          </p:cNvSpPr>
          <p:nvPr>
            <p:ph type="dt" sz="half" idx="10"/>
          </p:nvPr>
        </p:nvSpPr>
        <p:spPr/>
        <p:txBody>
          <a:bodyPr/>
          <a:lstStyle/>
          <a:p>
            <a:fld id="{62A4BB93-E753-1B47-980C-5C2927CF4423}" type="datetimeFigureOut">
              <a:rPr lang="es-ES" smtClean="0"/>
              <a:t>17/03/2026</a:t>
            </a:fld>
            <a:endParaRPr lang="es-ES"/>
          </a:p>
        </p:txBody>
      </p:sp>
      <p:sp>
        <p:nvSpPr>
          <p:cNvPr id="5" name="Marcador de pie de página 4">
            <a:extLst>
              <a:ext uri="{FF2B5EF4-FFF2-40B4-BE49-F238E27FC236}">
                <a16:creationId xmlns:a16="http://schemas.microsoft.com/office/drawing/2014/main" id="{1F4EFFF4-07DB-4C43-9D59-F865EDD821D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CD5D0D-CAFA-B545-9330-E56BCFF0EF7E}"/>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3190913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96904-3761-164A-CB13-E49930F53FB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176C1A17-0F07-3F1D-E7FE-8DBAE8AF23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31EAFB1-E85E-B2E9-48C5-6F6DCF8C190A}"/>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5" name="Marcador de pie de página 4">
            <a:extLst>
              <a:ext uri="{FF2B5EF4-FFF2-40B4-BE49-F238E27FC236}">
                <a16:creationId xmlns:a16="http://schemas.microsoft.com/office/drawing/2014/main" id="{4F16C656-E288-C7E1-E7AF-7CD8FBE7646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E53D6F6-0299-3894-747C-6CB3AC842F1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029541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467A90-90EA-24A6-83E8-A0E436BA4D6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E51677F-484A-7C57-8910-1FC78EB9756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DBEDC19-1263-D133-19F9-879E9FBF1223}"/>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5" name="Marcador de pie de página 4">
            <a:extLst>
              <a:ext uri="{FF2B5EF4-FFF2-40B4-BE49-F238E27FC236}">
                <a16:creationId xmlns:a16="http://schemas.microsoft.com/office/drawing/2014/main" id="{08B0D96B-2DCB-5E16-310E-2750DF078C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62A6306-863C-DCE3-B012-B047CA0FA99A}"/>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558183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2EF9DB-C3DD-0B2C-9B6D-4EB8D2963B2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242A52-D0E5-B1EB-3505-392574AB88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0014CDF-75DC-98D8-E368-BF79BD7DEB60}"/>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5" name="Marcador de pie de página 4">
            <a:extLst>
              <a:ext uri="{FF2B5EF4-FFF2-40B4-BE49-F238E27FC236}">
                <a16:creationId xmlns:a16="http://schemas.microsoft.com/office/drawing/2014/main" id="{289FC60F-A664-AE9F-9EE4-C65044FF391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863CAD1-7C2F-8EE5-BB93-73159C029080}"/>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252565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FB51E8-0335-7484-8784-D28233A5630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E22E319-D3B2-CE31-72AC-4947E041CBB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A9E43DE-29C2-E6D1-8321-14BE7EB0670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68CED10-D4A4-D862-862B-8A0102C0ECDF}"/>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6" name="Marcador de pie de página 5">
            <a:extLst>
              <a:ext uri="{FF2B5EF4-FFF2-40B4-BE49-F238E27FC236}">
                <a16:creationId xmlns:a16="http://schemas.microsoft.com/office/drawing/2014/main" id="{60173BBF-74C0-1475-879A-40A31E5582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B543645-5C62-1ADF-35C4-24B8CACA21E5}"/>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850551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1CB4CD-DB36-38F5-551B-B24B15CEB4F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061DAFF-061A-2768-5084-26148A6712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40AE0E2-32CE-6CED-3CA7-B5A61202B9E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236FC0C-DE3E-7F48-9A63-32EDECA007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BE2E3D2-DB3E-E48D-E819-4C38BD2B8EF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E970E9DC-6207-AB08-6196-8AA7C0E48617}"/>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8" name="Marcador de pie de página 7">
            <a:extLst>
              <a:ext uri="{FF2B5EF4-FFF2-40B4-BE49-F238E27FC236}">
                <a16:creationId xmlns:a16="http://schemas.microsoft.com/office/drawing/2014/main" id="{AEE47B46-A906-039D-DD97-2CDA017A56B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A2E3AE35-4E9D-97F5-80BF-29172F592650}"/>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7706814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ABF35-F0CC-783D-4B10-6F3ADCC4CF3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61AEAA89-7378-E606-690D-84282CD4EA3C}"/>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4" name="Marcador de pie de página 3">
            <a:extLst>
              <a:ext uri="{FF2B5EF4-FFF2-40B4-BE49-F238E27FC236}">
                <a16:creationId xmlns:a16="http://schemas.microsoft.com/office/drawing/2014/main" id="{6FC9EB78-B4C8-C921-7E98-06A2449DDF1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04956437-53FC-04A1-9CA4-CCBAC1407721}"/>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458122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A9CFF1C-FB7F-499B-CEF7-BE26FFBE90B9}"/>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3" name="Marcador de pie de página 2">
            <a:extLst>
              <a:ext uri="{FF2B5EF4-FFF2-40B4-BE49-F238E27FC236}">
                <a16:creationId xmlns:a16="http://schemas.microsoft.com/office/drawing/2014/main" id="{4C3ED19F-53EE-6AC8-8F87-6EB4A6A5AD9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CAD167E-80D1-E542-3FF0-7A6158BDA6E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908178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3F72A4-8530-EA3C-21EE-50DA297AB1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950BE9D-DAFF-1BA7-D48B-346E26FA7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79CEC10-9821-0301-F36C-5C6CE37523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F739328-245C-8696-F875-85EC1CCD9B99}"/>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6" name="Marcador de pie de página 5">
            <a:extLst>
              <a:ext uri="{FF2B5EF4-FFF2-40B4-BE49-F238E27FC236}">
                <a16:creationId xmlns:a16="http://schemas.microsoft.com/office/drawing/2014/main" id="{262D4AB1-76F6-731A-D181-264166D35F7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95EE67A-A795-1653-0CC1-D5039BAAE365}"/>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39269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12DB89-EFCE-193F-C879-1989DBA530E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D562A323-0968-5A9B-4678-4D53F93B60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030E1E5E-2979-5ABE-4A1C-B3947936E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F553CE0-7E1C-24CB-5426-9C3F86D9ED2C}"/>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6" name="Marcador de pie de página 5">
            <a:extLst>
              <a:ext uri="{FF2B5EF4-FFF2-40B4-BE49-F238E27FC236}">
                <a16:creationId xmlns:a16="http://schemas.microsoft.com/office/drawing/2014/main" id="{F68E5EC3-B336-1B0B-8A1F-D0E269341D6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DA69C6F-217E-3704-7092-7987EEBD629B}"/>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1119028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978135-C256-8BD3-DE47-1A588730B810}"/>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8B77F9A-62AA-1500-BF40-FEE290BA22F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C611238-6756-6397-1B32-D9F19606E840}"/>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5" name="Marcador de pie de página 4">
            <a:extLst>
              <a:ext uri="{FF2B5EF4-FFF2-40B4-BE49-F238E27FC236}">
                <a16:creationId xmlns:a16="http://schemas.microsoft.com/office/drawing/2014/main" id="{7154FB5A-4D94-A104-3A51-29C3B94D67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9D9EAB8-31CB-4D56-365C-ECC477C73F9D}"/>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052535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532C61C-8238-2E16-8AC3-02E38D919BB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B4BB3E2-6358-E995-7A18-DC02B715D45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A216D6F-C9D2-780B-FBC3-B4E87009E9BF}"/>
              </a:ext>
            </a:extLst>
          </p:cNvPr>
          <p:cNvSpPr>
            <a:spLocks noGrp="1"/>
          </p:cNvSpPr>
          <p:nvPr>
            <p:ph type="dt" sz="half" idx="10"/>
          </p:nvPr>
        </p:nvSpPr>
        <p:spPr/>
        <p:txBody>
          <a:bodyPr/>
          <a:lstStyle/>
          <a:p>
            <a:fld id="{ED0C3AB5-09D1-44F9-A73B-901079EB8B73}" type="datetimeFigureOut">
              <a:rPr lang="es-ES" smtClean="0"/>
              <a:t>17/03/2026</a:t>
            </a:fld>
            <a:endParaRPr lang="es-ES"/>
          </a:p>
        </p:txBody>
      </p:sp>
      <p:sp>
        <p:nvSpPr>
          <p:cNvPr id="5" name="Marcador de pie de página 4">
            <a:extLst>
              <a:ext uri="{FF2B5EF4-FFF2-40B4-BE49-F238E27FC236}">
                <a16:creationId xmlns:a16="http://schemas.microsoft.com/office/drawing/2014/main" id="{6870DE7B-522C-B215-A4CE-442DB880700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13E1EF3-FB6C-DD87-A9A9-97E44B03212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144397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2774093-B221-A849-AB39-C6711070C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DB75B39-C2EE-7D4B-A2E7-210EA53565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5AF8A87-1D60-284E-97D8-C4C0E3044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4BB93-E753-1B47-980C-5C2927CF4423}" type="datetimeFigureOut">
              <a:rPr lang="es-ES" smtClean="0"/>
              <a:t>17/03/2026</a:t>
            </a:fld>
            <a:endParaRPr lang="es-ES"/>
          </a:p>
        </p:txBody>
      </p:sp>
      <p:sp>
        <p:nvSpPr>
          <p:cNvPr id="5" name="Marcador de pie de página 4">
            <a:extLst>
              <a:ext uri="{FF2B5EF4-FFF2-40B4-BE49-F238E27FC236}">
                <a16:creationId xmlns:a16="http://schemas.microsoft.com/office/drawing/2014/main" id="{D9EEB2B9-7607-1242-99FD-176D0D2678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CD35ECEB-679F-A343-BE65-D72E4D46B5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4F0C0E-6B36-FE41-995F-17DD5FD4E3CF}" type="slidenum">
              <a:rPr lang="es-ES" smtClean="0"/>
              <a:t>‹Nº›</a:t>
            </a:fld>
            <a:endParaRPr lang="es-ES"/>
          </a:p>
        </p:txBody>
      </p:sp>
    </p:spTree>
    <p:extLst>
      <p:ext uri="{BB962C8B-B14F-4D97-AF65-F5344CB8AC3E}">
        <p14:creationId xmlns:p14="http://schemas.microsoft.com/office/powerpoint/2010/main" val="2281390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2B9769-6CA2-F143-40A3-97BBE1490C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603E919-B5BD-F587-D7A3-97F3289E2B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0DA5140-DFE3-6577-B958-E8AFCEA6D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0C3AB5-09D1-44F9-A73B-901079EB8B73}" type="datetimeFigureOut">
              <a:rPr lang="es-ES" smtClean="0"/>
              <a:t>17/03/2026</a:t>
            </a:fld>
            <a:endParaRPr lang="es-ES"/>
          </a:p>
        </p:txBody>
      </p:sp>
      <p:sp>
        <p:nvSpPr>
          <p:cNvPr id="5" name="Marcador de pie de página 4">
            <a:extLst>
              <a:ext uri="{FF2B5EF4-FFF2-40B4-BE49-F238E27FC236}">
                <a16:creationId xmlns:a16="http://schemas.microsoft.com/office/drawing/2014/main" id="{D28F6DB3-1D9C-73D9-C8F3-375AFCEBB3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DA1E8CEE-A073-F425-0719-C9D4F7081C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8C7DF3-F41E-46B6-99FF-B8924323D118}" type="slidenum">
              <a:rPr lang="es-ES" smtClean="0"/>
              <a:t>‹Nº›</a:t>
            </a:fld>
            <a:endParaRPr lang="es-ES"/>
          </a:p>
        </p:txBody>
      </p:sp>
    </p:spTree>
    <p:extLst>
      <p:ext uri="{BB962C8B-B14F-4D97-AF65-F5344CB8AC3E}">
        <p14:creationId xmlns:p14="http://schemas.microsoft.com/office/powerpoint/2010/main" val="41188812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26.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79123888-33DE-6F4C-BBFA-CEE470E96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44" y="3443427"/>
            <a:ext cx="12339018" cy="3445670"/>
          </a:xfrm>
          <a:prstGeom prst="rect">
            <a:avLst/>
          </a:prstGeom>
        </p:spPr>
      </p:pic>
      <p:sp>
        <p:nvSpPr>
          <p:cNvPr id="10" name="CuadroTexto 9">
            <a:extLst>
              <a:ext uri="{FF2B5EF4-FFF2-40B4-BE49-F238E27FC236}">
                <a16:creationId xmlns:a16="http://schemas.microsoft.com/office/drawing/2014/main" id="{0A0CD324-6DCD-BA49-A073-078E28E36644}"/>
              </a:ext>
            </a:extLst>
          </p:cNvPr>
          <p:cNvSpPr txBox="1"/>
          <p:nvPr/>
        </p:nvSpPr>
        <p:spPr>
          <a:xfrm>
            <a:off x="5406190" y="1427748"/>
            <a:ext cx="6336632" cy="1709379"/>
          </a:xfrm>
          <a:prstGeom prst="rect">
            <a:avLst/>
          </a:prstGeom>
          <a:noFill/>
        </p:spPr>
        <p:txBody>
          <a:bodyPr wrap="square" rtlCol="0">
            <a:spAutoFit/>
          </a:bodyPr>
          <a:lstStyle/>
          <a:p>
            <a:pPr>
              <a:lnSpc>
                <a:spcPts val="6200"/>
              </a:lnSpc>
            </a:pPr>
            <a:r>
              <a:rPr lang="es-ES" sz="6000">
                <a:solidFill>
                  <a:schemeClr val="tx1">
                    <a:lumMod val="85000"/>
                    <a:lumOff val="15000"/>
                  </a:schemeClr>
                </a:solidFill>
                <a:latin typeface="DM Serif Display" pitchFamily="2" charset="0"/>
              </a:rPr>
              <a:t>Informe de análisis de datos </a:t>
            </a:r>
          </a:p>
        </p:txBody>
      </p:sp>
      <p:sp>
        <p:nvSpPr>
          <p:cNvPr id="11" name="Rectángulo 10">
            <a:extLst>
              <a:ext uri="{FF2B5EF4-FFF2-40B4-BE49-F238E27FC236}">
                <a16:creationId xmlns:a16="http://schemas.microsoft.com/office/drawing/2014/main" id="{B4095491-979B-8B42-8429-26E7A11D640F}"/>
              </a:ext>
            </a:extLst>
          </p:cNvPr>
          <p:cNvSpPr/>
          <p:nvPr/>
        </p:nvSpPr>
        <p:spPr>
          <a:xfrm>
            <a:off x="5406190" y="3713150"/>
            <a:ext cx="4977645" cy="477054"/>
          </a:xfrm>
          <a:prstGeom prst="rect">
            <a:avLst/>
          </a:prstGeom>
        </p:spPr>
        <p:txBody>
          <a:bodyPr wrap="none">
            <a:spAutoFit/>
          </a:bodyPr>
          <a:lstStyle/>
          <a:p>
            <a:r>
              <a:rPr lang="es-ES" sz="2500">
                <a:solidFill>
                  <a:schemeClr val="bg1"/>
                </a:solidFill>
                <a:latin typeface="Montserrat Medium" pitchFamily="2" charset="77"/>
              </a:rPr>
              <a:t>SMART OFFICE GUARDAMAR</a:t>
            </a:r>
          </a:p>
        </p:txBody>
      </p:sp>
      <p:pic>
        <p:nvPicPr>
          <p:cNvPr id="12" name="Imagen 11">
            <a:extLst>
              <a:ext uri="{FF2B5EF4-FFF2-40B4-BE49-F238E27FC236}">
                <a16:creationId xmlns:a16="http://schemas.microsoft.com/office/drawing/2014/main" id="{186F85B8-CDF7-364E-B53F-7E0AA455358B}"/>
              </a:ext>
            </a:extLst>
          </p:cNvPr>
          <p:cNvPicPr>
            <a:picLocks noChangeAspect="1"/>
          </p:cNvPicPr>
          <p:nvPr/>
        </p:nvPicPr>
        <p:blipFill>
          <a:blip r:embed="rId3"/>
          <a:stretch>
            <a:fillRect/>
          </a:stretch>
        </p:blipFill>
        <p:spPr>
          <a:xfrm>
            <a:off x="5390147" y="5695819"/>
            <a:ext cx="1422400" cy="438150"/>
          </a:xfrm>
          <a:prstGeom prst="rect">
            <a:avLst/>
          </a:prstGeom>
        </p:spPr>
      </p:pic>
      <p:sp>
        <p:nvSpPr>
          <p:cNvPr id="15" name="Rectángulo 14">
            <a:extLst>
              <a:ext uri="{FF2B5EF4-FFF2-40B4-BE49-F238E27FC236}">
                <a16:creationId xmlns:a16="http://schemas.microsoft.com/office/drawing/2014/main" id="{B8E12F29-AEFF-1648-82DB-A98A3FE6A988}"/>
              </a:ext>
            </a:extLst>
          </p:cNvPr>
          <p:cNvSpPr/>
          <p:nvPr/>
        </p:nvSpPr>
        <p:spPr>
          <a:xfrm>
            <a:off x="10426791" y="476672"/>
            <a:ext cx="1143262" cy="276999"/>
          </a:xfrm>
          <a:prstGeom prst="rect">
            <a:avLst/>
          </a:prstGeom>
        </p:spPr>
        <p:txBody>
          <a:bodyPr wrap="none">
            <a:spAutoFit/>
          </a:bodyPr>
          <a:lstStyle/>
          <a:p>
            <a:pPr algn="r"/>
            <a:r>
              <a:rPr lang="es-ES" sz="1200" b="1">
                <a:solidFill>
                  <a:srgbClr val="373736"/>
                </a:solidFill>
                <a:latin typeface="Montserrat SemiBold" pitchFamily="2" charset="77"/>
              </a:rPr>
              <a:t>ENE– DIC 25</a:t>
            </a:r>
          </a:p>
        </p:txBody>
      </p:sp>
      <p:pic>
        <p:nvPicPr>
          <p:cNvPr id="7" name="Gráfico 6">
            <a:extLst>
              <a:ext uri="{FF2B5EF4-FFF2-40B4-BE49-F238E27FC236}">
                <a16:creationId xmlns:a16="http://schemas.microsoft.com/office/drawing/2014/main" id="{303407DE-070A-F042-8A34-B36E7DAD37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064" y="1555752"/>
            <a:ext cx="3767269" cy="3767269"/>
          </a:xfrm>
          <a:prstGeom prst="rect">
            <a:avLst/>
          </a:prstGeom>
        </p:spPr>
      </p:pic>
      <p:pic>
        <p:nvPicPr>
          <p:cNvPr id="2" name="Imagen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7458" y="5082524"/>
            <a:ext cx="1551432" cy="1551432"/>
          </a:xfrm>
          <a:prstGeom prst="rect">
            <a:avLst/>
          </a:prstGeom>
        </p:spPr>
      </p:pic>
    </p:spTree>
    <p:extLst>
      <p:ext uri="{BB962C8B-B14F-4D97-AF65-F5344CB8AC3E}">
        <p14:creationId xmlns:p14="http://schemas.microsoft.com/office/powerpoint/2010/main" val="800913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79123888-33DE-6F4C-BBFA-CEE470E96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V="1">
            <a:off x="-64544" y="-46438"/>
            <a:ext cx="12339018" cy="3514628"/>
          </a:xfrm>
          <a:prstGeom prst="rect">
            <a:avLst/>
          </a:prstGeom>
        </p:spPr>
      </p:pic>
      <p:sp>
        <p:nvSpPr>
          <p:cNvPr id="3" name="CuadroTexto 2">
            <a:extLst>
              <a:ext uri="{FF2B5EF4-FFF2-40B4-BE49-F238E27FC236}">
                <a16:creationId xmlns:a16="http://schemas.microsoft.com/office/drawing/2014/main" id="{774207D7-0887-9E41-83A9-E3CE80D740FD}"/>
              </a:ext>
            </a:extLst>
          </p:cNvPr>
          <p:cNvSpPr txBox="1"/>
          <p:nvPr/>
        </p:nvSpPr>
        <p:spPr>
          <a:xfrm>
            <a:off x="731838" y="2254013"/>
            <a:ext cx="5364162" cy="914289"/>
          </a:xfrm>
          <a:prstGeom prst="rect">
            <a:avLst/>
          </a:prstGeom>
          <a:noFill/>
        </p:spPr>
        <p:txBody>
          <a:bodyPr wrap="square" rtlCol="0">
            <a:spAutoFit/>
          </a:bodyPr>
          <a:lstStyle/>
          <a:p>
            <a:pPr>
              <a:lnSpc>
                <a:spcPts val="6200"/>
              </a:lnSpc>
            </a:pPr>
            <a:r>
              <a:rPr lang="es-ES" sz="6000">
                <a:solidFill>
                  <a:schemeClr val="bg1"/>
                </a:solidFill>
                <a:latin typeface="DM Serif Display" pitchFamily="2" charset="0"/>
              </a:rPr>
              <a:t>Índice</a:t>
            </a:r>
          </a:p>
        </p:txBody>
      </p:sp>
      <p:sp>
        <p:nvSpPr>
          <p:cNvPr id="4" name="Rectángulo 3">
            <a:extLst>
              <a:ext uri="{FF2B5EF4-FFF2-40B4-BE49-F238E27FC236}">
                <a16:creationId xmlns:a16="http://schemas.microsoft.com/office/drawing/2014/main" id="{EAE3194D-BA72-7946-B686-0B4FF8284B2D}"/>
              </a:ext>
            </a:extLst>
          </p:cNvPr>
          <p:cNvSpPr/>
          <p:nvPr/>
        </p:nvSpPr>
        <p:spPr>
          <a:xfrm>
            <a:off x="731838" y="4491358"/>
            <a:ext cx="2276201" cy="1400383"/>
          </a:xfrm>
          <a:prstGeom prst="rect">
            <a:avLst/>
          </a:prstGeom>
        </p:spPr>
        <p:txBody>
          <a:bodyPr wrap="square">
            <a:spAutoFit/>
          </a:bodyPr>
          <a:lstStyle/>
          <a:p>
            <a:pPr algn="ctr">
              <a:lnSpc>
                <a:spcPts val="4200"/>
              </a:lnSpc>
            </a:pPr>
            <a:r>
              <a:rPr lang="es-ES" sz="8200">
                <a:solidFill>
                  <a:schemeClr val="bg2"/>
                </a:solidFill>
                <a:latin typeface="DM Serif Display" pitchFamily="2" charset="0"/>
                <a:ea typeface="Times New Roman" panose="02020603050405020304" pitchFamily="18" charset="0"/>
                <a:cs typeface="Times New Roman" panose="02020603050405020304" pitchFamily="18" charset="0"/>
              </a:rPr>
              <a:t>01</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Afluencia</a:t>
            </a:r>
            <a:br>
              <a:rPr lang="es-ES" sz="2400">
                <a:solidFill>
                  <a:schemeClr val="tx1">
                    <a:lumMod val="85000"/>
                    <a:lumOff val="15000"/>
                  </a:schemeClr>
                </a:solidFill>
                <a:latin typeface="Montserrat Medium" pitchFamily="2" charset="77"/>
                <a:cs typeface="Times New Roman" panose="02020603050405020304" pitchFamily="18" charset="0"/>
              </a:rPr>
            </a:br>
            <a:r>
              <a:rPr lang="es-ES" sz="2400">
                <a:solidFill>
                  <a:schemeClr val="tx1">
                    <a:lumMod val="85000"/>
                    <a:lumOff val="15000"/>
                  </a:schemeClr>
                </a:solidFill>
                <a:latin typeface="Montserrat Medium" pitchFamily="2" charset="77"/>
                <a:cs typeface="Times New Roman" panose="02020603050405020304" pitchFamily="18" charset="0"/>
              </a:rPr>
              <a:t>turística</a:t>
            </a:r>
            <a:endParaRPr lang="es-ES" sz="2400">
              <a:solidFill>
                <a:schemeClr val="tx1">
                  <a:lumMod val="85000"/>
                  <a:lumOff val="15000"/>
                </a:schemeClr>
              </a:solidFill>
              <a:latin typeface="Montserrat Medium" pitchFamily="2" charset="77"/>
            </a:endParaRPr>
          </a:p>
        </p:txBody>
      </p:sp>
      <p:sp>
        <p:nvSpPr>
          <p:cNvPr id="5" name="Rectángulo 4">
            <a:extLst>
              <a:ext uri="{FF2B5EF4-FFF2-40B4-BE49-F238E27FC236}">
                <a16:creationId xmlns:a16="http://schemas.microsoft.com/office/drawing/2014/main" id="{A209F9F7-B8EE-9C46-95BA-913323E8363B}"/>
              </a:ext>
            </a:extLst>
          </p:cNvPr>
          <p:cNvSpPr/>
          <p:nvPr/>
        </p:nvSpPr>
        <p:spPr>
          <a:xfrm>
            <a:off x="3727032" y="4491358"/>
            <a:ext cx="2003948" cy="1400383"/>
          </a:xfrm>
          <a:prstGeom prst="rect">
            <a:avLst/>
          </a:prstGeom>
        </p:spPr>
        <p:txBody>
          <a:bodyPr wrap="square">
            <a:spAutoFit/>
          </a:bodyPr>
          <a:lstStyle/>
          <a:p>
            <a:pPr algn="ctr">
              <a:lnSpc>
                <a:spcPts val="4200"/>
              </a:lnSpc>
            </a:pPr>
            <a:r>
              <a:rPr lang="es-ES" sz="8200">
                <a:solidFill>
                  <a:schemeClr val="bg2"/>
                </a:solidFill>
                <a:latin typeface="DM Serif Display" pitchFamily="2" charset="0"/>
                <a:cs typeface="Times New Roman" panose="02020603050405020304" pitchFamily="18" charset="0"/>
              </a:rPr>
              <a:t>02</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Gasto</a:t>
            </a:r>
            <a:br>
              <a:rPr lang="es-ES" sz="2400">
                <a:solidFill>
                  <a:schemeClr val="tx1">
                    <a:lumMod val="85000"/>
                    <a:lumOff val="15000"/>
                  </a:schemeClr>
                </a:solidFill>
                <a:latin typeface="Montserrat Medium" pitchFamily="2" charset="77"/>
                <a:cs typeface="Times New Roman" panose="02020603050405020304" pitchFamily="18" charset="0"/>
              </a:rPr>
            </a:br>
            <a:r>
              <a:rPr lang="es-ES" sz="2400">
                <a:solidFill>
                  <a:schemeClr val="tx1">
                    <a:lumMod val="85000"/>
                    <a:lumOff val="15000"/>
                  </a:schemeClr>
                </a:solidFill>
                <a:latin typeface="Montserrat Medium" pitchFamily="2" charset="77"/>
                <a:cs typeface="Times New Roman" panose="02020603050405020304" pitchFamily="18" charset="0"/>
              </a:rPr>
              <a:t>turístico</a:t>
            </a:r>
          </a:p>
        </p:txBody>
      </p:sp>
      <p:sp>
        <p:nvSpPr>
          <p:cNvPr id="6" name="Rectángulo 5">
            <a:extLst>
              <a:ext uri="{FF2B5EF4-FFF2-40B4-BE49-F238E27FC236}">
                <a16:creationId xmlns:a16="http://schemas.microsoft.com/office/drawing/2014/main" id="{1D00B25A-E893-D340-9FC2-AFDE28AAAA50}"/>
              </a:ext>
            </a:extLst>
          </p:cNvPr>
          <p:cNvSpPr/>
          <p:nvPr/>
        </p:nvSpPr>
        <p:spPr>
          <a:xfrm>
            <a:off x="6449973" y="4491358"/>
            <a:ext cx="2003948" cy="1066959"/>
          </a:xfrm>
          <a:prstGeom prst="rect">
            <a:avLst/>
          </a:prstGeom>
        </p:spPr>
        <p:txBody>
          <a:bodyPr wrap="square">
            <a:spAutoFit/>
          </a:bodyPr>
          <a:lstStyle/>
          <a:p>
            <a:pPr algn="ctr">
              <a:lnSpc>
                <a:spcPts val="4200"/>
              </a:lnSpc>
            </a:pPr>
            <a:r>
              <a:rPr lang="es-ES" sz="8200">
                <a:solidFill>
                  <a:schemeClr val="bg2"/>
                </a:solidFill>
                <a:latin typeface="DM Serif Display" pitchFamily="2" charset="0"/>
                <a:cs typeface="Times New Roman" panose="02020603050405020304" pitchFamily="18" charset="0"/>
              </a:rPr>
              <a:t>03</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Ocupación</a:t>
            </a:r>
          </a:p>
        </p:txBody>
      </p:sp>
      <p:sp>
        <p:nvSpPr>
          <p:cNvPr id="2" name="Rectángulo 1">
            <a:extLst>
              <a:ext uri="{FF2B5EF4-FFF2-40B4-BE49-F238E27FC236}">
                <a16:creationId xmlns:a16="http://schemas.microsoft.com/office/drawing/2014/main" id="{70AC8B80-2FA6-0EFB-03B8-45D522513162}"/>
              </a:ext>
            </a:extLst>
          </p:cNvPr>
          <p:cNvSpPr/>
          <p:nvPr/>
        </p:nvSpPr>
        <p:spPr>
          <a:xfrm>
            <a:off x="9172914" y="4491357"/>
            <a:ext cx="2003948" cy="1400383"/>
          </a:xfrm>
          <a:prstGeom prst="rect">
            <a:avLst/>
          </a:prstGeom>
        </p:spPr>
        <p:txBody>
          <a:bodyPr wrap="square">
            <a:spAutoFit/>
          </a:bodyPr>
          <a:lstStyle/>
          <a:p>
            <a:pPr algn="ctr">
              <a:lnSpc>
                <a:spcPts val="4200"/>
              </a:lnSpc>
            </a:pPr>
            <a:r>
              <a:rPr lang="es-ES" sz="8200">
                <a:solidFill>
                  <a:schemeClr val="bg2"/>
                </a:solidFill>
                <a:latin typeface="DM Serif Display" pitchFamily="2" charset="0"/>
                <a:cs typeface="Times New Roman" panose="02020603050405020304" pitchFamily="18" charset="0"/>
              </a:rPr>
              <a:t>04</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Glosario de términos</a:t>
            </a:r>
          </a:p>
        </p:txBody>
      </p:sp>
      <p:pic>
        <p:nvPicPr>
          <p:cNvPr id="17" name="Imagen 16">
            <a:extLst>
              <a:ext uri="{FF2B5EF4-FFF2-40B4-BE49-F238E27FC236}">
                <a16:creationId xmlns:a16="http://schemas.microsoft.com/office/drawing/2014/main" id="{186F85B8-CDF7-364E-B53F-7E0AA455358B}"/>
              </a:ext>
            </a:extLst>
          </p:cNvPr>
          <p:cNvPicPr>
            <a:picLocks noChangeAspect="1"/>
          </p:cNvPicPr>
          <p:nvPr/>
        </p:nvPicPr>
        <p:blipFill>
          <a:blip r:embed="rId3"/>
          <a:stretch>
            <a:fillRect/>
          </a:stretch>
        </p:blipFill>
        <p:spPr>
          <a:xfrm>
            <a:off x="9310366" y="1061604"/>
            <a:ext cx="1067736" cy="328901"/>
          </a:xfrm>
          <a:prstGeom prst="rect">
            <a:avLst/>
          </a:prstGeom>
        </p:spPr>
      </p:pic>
      <p:pic>
        <p:nvPicPr>
          <p:cNvPr id="12" name="Imagen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78102" y="596642"/>
            <a:ext cx="1220060" cy="1220060"/>
          </a:xfrm>
          <a:prstGeom prst="rect">
            <a:avLst/>
          </a:prstGeom>
        </p:spPr>
      </p:pic>
    </p:spTree>
    <p:extLst>
      <p:ext uri="{BB962C8B-B14F-4D97-AF65-F5344CB8AC3E}">
        <p14:creationId xmlns:p14="http://schemas.microsoft.com/office/powerpoint/2010/main" val="200689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B180-1771-3DF1-5000-BC590819B419}"/>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E9D2AC53-8AE8-0D74-AB5D-CE4F6F9165DC}"/>
              </a:ext>
            </a:extLst>
          </p:cNvPr>
          <p:cNvSpPr/>
          <p:nvPr/>
        </p:nvSpPr>
        <p:spPr>
          <a:xfrm>
            <a:off x="7447402"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01</a:t>
            </a:r>
            <a:endParaRPr lang="es-ES" sz="30000">
              <a:solidFill>
                <a:schemeClr val="bg2"/>
              </a:solidFill>
              <a:latin typeface="DM Serif Display" pitchFamily="2" charset="0"/>
            </a:endParaRPr>
          </a:p>
        </p:txBody>
      </p:sp>
      <p:pic>
        <p:nvPicPr>
          <p:cNvPr id="12" name="Imagen 11">
            <a:extLst>
              <a:ext uri="{FF2B5EF4-FFF2-40B4-BE49-F238E27FC236}">
                <a16:creationId xmlns:a16="http://schemas.microsoft.com/office/drawing/2014/main" id="{33398DED-A555-65B6-218D-A5C342686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09" y="3429000"/>
            <a:ext cx="12339018" cy="3445670"/>
          </a:xfrm>
          <a:prstGeom prst="rect">
            <a:avLst/>
          </a:prstGeom>
        </p:spPr>
      </p:pic>
      <p:sp>
        <p:nvSpPr>
          <p:cNvPr id="2" name="Rectángulo 1">
            <a:extLst>
              <a:ext uri="{FF2B5EF4-FFF2-40B4-BE49-F238E27FC236}">
                <a16:creationId xmlns:a16="http://schemas.microsoft.com/office/drawing/2014/main" id="{56CC1D0B-4048-EA6A-29D4-52B0C4F238C1}"/>
              </a:ext>
            </a:extLst>
          </p:cNvPr>
          <p:cNvSpPr/>
          <p:nvPr/>
        </p:nvSpPr>
        <p:spPr>
          <a:xfrm>
            <a:off x="629084" y="1390653"/>
            <a:ext cx="3157104" cy="1185324"/>
          </a:xfrm>
          <a:prstGeom prst="rect">
            <a:avLst/>
          </a:prstGeom>
        </p:spPr>
        <p:txBody>
          <a:bodyPr wrap="square">
            <a:spAutoFit/>
          </a:bodyPr>
          <a:lstStyle/>
          <a:p>
            <a:pPr>
              <a:lnSpc>
                <a:spcPts val="40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Afluencia </a:t>
            </a:r>
            <a:b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b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turística</a:t>
            </a:r>
            <a:endParaRPr lang="es-ES" sz="4000">
              <a:solidFill>
                <a:schemeClr val="tx1">
                  <a:lumMod val="85000"/>
                  <a:lumOff val="15000"/>
                </a:schemeClr>
              </a:solidFill>
              <a:latin typeface="DM Serif Display" pitchFamily="2" charset="0"/>
            </a:endParaRPr>
          </a:p>
        </p:txBody>
      </p:sp>
      <p:pic>
        <p:nvPicPr>
          <p:cNvPr id="14" name="Imagen 13">
            <a:extLst>
              <a:ext uri="{FF2B5EF4-FFF2-40B4-BE49-F238E27FC236}">
                <a16:creationId xmlns:a16="http://schemas.microsoft.com/office/drawing/2014/main" id="{B17E956C-DB9B-2238-8F76-21D3B212AE5D}"/>
              </a:ext>
            </a:extLst>
          </p:cNvPr>
          <p:cNvPicPr>
            <a:picLocks noChangeAspect="1"/>
          </p:cNvPicPr>
          <p:nvPr/>
        </p:nvPicPr>
        <p:blipFill>
          <a:blip r:embed="rId3"/>
          <a:stretch>
            <a:fillRect/>
          </a:stretch>
        </p:blipFill>
        <p:spPr>
          <a:xfrm>
            <a:off x="686969" y="6124651"/>
            <a:ext cx="959505" cy="295562"/>
          </a:xfrm>
          <a:prstGeom prst="rect">
            <a:avLst/>
          </a:prstGeom>
        </p:spPr>
      </p:pic>
      <p:pic>
        <p:nvPicPr>
          <p:cNvPr id="15" name="Imagen 14">
            <a:extLst>
              <a:ext uri="{FF2B5EF4-FFF2-40B4-BE49-F238E27FC236}">
                <a16:creationId xmlns:a16="http://schemas.microsoft.com/office/drawing/2014/main" id="{57123B90-DC5F-2422-4EC8-30F6C2202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7777" y="5754856"/>
            <a:ext cx="1035151" cy="1035151"/>
          </a:xfrm>
          <a:prstGeom prst="rect">
            <a:avLst/>
          </a:prstGeom>
        </p:spPr>
      </p:pic>
      <p:sp>
        <p:nvSpPr>
          <p:cNvPr id="3" name="Rectángulo 2">
            <a:extLst>
              <a:ext uri="{FF2B5EF4-FFF2-40B4-BE49-F238E27FC236}">
                <a16:creationId xmlns:a16="http://schemas.microsoft.com/office/drawing/2014/main" id="{DA5CCBC1-28D0-DE42-EA99-52291A43BF50}"/>
              </a:ext>
            </a:extLst>
          </p:cNvPr>
          <p:cNvSpPr/>
          <p:nvPr/>
        </p:nvSpPr>
        <p:spPr>
          <a:xfrm>
            <a:off x="437957" y="3622439"/>
            <a:ext cx="5261810" cy="1639103"/>
          </a:xfrm>
          <a:prstGeom prst="rect">
            <a:avLst/>
          </a:prstGeom>
        </p:spPr>
        <p:txBody>
          <a:bodyPr wrap="square">
            <a:spAutoFit/>
          </a:bodyPr>
          <a:lstStyle/>
          <a:p>
            <a:pPr algn="just">
              <a:lnSpc>
                <a:spcPct val="115000"/>
              </a:lnSpc>
              <a:spcAft>
                <a:spcPts val="0"/>
              </a:spcAft>
            </a:pPr>
            <a:r>
              <a:rPr lang="es-ES" sz="1100" kern="0">
                <a:solidFill>
                  <a:schemeClr val="bg1"/>
                </a:solidFill>
                <a:latin typeface="Montserrat" pitchFamily="2" charset="77"/>
                <a:ea typeface="Times New Roman" panose="02020603050405020304" pitchFamily="18" charset="0"/>
                <a:cs typeface="Times New Roman" panose="02020603050405020304" pitchFamily="18" charset="0"/>
              </a:rPr>
              <a:t>Durante 2025, Guardamar del Segura registra un total de 236.580 turistas, reflejando un ligero ajuste en la afluencia tras los máximos alcanzados en los años anteriores. Esta evolución responde principalmente a la combinación de dos dinámicas: por un lado, el descenso del turismo nacional, que reduce su volumen respecto a 2024, mientras que el turismo internacional muestra un comportamiento claramente expansivo, alcanzando el valor más alto de la serie y reforzando su peso dentro de la demanda turística del destino. </a:t>
            </a:r>
            <a:endParaRPr lang="es-ES" sz="1100" kern="100">
              <a:solidFill>
                <a:schemeClr val="bg1"/>
              </a:solidFill>
              <a:effectLst/>
              <a:latin typeface="Aptos"/>
              <a:ea typeface="Times New Roman" panose="02020603050405020304" pitchFamily="18" charset="0"/>
              <a:cs typeface="Times New Roman" panose="02020603050405020304" pitchFamily="18" charset="0"/>
            </a:endParaRPr>
          </a:p>
        </p:txBody>
      </p:sp>
      <p:sp>
        <p:nvSpPr>
          <p:cNvPr id="4" name="Rectángulo 3">
            <a:extLst>
              <a:ext uri="{FF2B5EF4-FFF2-40B4-BE49-F238E27FC236}">
                <a16:creationId xmlns:a16="http://schemas.microsoft.com/office/drawing/2014/main" id="{DBE349D4-75FD-B23E-4D81-EFB8A5B02006}"/>
              </a:ext>
            </a:extLst>
          </p:cNvPr>
          <p:cNvSpPr/>
          <p:nvPr/>
        </p:nvSpPr>
        <p:spPr>
          <a:xfrm>
            <a:off x="6211233" y="3593614"/>
            <a:ext cx="5261810" cy="2028440"/>
          </a:xfrm>
          <a:prstGeom prst="rect">
            <a:avLst/>
          </a:prstGeom>
        </p:spPr>
        <p:txBody>
          <a:bodyPr wrap="square">
            <a:spAutoFit/>
          </a:bodyPr>
          <a:lstStyle/>
          <a:p>
            <a:pPr algn="just">
              <a:lnSpc>
                <a:spcPct val="115000"/>
              </a:lnSpc>
              <a:spcAft>
                <a:spcPts val="0"/>
              </a:spcAft>
            </a:pPr>
            <a:r>
              <a:rPr lang="es-ES" sz="1100" kern="0">
                <a:solidFill>
                  <a:schemeClr val="bg1"/>
                </a:solidFill>
                <a:latin typeface="Montserrat" pitchFamily="2" charset="77"/>
                <a:ea typeface="Times New Roman" panose="02020603050405020304" pitchFamily="18" charset="0"/>
                <a:cs typeface="Times New Roman" panose="02020603050405020304" pitchFamily="18" charset="0"/>
              </a:rPr>
              <a:t>A lo largo de este bloque se analiza la evolución reciente de la afluencia turística, la dinámica de los principales mercados emisores y los patrones de estacionalidad del destino. Los datos evidencian una creciente relevancia del mercado internacional y una elevada concentración estival de la demanda, elementos que configuran el actual patrón de funcionamiento turístico del destino y condicionan la distribución temporal de la actividad a lo largo del año. El análisis de estas dinámicas permite identificar tendencias relevantes y posibles oportunidades de actuación orientadas a mejorar el equilibrio y la estabilidad de la demanda turística.</a:t>
            </a:r>
            <a:endParaRPr lang="es-ES" sz="1100" kern="100">
              <a:solidFill>
                <a:schemeClr val="bg1"/>
              </a:solidFill>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0570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97066-F777-88C6-AEE4-9C40206A9C73}"/>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2E1DEE56-C2BD-96C6-69DD-1BE4ECFE2C27}"/>
              </a:ext>
            </a:extLst>
          </p:cNvPr>
          <p:cNvSpPr/>
          <p:nvPr/>
        </p:nvSpPr>
        <p:spPr>
          <a:xfrm>
            <a:off x="6096001" y="1090770"/>
            <a:ext cx="5372099" cy="273152"/>
          </a:xfrm>
          <a:prstGeom prst="rect">
            <a:avLst/>
          </a:prstGeom>
          <a:noFill/>
        </p:spPr>
        <p:txBody>
          <a:bodyPr wrap="square">
            <a:spAutoFit/>
          </a:bodyPr>
          <a:lstStyle/>
          <a:p>
            <a:pPr marL="15875" algn="ctr">
              <a:lnSpc>
                <a:spcPct val="115000"/>
              </a:lnSpc>
              <a:spcAft>
                <a:spcPts val="0"/>
              </a:spcAft>
              <a:buClr>
                <a:srgbClr val="00325C"/>
              </a:buClr>
              <a:buSzPct val="100000"/>
            </a:pPr>
            <a:r>
              <a:rPr lang="es-ES" sz="1100" b="1" kern="0">
                <a:solidFill>
                  <a:schemeClr val="bg1"/>
                </a:solidFill>
                <a:highlight>
                  <a:srgbClr val="000000"/>
                </a:highlight>
                <a:latin typeface="Montserrat SemiBold" pitchFamily="2" charset="77"/>
                <a:cs typeface="Times New Roman" panose="02020603050405020304" pitchFamily="18" charset="0"/>
              </a:rPr>
              <a:t> Turismo nacional </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E62C43"/>
                </a:highlight>
                <a:latin typeface="Montserrat SemiBold" pitchFamily="2" charset="77"/>
                <a:cs typeface="Times New Roman" panose="02020603050405020304" pitchFamily="18" charset="0"/>
              </a:rPr>
              <a:t> Turismo internacional </a:t>
            </a:r>
            <a:r>
              <a:rPr lang="es-ES" sz="1100" b="1" kern="0">
                <a:solidFill>
                  <a:schemeClr val="bg1"/>
                </a:solidFill>
                <a:latin typeface="Montserrat SemiBold" pitchFamily="2" charset="77"/>
                <a:cs typeface="Times New Roman" panose="02020603050405020304" pitchFamily="18" charset="0"/>
              </a:rPr>
              <a:t> </a:t>
            </a:r>
            <a:r>
              <a:rPr lang="es-ES" sz="1100" b="1" kern="0">
                <a:solidFill>
                  <a:srgbClr val="009AA7"/>
                </a:solidFill>
                <a:latin typeface="Montserrat SemiBold" pitchFamily="2" charset="77"/>
                <a:cs typeface="Times New Roman" panose="02020603050405020304" pitchFamily="18" charset="0"/>
              </a:rPr>
              <a:t>   </a:t>
            </a:r>
            <a:r>
              <a:rPr lang="es-ES" sz="1100" b="1" kern="0">
                <a:solidFill>
                  <a:schemeClr val="bg1"/>
                </a:solidFill>
                <a:highlight>
                  <a:srgbClr val="BCBCBC"/>
                </a:highlight>
                <a:latin typeface="Montserrat SemiBold" pitchFamily="2" charset="77"/>
                <a:cs typeface="Times New Roman" panose="02020603050405020304" pitchFamily="18" charset="0"/>
              </a:rPr>
              <a:t> Afluencia total </a:t>
            </a:r>
            <a:endParaRPr lang="es-ES" sz="1100" b="1" kern="0">
              <a:solidFill>
                <a:srgbClr val="76B463"/>
              </a:solidFill>
              <a:highlight>
                <a:srgbClr val="BCBCBC"/>
              </a:highlight>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F6CFBBAE-1D73-B075-4E06-05707B66979D}"/>
              </a:ext>
            </a:extLst>
          </p:cNvPr>
          <p:cNvSpPr/>
          <p:nvPr/>
        </p:nvSpPr>
        <p:spPr>
          <a:xfrm>
            <a:off x="638668" y="2480400"/>
            <a:ext cx="4928755" cy="3193182"/>
          </a:xfrm>
          <a:prstGeom prst="rect">
            <a:avLst/>
          </a:prstGeom>
        </p:spPr>
        <p:txBody>
          <a:bodyPr wrap="square">
            <a:spAutoFit/>
          </a:bodyPr>
          <a:lstStyle/>
          <a:p>
            <a:pPr marL="15875" algn="just">
              <a:lnSpc>
                <a:spcPct val="115000"/>
              </a:lnSpc>
            </a:pPr>
            <a:r>
              <a:rPr lang="es-ES" sz="1100" kern="0">
                <a:solidFill>
                  <a:schemeClr val="tx1">
                    <a:lumMod val="75000"/>
                    <a:lumOff val="25000"/>
                  </a:schemeClr>
                </a:solidFill>
                <a:latin typeface="Montserrat" pitchFamily="2" charset="77"/>
                <a:cs typeface="Times New Roman" panose="02020603050405020304" pitchFamily="18" charset="0"/>
              </a:rPr>
              <a:t>La evolución de los datos entre 2019 y 2025 refleja una recuperación sostenida tras el descenso de 2020, hasta alcanzar el máximo de la serie en 2023. A partir ese punto se inicia una fase de ajuste, con un descenso más acusado en 2024.</a:t>
            </a:r>
          </a:p>
          <a:p>
            <a:pPr marL="15875" algn="just">
              <a:lnSpc>
                <a:spcPct val="115000"/>
              </a:lnSpc>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pPr>
            <a:r>
              <a:rPr lang="es-ES" sz="1100" kern="0">
                <a:solidFill>
                  <a:schemeClr val="tx1">
                    <a:lumMod val="75000"/>
                    <a:lumOff val="25000"/>
                  </a:schemeClr>
                </a:solidFill>
                <a:latin typeface="Montserrat" pitchFamily="2" charset="77"/>
                <a:cs typeface="Times New Roman" panose="02020603050405020304" pitchFamily="18" charset="0"/>
              </a:rPr>
              <a:t>En 2025, la afluencia turística se sitúa en 236.580 turistas, registrando una corrección adicional de menor intensidad respecto a 2024. Esta evolución está marcada principalmente por la reducción del turismo nacional, mientras que el mercado internacional muestra un comportamiento más dinámico, alcanzando su valor más alto de la serie y ganando peso relativo en la estructura de la demanda del destino. En este contexto, el seguimiento de la evolución de los distintos mercados emisores y de los patrones de estacionalidad resulta clave para orientar la planificación turística del municipio e identificar líneas de actuación que contribuyan a seguir consolidando la demanda. </a:t>
            </a: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7" name="Rectángulo 6">
            <a:extLst>
              <a:ext uri="{FF2B5EF4-FFF2-40B4-BE49-F238E27FC236}">
                <a16:creationId xmlns:a16="http://schemas.microsoft.com/office/drawing/2014/main" id="{9F6FBB21-9D45-255D-4311-79195A0EB587}"/>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8" name="Rectángulo 7">
            <a:extLst>
              <a:ext uri="{FF2B5EF4-FFF2-40B4-BE49-F238E27FC236}">
                <a16:creationId xmlns:a16="http://schemas.microsoft.com/office/drawing/2014/main" id="{50BFD5FE-1C58-EA3E-2B40-8CF55EB84B1B}"/>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Principales resultados del periodo analizado </a:t>
            </a:r>
          </a:p>
        </p:txBody>
      </p:sp>
      <p:graphicFrame>
        <p:nvGraphicFramePr>
          <p:cNvPr id="2" name="Gráfico 1">
            <a:extLst>
              <a:ext uri="{FF2B5EF4-FFF2-40B4-BE49-F238E27FC236}">
                <a16:creationId xmlns:a16="http://schemas.microsoft.com/office/drawing/2014/main" id="{7CB66C9D-E8C7-011A-BA08-AEC8D6E7910E}"/>
              </a:ext>
            </a:extLst>
          </p:cNvPr>
          <p:cNvGraphicFramePr>
            <a:graphicFrameLocks/>
          </p:cNvGraphicFramePr>
          <p:nvPr>
            <p:extLst>
              <p:ext uri="{D42A27DB-BD31-4B8C-83A1-F6EECF244321}">
                <p14:modId xmlns:p14="http://schemas.microsoft.com/office/powerpoint/2010/main" val="2095415634"/>
              </p:ext>
            </p:extLst>
          </p:nvPr>
        </p:nvGraphicFramePr>
        <p:xfrm>
          <a:off x="5968650" y="1392995"/>
          <a:ext cx="5626800" cy="47125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006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D5F9D-493A-2A37-4175-F960E7A4B55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41439825-9B1A-8BCA-313E-EB3BEB0CFE3B}"/>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A2A14901-C4E4-678F-E0BA-11629DB9AC48}"/>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Principales resultados del año 2025</a:t>
            </a:r>
          </a:p>
        </p:txBody>
      </p:sp>
      <p:sp>
        <p:nvSpPr>
          <p:cNvPr id="12" name="Rectángulo 11">
            <a:extLst>
              <a:ext uri="{FF2B5EF4-FFF2-40B4-BE49-F238E27FC236}">
                <a16:creationId xmlns:a16="http://schemas.microsoft.com/office/drawing/2014/main" id="{6832BF13-7A27-CDED-AAD0-950647C27BFE}"/>
              </a:ext>
            </a:extLst>
          </p:cNvPr>
          <p:cNvSpPr/>
          <p:nvPr/>
        </p:nvSpPr>
        <p:spPr>
          <a:xfrm>
            <a:off x="638668" y="2425602"/>
            <a:ext cx="4783776" cy="2644570"/>
          </a:xfrm>
          <a:prstGeom prst="rect">
            <a:avLst/>
          </a:prstGeom>
        </p:spPr>
        <p:txBody>
          <a:bodyPr wrap="square" lIns="91440" tIns="45720" rIns="91440" bIns="45720" anchor="t">
            <a:spAutoFit/>
          </a:bodyPr>
          <a:lstStyle/>
          <a:p>
            <a:pPr marL="15875">
              <a:lnSpc>
                <a:spcPct val="115000"/>
              </a:lnSpc>
              <a:spcAft>
                <a:spcPts val="0"/>
              </a:spcAft>
              <a:buClr>
                <a:srgbClr val="00325C"/>
              </a:buClr>
              <a:buSzPct val="100000"/>
            </a:pPr>
            <a:r>
              <a:rPr lang="es-ES" sz="1200" b="1" kern="0">
                <a:latin typeface="Montserrat SemiBold" pitchFamily="2" charset="77"/>
                <a:cs typeface="Times New Roman" panose="02020603050405020304" pitchFamily="18" charset="0"/>
              </a:rPr>
              <a:t>Turismo nacional  </a:t>
            </a:r>
          </a:p>
          <a:p>
            <a:pPr marL="15875">
              <a:lnSpc>
                <a:spcPct val="115000"/>
              </a:lnSpc>
              <a:spcAft>
                <a:spcPts val="0"/>
              </a:spcAft>
              <a:buClr>
                <a:srgbClr val="00325C"/>
              </a:buClr>
              <a:buSzPct val="100000"/>
            </a:pPr>
            <a:endParaRPr lang="es-ES" sz="1200" b="1" kern="0">
              <a:solidFill>
                <a:srgbClr val="80BADD"/>
              </a:solidFill>
              <a:latin typeface="Montserrat SemiBold" pitchFamily="2" charset="77"/>
              <a:cs typeface="Times New Roman" panose="02020603050405020304" pitchFamily="18" charset="0"/>
            </a:endParaRPr>
          </a:p>
          <a:p>
            <a:pPr marL="15875" algn="just">
              <a:lnSpc>
                <a:spcPct val="115000"/>
              </a:lnSpc>
              <a:spcAft>
                <a:spcPts val="0"/>
              </a:spcAft>
            </a:pPr>
            <a:r>
              <a:rPr lang="es-ES" sz="1100" kern="0" dirty="0">
                <a:solidFill>
                  <a:schemeClr val="tx1">
                    <a:lumMod val="75000"/>
                    <a:lumOff val="25000"/>
                  </a:schemeClr>
                </a:solidFill>
                <a:latin typeface="Montserrat"/>
                <a:cs typeface="Times New Roman"/>
              </a:rPr>
              <a:t>En 2025, Guardamar del Segura registró 108.961 turistas, lo que </a:t>
            </a:r>
            <a:r>
              <a:rPr lang="es-ES" sz="1100" kern="0">
                <a:solidFill>
                  <a:schemeClr val="tx1">
                    <a:lumMod val="75000"/>
                    <a:lumOff val="25000"/>
                  </a:schemeClr>
                </a:solidFill>
                <a:latin typeface="Montserrat"/>
                <a:cs typeface="Times New Roman"/>
              </a:rPr>
              <a:t>supone un descenso del -23,6% respecto a 2024, tras los niveles </a:t>
            </a:r>
            <a:r>
              <a:rPr lang="es-ES" sz="1100" kern="0" dirty="0">
                <a:solidFill>
                  <a:schemeClr val="tx1">
                    <a:lumMod val="75000"/>
                    <a:lumOff val="25000"/>
                  </a:schemeClr>
                </a:solidFill>
                <a:latin typeface="Montserrat"/>
                <a:cs typeface="Times New Roman"/>
              </a:rPr>
              <a:t>elevados alcanzados en 2023 y 2024.</a:t>
            </a: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La evolución de la serie 2019–2025 muestra una recuperación intensa tras el ajuste de 2020, con un crecimiento progresivo hasta 2023 y una fase de consolidación en 2024, seguida de una corrección en 2025. A pesar del descenso, el volumen actual se mantiene por encima de los registros del periodo más afectado por la pandemia, dentro de un ciclo reciente de expansión y posterior ajuste.</a:t>
            </a:r>
          </a:p>
        </p:txBody>
      </p:sp>
      <p:graphicFrame>
        <p:nvGraphicFramePr>
          <p:cNvPr id="3" name="Gráfico 2">
            <a:extLst>
              <a:ext uri="{FF2B5EF4-FFF2-40B4-BE49-F238E27FC236}">
                <a16:creationId xmlns:a16="http://schemas.microsoft.com/office/drawing/2014/main" id="{B492008A-5B18-5953-98CE-D035CE6558C7}"/>
              </a:ext>
            </a:extLst>
          </p:cNvPr>
          <p:cNvGraphicFramePr>
            <a:graphicFrameLocks/>
          </p:cNvGraphicFramePr>
          <p:nvPr/>
        </p:nvGraphicFramePr>
        <p:xfrm>
          <a:off x="6096000" y="1379087"/>
          <a:ext cx="5626800" cy="473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ángulo 3">
            <a:extLst>
              <a:ext uri="{FF2B5EF4-FFF2-40B4-BE49-F238E27FC236}">
                <a16:creationId xmlns:a16="http://schemas.microsoft.com/office/drawing/2014/main" id="{5CCFABB7-0A14-6DC1-834E-2D103DAA6A00}"/>
              </a:ext>
            </a:extLst>
          </p:cNvPr>
          <p:cNvSpPr/>
          <p:nvPr/>
        </p:nvSpPr>
        <p:spPr>
          <a:xfrm>
            <a:off x="553769" y="5478913"/>
            <a:ext cx="3245075" cy="293991"/>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del INE</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649995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19E03-6F6C-F207-66DB-2433B364B2F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B1536394-B44F-A459-A1DF-8A1406F5B119}"/>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78B4F225-313E-E699-5387-ED7B6FC333E6}"/>
              </a:ext>
            </a:extLst>
          </p:cNvPr>
          <p:cNvSpPr/>
          <p:nvPr/>
        </p:nvSpPr>
        <p:spPr>
          <a:xfrm>
            <a:off x="638668" y="1392995"/>
            <a:ext cx="4475314" cy="1333635"/>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Llegada de turistas a la provincia de Alicante en el año 2025</a:t>
            </a:r>
          </a:p>
        </p:txBody>
      </p:sp>
      <p:sp>
        <p:nvSpPr>
          <p:cNvPr id="12" name="Rectángulo 11">
            <a:extLst>
              <a:ext uri="{FF2B5EF4-FFF2-40B4-BE49-F238E27FC236}">
                <a16:creationId xmlns:a16="http://schemas.microsoft.com/office/drawing/2014/main" id="{C97BBB60-1FD3-B556-E5D5-A2AF415BAE6D}"/>
              </a:ext>
            </a:extLst>
          </p:cNvPr>
          <p:cNvSpPr/>
          <p:nvPr/>
        </p:nvSpPr>
        <p:spPr>
          <a:xfrm>
            <a:off x="638668" y="2726630"/>
            <a:ext cx="4783776" cy="2644570"/>
          </a:xfrm>
          <a:prstGeom prst="rect">
            <a:avLst/>
          </a:prstGeom>
        </p:spPr>
        <p:txBody>
          <a:bodyPr wrap="square">
            <a:spAutoFit/>
          </a:bodyPr>
          <a:lstStyle/>
          <a:p>
            <a:pPr marL="15875">
              <a:lnSpc>
                <a:spcPct val="115000"/>
              </a:lnSpc>
              <a:spcAft>
                <a:spcPts val="0"/>
              </a:spcAft>
              <a:buClr>
                <a:srgbClr val="00325C"/>
              </a:buClr>
              <a:buSzPct val="100000"/>
            </a:pPr>
            <a:r>
              <a:rPr lang="es-ES" sz="1200" b="1" kern="0">
                <a:latin typeface="Montserrat SemiBold" pitchFamily="2" charset="77"/>
                <a:cs typeface="Times New Roman" panose="02020603050405020304" pitchFamily="18" charset="0"/>
              </a:rPr>
              <a:t>Turismo nacional  </a:t>
            </a:r>
          </a:p>
          <a:p>
            <a:pPr marL="15875">
              <a:lnSpc>
                <a:spcPct val="115000"/>
              </a:lnSpc>
              <a:spcAft>
                <a:spcPts val="0"/>
              </a:spcAft>
              <a:buClr>
                <a:srgbClr val="00325C"/>
              </a:buClr>
              <a:buSzPct val="100000"/>
            </a:pPr>
            <a:endParaRPr lang="es-ES" sz="1200" b="1" kern="0">
              <a:solidFill>
                <a:srgbClr val="80BADD"/>
              </a:solidFill>
              <a:latin typeface="Montserrat SemiBold"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En 2025, la provincia de Alicante contabiliza 7.161.234 turistas nacionales, frente a los 8.423.646 registrados en 2024, lo que representa una reducción de 1.262.412 visitantes, equivalente a una variación interanual del -15%.</a:t>
            </a: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Tras el máximo alcanzado el año anterior, la evolución de la serie muestra en 2025 un ajuste del volumen de llegadas, que interrumpe la senda de crecimiento registrada entre 2022 (7.573.043 turistas) y 2024 (8.423.646). Con esta corrección, el nivel de demanda se sitúa nuevamente en valores próximos a los registrados al inicio de ese ciclo de recuperación.</a:t>
            </a:r>
          </a:p>
        </p:txBody>
      </p:sp>
      <p:sp>
        <p:nvSpPr>
          <p:cNvPr id="4" name="Rectángulo 3">
            <a:extLst>
              <a:ext uri="{FF2B5EF4-FFF2-40B4-BE49-F238E27FC236}">
                <a16:creationId xmlns:a16="http://schemas.microsoft.com/office/drawing/2014/main" id="{52664A79-4A4B-A674-CCE4-BE2F88BE5BA4}"/>
              </a:ext>
            </a:extLst>
          </p:cNvPr>
          <p:cNvSpPr/>
          <p:nvPr/>
        </p:nvSpPr>
        <p:spPr>
          <a:xfrm>
            <a:off x="553769" y="5478913"/>
            <a:ext cx="3245075" cy="293991"/>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del INE</a:t>
            </a:r>
            <a:endParaRPr lang="es-ES" sz="900" i="1">
              <a:solidFill>
                <a:schemeClr val="tx1">
                  <a:lumMod val="75000"/>
                  <a:lumOff val="25000"/>
                </a:schemeClr>
              </a:solidFill>
              <a:latin typeface="Montserrat" panose="00000500000000000000" pitchFamily="2" charset="0"/>
            </a:endParaRPr>
          </a:p>
        </p:txBody>
      </p:sp>
      <p:graphicFrame>
        <p:nvGraphicFramePr>
          <p:cNvPr id="6" name="Gráfico 5">
            <a:extLst>
              <a:ext uri="{FF2B5EF4-FFF2-40B4-BE49-F238E27FC236}">
                <a16:creationId xmlns:a16="http://schemas.microsoft.com/office/drawing/2014/main" id="{DF705B6E-405B-B60D-E025-428051CE6E32}"/>
              </a:ext>
            </a:extLst>
          </p:cNvPr>
          <p:cNvGraphicFramePr/>
          <p:nvPr>
            <p:extLst>
              <p:ext uri="{D42A27DB-BD31-4B8C-83A1-F6EECF244321}">
                <p14:modId xmlns:p14="http://schemas.microsoft.com/office/powerpoint/2010/main" val="4033769178"/>
              </p:ext>
            </p:extLst>
          </p:nvPr>
        </p:nvGraphicFramePr>
        <p:xfrm>
          <a:off x="6096000" y="2637420"/>
          <a:ext cx="5625296" cy="3400774"/>
        </p:xfrm>
        <a:graphic>
          <a:graphicData uri="http://schemas.openxmlformats.org/drawingml/2006/chart">
            <c:chart xmlns:c="http://schemas.openxmlformats.org/drawingml/2006/chart" xmlns:r="http://schemas.openxmlformats.org/officeDocument/2006/relationships" r:id="rId3"/>
          </a:graphicData>
        </a:graphic>
      </p:graphicFrame>
      <p:sp>
        <p:nvSpPr>
          <p:cNvPr id="8" name="CuadroTexto 7">
            <a:extLst>
              <a:ext uri="{FF2B5EF4-FFF2-40B4-BE49-F238E27FC236}">
                <a16:creationId xmlns:a16="http://schemas.microsoft.com/office/drawing/2014/main" id="{DA5A6386-23E7-521D-ED0E-06B6E1E0F39A}"/>
              </a:ext>
            </a:extLst>
          </p:cNvPr>
          <p:cNvSpPr txBox="1"/>
          <p:nvPr/>
        </p:nvSpPr>
        <p:spPr>
          <a:xfrm>
            <a:off x="6311590" y="1392995"/>
            <a:ext cx="5241742" cy="938719"/>
          </a:xfrm>
          <a:prstGeom prst="rect">
            <a:avLst/>
          </a:prstGeom>
          <a:noFill/>
        </p:spPr>
        <p:txBody>
          <a:bodyPr wrap="square">
            <a:spAutoFit/>
          </a:bodyPr>
          <a:lstStyle/>
          <a:p>
            <a:pPr algn="just"/>
            <a:r>
              <a:rPr kumimoji="0" lang="es-ES" sz="1100" b="0" i="0" u="none" strike="noStrike" kern="0" cap="none" spc="0" normalizeH="0" baseline="0" noProof="0">
                <a:ln>
                  <a:noFill/>
                </a:ln>
                <a:solidFill>
                  <a:prstClr val="black">
                    <a:lumMod val="75000"/>
                    <a:lumOff val="25000"/>
                  </a:prstClr>
                </a:solidFill>
                <a:effectLst/>
                <a:uLnTx/>
                <a:uFillTx/>
                <a:latin typeface="Montserrat" pitchFamily="2" charset="77"/>
                <a:ea typeface="+mn-ea"/>
                <a:cs typeface="Times New Roman" panose="02020603050405020304" pitchFamily="18" charset="0"/>
              </a:rPr>
              <a:t>Desde una perspectiva de tendencia, estos datos apuntan a una fase de moderación del turismo nacional en el ámbito provincial, después de varios ejercicios de expansión. El comportamiento de 2025 puede interpretarse, así como una normalización de la demanda tras el pico alcanzado en 2024.</a:t>
            </a:r>
            <a:endParaRPr lang="es-ES"/>
          </a:p>
        </p:txBody>
      </p:sp>
    </p:spTree>
    <p:extLst>
      <p:ext uri="{BB962C8B-B14F-4D97-AF65-F5344CB8AC3E}">
        <p14:creationId xmlns:p14="http://schemas.microsoft.com/office/powerpoint/2010/main" val="3990078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0C4B-7E51-AE6B-7EF0-F81B00773E9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96472CA-25FC-B46D-4BE8-F1207820A6A9}"/>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531D3E6F-D3DD-E72E-FA27-360A432588BC}"/>
              </a:ext>
            </a:extLst>
          </p:cNvPr>
          <p:cNvSpPr/>
          <p:nvPr/>
        </p:nvSpPr>
        <p:spPr>
          <a:xfrm>
            <a:off x="638668" y="1392995"/>
            <a:ext cx="4475314" cy="1333635"/>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Llegada de turistas a la Comunidad Valenciana en el año 2025</a:t>
            </a:r>
          </a:p>
        </p:txBody>
      </p:sp>
      <p:sp>
        <p:nvSpPr>
          <p:cNvPr id="12" name="Rectángulo 11">
            <a:extLst>
              <a:ext uri="{FF2B5EF4-FFF2-40B4-BE49-F238E27FC236}">
                <a16:creationId xmlns:a16="http://schemas.microsoft.com/office/drawing/2014/main" id="{2B7929F8-8C8A-C3D5-43F3-6B7B2F73522F}"/>
              </a:ext>
            </a:extLst>
          </p:cNvPr>
          <p:cNvSpPr/>
          <p:nvPr/>
        </p:nvSpPr>
        <p:spPr>
          <a:xfrm>
            <a:off x="638668" y="2726630"/>
            <a:ext cx="4560214" cy="3033907"/>
          </a:xfrm>
          <a:prstGeom prst="rect">
            <a:avLst/>
          </a:prstGeom>
        </p:spPr>
        <p:txBody>
          <a:bodyPr wrap="square">
            <a:spAutoFit/>
          </a:bodyPr>
          <a:lstStyle/>
          <a:p>
            <a:pPr marL="15875">
              <a:lnSpc>
                <a:spcPct val="115000"/>
              </a:lnSpc>
              <a:spcAft>
                <a:spcPts val="0"/>
              </a:spcAft>
              <a:buClr>
                <a:srgbClr val="00325C"/>
              </a:buClr>
              <a:buSzPct val="100000"/>
            </a:pPr>
            <a:r>
              <a:rPr lang="es-ES" sz="1200" b="1" kern="0">
                <a:latin typeface="Montserrat SemiBold" pitchFamily="2" charset="77"/>
                <a:cs typeface="Times New Roman" panose="02020603050405020304" pitchFamily="18" charset="0"/>
              </a:rPr>
              <a:t>Turismo nacional  </a:t>
            </a:r>
          </a:p>
          <a:p>
            <a:pPr marL="15875">
              <a:lnSpc>
                <a:spcPct val="115000"/>
              </a:lnSpc>
              <a:spcAft>
                <a:spcPts val="0"/>
              </a:spcAft>
              <a:buClr>
                <a:srgbClr val="00325C"/>
              </a:buClr>
              <a:buSzPct val="100000"/>
            </a:pPr>
            <a:endParaRPr lang="es-ES" sz="1200" b="1" kern="0">
              <a:solidFill>
                <a:srgbClr val="80BADD"/>
              </a:solidFill>
              <a:latin typeface="Montserrat SemiBold"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A su vez, la </a:t>
            </a:r>
            <a:r>
              <a:rPr lang="es-ES" sz="1100" kern="0" err="1">
                <a:solidFill>
                  <a:schemeClr val="tx1">
                    <a:lumMod val="75000"/>
                    <a:lumOff val="25000"/>
                  </a:schemeClr>
                </a:solidFill>
                <a:latin typeface="Montserrat" pitchFamily="2" charset="77"/>
                <a:cs typeface="Times New Roman" panose="02020603050405020304" pitchFamily="18" charset="0"/>
              </a:rPr>
              <a:t>Comunitat</a:t>
            </a:r>
            <a:r>
              <a:rPr lang="es-ES" sz="1100" kern="0">
                <a:solidFill>
                  <a:schemeClr val="tx1">
                    <a:lumMod val="75000"/>
                    <a:lumOff val="25000"/>
                  </a:schemeClr>
                </a:solidFill>
                <a:latin typeface="Montserrat" pitchFamily="2" charset="77"/>
                <a:cs typeface="Times New Roman" panose="02020603050405020304" pitchFamily="18" charset="0"/>
              </a:rPr>
              <a:t> Valenciana durante el año 2025,  contabilizó 17.088.622 turistas nacionales, frente a los 18.935.982 registrados en 2024, lo que implica una reducción de 1.847.360 visitantes, equivalente a una variación interanual del -9,8%.</a:t>
            </a: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La evolución reciente de la serie refleja que, tras el máximo alcanzado en 2023 (19.382.714 turistas), el volumen de llegadas comienza a moderarse en 2024 y registra un descenso más acusado en 2025, alejándose de los niveles más elevados del periodo reciente. </a:t>
            </a: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76DC6EDB-0906-CE29-9DE3-3106B7BC58C6}"/>
              </a:ext>
            </a:extLst>
          </p:cNvPr>
          <p:cNvSpPr/>
          <p:nvPr/>
        </p:nvSpPr>
        <p:spPr>
          <a:xfrm>
            <a:off x="553769" y="5478913"/>
            <a:ext cx="3245075" cy="293991"/>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del INE</a:t>
            </a:r>
            <a:endParaRPr lang="es-ES" sz="900" i="1">
              <a:solidFill>
                <a:schemeClr val="tx1">
                  <a:lumMod val="75000"/>
                  <a:lumOff val="25000"/>
                </a:schemeClr>
              </a:solidFill>
              <a:latin typeface="Montserrat" panose="00000500000000000000" pitchFamily="2" charset="0"/>
            </a:endParaRPr>
          </a:p>
        </p:txBody>
      </p:sp>
      <p:graphicFrame>
        <p:nvGraphicFramePr>
          <p:cNvPr id="3" name="Gráfico 2">
            <a:extLst>
              <a:ext uri="{FF2B5EF4-FFF2-40B4-BE49-F238E27FC236}">
                <a16:creationId xmlns:a16="http://schemas.microsoft.com/office/drawing/2014/main" id="{13034FFF-C7D6-77FE-579B-8AD64002514C}"/>
              </a:ext>
            </a:extLst>
          </p:cNvPr>
          <p:cNvGraphicFramePr/>
          <p:nvPr>
            <p:extLst>
              <p:ext uri="{D42A27DB-BD31-4B8C-83A1-F6EECF244321}">
                <p14:modId xmlns:p14="http://schemas.microsoft.com/office/powerpoint/2010/main" val="1489626907"/>
              </p:ext>
            </p:extLst>
          </p:nvPr>
        </p:nvGraphicFramePr>
        <p:xfrm>
          <a:off x="5972538" y="2542478"/>
          <a:ext cx="5625296" cy="3584925"/>
        </p:xfrm>
        <a:graphic>
          <a:graphicData uri="http://schemas.openxmlformats.org/drawingml/2006/chart">
            <c:chart xmlns:c="http://schemas.openxmlformats.org/drawingml/2006/chart" xmlns:r="http://schemas.openxmlformats.org/officeDocument/2006/relationships" r:id="rId3"/>
          </a:graphicData>
        </a:graphic>
      </p:graphicFrame>
      <p:sp>
        <p:nvSpPr>
          <p:cNvPr id="7" name="CuadroTexto 6">
            <a:extLst>
              <a:ext uri="{FF2B5EF4-FFF2-40B4-BE49-F238E27FC236}">
                <a16:creationId xmlns:a16="http://schemas.microsoft.com/office/drawing/2014/main" id="{A8D00895-5A7D-09B5-7776-1489E50F0B75}"/>
              </a:ext>
            </a:extLst>
          </p:cNvPr>
          <p:cNvSpPr txBox="1"/>
          <p:nvPr/>
        </p:nvSpPr>
        <p:spPr>
          <a:xfrm>
            <a:off x="6244682" y="1227346"/>
            <a:ext cx="5353151" cy="1051826"/>
          </a:xfrm>
          <a:prstGeom prst="rect">
            <a:avLst/>
          </a:prstGeom>
          <a:noFill/>
        </p:spPr>
        <p:txBody>
          <a:bodyPr wrap="square">
            <a:spAutoFit/>
          </a:bodyPr>
          <a:lstStyle/>
          <a:p>
            <a:pPr marL="15875" lvl="0" algn="just">
              <a:lnSpc>
                <a:spcPct val="115000"/>
              </a:lnSpc>
              <a:defRPr/>
            </a:pPr>
            <a:r>
              <a:rPr kumimoji="0" lang="es-ES" sz="1100" b="0" i="0" u="none" strike="noStrike" kern="0" cap="none" spc="0" normalizeH="0" baseline="0" noProof="0">
                <a:ln>
                  <a:noFill/>
                </a:ln>
                <a:solidFill>
                  <a:prstClr val="black">
                    <a:lumMod val="75000"/>
                    <a:lumOff val="25000"/>
                  </a:prstClr>
                </a:solidFill>
                <a:effectLst/>
                <a:uLnTx/>
                <a:uFillTx/>
                <a:latin typeface="Montserrat" pitchFamily="2" charset="77"/>
                <a:ea typeface="+mn-ea"/>
                <a:cs typeface="Times New Roman" panose="02020603050405020304" pitchFamily="18" charset="0"/>
              </a:rPr>
              <a:t>Desde una perspectiva de tendencia, el ejercicio 2025 se sitúa dentro de un proceso de ajuste del turismo nacional a escala autonómica, después de varios años de crecimiento intenso. El nivel actual se aproxima a los valores registrados en 2022 (16.227.308 turistas), quedando por debajo de los picos alcanzados en 2023 y 2024.</a:t>
            </a:r>
          </a:p>
        </p:txBody>
      </p:sp>
    </p:spTree>
    <p:extLst>
      <p:ext uri="{BB962C8B-B14F-4D97-AF65-F5344CB8AC3E}">
        <p14:creationId xmlns:p14="http://schemas.microsoft.com/office/powerpoint/2010/main" val="1844838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9B619-152E-5205-D1D8-C94B085F5CF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6B7A8C5F-E947-D990-488C-1D000138F3B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05C0972C-EACC-C6A1-BB5A-8230FA5AB88A}"/>
              </a:ext>
            </a:extLst>
          </p:cNvPr>
          <p:cNvSpPr/>
          <p:nvPr/>
        </p:nvSpPr>
        <p:spPr>
          <a:xfrm>
            <a:off x="638668" y="1392995"/>
            <a:ext cx="4475314" cy="1333635"/>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Tasa de crecimiento de turistas nacionales entre</a:t>
            </a:r>
          </a:p>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2024-2025</a:t>
            </a:r>
          </a:p>
        </p:txBody>
      </p:sp>
      <p:sp>
        <p:nvSpPr>
          <p:cNvPr id="12" name="Rectángulo 11">
            <a:extLst>
              <a:ext uri="{FF2B5EF4-FFF2-40B4-BE49-F238E27FC236}">
                <a16:creationId xmlns:a16="http://schemas.microsoft.com/office/drawing/2014/main" id="{601B7D82-6BC7-240A-3E5E-A9AA0633A6DA}"/>
              </a:ext>
            </a:extLst>
          </p:cNvPr>
          <p:cNvSpPr/>
          <p:nvPr/>
        </p:nvSpPr>
        <p:spPr>
          <a:xfrm>
            <a:off x="638668" y="2728801"/>
            <a:ext cx="4930287" cy="2644570"/>
          </a:xfrm>
          <a:prstGeom prst="rect">
            <a:avLst/>
          </a:prstGeom>
        </p:spPr>
        <p:txBody>
          <a:bodyPr wrap="square">
            <a:spAutoFit/>
          </a:bodyPr>
          <a:lstStyle/>
          <a:p>
            <a:pPr marL="15875">
              <a:lnSpc>
                <a:spcPct val="115000"/>
              </a:lnSpc>
              <a:spcAft>
                <a:spcPts val="0"/>
              </a:spcAft>
              <a:buClr>
                <a:srgbClr val="00325C"/>
              </a:buClr>
              <a:buSzPct val="100000"/>
            </a:pPr>
            <a:r>
              <a:rPr lang="es-ES" sz="1200" b="1" kern="0">
                <a:latin typeface="Montserrat SemiBold" pitchFamily="2" charset="77"/>
                <a:cs typeface="Times New Roman" panose="02020603050405020304" pitchFamily="18" charset="0"/>
              </a:rPr>
              <a:t>Turismo nacional  </a:t>
            </a:r>
          </a:p>
          <a:p>
            <a:pPr marL="15875">
              <a:lnSpc>
                <a:spcPct val="115000"/>
              </a:lnSpc>
              <a:spcAft>
                <a:spcPts val="0"/>
              </a:spcAft>
              <a:buClr>
                <a:srgbClr val="00325C"/>
              </a:buClr>
              <a:buSzPct val="100000"/>
            </a:pPr>
            <a:endParaRPr lang="es-ES" sz="1200" b="1" kern="0">
              <a:solidFill>
                <a:srgbClr val="80BADD"/>
              </a:solidFill>
              <a:latin typeface="Montserrat SemiBold"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Entre 2024 y 2025, Guardamar del Segura registra una variación del -23,6% en la llegada de turistas nacionales, tras los niveles elevados alcanzados en los años anteriores.</a:t>
            </a: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La comparativa con otros destinos turísticos del litoral mediterráneo con características similares muestra que esta evolución no constituye un caso aislado. Municipios como El Campello (-37,4%), Orihuela (-23,4%), Oropesa del Mar (-21,3%), Torrevieja (-18,5%) o Calpe (-16,2%) también experimentan descensos relevantes del turismo nacional en 2025.</a:t>
            </a: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B9876001-2ADA-446E-C006-BAAA0BA7B760}"/>
              </a:ext>
            </a:extLst>
          </p:cNvPr>
          <p:cNvSpPr/>
          <p:nvPr/>
        </p:nvSpPr>
        <p:spPr>
          <a:xfrm>
            <a:off x="553769" y="5478913"/>
            <a:ext cx="3245075" cy="293991"/>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del INE</a:t>
            </a:r>
            <a:endParaRPr lang="es-ES" sz="900" i="1">
              <a:solidFill>
                <a:schemeClr val="tx1">
                  <a:lumMod val="75000"/>
                  <a:lumOff val="25000"/>
                </a:schemeClr>
              </a:solidFill>
              <a:latin typeface="Montserrat" panose="00000500000000000000" pitchFamily="2" charset="0"/>
            </a:endParaRPr>
          </a:p>
        </p:txBody>
      </p:sp>
      <p:sp>
        <p:nvSpPr>
          <p:cNvPr id="3" name="Rectángulo redondeado 3">
            <a:extLst>
              <a:ext uri="{FF2B5EF4-FFF2-40B4-BE49-F238E27FC236}">
                <a16:creationId xmlns:a16="http://schemas.microsoft.com/office/drawing/2014/main" id="{A19F091C-F9C5-E13D-0F4C-6243A1980798}"/>
              </a:ext>
            </a:extLst>
          </p:cNvPr>
          <p:cNvSpPr/>
          <p:nvPr/>
        </p:nvSpPr>
        <p:spPr>
          <a:xfrm>
            <a:off x="9201094" y="2587368"/>
            <a:ext cx="2232000" cy="792000"/>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redondeado 3">
            <a:extLst>
              <a:ext uri="{FF2B5EF4-FFF2-40B4-BE49-F238E27FC236}">
                <a16:creationId xmlns:a16="http://schemas.microsoft.com/office/drawing/2014/main" id="{A280AF40-B7EE-651F-75AD-F25A2362F71F}"/>
              </a:ext>
            </a:extLst>
          </p:cNvPr>
          <p:cNvSpPr/>
          <p:nvPr/>
        </p:nvSpPr>
        <p:spPr>
          <a:xfrm>
            <a:off x="6532285" y="3581569"/>
            <a:ext cx="2232000" cy="792000"/>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redondeado 3">
            <a:extLst>
              <a:ext uri="{FF2B5EF4-FFF2-40B4-BE49-F238E27FC236}">
                <a16:creationId xmlns:a16="http://schemas.microsoft.com/office/drawing/2014/main" id="{4D85D183-6BA3-25B7-B77B-E94102EDD114}"/>
              </a:ext>
            </a:extLst>
          </p:cNvPr>
          <p:cNvSpPr/>
          <p:nvPr/>
        </p:nvSpPr>
        <p:spPr>
          <a:xfrm>
            <a:off x="9201094" y="3581569"/>
            <a:ext cx="2232000" cy="792000"/>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redondeado 3">
            <a:extLst>
              <a:ext uri="{FF2B5EF4-FFF2-40B4-BE49-F238E27FC236}">
                <a16:creationId xmlns:a16="http://schemas.microsoft.com/office/drawing/2014/main" id="{82531CA1-60AD-0955-CA4A-33478B593EDE}"/>
              </a:ext>
            </a:extLst>
          </p:cNvPr>
          <p:cNvSpPr/>
          <p:nvPr/>
        </p:nvSpPr>
        <p:spPr>
          <a:xfrm>
            <a:off x="6554390" y="4581371"/>
            <a:ext cx="2232000" cy="792000"/>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redondeado 3">
            <a:extLst>
              <a:ext uri="{FF2B5EF4-FFF2-40B4-BE49-F238E27FC236}">
                <a16:creationId xmlns:a16="http://schemas.microsoft.com/office/drawing/2014/main" id="{D9EBC834-DA51-CB35-A499-499F2684D2E3}"/>
              </a:ext>
            </a:extLst>
          </p:cNvPr>
          <p:cNvSpPr/>
          <p:nvPr/>
        </p:nvSpPr>
        <p:spPr>
          <a:xfrm>
            <a:off x="9223199" y="4581371"/>
            <a:ext cx="2232000" cy="792000"/>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redondeado 3">
            <a:extLst>
              <a:ext uri="{FF2B5EF4-FFF2-40B4-BE49-F238E27FC236}">
                <a16:creationId xmlns:a16="http://schemas.microsoft.com/office/drawing/2014/main" id="{4BC2FE52-DEDB-AD07-35D1-0CD68BCCCDA3}"/>
              </a:ext>
            </a:extLst>
          </p:cNvPr>
          <p:cNvSpPr/>
          <p:nvPr/>
        </p:nvSpPr>
        <p:spPr>
          <a:xfrm>
            <a:off x="6543600" y="2595057"/>
            <a:ext cx="2232000" cy="792000"/>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E43423BE-7819-666F-4220-729FFECEAB62}"/>
              </a:ext>
            </a:extLst>
          </p:cNvPr>
          <p:cNvSpPr/>
          <p:nvPr/>
        </p:nvSpPr>
        <p:spPr>
          <a:xfrm>
            <a:off x="8677556" y="2535931"/>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-18,5%</a:t>
            </a:r>
          </a:p>
          <a:p>
            <a:pPr algn="ctr"/>
            <a:r>
              <a:rPr lang="es-ES" sz="1100">
                <a:solidFill>
                  <a:srgbClr val="04145E"/>
                </a:solidFill>
                <a:latin typeface="Montserrat Medium" pitchFamily="2" charset="77"/>
                <a:cs typeface="Times New Roman" panose="02020603050405020304" pitchFamily="18" charset="0"/>
              </a:rPr>
              <a:t>TORREVIEJA</a:t>
            </a:r>
          </a:p>
        </p:txBody>
      </p:sp>
      <p:sp>
        <p:nvSpPr>
          <p:cNvPr id="13" name="Rectángulo 12">
            <a:extLst>
              <a:ext uri="{FF2B5EF4-FFF2-40B4-BE49-F238E27FC236}">
                <a16:creationId xmlns:a16="http://schemas.microsoft.com/office/drawing/2014/main" id="{6524D92B-C716-4229-DE79-D914598B80DF}"/>
              </a:ext>
            </a:extLst>
          </p:cNvPr>
          <p:cNvSpPr/>
          <p:nvPr/>
        </p:nvSpPr>
        <p:spPr>
          <a:xfrm>
            <a:off x="6073895" y="3532265"/>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-37,4%</a:t>
            </a:r>
          </a:p>
          <a:p>
            <a:pPr algn="ctr"/>
            <a:r>
              <a:rPr lang="es-ES" sz="1100">
                <a:solidFill>
                  <a:srgbClr val="04145E"/>
                </a:solidFill>
                <a:latin typeface="Montserrat Medium" pitchFamily="2" charset="77"/>
                <a:cs typeface="Times New Roman" panose="02020603050405020304" pitchFamily="18" charset="0"/>
              </a:rPr>
              <a:t>EL CAMPELLO</a:t>
            </a:r>
          </a:p>
        </p:txBody>
      </p:sp>
      <p:sp>
        <p:nvSpPr>
          <p:cNvPr id="14" name="Rectángulo 13">
            <a:extLst>
              <a:ext uri="{FF2B5EF4-FFF2-40B4-BE49-F238E27FC236}">
                <a16:creationId xmlns:a16="http://schemas.microsoft.com/office/drawing/2014/main" id="{33A5E1CE-6516-D369-63E1-253261C9A46F}"/>
              </a:ext>
            </a:extLst>
          </p:cNvPr>
          <p:cNvSpPr/>
          <p:nvPr/>
        </p:nvSpPr>
        <p:spPr>
          <a:xfrm>
            <a:off x="8717557" y="3545113"/>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-23,4%</a:t>
            </a:r>
          </a:p>
          <a:p>
            <a:pPr algn="ctr"/>
            <a:r>
              <a:rPr lang="es-ES" sz="1100">
                <a:solidFill>
                  <a:srgbClr val="04145E"/>
                </a:solidFill>
                <a:latin typeface="Montserrat Medium" pitchFamily="2" charset="77"/>
                <a:cs typeface="Times New Roman" panose="02020603050405020304" pitchFamily="18" charset="0"/>
              </a:rPr>
              <a:t>ORIHUELA </a:t>
            </a:r>
          </a:p>
        </p:txBody>
      </p:sp>
      <p:sp>
        <p:nvSpPr>
          <p:cNvPr id="15" name="Rectángulo 14">
            <a:extLst>
              <a:ext uri="{FF2B5EF4-FFF2-40B4-BE49-F238E27FC236}">
                <a16:creationId xmlns:a16="http://schemas.microsoft.com/office/drawing/2014/main" id="{908A82A5-C52E-0996-4862-0EA91EFE95ED}"/>
              </a:ext>
            </a:extLst>
          </p:cNvPr>
          <p:cNvSpPr/>
          <p:nvPr/>
        </p:nvSpPr>
        <p:spPr>
          <a:xfrm>
            <a:off x="6091804" y="4538270"/>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-21,3%</a:t>
            </a:r>
          </a:p>
          <a:p>
            <a:pPr algn="ctr"/>
            <a:r>
              <a:rPr lang="es-ES" sz="1100">
                <a:solidFill>
                  <a:srgbClr val="04145E"/>
                </a:solidFill>
                <a:latin typeface="Montserrat Medium" pitchFamily="2" charset="77"/>
                <a:cs typeface="Times New Roman" panose="02020603050405020304" pitchFamily="18" charset="0"/>
              </a:rPr>
              <a:t>OROPESA DEL MAR</a:t>
            </a:r>
          </a:p>
        </p:txBody>
      </p:sp>
      <p:sp>
        <p:nvSpPr>
          <p:cNvPr id="16" name="Rectángulo 15">
            <a:extLst>
              <a:ext uri="{FF2B5EF4-FFF2-40B4-BE49-F238E27FC236}">
                <a16:creationId xmlns:a16="http://schemas.microsoft.com/office/drawing/2014/main" id="{BBC2E695-D7A4-35E9-3738-D54658F179A7}"/>
              </a:ext>
            </a:extLst>
          </p:cNvPr>
          <p:cNvSpPr/>
          <p:nvPr/>
        </p:nvSpPr>
        <p:spPr>
          <a:xfrm>
            <a:off x="8775600" y="4518777"/>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-16,2%</a:t>
            </a:r>
          </a:p>
          <a:p>
            <a:pPr algn="ctr"/>
            <a:r>
              <a:rPr lang="es-ES" sz="1100">
                <a:solidFill>
                  <a:srgbClr val="04145E"/>
                </a:solidFill>
                <a:latin typeface="Montserrat Medium" pitchFamily="2" charset="77"/>
                <a:cs typeface="Times New Roman" panose="02020603050405020304" pitchFamily="18" charset="0"/>
              </a:rPr>
              <a:t>CALPE</a:t>
            </a:r>
          </a:p>
        </p:txBody>
      </p:sp>
      <p:sp>
        <p:nvSpPr>
          <p:cNvPr id="17" name="Rectángulo 16">
            <a:extLst>
              <a:ext uri="{FF2B5EF4-FFF2-40B4-BE49-F238E27FC236}">
                <a16:creationId xmlns:a16="http://schemas.microsoft.com/office/drawing/2014/main" id="{F82E4C77-46FE-3FF6-2CCE-4500354FC7F5}"/>
              </a:ext>
            </a:extLst>
          </p:cNvPr>
          <p:cNvSpPr/>
          <p:nvPr/>
        </p:nvSpPr>
        <p:spPr>
          <a:xfrm>
            <a:off x="5986642" y="2556071"/>
            <a:ext cx="3323285" cy="815608"/>
          </a:xfrm>
          <a:prstGeom prst="rect">
            <a:avLst/>
          </a:prstGeom>
        </p:spPr>
        <p:txBody>
          <a:bodyPr wrap="square">
            <a:spAutoFit/>
          </a:bodyPr>
          <a:lstStyle/>
          <a:p>
            <a:pPr algn="ctr"/>
            <a:r>
              <a:rPr lang="es-ES" sz="3600">
                <a:solidFill>
                  <a:srgbClr val="EB704A"/>
                </a:solidFill>
                <a:latin typeface="DM Serif Display" pitchFamily="2" charset="0"/>
                <a:cs typeface="Times New Roman" panose="02020603050405020304" pitchFamily="18" charset="0"/>
              </a:rPr>
              <a:t>-23,6%</a:t>
            </a:r>
          </a:p>
          <a:p>
            <a:pPr algn="ctr"/>
            <a:r>
              <a:rPr lang="es-ES" sz="1100">
                <a:solidFill>
                  <a:srgbClr val="EB704A"/>
                </a:solidFill>
                <a:latin typeface="Montserrat Medium" pitchFamily="2" charset="77"/>
                <a:cs typeface="Times New Roman" panose="02020603050405020304" pitchFamily="18" charset="0"/>
              </a:rPr>
              <a:t>GUARDAMAR DEL SEGURA</a:t>
            </a:r>
          </a:p>
        </p:txBody>
      </p:sp>
      <p:sp>
        <p:nvSpPr>
          <p:cNvPr id="19" name="CuadroTexto 18">
            <a:extLst>
              <a:ext uri="{FF2B5EF4-FFF2-40B4-BE49-F238E27FC236}">
                <a16:creationId xmlns:a16="http://schemas.microsoft.com/office/drawing/2014/main" id="{6DEE367C-C329-1F4A-3104-27960DD1C275}"/>
              </a:ext>
            </a:extLst>
          </p:cNvPr>
          <p:cNvSpPr txBox="1"/>
          <p:nvPr/>
        </p:nvSpPr>
        <p:spPr>
          <a:xfrm>
            <a:off x="6255834" y="1227346"/>
            <a:ext cx="5297498" cy="1051826"/>
          </a:xfrm>
          <a:prstGeom prst="rect">
            <a:avLst/>
          </a:prstGeom>
          <a:noFill/>
        </p:spPr>
        <p:txBody>
          <a:bodyPr wrap="square">
            <a:spAutoFit/>
          </a:bodyPr>
          <a:lstStyle/>
          <a:p>
            <a:pPr marL="15875" marR="0" lvl="0" indent="0" algn="just" defTabSz="914400" rtl="0" eaLnBrk="1" fontAlgn="auto" latinLnBrk="0" hangingPunct="1">
              <a:lnSpc>
                <a:spcPct val="115000"/>
              </a:lnSpc>
              <a:spcBef>
                <a:spcPts val="0"/>
              </a:spcBef>
              <a:spcAft>
                <a:spcPts val="0"/>
              </a:spcAft>
              <a:buClrTx/>
              <a:buSzTx/>
              <a:buFontTx/>
              <a:buNone/>
              <a:tabLst/>
              <a:defRPr/>
            </a:pPr>
            <a:r>
              <a:rPr kumimoji="0" lang="es-ES" sz="1100" b="0" i="0" u="none" strike="noStrike" kern="0" cap="none" spc="0" normalizeH="0" baseline="0" noProof="0">
                <a:ln>
                  <a:noFill/>
                </a:ln>
                <a:solidFill>
                  <a:prstClr val="black">
                    <a:lumMod val="75000"/>
                    <a:lumOff val="25000"/>
                  </a:prstClr>
                </a:solidFill>
                <a:effectLst/>
                <a:uLnTx/>
                <a:uFillTx/>
                <a:latin typeface="Montserrat" pitchFamily="2" charset="77"/>
                <a:ea typeface="+mn-ea"/>
                <a:cs typeface="Times New Roman" panose="02020603050405020304" pitchFamily="18" charset="0"/>
              </a:rPr>
              <a:t>En conjunto, estos datos indican que la contracción observada responde principalmente a una dinámica general del mercado turístico nacional, más que a factores específicos del destino, situando la evolución de Guardamar dentro de una tendencia compartida por diversos municipios turísticos del litoral.</a:t>
            </a:r>
          </a:p>
        </p:txBody>
      </p:sp>
    </p:spTree>
    <p:extLst>
      <p:ext uri="{BB962C8B-B14F-4D97-AF65-F5344CB8AC3E}">
        <p14:creationId xmlns:p14="http://schemas.microsoft.com/office/powerpoint/2010/main" val="75730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0E65B-F51B-B407-15D4-1D190147A1F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840787C-20CB-2894-9029-944D8A2CD1A2}"/>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0845C2A9-FBD1-264A-6B98-5A4CC42AAC10}"/>
              </a:ext>
            </a:extLst>
          </p:cNvPr>
          <p:cNvSpPr/>
          <p:nvPr/>
        </p:nvSpPr>
        <p:spPr>
          <a:xfrm>
            <a:off x="638668" y="1392995"/>
            <a:ext cx="4475314" cy="923266"/>
          </a:xfrm>
          <a:prstGeom prst="rect">
            <a:avLst/>
          </a:prstGeom>
        </p:spPr>
        <p:txBody>
          <a:bodyPr wrap="square">
            <a:spAutoFit/>
          </a:bodyPr>
          <a:lstStyle/>
          <a:p>
            <a:pPr>
              <a:lnSpc>
                <a:spcPts val="3200"/>
              </a:lnSpc>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reciente y lectura de tendencias </a:t>
            </a:r>
            <a:endParaRPr lang="es-ES" sz="3000">
              <a:solidFill>
                <a:srgbClr val="FF0000"/>
              </a:solidFill>
              <a:latin typeface="DM Serif Display" pitchFamily="2" charset="0"/>
              <a:cs typeface="Times New Roman" panose="02020603050405020304" pitchFamily="18" charset="0"/>
            </a:endParaRPr>
          </a:p>
        </p:txBody>
      </p:sp>
      <p:sp>
        <p:nvSpPr>
          <p:cNvPr id="12" name="Rectángulo 11">
            <a:extLst>
              <a:ext uri="{FF2B5EF4-FFF2-40B4-BE49-F238E27FC236}">
                <a16:creationId xmlns:a16="http://schemas.microsoft.com/office/drawing/2014/main" id="{1E105BE2-4014-8142-7A2E-892EB845FD99}"/>
              </a:ext>
            </a:extLst>
          </p:cNvPr>
          <p:cNvSpPr/>
          <p:nvPr/>
        </p:nvSpPr>
        <p:spPr>
          <a:xfrm>
            <a:off x="638667" y="2401595"/>
            <a:ext cx="4805203" cy="2855718"/>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000000"/>
                </a:solidFill>
                <a:latin typeface="Montserrat SemiBold" pitchFamily="2" charset="77"/>
                <a:cs typeface="Times New Roman" panose="02020603050405020304" pitchFamily="18" charset="0"/>
              </a:rPr>
              <a:t>Turismo nacional  </a:t>
            </a:r>
          </a:p>
          <a:p>
            <a:pPr marL="15875" algn="just">
              <a:lnSpc>
                <a:spcPct val="115000"/>
              </a:lnSpc>
              <a:spcAft>
                <a:spcPts val="0"/>
              </a:spcAft>
              <a:buClr>
                <a:srgbClr val="00325C"/>
              </a:buClr>
              <a:buSzPct val="100000"/>
            </a:pPr>
            <a:endParaRPr lang="es-ES" sz="1200" b="1" kern="0">
              <a:solidFill>
                <a:srgbClr val="000000"/>
              </a:solidFill>
              <a:latin typeface="Montserrat SemiBold" pitchFamily="2" charset="77"/>
              <a:cs typeface="Times New Roman" panose="02020603050405020304" pitchFamily="18" charset="0"/>
            </a:endParaRPr>
          </a:p>
          <a:p>
            <a:pPr marL="15875" algn="just">
              <a:lnSpc>
                <a:spcPct val="115000"/>
              </a:lnSpc>
            </a:pPr>
            <a:r>
              <a:rPr lang="es-ES" sz="1100" kern="0">
                <a:solidFill>
                  <a:schemeClr val="tx1">
                    <a:lumMod val="75000"/>
                    <a:lumOff val="25000"/>
                  </a:schemeClr>
                </a:solidFill>
                <a:latin typeface="Montserrat" pitchFamily="2" charset="77"/>
                <a:cs typeface="Times New Roman" panose="02020603050405020304" pitchFamily="18" charset="0"/>
              </a:rPr>
              <a:t>Entre 2023 y 2025, el turismo nacional en Guardamar del Segura mantiene un patrón estacional muy marcado, con una fuerte concentración de la demanda en julio y agosto, meses que registran los valores más elevados en los tres ejercicios analizados. </a:t>
            </a:r>
          </a:p>
          <a:p>
            <a:pPr marL="15875" algn="just">
              <a:lnSpc>
                <a:spcPct val="115000"/>
              </a:lnSpc>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pPr>
            <a:r>
              <a:rPr lang="es-ES" sz="1100" kern="0">
                <a:solidFill>
                  <a:schemeClr val="tx1">
                    <a:lumMod val="75000"/>
                    <a:lumOff val="25000"/>
                  </a:schemeClr>
                </a:solidFill>
                <a:latin typeface="Montserrat" pitchFamily="2" charset="77"/>
                <a:cs typeface="Times New Roman" panose="02020603050405020304" pitchFamily="18" charset="0"/>
              </a:rPr>
              <a:t>En 2025 se observa una menor intensidad en los meses centrales del verano respecto a 2023 y 2024, mientras que en primavera los niveles se mantienen relativamente estables. Los descensos a partir de septiembre son acusados, situándose en niveles habituales para el periodo otoñal. </a:t>
            </a:r>
          </a:p>
          <a:p>
            <a:pPr marL="15875" algn="just">
              <a:lnSpc>
                <a:spcPct val="1150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pic>
        <p:nvPicPr>
          <p:cNvPr id="6" name="Imagen 5">
            <a:extLst>
              <a:ext uri="{FF2B5EF4-FFF2-40B4-BE49-F238E27FC236}">
                <a16:creationId xmlns:a16="http://schemas.microsoft.com/office/drawing/2014/main" id="{5CDF2D8E-BA28-39F6-2D8C-6749E99509E2}"/>
              </a:ext>
            </a:extLst>
          </p:cNvPr>
          <p:cNvPicPr>
            <a:picLocks noChangeAspect="1"/>
          </p:cNvPicPr>
          <p:nvPr/>
        </p:nvPicPr>
        <p:blipFill rotWithShape="1">
          <a:blip r:embed="rId3"/>
          <a:srcRect t="9871" b="14867"/>
          <a:stretch/>
        </p:blipFill>
        <p:spPr>
          <a:xfrm>
            <a:off x="2395401" y="-2716964"/>
            <a:ext cx="7154273" cy="2523744"/>
          </a:xfrm>
          <a:prstGeom prst="rect">
            <a:avLst/>
          </a:prstGeom>
        </p:spPr>
      </p:pic>
      <p:graphicFrame>
        <p:nvGraphicFramePr>
          <p:cNvPr id="4" name="Gráfico 3">
            <a:extLst>
              <a:ext uri="{FF2B5EF4-FFF2-40B4-BE49-F238E27FC236}">
                <a16:creationId xmlns:a16="http://schemas.microsoft.com/office/drawing/2014/main" id="{7DFAD60B-8AF7-1519-5F6F-A3803DC9B850}"/>
              </a:ext>
            </a:extLst>
          </p:cNvPr>
          <p:cNvGraphicFramePr>
            <a:graphicFrameLocks/>
          </p:cNvGraphicFramePr>
          <p:nvPr>
            <p:extLst>
              <p:ext uri="{D42A27DB-BD31-4B8C-83A1-F6EECF244321}">
                <p14:modId xmlns:p14="http://schemas.microsoft.com/office/powerpoint/2010/main" val="2636904362"/>
              </p:ext>
            </p:extLst>
          </p:nvPr>
        </p:nvGraphicFramePr>
        <p:xfrm>
          <a:off x="6096000" y="1865005"/>
          <a:ext cx="5544000" cy="360000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ángulo 8">
            <a:extLst>
              <a:ext uri="{FF2B5EF4-FFF2-40B4-BE49-F238E27FC236}">
                <a16:creationId xmlns:a16="http://schemas.microsoft.com/office/drawing/2014/main" id="{526732BA-6FA0-29A9-3230-59990BB68E68}"/>
              </a:ext>
            </a:extLst>
          </p:cNvPr>
          <p:cNvSpPr/>
          <p:nvPr/>
        </p:nvSpPr>
        <p:spPr>
          <a:xfrm>
            <a:off x="638667" y="5465005"/>
            <a:ext cx="3245075" cy="293991"/>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del INE</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4105542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FA01-056D-1D03-4858-10B4EEA354B6}"/>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768656E-C7AB-169C-385F-4883DD9EB3DE}"/>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19" name="Rectángulo 18">
            <a:extLst>
              <a:ext uri="{FF2B5EF4-FFF2-40B4-BE49-F238E27FC236}">
                <a16:creationId xmlns:a16="http://schemas.microsoft.com/office/drawing/2014/main" id="{5591930D-F91D-36FB-C4FA-59CC39C9D66D}"/>
              </a:ext>
            </a:extLst>
          </p:cNvPr>
          <p:cNvSpPr/>
          <p:nvPr/>
        </p:nvSpPr>
        <p:spPr>
          <a:xfrm>
            <a:off x="638667" y="2818543"/>
            <a:ext cx="5648468" cy="2839239"/>
          </a:xfrm>
          <a:prstGeom prst="rect">
            <a:avLst/>
          </a:prstGeom>
        </p:spPr>
        <p:txBody>
          <a:bodyPr wrap="square">
            <a:spAutoFit/>
          </a:bodyPr>
          <a:lstStyle/>
          <a:p>
            <a:pPr marL="15875">
              <a:lnSpc>
                <a:spcPct val="115000"/>
              </a:lnSpc>
              <a:spcAft>
                <a:spcPts val="0"/>
              </a:spcAft>
              <a:buClr>
                <a:srgbClr val="00325C"/>
              </a:buClr>
              <a:buSzPct val="100000"/>
            </a:pPr>
            <a:r>
              <a:rPr lang="es-ES" sz="1200" b="1" kern="0">
                <a:latin typeface="Montserrat SemiBold" pitchFamily="2" charset="77"/>
                <a:cs typeface="Times New Roman" panose="02020603050405020304" pitchFamily="18" charset="0"/>
              </a:rPr>
              <a:t>Turismo nacional </a:t>
            </a:r>
          </a:p>
          <a:p>
            <a:pPr marL="15875">
              <a:lnSpc>
                <a:spcPct val="115000"/>
              </a:lnSpc>
              <a:spcAft>
                <a:spcPts val="0"/>
              </a:spcAft>
              <a:buClr>
                <a:srgbClr val="00325C"/>
              </a:buClr>
              <a:buSzPct val="100000"/>
            </a:pPr>
            <a:endParaRPr lang="es-ES" sz="1100" b="1" kern="0">
              <a:latin typeface="Montserrat SemiBold"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En 2025, la Comunidad de Madrid se mantiene como el principal mercado a nivel nacional, con 69.130 turistas, pese a registrar un descenso interanual del −27,27%, lo que explica en gran medida la contracción global del turismo nacional en el destino.</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Le sigue Murcia, con 12.726 visitantes y una caída más moderada del −11,06%, manteniendo su peso como mercado de proximidad relevante. Por el contrario, Albacete muestra un comportamiento positivo, alcanzando los 7.969 turistas y creciendo un 8,51%, convirtiéndose en el único de los principales mercados nacionales con evolución al alza en 2025. En un nivel inferior se sitúan Valencia (4.295 turistas; −23,90%) y Ciudad Real (2.519; −25,45%), ambos con descensos significativos respecto al año anterior.</a:t>
            </a: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p:txBody>
      </p:sp>
      <p:sp>
        <p:nvSpPr>
          <p:cNvPr id="20" name="Rectángulo 19">
            <a:extLst>
              <a:ext uri="{FF2B5EF4-FFF2-40B4-BE49-F238E27FC236}">
                <a16:creationId xmlns:a16="http://schemas.microsoft.com/office/drawing/2014/main" id="{8A5C4B68-20B5-1B57-C874-F6826B5A6BF4}"/>
              </a:ext>
            </a:extLst>
          </p:cNvPr>
          <p:cNvSpPr/>
          <p:nvPr/>
        </p:nvSpPr>
        <p:spPr>
          <a:xfrm>
            <a:off x="638668" y="1392995"/>
            <a:ext cx="4475314" cy="1333635"/>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Principales </a:t>
            </a:r>
            <a:br>
              <a:rPr lang="es-ES" sz="3000">
                <a:solidFill>
                  <a:schemeClr val="tx1">
                    <a:lumMod val="85000"/>
                    <a:lumOff val="15000"/>
                  </a:schemeClr>
                </a:solidFill>
                <a:latin typeface="DM Serif Display" pitchFamily="2" charset="0"/>
                <a:cs typeface="Times New Roman" panose="02020603050405020304" pitchFamily="18" charset="0"/>
              </a:rPr>
            </a:br>
            <a:r>
              <a:rPr lang="es-ES" sz="3000">
                <a:solidFill>
                  <a:schemeClr val="tx1">
                    <a:lumMod val="85000"/>
                    <a:lumOff val="15000"/>
                  </a:schemeClr>
                </a:solidFill>
                <a:latin typeface="DM Serif Display" pitchFamily="2" charset="0"/>
                <a:cs typeface="Times New Roman" panose="02020603050405020304" pitchFamily="18" charset="0"/>
              </a:rPr>
              <a:t>mercados emisores </a:t>
            </a:r>
            <a:br>
              <a:rPr lang="es-ES" sz="3000">
                <a:solidFill>
                  <a:schemeClr val="tx1">
                    <a:lumMod val="85000"/>
                    <a:lumOff val="15000"/>
                  </a:schemeClr>
                </a:solidFill>
                <a:latin typeface="DM Serif Display" pitchFamily="2" charset="0"/>
                <a:cs typeface="Times New Roman" panose="02020603050405020304" pitchFamily="18" charset="0"/>
              </a:rPr>
            </a:br>
            <a:r>
              <a:rPr lang="es-ES" sz="3000">
                <a:solidFill>
                  <a:schemeClr val="tx1">
                    <a:lumMod val="85000"/>
                    <a:lumOff val="15000"/>
                  </a:schemeClr>
                </a:solidFill>
                <a:latin typeface="DM Serif Display" pitchFamily="2" charset="0"/>
                <a:cs typeface="Times New Roman" panose="02020603050405020304" pitchFamily="18" charset="0"/>
              </a:rPr>
              <a:t>(Ene - Dic 2025) </a:t>
            </a:r>
          </a:p>
        </p:txBody>
      </p:sp>
      <p:sp>
        <p:nvSpPr>
          <p:cNvPr id="4" name="Rectángulo 3">
            <a:extLst>
              <a:ext uri="{FF2B5EF4-FFF2-40B4-BE49-F238E27FC236}">
                <a16:creationId xmlns:a16="http://schemas.microsoft.com/office/drawing/2014/main" id="{7AB25B23-C9CF-C1DB-EE32-93887013C339}"/>
              </a:ext>
            </a:extLst>
          </p:cNvPr>
          <p:cNvSpPr/>
          <p:nvPr/>
        </p:nvSpPr>
        <p:spPr>
          <a:xfrm>
            <a:off x="6519277" y="613234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-27,27%</a:t>
            </a:r>
          </a:p>
        </p:txBody>
      </p:sp>
      <p:sp>
        <p:nvSpPr>
          <p:cNvPr id="5" name="Rectángulo 4">
            <a:extLst>
              <a:ext uri="{FF2B5EF4-FFF2-40B4-BE49-F238E27FC236}">
                <a16:creationId xmlns:a16="http://schemas.microsoft.com/office/drawing/2014/main" id="{E493B707-EFA0-012D-228B-B8E33E4E10F9}"/>
              </a:ext>
            </a:extLst>
          </p:cNvPr>
          <p:cNvSpPr/>
          <p:nvPr/>
        </p:nvSpPr>
        <p:spPr>
          <a:xfrm>
            <a:off x="7456493" y="613234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-11,06%</a:t>
            </a:r>
          </a:p>
        </p:txBody>
      </p:sp>
      <p:sp>
        <p:nvSpPr>
          <p:cNvPr id="6" name="Rectángulo 5">
            <a:extLst>
              <a:ext uri="{FF2B5EF4-FFF2-40B4-BE49-F238E27FC236}">
                <a16:creationId xmlns:a16="http://schemas.microsoft.com/office/drawing/2014/main" id="{028C7730-CD41-2B10-8EAC-F3932950F600}"/>
              </a:ext>
            </a:extLst>
          </p:cNvPr>
          <p:cNvSpPr/>
          <p:nvPr/>
        </p:nvSpPr>
        <p:spPr>
          <a:xfrm>
            <a:off x="8337314" y="613234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8,51%</a:t>
            </a:r>
          </a:p>
        </p:txBody>
      </p:sp>
      <p:sp>
        <p:nvSpPr>
          <p:cNvPr id="7" name="Rectángulo 6">
            <a:extLst>
              <a:ext uri="{FF2B5EF4-FFF2-40B4-BE49-F238E27FC236}">
                <a16:creationId xmlns:a16="http://schemas.microsoft.com/office/drawing/2014/main" id="{5F6BCCFB-AD7E-F4A0-E172-9CF49DD9DABF}"/>
              </a:ext>
            </a:extLst>
          </p:cNvPr>
          <p:cNvSpPr/>
          <p:nvPr/>
        </p:nvSpPr>
        <p:spPr>
          <a:xfrm>
            <a:off x="9274530" y="613234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-23,90%</a:t>
            </a:r>
          </a:p>
        </p:txBody>
      </p:sp>
      <p:sp>
        <p:nvSpPr>
          <p:cNvPr id="8" name="Rectángulo 7">
            <a:extLst>
              <a:ext uri="{FF2B5EF4-FFF2-40B4-BE49-F238E27FC236}">
                <a16:creationId xmlns:a16="http://schemas.microsoft.com/office/drawing/2014/main" id="{AEB81458-07B7-B465-8329-CD7D35B05325}"/>
              </a:ext>
            </a:extLst>
          </p:cNvPr>
          <p:cNvSpPr/>
          <p:nvPr/>
        </p:nvSpPr>
        <p:spPr>
          <a:xfrm>
            <a:off x="10199808" y="613234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-25,45%</a:t>
            </a:r>
          </a:p>
        </p:txBody>
      </p:sp>
      <p:graphicFrame>
        <p:nvGraphicFramePr>
          <p:cNvPr id="9" name="Gráfico 8">
            <a:extLst>
              <a:ext uri="{FF2B5EF4-FFF2-40B4-BE49-F238E27FC236}">
                <a16:creationId xmlns:a16="http://schemas.microsoft.com/office/drawing/2014/main" id="{23E6A37E-0573-32CD-AEF2-D126A8E76F7B}"/>
              </a:ext>
            </a:extLst>
          </p:cNvPr>
          <p:cNvGraphicFramePr>
            <a:graphicFrameLocks/>
          </p:cNvGraphicFramePr>
          <p:nvPr>
            <p:extLst>
              <p:ext uri="{D42A27DB-BD31-4B8C-83A1-F6EECF244321}">
                <p14:modId xmlns:p14="http://schemas.microsoft.com/office/powerpoint/2010/main" val="4083972674"/>
              </p:ext>
            </p:extLst>
          </p:nvPr>
        </p:nvGraphicFramePr>
        <p:xfrm>
          <a:off x="6519276" y="1379087"/>
          <a:ext cx="5648467" cy="4821688"/>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24456FF5-8193-4D2F-CFBF-80A8C9814DF7}"/>
              </a:ext>
            </a:extLst>
          </p:cNvPr>
          <p:cNvSpPr/>
          <p:nvPr/>
        </p:nvSpPr>
        <p:spPr>
          <a:xfrm>
            <a:off x="11066398" y="613234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-33,93%</a:t>
            </a:r>
          </a:p>
        </p:txBody>
      </p:sp>
    </p:spTree>
    <p:extLst>
      <p:ext uri="{BB962C8B-B14F-4D97-AF65-F5344CB8AC3E}">
        <p14:creationId xmlns:p14="http://schemas.microsoft.com/office/powerpoint/2010/main" val="2772840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21E6F-968B-A0DB-C74B-ADDCAAE2063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4106EF9-9A74-DE6E-F685-6B2695B97DAA}"/>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19" name="Rectángulo 18">
            <a:extLst>
              <a:ext uri="{FF2B5EF4-FFF2-40B4-BE49-F238E27FC236}">
                <a16:creationId xmlns:a16="http://schemas.microsoft.com/office/drawing/2014/main" id="{3222E523-7112-A40A-4DDF-F6A0F200A64B}"/>
              </a:ext>
            </a:extLst>
          </p:cNvPr>
          <p:cNvSpPr/>
          <p:nvPr/>
        </p:nvSpPr>
        <p:spPr>
          <a:xfrm>
            <a:off x="638667" y="2435771"/>
            <a:ext cx="5836561" cy="3193182"/>
          </a:xfrm>
          <a:prstGeom prst="rect">
            <a:avLst/>
          </a:prstGeom>
        </p:spPr>
        <p:txBody>
          <a:bodyPr wrap="square">
            <a:spAutoFit/>
          </a:bodyPr>
          <a:lstStyle/>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En 2025, la Comunidad de Madrid continúa siendo el principal mercado nacional hacia Guardamar del Segura, con 69.130 turistas, aunque registra un descenso interanual del −27,27%, lo que condiciona en gran medida la evolución global del turismo interno en el destino.</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A nivel mensual, el comportamiento del mercado muestra un ajuste concentrado especialmente en los meses de mayor volumen. Julio (14.285) y agosto (20.011) siguen siendo los periodos de mayor afluencia, pero presentan caídas significativas respecto a 2024, acumulando entre ambos cerca de 9.000 turistas menos, lo que explica gran parte del descenso anual.</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No obstante, se observan señales de redistribución parcial de la demanda, con incrementos en abril (9.390) y junio (6.886) respecto al año anterior, lo que podría apuntar a un desplazamiento hacia meses previos al verano.</a:t>
            </a:r>
          </a:p>
          <a:p>
            <a:pPr marL="15875" algn="just">
              <a:lnSpc>
                <a:spcPct val="115000"/>
              </a:lnSpc>
              <a:spcAft>
                <a:spcPts val="0"/>
              </a:spcAft>
              <a:buClr>
                <a:srgbClr val="00325C"/>
              </a:buClr>
              <a:buSzPct val="100000"/>
            </a:pP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p:txBody>
      </p:sp>
      <p:sp>
        <p:nvSpPr>
          <p:cNvPr id="20" name="Rectángulo 19">
            <a:extLst>
              <a:ext uri="{FF2B5EF4-FFF2-40B4-BE49-F238E27FC236}">
                <a16:creationId xmlns:a16="http://schemas.microsoft.com/office/drawing/2014/main" id="{F1BFAF7E-23C7-D8D3-5EEB-A939A338BEB1}"/>
              </a:ext>
            </a:extLst>
          </p:cNvPr>
          <p:cNvSpPr/>
          <p:nvPr/>
        </p:nvSpPr>
        <p:spPr>
          <a:xfrm>
            <a:off x="638667" y="1379087"/>
            <a:ext cx="447531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Evolución del mercado madrileño en el año 2025</a:t>
            </a:r>
          </a:p>
        </p:txBody>
      </p:sp>
      <p:sp>
        <p:nvSpPr>
          <p:cNvPr id="3" name="Rectángulo 2">
            <a:extLst>
              <a:ext uri="{FF2B5EF4-FFF2-40B4-BE49-F238E27FC236}">
                <a16:creationId xmlns:a16="http://schemas.microsoft.com/office/drawing/2014/main" id="{D04695A5-730E-6C79-0E2A-3E7446570BD0}"/>
              </a:ext>
            </a:extLst>
          </p:cNvPr>
          <p:cNvSpPr/>
          <p:nvPr/>
        </p:nvSpPr>
        <p:spPr>
          <a:xfrm>
            <a:off x="6715280" y="1075606"/>
            <a:ext cx="5242089" cy="857158"/>
          </a:xfrm>
          <a:prstGeom prst="rect">
            <a:avLst/>
          </a:prstGeom>
        </p:spPr>
        <p:txBody>
          <a:bodyPr wrap="square">
            <a:spAutoFit/>
          </a:bodyPr>
          <a:lstStyle/>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Los datos reflejan una reducción de intensidad en la temporada alta más que una pérdida estructural del mercado madrileño, que mantiene su papel estratégico como principal emisor nacional, aunque con menor concentración estival en 2025.</a:t>
            </a:r>
          </a:p>
        </p:txBody>
      </p:sp>
      <p:graphicFrame>
        <p:nvGraphicFramePr>
          <p:cNvPr id="5" name="Gráfico 4">
            <a:extLst>
              <a:ext uri="{FF2B5EF4-FFF2-40B4-BE49-F238E27FC236}">
                <a16:creationId xmlns:a16="http://schemas.microsoft.com/office/drawing/2014/main" id="{B162BE12-F6FB-5672-888A-9055E20A128A}"/>
              </a:ext>
            </a:extLst>
          </p:cNvPr>
          <p:cNvGraphicFramePr>
            <a:graphicFrameLocks/>
          </p:cNvGraphicFramePr>
          <p:nvPr>
            <p:extLst>
              <p:ext uri="{D42A27DB-BD31-4B8C-83A1-F6EECF244321}">
                <p14:modId xmlns:p14="http://schemas.microsoft.com/office/powerpoint/2010/main" val="2801225851"/>
              </p:ext>
            </p:extLst>
          </p:nvPr>
        </p:nvGraphicFramePr>
        <p:xfrm>
          <a:off x="6789324" y="2028953"/>
          <a:ext cx="5094000" cy="360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05646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CBE0-4ABB-821D-17B0-88A2EA92EEC6}"/>
            </a:ext>
          </a:extLst>
        </p:cNvPr>
        <p:cNvGrpSpPr/>
        <p:nvPr/>
      </p:nvGrpSpPr>
      <p:grpSpPr>
        <a:xfrm>
          <a:off x="0" y="0"/>
          <a:ext cx="0" cy="0"/>
          <a:chOff x="0" y="0"/>
          <a:chExt cx="0" cy="0"/>
        </a:xfrm>
      </p:grpSpPr>
      <p:sp>
        <p:nvSpPr>
          <p:cNvPr id="12" name="Rectángulo 11">
            <a:extLst>
              <a:ext uri="{FF2B5EF4-FFF2-40B4-BE49-F238E27FC236}">
                <a16:creationId xmlns:a16="http://schemas.microsoft.com/office/drawing/2014/main" id="{ABEDCDFC-3103-518C-061C-208E8904D0A6}"/>
              </a:ext>
            </a:extLst>
          </p:cNvPr>
          <p:cNvSpPr/>
          <p:nvPr/>
        </p:nvSpPr>
        <p:spPr>
          <a:xfrm>
            <a:off x="638668" y="2541575"/>
            <a:ext cx="4762672" cy="2721514"/>
          </a:xfrm>
          <a:prstGeom prst="rect">
            <a:avLst/>
          </a:prstGeom>
        </p:spPr>
        <p:txBody>
          <a:bodyPr wrap="square">
            <a:spAutoFit/>
          </a:bodyPr>
          <a:lstStyle/>
          <a:p>
            <a:pPr marL="15875">
              <a:lnSpc>
                <a:spcPct val="115000"/>
              </a:lnSpc>
              <a:spcBef>
                <a:spcPts val="600"/>
              </a:spcBef>
              <a:buClr>
                <a:srgbClr val="00325C"/>
              </a:buClr>
              <a:buSzPct val="100000"/>
            </a:pPr>
            <a:r>
              <a:rPr lang="es-ES" sz="1200" b="1" kern="0">
                <a:solidFill>
                  <a:srgbClr val="E62C43"/>
                </a:solidFill>
                <a:latin typeface="Montserrat SemiBold" pitchFamily="2" charset="77"/>
                <a:cs typeface="Times New Roman" panose="02020603050405020304" pitchFamily="18" charset="0"/>
              </a:rPr>
              <a:t>Turismo internacional</a:t>
            </a:r>
          </a:p>
          <a:p>
            <a:pPr marL="15875">
              <a:lnSpc>
                <a:spcPct val="115000"/>
              </a:lnSpc>
              <a:spcBef>
                <a:spcPts val="600"/>
              </a:spcBef>
              <a:buClr>
                <a:srgbClr val="00325C"/>
              </a:buClr>
              <a:buSzPct val="100000"/>
            </a:pPr>
            <a:endParaRPr lang="es-ES" sz="1200" b="1" kern="0">
              <a:solidFill>
                <a:srgbClr val="F47856"/>
              </a:solidFill>
              <a:latin typeface="Montserrat SemiBold" pitchFamily="2" charset="77"/>
              <a:cs typeface="Times New Roman" panose="02020603050405020304" pitchFamily="18" charset="0"/>
            </a:endParaRPr>
          </a:p>
          <a:p>
            <a:pPr marL="15875" algn="just">
              <a:lnSpc>
                <a:spcPct val="115000"/>
              </a:lnSpc>
            </a:pPr>
            <a:r>
              <a:rPr lang="es-ES" sz="1100" kern="0">
                <a:solidFill>
                  <a:schemeClr val="tx1">
                    <a:lumMod val="75000"/>
                    <a:lumOff val="25000"/>
                  </a:schemeClr>
                </a:solidFill>
                <a:latin typeface="Montserrat" pitchFamily="2" charset="77"/>
                <a:cs typeface="Times New Roman" panose="02020603050405020304" pitchFamily="18" charset="0"/>
              </a:rPr>
              <a:t>En 2025, Guardamar del Segura registró 127.619 turistas internacionales, lo que supone un crecimiento del 29,24% respecto a 2024 y el valor más elevado de la serie analizada.</a:t>
            </a:r>
          </a:p>
          <a:p>
            <a:pPr marL="15875" algn="just">
              <a:lnSpc>
                <a:spcPct val="115000"/>
              </a:lnSpc>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pPr>
            <a:r>
              <a:rPr lang="es-ES" sz="1100" kern="0">
                <a:solidFill>
                  <a:schemeClr val="tx1">
                    <a:lumMod val="75000"/>
                    <a:lumOff val="25000"/>
                  </a:schemeClr>
                </a:solidFill>
                <a:latin typeface="Montserrat" pitchFamily="2" charset="77"/>
                <a:cs typeface="Times New Roman" panose="02020603050405020304" pitchFamily="18" charset="0"/>
              </a:rPr>
              <a:t>Tras la fuerte recuperación iniciada en 2021 y el crecimiento sostenido hasta 2023, en 2024 se produjo un ajuste del </a:t>
            </a:r>
          </a:p>
          <a:p>
            <a:pPr marL="15875" algn="just">
              <a:lnSpc>
                <a:spcPct val="115000"/>
              </a:lnSpc>
            </a:pPr>
            <a:r>
              <a:rPr lang="es-ES" sz="1100" kern="0">
                <a:solidFill>
                  <a:schemeClr val="tx1">
                    <a:lumMod val="75000"/>
                    <a:lumOff val="25000"/>
                  </a:schemeClr>
                </a:solidFill>
                <a:latin typeface="Montserrat" pitchFamily="2" charset="77"/>
                <a:cs typeface="Times New Roman" panose="02020603050405020304" pitchFamily="18" charset="0"/>
              </a:rPr>
              <a:t>-12,35%, que interrumpió temporalmente la tendencia expansiva. No obstante, el repunte registrado en 2025 no solo compensa esa corrección, sino que sitúa al destino en un nuevo máximo histórico, consolidando el mercado internacional como uno de los principales vectores de crecimiento reciente.</a:t>
            </a:r>
          </a:p>
        </p:txBody>
      </p:sp>
      <p:sp>
        <p:nvSpPr>
          <p:cNvPr id="6" name="Rectángulo 5">
            <a:extLst>
              <a:ext uri="{FF2B5EF4-FFF2-40B4-BE49-F238E27FC236}">
                <a16:creationId xmlns:a16="http://schemas.microsoft.com/office/drawing/2014/main" id="{48C3A35C-2EA9-7536-898F-7C83D399D3AC}"/>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7" name="Rectángulo 6">
            <a:extLst>
              <a:ext uri="{FF2B5EF4-FFF2-40B4-BE49-F238E27FC236}">
                <a16:creationId xmlns:a16="http://schemas.microsoft.com/office/drawing/2014/main" id="{098FC710-BABF-0C30-CA3D-F5BE76886079}"/>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Principales resultados del año 2025</a:t>
            </a:r>
          </a:p>
        </p:txBody>
      </p:sp>
      <p:graphicFrame>
        <p:nvGraphicFramePr>
          <p:cNvPr id="2" name="Gráfico 1">
            <a:extLst>
              <a:ext uri="{FF2B5EF4-FFF2-40B4-BE49-F238E27FC236}">
                <a16:creationId xmlns:a16="http://schemas.microsoft.com/office/drawing/2014/main" id="{13FADC6A-2165-8503-2DC3-7FC1AE87B364}"/>
              </a:ext>
            </a:extLst>
          </p:cNvPr>
          <p:cNvGraphicFramePr>
            <a:graphicFrameLocks/>
          </p:cNvGraphicFramePr>
          <p:nvPr>
            <p:extLst>
              <p:ext uri="{D42A27DB-BD31-4B8C-83A1-F6EECF244321}">
                <p14:modId xmlns:p14="http://schemas.microsoft.com/office/powerpoint/2010/main" val="2430259159"/>
              </p:ext>
            </p:extLst>
          </p:nvPr>
        </p:nvGraphicFramePr>
        <p:xfrm>
          <a:off x="6096000" y="1379087"/>
          <a:ext cx="5626800" cy="473760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ángulo 3">
            <a:extLst>
              <a:ext uri="{FF2B5EF4-FFF2-40B4-BE49-F238E27FC236}">
                <a16:creationId xmlns:a16="http://schemas.microsoft.com/office/drawing/2014/main" id="{62D25E12-6D9A-8C55-28D5-381306BDF3F0}"/>
              </a:ext>
            </a:extLst>
          </p:cNvPr>
          <p:cNvSpPr/>
          <p:nvPr/>
        </p:nvSpPr>
        <p:spPr>
          <a:xfrm>
            <a:off x="638668" y="5488403"/>
            <a:ext cx="3245075" cy="293991"/>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del INE</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56725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a:lnSpc>
                <a:spcPts val="3200"/>
              </a:lnSpc>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reciente y lectura de tendencias</a:t>
            </a:r>
          </a:p>
        </p:txBody>
      </p:sp>
      <p:sp>
        <p:nvSpPr>
          <p:cNvPr id="12" name="Rectángulo 11">
            <a:extLst>
              <a:ext uri="{FF2B5EF4-FFF2-40B4-BE49-F238E27FC236}">
                <a16:creationId xmlns:a16="http://schemas.microsoft.com/office/drawing/2014/main" id="{51C9942B-0A87-DD42-BC8A-4FE73ECEC448}"/>
              </a:ext>
            </a:extLst>
          </p:cNvPr>
          <p:cNvSpPr/>
          <p:nvPr/>
        </p:nvSpPr>
        <p:spPr>
          <a:xfrm>
            <a:off x="638668" y="2477967"/>
            <a:ext cx="4900895" cy="2839239"/>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E62C43"/>
                </a:solidFill>
                <a:latin typeface="Montserrat SemiBold" pitchFamily="2" charset="77"/>
                <a:cs typeface="Times New Roman" panose="02020603050405020304" pitchFamily="18" charset="0"/>
              </a:rPr>
              <a:t>Turismo internacional  </a:t>
            </a:r>
          </a:p>
          <a:p>
            <a:pPr marL="15875">
              <a:lnSpc>
                <a:spcPct val="115000"/>
              </a:lnSpc>
              <a:spcAft>
                <a:spcPts val="0"/>
              </a:spcAft>
              <a:buClr>
                <a:srgbClr val="00325C"/>
              </a:buClr>
              <a:buSzPct val="100000"/>
            </a:pPr>
            <a:endParaRPr lang="es-ES" sz="1200" b="1" kern="0">
              <a:solidFill>
                <a:srgbClr val="E62C43"/>
              </a:solidFill>
              <a:latin typeface="Montserrat SemiBold"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Entre 2023 y 2025, el turismo internacional en Guardamar del Segura muestra un patrón estacional menos acusado que el mercado nacional, con una distribución más equilibrada de las llegadas a lo largo del año</a:t>
            </a:r>
          </a:p>
          <a:p>
            <a:pPr marL="15875" algn="just">
              <a:lnSpc>
                <a:spcPct val="115000"/>
              </a:lnSpc>
              <a:spcAft>
                <a:spcPts val="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pPr>
            <a:r>
              <a:rPr lang="es-ES" sz="1100" kern="0">
                <a:solidFill>
                  <a:schemeClr val="tx1">
                    <a:lumMod val="75000"/>
                    <a:lumOff val="25000"/>
                  </a:schemeClr>
                </a:solidFill>
                <a:latin typeface="Montserrat" pitchFamily="2" charset="77"/>
                <a:cs typeface="Times New Roman" panose="02020603050405020304" pitchFamily="18" charset="0"/>
              </a:rPr>
              <a:t>.Aunque los máximos siguen concentrándose en julio y agosto, en 2025 se observa un incremento significativo no solo en verano, sino también en los meses de primavera y otoño, con valores superiores a los registrados en 2023 y 2024 en la mayor parte del ejercicio. Destaca especialmente el crecimiento en enero, abril, junio y octubre, lo que apunta a una ampliación temporal de la demanda internacional.</a:t>
            </a:r>
          </a:p>
        </p:txBody>
      </p:sp>
      <p:graphicFrame>
        <p:nvGraphicFramePr>
          <p:cNvPr id="3" name="Gráfico 2">
            <a:extLst>
              <a:ext uri="{FF2B5EF4-FFF2-40B4-BE49-F238E27FC236}">
                <a16:creationId xmlns:a16="http://schemas.microsoft.com/office/drawing/2014/main" id="{05E8517A-8CEB-273C-175D-13092EC7242D}"/>
              </a:ext>
            </a:extLst>
          </p:cNvPr>
          <p:cNvGraphicFramePr>
            <a:graphicFrameLocks/>
          </p:cNvGraphicFramePr>
          <p:nvPr>
            <p:extLst>
              <p:ext uri="{D42A27DB-BD31-4B8C-83A1-F6EECF244321}">
                <p14:modId xmlns:p14="http://schemas.microsoft.com/office/powerpoint/2010/main" val="2552253838"/>
              </p:ext>
            </p:extLst>
          </p:nvPr>
        </p:nvGraphicFramePr>
        <p:xfrm>
          <a:off x="6096000" y="1878913"/>
          <a:ext cx="5544000" cy="3600000"/>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ángulo 7">
            <a:extLst>
              <a:ext uri="{FF2B5EF4-FFF2-40B4-BE49-F238E27FC236}">
                <a16:creationId xmlns:a16="http://schemas.microsoft.com/office/drawing/2014/main" id="{F8758020-B5D2-7E9E-5522-0DAC28DC192D}"/>
              </a:ext>
            </a:extLst>
          </p:cNvPr>
          <p:cNvSpPr/>
          <p:nvPr/>
        </p:nvSpPr>
        <p:spPr>
          <a:xfrm>
            <a:off x="553769" y="5478913"/>
            <a:ext cx="3245075" cy="293991"/>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del INE</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1256230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7625F-0CD0-B044-05F1-ED11456A336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0A06F90-74FC-7CAD-D480-C74ADE7B03BB}"/>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19" name="Rectángulo 18">
            <a:extLst>
              <a:ext uri="{FF2B5EF4-FFF2-40B4-BE49-F238E27FC236}">
                <a16:creationId xmlns:a16="http://schemas.microsoft.com/office/drawing/2014/main" id="{8AE9AAEF-C414-7C6C-6287-F954421020F0}"/>
              </a:ext>
            </a:extLst>
          </p:cNvPr>
          <p:cNvSpPr/>
          <p:nvPr/>
        </p:nvSpPr>
        <p:spPr>
          <a:xfrm>
            <a:off x="638668" y="2748487"/>
            <a:ext cx="5561410" cy="3033907"/>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E62C43"/>
                </a:solidFill>
                <a:latin typeface="Montserrat SemiBold" pitchFamily="2" charset="77"/>
                <a:cs typeface="Times New Roman" panose="02020603050405020304" pitchFamily="18" charset="0"/>
              </a:rPr>
              <a:t>Turismo internacional </a:t>
            </a:r>
          </a:p>
          <a:p>
            <a:pPr marL="15875">
              <a:lnSpc>
                <a:spcPct val="115000"/>
              </a:lnSpc>
              <a:spcAft>
                <a:spcPts val="0"/>
              </a:spcAft>
              <a:buClr>
                <a:srgbClr val="00325C"/>
              </a:buClr>
              <a:buSzPct val="100000"/>
            </a:pPr>
            <a:endParaRPr lang="es-ES" sz="700" b="1" kern="0">
              <a:solidFill>
                <a:srgbClr val="F47856"/>
              </a:solidFill>
              <a:latin typeface="Montserrat SemiBold"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En 2025, Reino Unido se consolida como el principal mercado internacional, con 30.937 visitantes y un destacado crecimiento interanual del 42,10%, reforzando su peso dentro de la estructura de la demanda exterior.</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Le siguen Alemania, con 13.652 turistas (14,06%), y Bélgica, que alcanza los 12.915 visitantes y registra un incremento significativo del 27,77%. Por su parte, Países Bajos muestra una evolución muy dinámica, con 10.587 turistas y un crecimiento del 32,59%, mientras que Noruega contabiliza 9.674 visitantes, aumentando un 18,55% respecto a 2024.</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En definitiva, los principales mercados emisores presentan crecimientos generalizados en 2025, lo que evidencia un fortalecimiento del turismo internacional respecto al año anterior.</a:t>
            </a: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p:txBody>
      </p:sp>
      <p:sp>
        <p:nvSpPr>
          <p:cNvPr id="20" name="Rectángulo 19">
            <a:extLst>
              <a:ext uri="{FF2B5EF4-FFF2-40B4-BE49-F238E27FC236}">
                <a16:creationId xmlns:a16="http://schemas.microsoft.com/office/drawing/2014/main" id="{88DD1492-C02F-AF90-1009-C09C7BADCC00}"/>
              </a:ext>
            </a:extLst>
          </p:cNvPr>
          <p:cNvSpPr/>
          <p:nvPr/>
        </p:nvSpPr>
        <p:spPr>
          <a:xfrm>
            <a:off x="638668" y="1392995"/>
            <a:ext cx="4475314" cy="1333635"/>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Principales </a:t>
            </a:r>
            <a:br>
              <a:rPr lang="es-ES" sz="3000">
                <a:solidFill>
                  <a:schemeClr val="tx1">
                    <a:lumMod val="85000"/>
                    <a:lumOff val="15000"/>
                  </a:schemeClr>
                </a:solidFill>
                <a:latin typeface="DM Serif Display" pitchFamily="2" charset="0"/>
                <a:cs typeface="Times New Roman" panose="02020603050405020304" pitchFamily="18" charset="0"/>
              </a:rPr>
            </a:br>
            <a:r>
              <a:rPr lang="es-ES" sz="3000">
                <a:solidFill>
                  <a:schemeClr val="tx1">
                    <a:lumMod val="85000"/>
                    <a:lumOff val="15000"/>
                  </a:schemeClr>
                </a:solidFill>
                <a:latin typeface="DM Serif Display" pitchFamily="2" charset="0"/>
                <a:cs typeface="Times New Roman" panose="02020603050405020304" pitchFamily="18" charset="0"/>
              </a:rPr>
              <a:t>mercados emisores </a:t>
            </a:r>
            <a:br>
              <a:rPr lang="es-ES" sz="3000">
                <a:solidFill>
                  <a:schemeClr val="tx1">
                    <a:lumMod val="85000"/>
                    <a:lumOff val="15000"/>
                  </a:schemeClr>
                </a:solidFill>
                <a:latin typeface="DM Serif Display" pitchFamily="2" charset="0"/>
                <a:cs typeface="Times New Roman" panose="02020603050405020304" pitchFamily="18" charset="0"/>
              </a:rPr>
            </a:br>
            <a:r>
              <a:rPr lang="es-ES" sz="3000">
                <a:solidFill>
                  <a:schemeClr val="tx1">
                    <a:lumMod val="85000"/>
                    <a:lumOff val="15000"/>
                  </a:schemeClr>
                </a:solidFill>
                <a:latin typeface="DM Serif Display" pitchFamily="2" charset="0"/>
                <a:cs typeface="Times New Roman" panose="02020603050405020304" pitchFamily="18" charset="0"/>
              </a:rPr>
              <a:t>(Ene - Dic 2025) </a:t>
            </a:r>
          </a:p>
        </p:txBody>
      </p:sp>
      <p:graphicFrame>
        <p:nvGraphicFramePr>
          <p:cNvPr id="3" name="Gráfico 2">
            <a:extLst>
              <a:ext uri="{FF2B5EF4-FFF2-40B4-BE49-F238E27FC236}">
                <a16:creationId xmlns:a16="http://schemas.microsoft.com/office/drawing/2014/main" id="{31ABE668-A408-CC0F-A1A0-048110586267}"/>
              </a:ext>
            </a:extLst>
          </p:cNvPr>
          <p:cNvGraphicFramePr>
            <a:graphicFrameLocks/>
          </p:cNvGraphicFramePr>
          <p:nvPr>
            <p:extLst>
              <p:ext uri="{D42A27DB-BD31-4B8C-83A1-F6EECF244321}">
                <p14:modId xmlns:p14="http://schemas.microsoft.com/office/powerpoint/2010/main" val="1592406164"/>
              </p:ext>
            </p:extLst>
          </p:nvPr>
        </p:nvGraphicFramePr>
        <p:xfrm>
          <a:off x="6531145" y="1448457"/>
          <a:ext cx="5561410" cy="4771368"/>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ángulo 3">
            <a:extLst>
              <a:ext uri="{FF2B5EF4-FFF2-40B4-BE49-F238E27FC236}">
                <a16:creationId xmlns:a16="http://schemas.microsoft.com/office/drawing/2014/main" id="{8BBF0898-F079-D5D3-E853-6161585133F1}"/>
              </a:ext>
            </a:extLst>
          </p:cNvPr>
          <p:cNvSpPr/>
          <p:nvPr/>
        </p:nvSpPr>
        <p:spPr>
          <a:xfrm>
            <a:off x="6578017" y="6233009"/>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+42,10%</a:t>
            </a:r>
          </a:p>
        </p:txBody>
      </p:sp>
      <p:sp>
        <p:nvSpPr>
          <p:cNvPr id="5" name="Rectángulo 4">
            <a:extLst>
              <a:ext uri="{FF2B5EF4-FFF2-40B4-BE49-F238E27FC236}">
                <a16:creationId xmlns:a16="http://schemas.microsoft.com/office/drawing/2014/main" id="{E1BD391F-06F8-7D5F-2658-73E21B394257}"/>
              </a:ext>
            </a:extLst>
          </p:cNvPr>
          <p:cNvSpPr/>
          <p:nvPr/>
        </p:nvSpPr>
        <p:spPr>
          <a:xfrm>
            <a:off x="7505833" y="621982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+14,06%</a:t>
            </a:r>
          </a:p>
        </p:txBody>
      </p:sp>
      <p:sp>
        <p:nvSpPr>
          <p:cNvPr id="6" name="Rectángulo 5">
            <a:extLst>
              <a:ext uri="{FF2B5EF4-FFF2-40B4-BE49-F238E27FC236}">
                <a16:creationId xmlns:a16="http://schemas.microsoft.com/office/drawing/2014/main" id="{BC3B80F3-DA29-AB41-9B7A-593AF1577E52}"/>
              </a:ext>
            </a:extLst>
          </p:cNvPr>
          <p:cNvSpPr/>
          <p:nvPr/>
        </p:nvSpPr>
        <p:spPr>
          <a:xfrm>
            <a:off x="8433648" y="622452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+27,77%</a:t>
            </a:r>
          </a:p>
        </p:txBody>
      </p:sp>
      <p:sp>
        <p:nvSpPr>
          <p:cNvPr id="7" name="Rectángulo 6">
            <a:extLst>
              <a:ext uri="{FF2B5EF4-FFF2-40B4-BE49-F238E27FC236}">
                <a16:creationId xmlns:a16="http://schemas.microsoft.com/office/drawing/2014/main" id="{3FDB86DA-AAE2-6C1F-760C-477E2E1FB9AC}"/>
              </a:ext>
            </a:extLst>
          </p:cNvPr>
          <p:cNvSpPr/>
          <p:nvPr/>
        </p:nvSpPr>
        <p:spPr>
          <a:xfrm>
            <a:off x="9351831" y="6233009"/>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+32,59%</a:t>
            </a:r>
          </a:p>
        </p:txBody>
      </p:sp>
      <p:sp>
        <p:nvSpPr>
          <p:cNvPr id="8" name="Rectángulo 7">
            <a:extLst>
              <a:ext uri="{FF2B5EF4-FFF2-40B4-BE49-F238E27FC236}">
                <a16:creationId xmlns:a16="http://schemas.microsoft.com/office/drawing/2014/main" id="{16EA2D4E-92AD-7B49-2384-689E9BB5A881}"/>
              </a:ext>
            </a:extLst>
          </p:cNvPr>
          <p:cNvSpPr/>
          <p:nvPr/>
        </p:nvSpPr>
        <p:spPr>
          <a:xfrm>
            <a:off x="10215626" y="622452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+18,55%</a:t>
            </a:r>
          </a:p>
        </p:txBody>
      </p:sp>
      <p:sp>
        <p:nvSpPr>
          <p:cNvPr id="15" name="Rectángulo 14">
            <a:extLst>
              <a:ext uri="{FF2B5EF4-FFF2-40B4-BE49-F238E27FC236}">
                <a16:creationId xmlns:a16="http://schemas.microsoft.com/office/drawing/2014/main" id="{9434B160-9834-66BB-B610-71E5D335EFB3}"/>
              </a:ext>
            </a:extLst>
          </p:cNvPr>
          <p:cNvSpPr/>
          <p:nvPr/>
        </p:nvSpPr>
        <p:spPr>
          <a:xfrm>
            <a:off x="11049899" y="6219825"/>
            <a:ext cx="1042656" cy="338554"/>
          </a:xfrm>
          <a:prstGeom prst="rect">
            <a:avLst/>
          </a:prstGeom>
        </p:spPr>
        <p:txBody>
          <a:bodyPr wrap="square">
            <a:spAutoFit/>
          </a:bodyPr>
          <a:lstStyle/>
          <a:p>
            <a:pPr algn="ctr"/>
            <a:r>
              <a:rPr lang="es-ES" sz="1600">
                <a:solidFill>
                  <a:schemeClr val="bg1"/>
                </a:solidFill>
                <a:latin typeface="DM Serif Display" pitchFamily="2" charset="0"/>
                <a:cs typeface="Times New Roman" panose="02020603050405020304" pitchFamily="18" charset="0"/>
              </a:rPr>
              <a:t>+30,54%</a:t>
            </a:r>
          </a:p>
        </p:txBody>
      </p:sp>
    </p:spTree>
    <p:extLst>
      <p:ext uri="{BB962C8B-B14F-4D97-AF65-F5344CB8AC3E}">
        <p14:creationId xmlns:p14="http://schemas.microsoft.com/office/powerpoint/2010/main" val="410762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A351A-7E96-A0CA-87E8-5BF824683921}"/>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FA4C5A87-2A60-0BE0-BCCE-90E5035C00E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19" name="Rectángulo 18">
            <a:extLst>
              <a:ext uri="{FF2B5EF4-FFF2-40B4-BE49-F238E27FC236}">
                <a16:creationId xmlns:a16="http://schemas.microsoft.com/office/drawing/2014/main" id="{E8C2989F-5940-417E-6B59-4F625851220F}"/>
              </a:ext>
            </a:extLst>
          </p:cNvPr>
          <p:cNvSpPr/>
          <p:nvPr/>
        </p:nvSpPr>
        <p:spPr>
          <a:xfrm>
            <a:off x="638668" y="2330169"/>
            <a:ext cx="5836561" cy="3582519"/>
          </a:xfrm>
          <a:prstGeom prst="rect">
            <a:avLst/>
          </a:prstGeom>
        </p:spPr>
        <p:txBody>
          <a:bodyPr wrap="square">
            <a:spAutoFit/>
          </a:bodyPr>
          <a:lstStyle/>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Tras el descenso registrado en 2024 (21.771 turistas frente a los 31.319 de 2023), el mercado británico muestra en 2025 una recuperación muy significativa, alcanzando 30.937 visitantes, lo que supone un crecimiento interanual del 42,10%.</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Este repunte sitúa nuevamente al Reino Unido en niveles muy próximos al máximo histórico de la serie (2023), confirmando que la caída de 2024 tuvo un carácter coyuntural más que estructural. La evolución 2019–2025 evidencia, además, que tras el impacto de 2020 y el ajuste puntual registrado en 2024, el mercado británico mantiene una trayectoria general de recuperación y consolidación en el destino.</a:t>
            </a:r>
          </a:p>
          <a:p>
            <a:pPr marL="15875" algn="just">
              <a:lnSpc>
                <a:spcPct val="115000"/>
              </a:lnSpc>
              <a:spcAft>
                <a:spcPts val="0"/>
              </a:spcAft>
              <a:buClr>
                <a:srgbClr val="00325C"/>
              </a:buClr>
              <a:buSzPct val="100000"/>
            </a:pP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a:p>
            <a:pPr marL="15875" algn="just">
              <a:lnSpc>
                <a:spcPct val="115000"/>
              </a:lnSpc>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A nivel mensual, 2025 presenta crecimientos generalizados respecto a 2024 en la mayor parte del año, especialmente en primavera y verano, con incrementos muy destacados en junio, julio y agosto. Este comportamiento no solo refuerza la temporada alta, sino que amplía la intensidad del mercado en meses previos y posteriores al verano.</a:t>
            </a:r>
          </a:p>
          <a:p>
            <a:pPr marL="15875" algn="just">
              <a:lnSpc>
                <a:spcPct val="115000"/>
              </a:lnSpc>
              <a:spcAft>
                <a:spcPts val="0"/>
              </a:spcAft>
              <a:buClr>
                <a:srgbClr val="00325C"/>
              </a:buClr>
              <a:buSzPct val="100000"/>
            </a:pP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p:txBody>
      </p:sp>
      <p:sp>
        <p:nvSpPr>
          <p:cNvPr id="20" name="Rectángulo 19">
            <a:extLst>
              <a:ext uri="{FF2B5EF4-FFF2-40B4-BE49-F238E27FC236}">
                <a16:creationId xmlns:a16="http://schemas.microsoft.com/office/drawing/2014/main" id="{6FC7DA57-15BD-9AEE-8827-1D2E64F691A3}"/>
              </a:ext>
            </a:extLst>
          </p:cNvPr>
          <p:cNvSpPr/>
          <p:nvPr/>
        </p:nvSpPr>
        <p:spPr>
          <a:xfrm>
            <a:off x="638668" y="1392995"/>
            <a:ext cx="447531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Evolución del mercado británico en el año 2025</a:t>
            </a:r>
          </a:p>
        </p:txBody>
      </p:sp>
      <p:graphicFrame>
        <p:nvGraphicFramePr>
          <p:cNvPr id="9" name="Gráfico 8">
            <a:extLst>
              <a:ext uri="{FF2B5EF4-FFF2-40B4-BE49-F238E27FC236}">
                <a16:creationId xmlns:a16="http://schemas.microsoft.com/office/drawing/2014/main" id="{FA464BE0-DDA7-05D9-AF11-EBA3B635D3A3}"/>
              </a:ext>
            </a:extLst>
          </p:cNvPr>
          <p:cNvGraphicFramePr>
            <a:graphicFrameLocks/>
          </p:cNvGraphicFramePr>
          <p:nvPr>
            <p:extLst>
              <p:ext uri="{D42A27DB-BD31-4B8C-83A1-F6EECF244321}">
                <p14:modId xmlns:p14="http://schemas.microsoft.com/office/powerpoint/2010/main" val="1331024341"/>
              </p:ext>
            </p:extLst>
          </p:nvPr>
        </p:nvGraphicFramePr>
        <p:xfrm>
          <a:off x="6864136" y="2051362"/>
          <a:ext cx="5093233" cy="360000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B2FB8DE7-3A1E-6F3F-996E-68B538FC7500}"/>
              </a:ext>
            </a:extLst>
          </p:cNvPr>
          <p:cNvSpPr/>
          <p:nvPr/>
        </p:nvSpPr>
        <p:spPr>
          <a:xfrm>
            <a:off x="6715280" y="1075606"/>
            <a:ext cx="5242089" cy="662489"/>
          </a:xfrm>
          <a:prstGeom prst="rect">
            <a:avLst/>
          </a:prstGeom>
        </p:spPr>
        <p:txBody>
          <a:bodyPr wrap="square">
            <a:spAutoFit/>
          </a:bodyPr>
          <a:lstStyle/>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Los datos de 2025 permiten afirmar que el mercado británico se ha reactivado con fuerza, recuperando su papel estratégico como uno de los principales emisores internacionales hacia Guardamar del Segura.</a:t>
            </a: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3815257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04886-9557-DF81-BDC8-9A321DF2130D}"/>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FD655A2-E1D2-14FD-D74B-48AE1981D41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20" name="Rectángulo 19">
            <a:extLst>
              <a:ext uri="{FF2B5EF4-FFF2-40B4-BE49-F238E27FC236}">
                <a16:creationId xmlns:a16="http://schemas.microsoft.com/office/drawing/2014/main" id="{C2A9CDA2-B0E9-FD77-A66A-76EC3642E5E9}"/>
              </a:ext>
            </a:extLst>
          </p:cNvPr>
          <p:cNvSpPr/>
          <p:nvPr/>
        </p:nvSpPr>
        <p:spPr>
          <a:xfrm>
            <a:off x="638668" y="1392995"/>
            <a:ext cx="447531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Evolución de la población flotante</a:t>
            </a:r>
          </a:p>
        </p:txBody>
      </p:sp>
      <p:sp>
        <p:nvSpPr>
          <p:cNvPr id="5" name="Rectángulo 4">
            <a:extLst>
              <a:ext uri="{FF2B5EF4-FFF2-40B4-BE49-F238E27FC236}">
                <a16:creationId xmlns:a16="http://schemas.microsoft.com/office/drawing/2014/main" id="{0EF2EB1A-7C17-6391-74D3-8929295E6FBD}"/>
              </a:ext>
            </a:extLst>
          </p:cNvPr>
          <p:cNvSpPr/>
          <p:nvPr/>
        </p:nvSpPr>
        <p:spPr>
          <a:xfrm>
            <a:off x="6300164" y="2515576"/>
            <a:ext cx="5372099" cy="273152"/>
          </a:xfrm>
          <a:prstGeom prst="rect">
            <a:avLst/>
          </a:prstGeom>
          <a:noFill/>
        </p:spPr>
        <p:txBody>
          <a:bodyPr wrap="square">
            <a:spAutoFit/>
          </a:bodyPr>
          <a:lstStyle/>
          <a:p>
            <a:pPr marL="15875" algn="ctr">
              <a:lnSpc>
                <a:spcPct val="115000"/>
              </a:lnSpc>
              <a:spcAft>
                <a:spcPts val="0"/>
              </a:spcAft>
              <a:buClr>
                <a:srgbClr val="00325C"/>
              </a:buClr>
              <a:buSzPct val="100000"/>
            </a:pPr>
            <a:r>
              <a:rPr lang="es-ES" sz="1100" b="1" kern="0">
                <a:solidFill>
                  <a:schemeClr val="bg1"/>
                </a:solidFill>
                <a:highlight>
                  <a:srgbClr val="E62C43"/>
                </a:highlight>
                <a:latin typeface="Montserrat SemiBold" pitchFamily="2" charset="77"/>
                <a:cs typeface="Times New Roman" panose="02020603050405020304" pitchFamily="18" charset="0"/>
              </a:rPr>
              <a:t> Población flotante </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000000"/>
                </a:highlight>
                <a:latin typeface="Montserrat SemiBold" pitchFamily="2" charset="77"/>
                <a:cs typeface="Times New Roman" panose="02020603050405020304" pitchFamily="18" charset="0"/>
              </a:rPr>
              <a:t>Población residente  </a:t>
            </a:r>
            <a:endParaRPr lang="es-ES" sz="1100" b="1" kern="0">
              <a:solidFill>
                <a:srgbClr val="76B463"/>
              </a:solidFill>
              <a:highlight>
                <a:srgbClr val="000000"/>
              </a:highlight>
              <a:latin typeface="Montserrat" pitchFamily="2" charset="77"/>
              <a:cs typeface="Times New Roman" panose="02020603050405020304" pitchFamily="18" charset="0"/>
            </a:endParaRPr>
          </a:p>
        </p:txBody>
      </p:sp>
      <p:sp>
        <p:nvSpPr>
          <p:cNvPr id="6" name="Rectángulo 5">
            <a:extLst>
              <a:ext uri="{FF2B5EF4-FFF2-40B4-BE49-F238E27FC236}">
                <a16:creationId xmlns:a16="http://schemas.microsoft.com/office/drawing/2014/main" id="{6BA74240-3F7C-7265-62F6-FD5B769D1240}"/>
              </a:ext>
            </a:extLst>
          </p:cNvPr>
          <p:cNvSpPr/>
          <p:nvPr/>
        </p:nvSpPr>
        <p:spPr>
          <a:xfrm>
            <a:off x="638668" y="2349416"/>
            <a:ext cx="4928755" cy="3139321"/>
          </a:xfrm>
          <a:prstGeom prst="rect">
            <a:avLst/>
          </a:prstGeom>
        </p:spPr>
        <p:txBody>
          <a:bodyPr wrap="square">
            <a:spAutoFit/>
          </a:bodyPr>
          <a:lstStyle/>
          <a:p>
            <a:pPr algn="just"/>
            <a:r>
              <a:rPr lang="es-ES" sz="1100" kern="0">
                <a:solidFill>
                  <a:schemeClr val="tx1">
                    <a:lumMod val="75000"/>
                    <a:lumOff val="25000"/>
                  </a:schemeClr>
                </a:solidFill>
                <a:latin typeface="Montserrat" pitchFamily="2" charset="77"/>
                <a:cs typeface="Times New Roman" panose="02020603050405020304" pitchFamily="18" charset="0"/>
              </a:rPr>
              <a:t>Entre 2023 y 2024, la población flotante en Guardamar del Segura desciende ligeramente, pasando de 60.616 personas en 2023 a 56.539 en 2024, mientras que la población residente aumenta de 24.672 a 30.650 personas. En 2025, la población flotante vuelve a incrementarse hasta 58.375 personas, mientras que la residente desciende hasta 22.913, reforzando nuevamente el peso relativo de la población no residente en el municipio.</a:t>
            </a:r>
          </a:p>
          <a:p>
            <a:pPr algn="just"/>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r>
              <a:rPr lang="es-ES" sz="1100" kern="0">
                <a:solidFill>
                  <a:schemeClr val="tx1">
                    <a:lumMod val="75000"/>
                    <a:lumOff val="25000"/>
                  </a:schemeClr>
                </a:solidFill>
                <a:latin typeface="Montserrat" pitchFamily="2" charset="77"/>
                <a:cs typeface="Times New Roman" panose="02020603050405020304" pitchFamily="18" charset="0"/>
              </a:rPr>
              <a:t>En los tres años analizados, la población flotante se sitúa por encima de la población residente estimada en estas fuentes, lo que refleja la elevada intensidad turística del municipio y el peso de la población no residente en determinados periodos del año.</a:t>
            </a:r>
          </a:p>
          <a:p>
            <a:pPr algn="just"/>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r>
              <a:rPr lang="es-ES" sz="1100" kern="0">
                <a:solidFill>
                  <a:schemeClr val="tx1">
                    <a:lumMod val="75000"/>
                    <a:lumOff val="25000"/>
                  </a:schemeClr>
                </a:solidFill>
                <a:latin typeface="Montserrat" pitchFamily="2" charset="77"/>
                <a:cs typeface="Times New Roman" panose="02020603050405020304" pitchFamily="18" charset="0"/>
              </a:rPr>
              <a:t>Este comportamiento pone de relieve la relevancia de incorporar indicadores de población flotante en la planificación turística y territorial del destino, permitiendo anticipar los periodos de mayor intensidad de uso del municipio y orientar estrategias para una gestión cada vez más sostenible.</a:t>
            </a:r>
          </a:p>
        </p:txBody>
      </p:sp>
      <p:sp>
        <p:nvSpPr>
          <p:cNvPr id="7" name="Rectángulo 6">
            <a:extLst>
              <a:ext uri="{FF2B5EF4-FFF2-40B4-BE49-F238E27FC236}">
                <a16:creationId xmlns:a16="http://schemas.microsoft.com/office/drawing/2014/main" id="{4F982979-BA2B-0950-5FE7-B25C7975AFD2}"/>
              </a:ext>
            </a:extLst>
          </p:cNvPr>
          <p:cNvSpPr/>
          <p:nvPr/>
        </p:nvSpPr>
        <p:spPr>
          <a:xfrm>
            <a:off x="657677" y="5465005"/>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graphicFrame>
        <p:nvGraphicFramePr>
          <p:cNvPr id="3" name="Gráfico 2">
            <a:extLst>
              <a:ext uri="{FF2B5EF4-FFF2-40B4-BE49-F238E27FC236}">
                <a16:creationId xmlns:a16="http://schemas.microsoft.com/office/drawing/2014/main" id="{AD8B7A57-27AB-7D00-054B-C855437EDAC9}"/>
              </a:ext>
            </a:extLst>
          </p:cNvPr>
          <p:cNvGraphicFramePr>
            <a:graphicFrameLocks/>
          </p:cNvGraphicFramePr>
          <p:nvPr>
            <p:extLst>
              <p:ext uri="{D42A27DB-BD31-4B8C-83A1-F6EECF244321}">
                <p14:modId xmlns:p14="http://schemas.microsoft.com/office/powerpoint/2010/main" val="3691758813"/>
              </p:ext>
            </p:extLst>
          </p:nvPr>
        </p:nvGraphicFramePr>
        <p:xfrm>
          <a:off x="6096000" y="2894228"/>
          <a:ext cx="5780429" cy="3176084"/>
        </p:xfrm>
        <a:graphic>
          <a:graphicData uri="http://schemas.openxmlformats.org/drawingml/2006/chart">
            <c:chart xmlns:c="http://schemas.openxmlformats.org/drawingml/2006/chart" xmlns:r="http://schemas.openxmlformats.org/officeDocument/2006/relationships" r:id="rId2"/>
          </a:graphicData>
        </a:graphic>
      </p:graphicFrame>
      <p:sp>
        <p:nvSpPr>
          <p:cNvPr id="8" name="CuadroTexto 7">
            <a:extLst>
              <a:ext uri="{FF2B5EF4-FFF2-40B4-BE49-F238E27FC236}">
                <a16:creationId xmlns:a16="http://schemas.microsoft.com/office/drawing/2014/main" id="{135151ED-0732-C568-E77A-E35A1B0BD94D}"/>
              </a:ext>
            </a:extLst>
          </p:cNvPr>
          <p:cNvSpPr txBox="1"/>
          <p:nvPr/>
        </p:nvSpPr>
        <p:spPr>
          <a:xfrm>
            <a:off x="6300164" y="1179484"/>
            <a:ext cx="5587878" cy="1107996"/>
          </a:xfrm>
          <a:prstGeom prst="rect">
            <a:avLst/>
          </a:prstGeom>
          <a:noFill/>
        </p:spPr>
        <p:txBody>
          <a:bodyPr wrap="square">
            <a:spAutoFit/>
          </a:bodyPr>
          <a:lstStyle/>
          <a:p>
            <a:pPr algn="just"/>
            <a:r>
              <a:rPr lang="es-ES" sz="1100" kern="0">
                <a:solidFill>
                  <a:schemeClr val="tx1">
                    <a:lumMod val="75000"/>
                    <a:lumOff val="25000"/>
                  </a:schemeClr>
                </a:solidFill>
                <a:latin typeface="Montserrat" pitchFamily="2" charset="77"/>
                <a:cs typeface="Times New Roman" panose="02020603050405020304" pitchFamily="18" charset="0"/>
              </a:rPr>
              <a:t>Conviene señalar que estos datos proceden de estimaciones elaboradas a partir de fuentes de movilidad y presencia territorial (Smart </a:t>
            </a:r>
            <a:r>
              <a:rPr lang="es-ES" sz="1100" kern="0" err="1">
                <a:solidFill>
                  <a:schemeClr val="tx1">
                    <a:lumMod val="75000"/>
                    <a:lumOff val="25000"/>
                  </a:schemeClr>
                </a:solidFill>
                <a:latin typeface="Montserrat" pitchFamily="2" charset="77"/>
                <a:cs typeface="Times New Roman" panose="02020603050405020304" pitchFamily="18" charset="0"/>
              </a:rPr>
              <a:t>Tourism</a:t>
            </a:r>
            <a:r>
              <a:rPr lang="es-ES" sz="1100" kern="0">
                <a:solidFill>
                  <a:schemeClr val="tx1">
                    <a:lumMod val="75000"/>
                    <a:lumOff val="25000"/>
                  </a:schemeClr>
                </a:solidFill>
                <a:latin typeface="Montserrat" pitchFamily="2" charset="77"/>
                <a:cs typeface="Times New Roman" panose="02020603050405020304" pitchFamily="18" charset="0"/>
              </a:rPr>
              <a:t> CV), que miden población efectiva o presente en el municipio. Las cifras pueden diferir de las registradas en el padrón municipal del INE al tratarse de indicadores construidos con metodologías distintas y finalidades diferentes (población empadronada frente a población efectiva o estimada).</a:t>
            </a:r>
          </a:p>
        </p:txBody>
      </p:sp>
    </p:spTree>
    <p:extLst>
      <p:ext uri="{BB962C8B-B14F-4D97-AF65-F5344CB8AC3E}">
        <p14:creationId xmlns:p14="http://schemas.microsoft.com/office/powerpoint/2010/main" val="1142100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73BA-EBE7-7D41-D936-DCC0883FAD6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B7F1423-8C36-A0CE-F6C4-A48DC8C1229E}"/>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20" name="Rectángulo 19">
            <a:extLst>
              <a:ext uri="{FF2B5EF4-FFF2-40B4-BE49-F238E27FC236}">
                <a16:creationId xmlns:a16="http://schemas.microsoft.com/office/drawing/2014/main" id="{7EE4803A-3646-7DA0-1329-B771F2A4CE72}"/>
              </a:ext>
            </a:extLst>
          </p:cNvPr>
          <p:cNvSpPr/>
          <p:nvPr/>
        </p:nvSpPr>
        <p:spPr>
          <a:xfrm>
            <a:off x="638668" y="1392995"/>
            <a:ext cx="447531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Evolución de la población flotante</a:t>
            </a:r>
          </a:p>
        </p:txBody>
      </p:sp>
      <p:sp>
        <p:nvSpPr>
          <p:cNvPr id="6" name="Rectángulo 5">
            <a:extLst>
              <a:ext uri="{FF2B5EF4-FFF2-40B4-BE49-F238E27FC236}">
                <a16:creationId xmlns:a16="http://schemas.microsoft.com/office/drawing/2014/main" id="{8DA9BA3C-F06F-19A8-0A80-55F7AB95C702}"/>
              </a:ext>
            </a:extLst>
          </p:cNvPr>
          <p:cNvSpPr/>
          <p:nvPr/>
        </p:nvSpPr>
        <p:spPr>
          <a:xfrm>
            <a:off x="638668" y="2330169"/>
            <a:ext cx="4928755" cy="3256276"/>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AD0407"/>
                </a:solidFill>
                <a:latin typeface="Montserrat SemiBold" pitchFamily="2" charset="77"/>
                <a:cs typeface="Times New Roman" panose="02020603050405020304" pitchFamily="18" charset="0"/>
              </a:rPr>
              <a:t>Desglose mensual</a:t>
            </a:r>
          </a:p>
          <a:p>
            <a:pPr marL="15875">
              <a:lnSpc>
                <a:spcPct val="115000"/>
              </a:lnSpc>
              <a:spcAft>
                <a:spcPts val="0"/>
              </a:spcAft>
              <a:buClr>
                <a:srgbClr val="00325C"/>
              </a:buClr>
              <a:buSzPct val="100000"/>
            </a:pPr>
            <a:endParaRPr lang="es-ES" sz="1200" b="1" kern="0">
              <a:solidFill>
                <a:srgbClr val="AD0407"/>
              </a:solidFill>
              <a:latin typeface="Montserrat SemiBold" pitchFamily="2" charset="77"/>
              <a:cs typeface="Times New Roman" panose="02020603050405020304" pitchFamily="18" charset="0"/>
            </a:endParaRPr>
          </a:p>
          <a:p>
            <a:pPr algn="just"/>
            <a:r>
              <a:rPr lang="es-ES" sz="1100" kern="0">
                <a:solidFill>
                  <a:schemeClr val="tx1">
                    <a:lumMod val="75000"/>
                    <a:lumOff val="25000"/>
                  </a:schemeClr>
                </a:solidFill>
                <a:latin typeface="Montserrat" pitchFamily="2" charset="77"/>
                <a:cs typeface="Times New Roman" panose="02020603050405020304" pitchFamily="18" charset="0"/>
              </a:rPr>
              <a:t>Entre</a:t>
            </a:r>
            <a:r>
              <a:rPr lang="es-ES" sz="1200" kern="0">
                <a:solidFill>
                  <a:schemeClr val="tx1">
                    <a:lumMod val="75000"/>
                    <a:lumOff val="25000"/>
                  </a:schemeClr>
                </a:solidFill>
                <a:latin typeface="Montserrat" pitchFamily="2" charset="77"/>
                <a:cs typeface="Times New Roman" panose="02020603050405020304" pitchFamily="18" charset="0"/>
              </a:rPr>
              <a:t> enero y diciembre de</a:t>
            </a:r>
            <a:r>
              <a:rPr lang="es-ES" sz="1100">
                <a:solidFill>
                  <a:schemeClr val="tx1">
                    <a:lumMod val="75000"/>
                    <a:lumOff val="25000"/>
                  </a:schemeClr>
                </a:solidFill>
                <a:latin typeface="Montserrat" panose="00000500000000000000" pitchFamily="2" charset="0"/>
              </a:rPr>
              <a:t> 2025, la población flotante de Guardamar del Segura muestra un patrón estacional claramente definido, con un crecimiento progresivo desde los primeros meses del año, pasando de 20.262 personas en enero a superar a la población residente a partir de junio (35.934).</a:t>
            </a:r>
          </a:p>
          <a:p>
            <a:pPr algn="just"/>
            <a:endParaRPr lang="es-ES" sz="1100">
              <a:solidFill>
                <a:schemeClr val="tx1">
                  <a:lumMod val="75000"/>
                  <a:lumOff val="25000"/>
                </a:schemeClr>
              </a:solidFill>
              <a:latin typeface="Montserrat" panose="00000500000000000000" pitchFamily="2" charset="0"/>
            </a:endParaRPr>
          </a:p>
          <a:p>
            <a:pPr algn="just"/>
            <a:r>
              <a:rPr lang="es-ES" sz="1100">
                <a:solidFill>
                  <a:schemeClr val="tx1">
                    <a:lumMod val="75000"/>
                    <a:lumOff val="25000"/>
                  </a:schemeClr>
                </a:solidFill>
                <a:latin typeface="Montserrat" panose="00000500000000000000" pitchFamily="2" charset="0"/>
              </a:rPr>
              <a:t>Los máximos se concentran en julio y agosto, cuando la población flotante alcanza 49.847 y 57.858 personas, respectivamente, situándose muy por encima de la población residente y reflejando el pico de intensidad turística del verano.</a:t>
            </a:r>
          </a:p>
          <a:p>
            <a:pPr algn="just"/>
            <a:endParaRPr lang="es-ES" sz="1100">
              <a:solidFill>
                <a:schemeClr val="tx1">
                  <a:lumMod val="75000"/>
                  <a:lumOff val="25000"/>
                </a:schemeClr>
              </a:solidFill>
              <a:latin typeface="Montserrat" panose="00000500000000000000" pitchFamily="2" charset="0"/>
            </a:endParaRPr>
          </a:p>
          <a:p>
            <a:pPr algn="just"/>
            <a:r>
              <a:rPr lang="es-ES" sz="1100">
                <a:solidFill>
                  <a:schemeClr val="tx1">
                    <a:lumMod val="75000"/>
                    <a:lumOff val="25000"/>
                  </a:schemeClr>
                </a:solidFill>
                <a:latin typeface="Montserrat" panose="00000500000000000000" pitchFamily="2" charset="0"/>
              </a:rPr>
              <a:t>A partir de septiembre, los valores descienden de forma progresiva, volviendo a situarse por debajo de la población residente en otoño e invierno. del año. Este comportamiento confirma una fuerte concentración estival de la población no residente.</a:t>
            </a:r>
          </a:p>
          <a:p>
            <a:endParaRPr lang="es-ES" sz="1200" kern="0">
              <a:solidFill>
                <a:schemeClr val="tx1">
                  <a:lumMod val="75000"/>
                  <a:lumOff val="25000"/>
                </a:schemeClr>
              </a:solidFill>
              <a:highlight>
                <a:srgbClr val="FFFF00"/>
              </a:highlight>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7F1C5E29-2A09-A9FD-FE7D-DBF8B9942E6A}"/>
              </a:ext>
            </a:extLst>
          </p:cNvPr>
          <p:cNvGraphicFramePr>
            <a:graphicFrameLocks/>
          </p:cNvGraphicFramePr>
          <p:nvPr>
            <p:extLst>
              <p:ext uri="{D42A27DB-BD31-4B8C-83A1-F6EECF244321}">
                <p14:modId xmlns:p14="http://schemas.microsoft.com/office/powerpoint/2010/main" val="46490890"/>
              </p:ext>
            </p:extLst>
          </p:nvPr>
        </p:nvGraphicFramePr>
        <p:xfrm>
          <a:off x="6096000" y="1075606"/>
          <a:ext cx="5580000" cy="496800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84B7D166-24A5-F125-B0AB-CC57F315D48B}"/>
              </a:ext>
            </a:extLst>
          </p:cNvPr>
          <p:cNvSpPr/>
          <p:nvPr/>
        </p:nvSpPr>
        <p:spPr>
          <a:xfrm>
            <a:off x="675648" y="5405179"/>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700427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70CDAAA-E423-4241-B0DB-04E6C5AC5E0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69982C3D-B931-114F-A527-E7F3B6610129}"/>
              </a:ext>
            </a:extLst>
          </p:cNvPr>
          <p:cNvSpPr/>
          <p:nvPr/>
        </p:nvSpPr>
        <p:spPr>
          <a:xfrm>
            <a:off x="638668" y="1392995"/>
            <a:ext cx="7139240" cy="512897"/>
          </a:xfrm>
          <a:prstGeom prst="rect">
            <a:avLst/>
          </a:prstGeom>
        </p:spPr>
        <p:txBody>
          <a:bodyPr wrap="square">
            <a:spAutoFit/>
          </a:bodyPr>
          <a:lstStyle/>
          <a:p>
            <a:pPr>
              <a:lnSpc>
                <a:spcPts val="3200"/>
              </a:lnSpc>
            </a:pPr>
            <a:r>
              <a:rPr lang="es-ES" sz="300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E5585DDF-1162-364C-93D6-09AB71A7B6BE}"/>
              </a:ext>
            </a:extLst>
          </p:cNvPr>
          <p:cNvSpPr/>
          <p:nvPr/>
        </p:nvSpPr>
        <p:spPr>
          <a:xfrm>
            <a:off x="638669" y="2020610"/>
            <a:ext cx="5261810" cy="2940613"/>
          </a:xfrm>
          <a:prstGeom prst="rect">
            <a:avLst/>
          </a:prstGeom>
        </p:spPr>
        <p:txBody>
          <a:bodyPr wrap="square">
            <a:spAutoFit/>
          </a:bodyPr>
          <a:lstStyle/>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Ajuste de la afluencia total tras el máximo de 2023</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Tras alcanzar el punto más alto de la serie en 2023, el destino experimenta un descenso más acusado en 2024 y una corrección de menor intensidad en 2025, situándose en 236.580 turistas. La variación se explica principalmente por el descenso del mercado nacional.</a:t>
            </a:r>
          </a:p>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Recuperación sólida del mercado internacional</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El turismo internacional crece con fuerza en 2025 (29,24%), compensando parcialmente la caída del turismo interno y reforzando su papel como uno de los principales motores de la demanda turística del destino. Destaca especialmente el mercado británico, que recupera niveles próximos a su máximo histórico tras el descenso puntual de 2024.</a:t>
            </a:r>
          </a:p>
        </p:txBody>
      </p:sp>
      <p:sp>
        <p:nvSpPr>
          <p:cNvPr id="11" name="Rectángulo 10">
            <a:extLst>
              <a:ext uri="{FF2B5EF4-FFF2-40B4-BE49-F238E27FC236}">
                <a16:creationId xmlns:a16="http://schemas.microsoft.com/office/drawing/2014/main" id="{0B5F7BD0-6DBF-5447-8B94-BC6D8E119919}"/>
              </a:ext>
            </a:extLst>
          </p:cNvPr>
          <p:cNvSpPr/>
          <p:nvPr/>
        </p:nvSpPr>
        <p:spPr>
          <a:xfrm>
            <a:off x="6291521" y="2020610"/>
            <a:ext cx="5261810" cy="4317400"/>
          </a:xfrm>
          <a:prstGeom prst="rect">
            <a:avLst/>
          </a:prstGeom>
        </p:spPr>
        <p:txBody>
          <a:bodyPr wrap="square">
            <a:spAutoFit/>
          </a:bodyPr>
          <a:lstStyle/>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Dependencia del mercado madrileño en el turismo nacional</a:t>
            </a:r>
            <a:br>
              <a:rPr lang="es-ES" sz="1200" b="1" kern="0">
                <a:solidFill>
                  <a:schemeClr val="bg1"/>
                </a:solidFill>
                <a:latin typeface="Montserrat SemiBold" pitchFamily="2" charset="77"/>
                <a:cs typeface="Times New Roman" panose="02020603050405020304" pitchFamily="18" charset="0"/>
              </a:rPr>
            </a:br>
            <a:r>
              <a:rPr lang="es-ES" sz="1200" kern="0">
                <a:solidFill>
                  <a:schemeClr val="bg1"/>
                </a:solidFill>
                <a:latin typeface="Montserrat SemiBold" pitchFamily="2" charset="77"/>
                <a:cs typeface="Times New Roman" panose="02020603050405020304" pitchFamily="18" charset="0"/>
              </a:rPr>
              <a:t>Madrid continúa siendo el principal emisor nacional, aunque registra una caída significativa en 2025 (-27,27%), condicionando la evolución global del turismo interno. Solo Albacete presenta crecimiento entre los principales mercados nacionales.</a:t>
            </a:r>
          </a:p>
          <a:p>
            <a:pPr marL="185738" lvl="0" indent="-185738">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Estacionalidad elevada con comportamientos diferenciados por mercado</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El turismo nacional mantiene una fuerte concentración estival, mientras que el mercado internacional presenta una distribución más equilibrada a lo largo del año, contribuyendo a suavizar parcialmente la curva anual.</a:t>
            </a:r>
          </a:p>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Incremento de la presión estacional en 2025</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En los meses de verano, la población flotante supera claramente a la residente, alcanzando máximos en julio y agosto (49.847 y 57.858 personas). Este comportamiento evidencia la elevada intensidad de uso del destino en temporada alta y refuerza la importancia de una planificación turística y territorial adaptada a los picos de demanda.</a:t>
            </a:r>
          </a:p>
        </p:txBody>
      </p:sp>
    </p:spTree>
    <p:extLst>
      <p:ext uri="{BB962C8B-B14F-4D97-AF65-F5344CB8AC3E}">
        <p14:creationId xmlns:p14="http://schemas.microsoft.com/office/powerpoint/2010/main" val="2119977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BCF689F-2CE8-BE49-9F6A-A5E2C1489191}"/>
              </a:ext>
            </a:extLst>
          </p:cNvPr>
          <p:cNvSpPr/>
          <p:nvPr/>
        </p:nvSpPr>
        <p:spPr>
          <a:xfrm>
            <a:off x="7535538"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02</a:t>
            </a:r>
            <a:endParaRPr lang="es-ES" sz="30000">
              <a:solidFill>
                <a:schemeClr val="bg2"/>
              </a:solidFill>
              <a:latin typeface="DM Serif Display" pitchFamily="2" charset="0"/>
            </a:endParaRPr>
          </a:p>
        </p:txBody>
      </p:sp>
      <p:sp>
        <p:nvSpPr>
          <p:cNvPr id="2" name="Rectángulo 1">
            <a:extLst>
              <a:ext uri="{FF2B5EF4-FFF2-40B4-BE49-F238E27FC236}">
                <a16:creationId xmlns:a16="http://schemas.microsoft.com/office/drawing/2014/main" id="{E1AAF08B-AB44-6547-891C-337A413BF743}"/>
              </a:ext>
            </a:extLst>
          </p:cNvPr>
          <p:cNvSpPr/>
          <p:nvPr/>
        </p:nvSpPr>
        <p:spPr>
          <a:xfrm>
            <a:off x="629084" y="1390653"/>
            <a:ext cx="3157104" cy="1185324"/>
          </a:xfrm>
          <a:prstGeom prst="rect">
            <a:avLst/>
          </a:prstGeom>
        </p:spPr>
        <p:txBody>
          <a:bodyPr wrap="square">
            <a:spAutoFit/>
          </a:bodyPr>
          <a:lstStyle/>
          <a:p>
            <a:pPr>
              <a:lnSpc>
                <a:spcPts val="42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Gasto turístico</a:t>
            </a:r>
            <a:endParaRPr lang="es-ES" sz="4000">
              <a:solidFill>
                <a:schemeClr val="tx1">
                  <a:lumMod val="85000"/>
                  <a:lumOff val="15000"/>
                </a:schemeClr>
              </a:solidFill>
              <a:latin typeface="DM Serif Display" pitchFamily="2" charset="0"/>
            </a:endParaRPr>
          </a:p>
        </p:txBody>
      </p:sp>
      <p:pic>
        <p:nvPicPr>
          <p:cNvPr id="8" name="Imagen 7">
            <a:extLst>
              <a:ext uri="{FF2B5EF4-FFF2-40B4-BE49-F238E27FC236}">
                <a16:creationId xmlns:a16="http://schemas.microsoft.com/office/drawing/2014/main" id="{79123888-33DE-6F4C-BBFA-CEE470E96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44" y="3443427"/>
            <a:ext cx="12339018" cy="3445670"/>
          </a:xfrm>
          <a:prstGeom prst="rect">
            <a:avLst/>
          </a:prstGeom>
        </p:spPr>
      </p:pic>
      <p:pic>
        <p:nvPicPr>
          <p:cNvPr id="11" name="Imagen 10">
            <a:extLst>
              <a:ext uri="{FF2B5EF4-FFF2-40B4-BE49-F238E27FC236}">
                <a16:creationId xmlns:a16="http://schemas.microsoft.com/office/drawing/2014/main" id="{186F85B8-CDF7-364E-B53F-7E0AA455358B}"/>
              </a:ext>
            </a:extLst>
          </p:cNvPr>
          <p:cNvPicPr>
            <a:picLocks noChangeAspect="1"/>
          </p:cNvPicPr>
          <p:nvPr/>
        </p:nvPicPr>
        <p:blipFill>
          <a:blip r:embed="rId3"/>
          <a:stretch>
            <a:fillRect/>
          </a:stretch>
        </p:blipFill>
        <p:spPr>
          <a:xfrm>
            <a:off x="686969" y="6124651"/>
            <a:ext cx="959505" cy="295562"/>
          </a:xfrm>
          <a:prstGeom prst="rect">
            <a:avLst/>
          </a:prstGeom>
        </p:spPr>
      </p:pic>
      <p:pic>
        <p:nvPicPr>
          <p:cNvPr id="12" name="Imagen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7777" y="5754856"/>
            <a:ext cx="1035151" cy="1035151"/>
          </a:xfrm>
          <a:prstGeom prst="rect">
            <a:avLst/>
          </a:prstGeom>
        </p:spPr>
      </p:pic>
      <p:sp>
        <p:nvSpPr>
          <p:cNvPr id="4" name="Rectángulo 3">
            <a:extLst>
              <a:ext uri="{FF2B5EF4-FFF2-40B4-BE49-F238E27FC236}">
                <a16:creationId xmlns:a16="http://schemas.microsoft.com/office/drawing/2014/main" id="{8B80B99E-2294-96A5-718B-A5B581FD4DD8}"/>
              </a:ext>
            </a:extLst>
          </p:cNvPr>
          <p:cNvSpPr/>
          <p:nvPr/>
        </p:nvSpPr>
        <p:spPr>
          <a:xfrm>
            <a:off x="437957" y="3622439"/>
            <a:ext cx="5261810" cy="1444434"/>
          </a:xfrm>
          <a:prstGeom prst="rect">
            <a:avLst/>
          </a:prstGeom>
        </p:spPr>
        <p:txBody>
          <a:bodyPr wrap="square">
            <a:spAutoFit/>
          </a:bodyPr>
          <a:lstStyle/>
          <a:p>
            <a:pPr algn="just">
              <a:lnSpc>
                <a:spcPct val="115000"/>
              </a:lnSpc>
              <a:spcAft>
                <a:spcPts val="0"/>
              </a:spcAft>
            </a:pPr>
            <a:r>
              <a:rPr lang="es-ES" sz="1100" kern="0">
                <a:solidFill>
                  <a:schemeClr val="bg1"/>
                </a:solidFill>
                <a:latin typeface="Montserrat" pitchFamily="2" charset="77"/>
                <a:ea typeface="Times New Roman" panose="02020603050405020304" pitchFamily="18" charset="0"/>
                <a:cs typeface="Times New Roman" panose="02020603050405020304" pitchFamily="18" charset="0"/>
              </a:rPr>
              <a:t>Durante 2025, el turismo en Guardamar del Segura genera una contribución económica relevante al tejido económico local, con un gasto medio por compra de 32,7€ y un gasto medio por persona de 194,90€ a lo largo de su estancia. Estos valores reflejan un patrón de consumo recurrente, en el que los visitantes realizan múltiples transacciones durante su visita, distribuyendo el gasto entre restauración, comercio y actividades de ocio.</a:t>
            </a:r>
            <a:endParaRPr lang="es-ES" sz="1100" kern="100">
              <a:solidFill>
                <a:schemeClr val="bg1"/>
              </a:solidFill>
              <a:effectLst/>
              <a:latin typeface="Aptos"/>
              <a:ea typeface="Times New Roman" panose="02020603050405020304" pitchFamily="18" charset="0"/>
              <a:cs typeface="Times New Roman" panose="02020603050405020304" pitchFamily="18" charset="0"/>
            </a:endParaRPr>
          </a:p>
        </p:txBody>
      </p:sp>
      <p:sp>
        <p:nvSpPr>
          <p:cNvPr id="5" name="Rectángulo 4">
            <a:extLst>
              <a:ext uri="{FF2B5EF4-FFF2-40B4-BE49-F238E27FC236}">
                <a16:creationId xmlns:a16="http://schemas.microsoft.com/office/drawing/2014/main" id="{422B0280-A1EF-B0D9-F53C-88FB9C3AB8BC}"/>
              </a:ext>
            </a:extLst>
          </p:cNvPr>
          <p:cNvSpPr/>
          <p:nvPr/>
        </p:nvSpPr>
        <p:spPr>
          <a:xfrm>
            <a:off x="6211233" y="3593614"/>
            <a:ext cx="5261810" cy="1249766"/>
          </a:xfrm>
          <a:prstGeom prst="rect">
            <a:avLst/>
          </a:prstGeom>
        </p:spPr>
        <p:txBody>
          <a:bodyPr wrap="square">
            <a:spAutoFit/>
          </a:bodyPr>
          <a:lstStyle/>
          <a:p>
            <a:pPr algn="just">
              <a:lnSpc>
                <a:spcPct val="115000"/>
              </a:lnSpc>
              <a:spcAft>
                <a:spcPts val="0"/>
              </a:spcAft>
            </a:pPr>
            <a:r>
              <a:rPr lang="es-ES" sz="1100" kern="0">
                <a:solidFill>
                  <a:schemeClr val="bg1"/>
                </a:solidFill>
                <a:latin typeface="Montserrat" pitchFamily="2" charset="77"/>
                <a:ea typeface="Times New Roman" panose="02020603050405020304" pitchFamily="18" charset="0"/>
                <a:cs typeface="Times New Roman" panose="02020603050405020304" pitchFamily="18" charset="0"/>
              </a:rPr>
              <a:t>En este bloque se analiza la estructura del gasto turístico en el destino, atendiendo tanto al nivel de gasto por visitante como a las diferencias según el origen del turista. Los datos permiten identificar comportamientos de consumo diferenciados entre mercados emisores, así como oportunidades para orientar la estrategia turística hacia segmentos con mayor capacidad de gasto y valor añadido.</a:t>
            </a:r>
            <a:endParaRPr lang="es-ES" sz="1100" kern="100">
              <a:solidFill>
                <a:schemeClr val="bg1"/>
              </a:solidFill>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302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redondeado 3">
            <a:extLst>
              <a:ext uri="{FF2B5EF4-FFF2-40B4-BE49-F238E27FC236}">
                <a16:creationId xmlns:a16="http://schemas.microsoft.com/office/drawing/2014/main" id="{2D149263-FB8C-5B4C-8A8F-D13F40D71EB8}"/>
              </a:ext>
            </a:extLst>
          </p:cNvPr>
          <p:cNvSpPr/>
          <p:nvPr/>
        </p:nvSpPr>
        <p:spPr>
          <a:xfrm>
            <a:off x="6095999" y="1310762"/>
            <a:ext cx="5364163" cy="1005499"/>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redondeado 18">
            <a:extLst>
              <a:ext uri="{FF2B5EF4-FFF2-40B4-BE49-F238E27FC236}">
                <a16:creationId xmlns:a16="http://schemas.microsoft.com/office/drawing/2014/main" id="{BA6523F9-A172-4A4D-A9B9-774AD189D6AB}"/>
              </a:ext>
            </a:extLst>
          </p:cNvPr>
          <p:cNvSpPr/>
          <p:nvPr/>
        </p:nvSpPr>
        <p:spPr>
          <a:xfrm>
            <a:off x="6095998" y="2764446"/>
            <a:ext cx="5364163" cy="1068685"/>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Gasto medio por ticket / Gasto medio por persona</a:t>
            </a:r>
          </a:p>
        </p:txBody>
      </p:sp>
      <p:sp>
        <p:nvSpPr>
          <p:cNvPr id="12" name="Rectángulo 11">
            <a:extLst>
              <a:ext uri="{FF2B5EF4-FFF2-40B4-BE49-F238E27FC236}">
                <a16:creationId xmlns:a16="http://schemas.microsoft.com/office/drawing/2014/main" id="{51C9942B-0A87-DD42-BC8A-4FE73ECEC448}"/>
              </a:ext>
            </a:extLst>
          </p:cNvPr>
          <p:cNvSpPr/>
          <p:nvPr/>
        </p:nvSpPr>
        <p:spPr>
          <a:xfrm>
            <a:off x="638668" y="2534362"/>
            <a:ext cx="4928755" cy="2948436"/>
          </a:xfrm>
          <a:prstGeom prst="rect">
            <a:avLst/>
          </a:prstGeom>
        </p:spPr>
        <p:txBody>
          <a:bodyPr wrap="square">
            <a:spAutoFit/>
          </a:bodyPr>
          <a:lstStyle/>
          <a:p>
            <a:pPr algn="just">
              <a:lnSpc>
                <a:spcPts val="1600"/>
              </a:lnSpc>
            </a:pPr>
            <a:r>
              <a:rPr lang="es-ES" sz="1100" kern="0">
                <a:solidFill>
                  <a:schemeClr val="tx1">
                    <a:lumMod val="75000"/>
                    <a:lumOff val="25000"/>
                  </a:schemeClr>
                </a:solidFill>
                <a:latin typeface="Montserrat" pitchFamily="2" charset="77"/>
                <a:cs typeface="Times New Roman" panose="02020603050405020304" pitchFamily="18" charset="0"/>
              </a:rPr>
              <a:t>El análisis de consumo del año 2025 muestra que el gasto medio por compra en Guardamar del Segura se sitúa en 39,2 €, mientras que el gasto medio por persona a lo largo de su estancia alcanza los 194,90 €.</a:t>
            </a:r>
          </a:p>
          <a:p>
            <a:pPr algn="just">
              <a:lnSpc>
                <a:spcPts val="1600"/>
              </a:lnSpc>
            </a:pPr>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lnSpc>
                <a:spcPts val="1600"/>
              </a:lnSpc>
            </a:pPr>
            <a:r>
              <a:rPr lang="es-ES" sz="1100" kern="0">
                <a:solidFill>
                  <a:schemeClr val="tx1">
                    <a:lumMod val="75000"/>
                    <a:lumOff val="25000"/>
                  </a:schemeClr>
                </a:solidFill>
                <a:latin typeface="Montserrat" pitchFamily="2" charset="77"/>
                <a:cs typeface="Times New Roman" panose="02020603050405020304" pitchFamily="18" charset="0"/>
              </a:rPr>
              <a:t>La relación entre ambos indicadores evidencia un patrón de consumo recurrente, en el que cada visitante realiza varias transacciones durante su estancia, generando un impacto económico distribuido.</a:t>
            </a:r>
          </a:p>
          <a:p>
            <a:pPr algn="just">
              <a:lnSpc>
                <a:spcPts val="1600"/>
              </a:lnSpc>
            </a:pPr>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lnSpc>
                <a:spcPts val="1600"/>
              </a:lnSpc>
            </a:pPr>
            <a:r>
              <a:rPr lang="es-ES" sz="1100" kern="0">
                <a:solidFill>
                  <a:schemeClr val="tx1">
                    <a:lumMod val="75000"/>
                    <a:lumOff val="25000"/>
                  </a:schemeClr>
                </a:solidFill>
                <a:latin typeface="Montserrat" pitchFamily="2" charset="77"/>
                <a:cs typeface="Times New Roman" panose="02020603050405020304" pitchFamily="18" charset="0"/>
              </a:rPr>
              <a:t>Estos valores reflejan un nivel de gasto acorde con una estancia media de 3,4 días y confirman la aportación económica del turismo al tejido local, especialmente en actividades vinculadas a la restauración, el ocio y el comercio</a:t>
            </a:r>
          </a:p>
        </p:txBody>
      </p:sp>
      <p:sp>
        <p:nvSpPr>
          <p:cNvPr id="17" name="Rectángulo 16">
            <a:extLst>
              <a:ext uri="{FF2B5EF4-FFF2-40B4-BE49-F238E27FC236}">
                <a16:creationId xmlns:a16="http://schemas.microsoft.com/office/drawing/2014/main" id="{036F50AA-9851-7042-A390-A8165345B7C3}"/>
              </a:ext>
            </a:extLst>
          </p:cNvPr>
          <p:cNvSpPr/>
          <p:nvPr/>
        </p:nvSpPr>
        <p:spPr>
          <a:xfrm>
            <a:off x="7454691" y="2736407"/>
            <a:ext cx="3323285" cy="1015663"/>
          </a:xfrm>
          <a:prstGeom prst="rect">
            <a:avLst/>
          </a:prstGeom>
        </p:spPr>
        <p:txBody>
          <a:bodyPr wrap="square">
            <a:spAutoFit/>
          </a:bodyPr>
          <a:lstStyle/>
          <a:p>
            <a:pPr algn="ctr"/>
            <a:r>
              <a:rPr lang="es-ES" sz="4800">
                <a:solidFill>
                  <a:schemeClr val="tx1">
                    <a:lumMod val="75000"/>
                    <a:lumOff val="25000"/>
                  </a:schemeClr>
                </a:solidFill>
                <a:latin typeface="DM Serif Display" pitchFamily="2" charset="0"/>
                <a:cs typeface="Times New Roman" panose="02020603050405020304" pitchFamily="18" charset="0"/>
              </a:rPr>
              <a:t>57,32€</a:t>
            </a:r>
          </a:p>
          <a:p>
            <a:pPr algn="ctr"/>
            <a:r>
              <a:rPr lang="es-ES" sz="1200">
                <a:solidFill>
                  <a:schemeClr val="tx1">
                    <a:lumMod val="85000"/>
                    <a:lumOff val="15000"/>
                  </a:schemeClr>
                </a:solidFill>
                <a:latin typeface="Montserrat Medium" pitchFamily="2" charset="77"/>
                <a:cs typeface="Times New Roman" panose="02020603050405020304" pitchFamily="18" charset="0"/>
              </a:rPr>
              <a:t>GASTO MEDIO POR PERSONA/DÍA</a:t>
            </a:r>
          </a:p>
        </p:txBody>
      </p:sp>
      <p:sp>
        <p:nvSpPr>
          <p:cNvPr id="18" name="Rectángulo 17">
            <a:extLst>
              <a:ext uri="{FF2B5EF4-FFF2-40B4-BE49-F238E27FC236}">
                <a16:creationId xmlns:a16="http://schemas.microsoft.com/office/drawing/2014/main" id="{7C2B5E86-75A8-1D45-9967-530032F56EC0}"/>
              </a:ext>
            </a:extLst>
          </p:cNvPr>
          <p:cNvSpPr/>
          <p:nvPr/>
        </p:nvSpPr>
        <p:spPr>
          <a:xfrm>
            <a:off x="7330762" y="1246048"/>
            <a:ext cx="3323285" cy="1015663"/>
          </a:xfrm>
          <a:prstGeom prst="rect">
            <a:avLst/>
          </a:prstGeom>
        </p:spPr>
        <p:txBody>
          <a:bodyPr wrap="square">
            <a:spAutoFit/>
          </a:bodyPr>
          <a:lstStyle/>
          <a:p>
            <a:pPr algn="ctr"/>
            <a:r>
              <a:rPr lang="es-ES" sz="4800">
                <a:solidFill>
                  <a:schemeClr val="tx1">
                    <a:lumMod val="85000"/>
                    <a:lumOff val="15000"/>
                  </a:schemeClr>
                </a:solidFill>
                <a:latin typeface="DM Serif Display" pitchFamily="2" charset="0"/>
                <a:cs typeface="Times New Roman" panose="02020603050405020304" pitchFamily="18" charset="0"/>
              </a:rPr>
              <a:t>32,7€</a:t>
            </a:r>
          </a:p>
          <a:p>
            <a:pPr algn="ctr"/>
            <a:r>
              <a:rPr lang="es-ES" sz="1200">
                <a:solidFill>
                  <a:schemeClr val="tx1">
                    <a:lumMod val="85000"/>
                    <a:lumOff val="15000"/>
                  </a:schemeClr>
                </a:solidFill>
                <a:latin typeface="Montserrat Medium" pitchFamily="2" charset="77"/>
                <a:cs typeface="Times New Roman" panose="02020603050405020304" pitchFamily="18" charset="0"/>
              </a:rPr>
              <a:t>GASTO MEDIO POR TICKET/COMPRA</a:t>
            </a:r>
          </a:p>
        </p:txBody>
      </p:sp>
      <p:pic>
        <p:nvPicPr>
          <p:cNvPr id="7" name="Imagen 6">
            <a:extLst>
              <a:ext uri="{FF2B5EF4-FFF2-40B4-BE49-F238E27FC236}">
                <a16:creationId xmlns:a16="http://schemas.microsoft.com/office/drawing/2014/main" id="{FF2CBA5E-2F7E-C44B-B443-2928F07E9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2420" y="1339448"/>
            <a:ext cx="621921" cy="922263"/>
          </a:xfrm>
          <a:prstGeom prst="rect">
            <a:avLst/>
          </a:prstGeom>
        </p:spPr>
      </p:pic>
      <p:pic>
        <p:nvPicPr>
          <p:cNvPr id="8" name="Imagen 7">
            <a:extLst>
              <a:ext uri="{FF2B5EF4-FFF2-40B4-BE49-F238E27FC236}">
                <a16:creationId xmlns:a16="http://schemas.microsoft.com/office/drawing/2014/main" id="{BEE88C91-AC94-C249-9C48-E43666C3D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3957" y="2847653"/>
            <a:ext cx="862775" cy="902269"/>
          </a:xfrm>
          <a:prstGeom prst="rect">
            <a:avLst/>
          </a:prstGeom>
        </p:spPr>
      </p:pic>
      <p:sp>
        <p:nvSpPr>
          <p:cNvPr id="3" name="Rectángulo redondeado 18">
            <a:extLst>
              <a:ext uri="{FF2B5EF4-FFF2-40B4-BE49-F238E27FC236}">
                <a16:creationId xmlns:a16="http://schemas.microsoft.com/office/drawing/2014/main" id="{ADEEC2B6-A07D-01C2-7E67-0F35A5E22784}"/>
              </a:ext>
            </a:extLst>
          </p:cNvPr>
          <p:cNvSpPr/>
          <p:nvPr/>
        </p:nvSpPr>
        <p:spPr>
          <a:xfrm>
            <a:off x="6095997" y="4281316"/>
            <a:ext cx="5364163" cy="1068685"/>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Gráfico 8" descr="Maletín contorno">
            <a:extLst>
              <a:ext uri="{FF2B5EF4-FFF2-40B4-BE49-F238E27FC236}">
                <a16:creationId xmlns:a16="http://schemas.microsoft.com/office/drawing/2014/main" id="{8D4E4AD9-DF02-A3E3-90C0-28CD290EF1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5134" y="4288344"/>
            <a:ext cx="1068685" cy="1068685"/>
          </a:xfrm>
          <a:prstGeom prst="rect">
            <a:avLst/>
          </a:prstGeom>
        </p:spPr>
      </p:pic>
      <p:sp>
        <p:nvSpPr>
          <p:cNvPr id="10" name="Rectángulo 9">
            <a:extLst>
              <a:ext uri="{FF2B5EF4-FFF2-40B4-BE49-F238E27FC236}">
                <a16:creationId xmlns:a16="http://schemas.microsoft.com/office/drawing/2014/main" id="{8FC97438-7750-061E-5787-5CA456D65430}"/>
              </a:ext>
            </a:extLst>
          </p:cNvPr>
          <p:cNvSpPr/>
          <p:nvPr/>
        </p:nvSpPr>
        <p:spPr>
          <a:xfrm>
            <a:off x="7382956" y="4307826"/>
            <a:ext cx="3524280" cy="1015663"/>
          </a:xfrm>
          <a:prstGeom prst="rect">
            <a:avLst/>
          </a:prstGeom>
        </p:spPr>
        <p:txBody>
          <a:bodyPr wrap="square">
            <a:spAutoFit/>
          </a:bodyPr>
          <a:lstStyle/>
          <a:p>
            <a:pPr algn="ctr"/>
            <a:r>
              <a:rPr lang="es-ES" sz="4800">
                <a:solidFill>
                  <a:schemeClr val="tx1">
                    <a:lumMod val="75000"/>
                    <a:lumOff val="25000"/>
                  </a:schemeClr>
                </a:solidFill>
                <a:latin typeface="DM Serif Display" pitchFamily="2" charset="0"/>
                <a:cs typeface="Times New Roman" panose="02020603050405020304" pitchFamily="18" charset="0"/>
              </a:rPr>
              <a:t>194,90€</a:t>
            </a:r>
          </a:p>
          <a:p>
            <a:pPr algn="ctr"/>
            <a:r>
              <a:rPr lang="es-ES" sz="1200">
                <a:solidFill>
                  <a:schemeClr val="tx1">
                    <a:lumMod val="85000"/>
                    <a:lumOff val="15000"/>
                  </a:schemeClr>
                </a:solidFill>
                <a:latin typeface="Montserrat Medium" pitchFamily="2" charset="77"/>
                <a:cs typeface="Times New Roman" panose="02020603050405020304" pitchFamily="18" charset="0"/>
              </a:rPr>
              <a:t>GASTO MEDIO POR PERSONA/ESTANCIA</a:t>
            </a:r>
          </a:p>
        </p:txBody>
      </p:sp>
      <p:sp>
        <p:nvSpPr>
          <p:cNvPr id="11" name="Rectángulo 10">
            <a:extLst>
              <a:ext uri="{FF2B5EF4-FFF2-40B4-BE49-F238E27FC236}">
                <a16:creationId xmlns:a16="http://schemas.microsoft.com/office/drawing/2014/main" id="{1EA3328D-CC73-D747-180F-39A5820D7614}"/>
              </a:ext>
            </a:extLst>
          </p:cNvPr>
          <p:cNvSpPr/>
          <p:nvPr/>
        </p:nvSpPr>
        <p:spPr>
          <a:xfrm>
            <a:off x="638668" y="5465005"/>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892734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5C253-B1E9-2526-319F-4BA81E9A539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240B621-D813-E859-C3BB-352C720949CC}"/>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5014BAE2-50CE-5AC8-32E1-97627F84F494}"/>
              </a:ext>
            </a:extLst>
          </p:cNvPr>
          <p:cNvSpPr/>
          <p:nvPr/>
        </p:nvSpPr>
        <p:spPr>
          <a:xfrm>
            <a:off x="638668" y="1392995"/>
            <a:ext cx="4928755" cy="923266"/>
          </a:xfrm>
          <a:prstGeom prst="rect">
            <a:avLst/>
          </a:prstGeom>
        </p:spPr>
        <p:txBody>
          <a:bodyPr wrap="square">
            <a:spAutoFit/>
          </a:bodyPr>
          <a:lstStyle/>
          <a:p>
            <a:pPr>
              <a:lnSpc>
                <a:spcPts val="3200"/>
              </a:lnSpc>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Ticket medio por provincia de origen</a:t>
            </a:r>
          </a:p>
        </p:txBody>
      </p:sp>
      <p:sp>
        <p:nvSpPr>
          <p:cNvPr id="12" name="Rectángulo 11">
            <a:extLst>
              <a:ext uri="{FF2B5EF4-FFF2-40B4-BE49-F238E27FC236}">
                <a16:creationId xmlns:a16="http://schemas.microsoft.com/office/drawing/2014/main" id="{FC217964-2D10-5BEC-78E0-F9D80635047E}"/>
              </a:ext>
            </a:extLst>
          </p:cNvPr>
          <p:cNvSpPr/>
          <p:nvPr/>
        </p:nvSpPr>
        <p:spPr>
          <a:xfrm>
            <a:off x="638668" y="2567630"/>
            <a:ext cx="5084957" cy="2800767"/>
          </a:xfrm>
          <a:prstGeom prst="rect">
            <a:avLst/>
          </a:prstGeom>
        </p:spPr>
        <p:txBody>
          <a:bodyPr wrap="square">
            <a:spAutoFit/>
          </a:bodyPr>
          <a:lstStyle/>
          <a:p>
            <a:pPr algn="just"/>
            <a:r>
              <a:rPr lang="es-ES" sz="1100" kern="0">
                <a:solidFill>
                  <a:schemeClr val="tx1">
                    <a:lumMod val="75000"/>
                    <a:lumOff val="25000"/>
                  </a:schemeClr>
                </a:solidFill>
                <a:latin typeface="Montserrat" pitchFamily="2" charset="77"/>
                <a:cs typeface="Times New Roman" panose="02020603050405020304" pitchFamily="18" charset="0"/>
              </a:rPr>
              <a:t>Entre enero y diciembre de 2025, </a:t>
            </a:r>
            <a:r>
              <a:rPr lang="es-ES" sz="1100">
                <a:solidFill>
                  <a:schemeClr val="tx1">
                    <a:lumMod val="75000"/>
                    <a:lumOff val="25000"/>
                  </a:schemeClr>
                </a:solidFill>
                <a:latin typeface="Montserrat" panose="00000500000000000000" pitchFamily="2" charset="0"/>
              </a:rPr>
              <a:t>el gasto medio por compra del turismo nacional presenta variaciones relevantes según la provincia de origen. Los valores más elevados corresponden a Ciudad Real (41,60 €) y Albacete (37,80 €), situándose como los mercados que mayor desembolso realizan por transacción.</a:t>
            </a:r>
          </a:p>
          <a:p>
            <a:pPr algn="just"/>
            <a:endParaRPr lang="es-ES" sz="1100">
              <a:solidFill>
                <a:schemeClr val="tx1">
                  <a:lumMod val="75000"/>
                  <a:lumOff val="25000"/>
                </a:schemeClr>
              </a:solidFill>
              <a:latin typeface="Montserrat" panose="00000500000000000000" pitchFamily="2" charset="0"/>
            </a:endParaRPr>
          </a:p>
          <a:p>
            <a:pPr algn="just"/>
            <a:r>
              <a:rPr lang="es-ES" sz="1100">
                <a:solidFill>
                  <a:schemeClr val="tx1">
                    <a:lumMod val="75000"/>
                    <a:lumOff val="25000"/>
                  </a:schemeClr>
                </a:solidFill>
                <a:latin typeface="Montserrat" panose="00000500000000000000" pitchFamily="2" charset="0"/>
              </a:rPr>
              <a:t>En un rango intermedio se encuentran Madrid (34,10 €) y Valencia (32,60 €), mientras que Murcia (28,80 €) registra el ticket medio más contenido entre los principales emisores nacionales.</a:t>
            </a:r>
          </a:p>
          <a:p>
            <a:pPr algn="just"/>
            <a:endParaRPr lang="es-ES" sz="1100">
              <a:solidFill>
                <a:schemeClr val="tx1">
                  <a:lumMod val="75000"/>
                  <a:lumOff val="25000"/>
                </a:schemeClr>
              </a:solidFill>
              <a:latin typeface="Montserrat" panose="00000500000000000000" pitchFamily="2" charset="0"/>
            </a:endParaRPr>
          </a:p>
          <a:p>
            <a:pPr algn="just"/>
            <a:r>
              <a:rPr lang="es-ES" sz="1100">
                <a:solidFill>
                  <a:schemeClr val="tx1">
                    <a:lumMod val="75000"/>
                    <a:lumOff val="25000"/>
                  </a:schemeClr>
                </a:solidFill>
                <a:latin typeface="Montserrat" panose="00000500000000000000" pitchFamily="2" charset="0"/>
              </a:rPr>
              <a:t>Esta distribución muestra que los mercados de media distancia concentran un mayor gasto por operación, frente a los de mayor proximidad, que presentan un consumo más moderado, aspecto relevante para la planificación comercial y la segmentación de la oferta.</a:t>
            </a:r>
          </a:p>
          <a:p>
            <a:pPr algn="just"/>
            <a:r>
              <a:rPr lang="es-ES" sz="1100" kern="0">
                <a:solidFill>
                  <a:schemeClr val="tx1">
                    <a:lumMod val="75000"/>
                    <a:lumOff val="25000"/>
                  </a:schemeClr>
                </a:solidFill>
                <a:latin typeface="Montserrat" pitchFamily="2" charset="77"/>
                <a:cs typeface="Times New Roman" panose="02020603050405020304" pitchFamily="18" charset="0"/>
              </a:rPr>
              <a:t> </a:t>
            </a:r>
          </a:p>
        </p:txBody>
      </p:sp>
      <p:graphicFrame>
        <p:nvGraphicFramePr>
          <p:cNvPr id="6" name="Gráfico 5">
            <a:extLst>
              <a:ext uri="{FF2B5EF4-FFF2-40B4-BE49-F238E27FC236}">
                <a16:creationId xmlns:a16="http://schemas.microsoft.com/office/drawing/2014/main" id="{A7773DB2-25D1-FBC7-5E85-F37077B905E1}"/>
              </a:ext>
            </a:extLst>
          </p:cNvPr>
          <p:cNvGraphicFramePr>
            <a:graphicFrameLocks/>
          </p:cNvGraphicFramePr>
          <p:nvPr>
            <p:extLst>
              <p:ext uri="{D42A27DB-BD31-4B8C-83A1-F6EECF244321}">
                <p14:modId xmlns:p14="http://schemas.microsoft.com/office/powerpoint/2010/main" val="3395109258"/>
              </p:ext>
            </p:extLst>
          </p:nvPr>
        </p:nvGraphicFramePr>
        <p:xfrm>
          <a:off x="6468376" y="1075606"/>
          <a:ext cx="5626800" cy="512280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E2C4410B-E5F7-6CA9-BFC5-4F109F08AAB6}"/>
              </a:ext>
            </a:extLst>
          </p:cNvPr>
          <p:cNvSpPr/>
          <p:nvPr/>
        </p:nvSpPr>
        <p:spPr>
          <a:xfrm>
            <a:off x="638668" y="5450489"/>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354789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928755" cy="923266"/>
          </a:xfrm>
          <a:prstGeom prst="rect">
            <a:avLst/>
          </a:prstGeom>
        </p:spPr>
        <p:txBody>
          <a:bodyPr wrap="square">
            <a:spAutoFit/>
          </a:bodyPr>
          <a:lstStyle/>
          <a:p>
            <a:pPr>
              <a:lnSpc>
                <a:spcPts val="3200"/>
              </a:lnSpc>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Ticket medio por país de origen</a:t>
            </a:r>
          </a:p>
        </p:txBody>
      </p:sp>
      <p:sp>
        <p:nvSpPr>
          <p:cNvPr id="12" name="Rectángulo 11">
            <a:extLst>
              <a:ext uri="{FF2B5EF4-FFF2-40B4-BE49-F238E27FC236}">
                <a16:creationId xmlns:a16="http://schemas.microsoft.com/office/drawing/2014/main" id="{51C9942B-0A87-DD42-BC8A-4FE73ECEC448}"/>
              </a:ext>
            </a:extLst>
          </p:cNvPr>
          <p:cNvSpPr/>
          <p:nvPr/>
        </p:nvSpPr>
        <p:spPr>
          <a:xfrm>
            <a:off x="638668" y="2567630"/>
            <a:ext cx="5249176" cy="2631490"/>
          </a:xfrm>
          <a:prstGeom prst="rect">
            <a:avLst/>
          </a:prstGeom>
        </p:spPr>
        <p:txBody>
          <a:bodyPr wrap="square">
            <a:spAutoFit/>
          </a:bodyPr>
          <a:lstStyle/>
          <a:p>
            <a:pPr algn="just"/>
            <a:r>
              <a:rPr lang="es-ES" sz="1100" kern="0">
                <a:solidFill>
                  <a:schemeClr val="tx1">
                    <a:lumMod val="75000"/>
                    <a:lumOff val="25000"/>
                  </a:schemeClr>
                </a:solidFill>
                <a:latin typeface="Montserrat" pitchFamily="2" charset="77"/>
                <a:cs typeface="Times New Roman" panose="02020603050405020304" pitchFamily="18" charset="0"/>
              </a:rPr>
              <a:t>En 2025, el gasto medio por compra de los turistas internacionales en Guardamar del Segura muestra diferencias claras entre mercados. Alemania (50,10 €) y Bélgica (45, 50 €) destacan como los emisores con mayor desembolso por transacción, situándose muy por encima del resto.</a:t>
            </a:r>
          </a:p>
          <a:p>
            <a:pPr algn="just"/>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r>
              <a:rPr lang="es-ES" sz="1100" kern="0">
                <a:solidFill>
                  <a:schemeClr val="tx1">
                    <a:lumMod val="75000"/>
                    <a:lumOff val="25000"/>
                  </a:schemeClr>
                </a:solidFill>
                <a:latin typeface="Montserrat" pitchFamily="2" charset="77"/>
                <a:cs typeface="Times New Roman" panose="02020603050405020304" pitchFamily="18" charset="0"/>
              </a:rPr>
              <a:t>En un nivel intermedio se encuentra Francia (40,20 €), mientras que Italia (34,10 €) y Reino Unido (33,20 €) presentan tickets medios más contenidos. </a:t>
            </a:r>
          </a:p>
          <a:p>
            <a:pPr algn="just"/>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r>
              <a:rPr lang="es-ES" sz="1100" kern="0">
                <a:solidFill>
                  <a:schemeClr val="tx1">
                    <a:lumMod val="75000"/>
                    <a:lumOff val="25000"/>
                  </a:schemeClr>
                </a:solidFill>
                <a:latin typeface="Montserrat" pitchFamily="2" charset="77"/>
                <a:cs typeface="Times New Roman" panose="02020603050405020304" pitchFamily="18" charset="0"/>
              </a:rPr>
              <a:t>Estos datos evidencian perfiles de consumo diferenciados, con los mercados centroeuropeos concentrando un mayor gasto por operación frente a otros emisores con un desembolso más moderado, lo que aporta información relevante para orientar la estrategia comercial del destino y la adaptación de la oferta a los distintos perfiles de visitante.</a:t>
            </a:r>
            <a:endParaRPr lang="es-ES" sz="1200" kern="0">
              <a:solidFill>
                <a:schemeClr val="tx1">
                  <a:lumMod val="75000"/>
                  <a:lumOff val="25000"/>
                </a:schemeClr>
              </a:solidFill>
              <a:highlight>
                <a:srgbClr val="FFFF00"/>
              </a:highlight>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0698CDB0-0C4B-4B1C-BBD3-981C8330F54A}"/>
              </a:ext>
            </a:extLst>
          </p:cNvPr>
          <p:cNvGraphicFramePr>
            <a:graphicFrameLocks/>
          </p:cNvGraphicFramePr>
          <p:nvPr>
            <p:extLst>
              <p:ext uri="{D42A27DB-BD31-4B8C-83A1-F6EECF244321}">
                <p14:modId xmlns:p14="http://schemas.microsoft.com/office/powerpoint/2010/main" val="1202618511"/>
              </p:ext>
            </p:extLst>
          </p:nvPr>
        </p:nvGraphicFramePr>
        <p:xfrm>
          <a:off x="6565200" y="1075606"/>
          <a:ext cx="5626800" cy="5147394"/>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ángulo 10">
            <a:extLst>
              <a:ext uri="{FF2B5EF4-FFF2-40B4-BE49-F238E27FC236}">
                <a16:creationId xmlns:a16="http://schemas.microsoft.com/office/drawing/2014/main" id="{8E6B3667-C632-5BC8-9869-48529B712B56}"/>
              </a:ext>
            </a:extLst>
          </p:cNvPr>
          <p:cNvSpPr/>
          <p:nvPr/>
        </p:nvSpPr>
        <p:spPr>
          <a:xfrm>
            <a:off x="638668" y="5450489"/>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309454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CC38B-F23B-1416-AA3F-8795EA7D06B1}"/>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CA9ABAD9-D234-7294-BD38-0B3B920A43EA}"/>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bg1"/>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77B02B84-32A0-0B91-0F23-F48F3A76340B}"/>
              </a:ext>
            </a:extLst>
          </p:cNvPr>
          <p:cNvSpPr/>
          <p:nvPr/>
        </p:nvSpPr>
        <p:spPr>
          <a:xfrm>
            <a:off x="638668" y="1392995"/>
            <a:ext cx="7139240" cy="512897"/>
          </a:xfrm>
          <a:prstGeom prst="rect">
            <a:avLst/>
          </a:prstGeom>
        </p:spPr>
        <p:txBody>
          <a:bodyPr wrap="square">
            <a:spAutoFit/>
          </a:bodyPr>
          <a:lstStyle/>
          <a:p>
            <a:pPr>
              <a:lnSpc>
                <a:spcPts val="3200"/>
              </a:lnSpc>
            </a:pPr>
            <a:r>
              <a:rPr lang="es-ES" sz="300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7318337E-25DE-5BF2-AA5F-6892A58DDC13}"/>
              </a:ext>
            </a:extLst>
          </p:cNvPr>
          <p:cNvSpPr/>
          <p:nvPr/>
        </p:nvSpPr>
        <p:spPr>
          <a:xfrm>
            <a:off x="638668" y="2136261"/>
            <a:ext cx="5261810" cy="2830840"/>
          </a:xfrm>
          <a:prstGeom prst="rect">
            <a:avLst/>
          </a:prstGeom>
        </p:spPr>
        <p:txBody>
          <a:bodyPr wrap="square">
            <a:spAutoFit/>
          </a:bodyPr>
          <a:lstStyle/>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Gasto moderado y aportación económica distribuida</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En 2025, el gasto medio por ticket se sitúa en 32,7 €, mientras que el gasto medio por persona alcanza los 194,90 € por estancia (57,32 € por persona/día), reflejando una contribución económica relevante y repartida en múltiples consumos a lo largo de la visita.</a:t>
            </a:r>
          </a:p>
          <a:p>
            <a:pPr lvl="0" algn="just">
              <a:lnSpc>
                <a:spcPct val="115000"/>
              </a:lnSpc>
              <a:spcAft>
                <a:spcPts val="800"/>
              </a:spcAft>
            </a:pPr>
            <a:endParaRPr lang="es-ES" sz="1200" kern="0">
              <a:solidFill>
                <a:schemeClr val="bg1"/>
              </a:solidFill>
              <a:latin typeface="Montserrat" pitchFamily="2" charset="77"/>
              <a:cs typeface="Times New Roman" panose="02020603050405020304" pitchFamily="18" charset="0"/>
            </a:endParaRPr>
          </a:p>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Patrón de consumo recurrente durante la estancia</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La diferencia entre el gasto por compra y el gasto total por persona evidencia que el visitante realiza varias transacciones durante su estancia, generando un impacto económico distribuido entre comercio, restauración y servicios locales.</a:t>
            </a:r>
          </a:p>
        </p:txBody>
      </p:sp>
      <p:sp>
        <p:nvSpPr>
          <p:cNvPr id="11" name="Rectángulo 10">
            <a:extLst>
              <a:ext uri="{FF2B5EF4-FFF2-40B4-BE49-F238E27FC236}">
                <a16:creationId xmlns:a16="http://schemas.microsoft.com/office/drawing/2014/main" id="{2FFF3CF5-1AD4-1325-088F-D2FA1B0A30C2}"/>
              </a:ext>
            </a:extLst>
          </p:cNvPr>
          <p:cNvSpPr/>
          <p:nvPr/>
        </p:nvSpPr>
        <p:spPr>
          <a:xfrm>
            <a:off x="6291522" y="2136261"/>
            <a:ext cx="5261810" cy="2728247"/>
          </a:xfrm>
          <a:prstGeom prst="rect">
            <a:avLst/>
          </a:prstGeom>
        </p:spPr>
        <p:txBody>
          <a:bodyPr wrap="square">
            <a:spAutoFit/>
          </a:bodyPr>
          <a:lstStyle/>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Diferencias claras según mercado emisor</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Los mercados centroeuropeos, especialmente Alemania y Bélgica, presentan los tickets medios más elevados, mientras que Italia, Francia y Reino Unido muestran un gasto por operación más contenido. En el ámbito nacional, Ciudad Real y Albacete registran los valores más elevados.</a:t>
            </a:r>
          </a:p>
          <a:p>
            <a:pPr marL="185738" lvl="0" indent="-185738" algn="just">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Segmentación como oportunidad estratégica</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La heterogeneidad del gasto por origen evidencia perfiles de consumo diferenciados, lo que refuerza la necesidad de orientar la estrategia turística hacia mercados con mayor capacidad de gasto, manteniendo al mismo tiempo el volumen que aportan los principales emisores.</a:t>
            </a:r>
          </a:p>
        </p:txBody>
      </p:sp>
    </p:spTree>
    <p:extLst>
      <p:ext uri="{BB962C8B-B14F-4D97-AF65-F5344CB8AC3E}">
        <p14:creationId xmlns:p14="http://schemas.microsoft.com/office/powerpoint/2010/main" val="2641551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BCF689F-2CE8-BE49-9F6A-A5E2C1489191}"/>
              </a:ext>
            </a:extLst>
          </p:cNvPr>
          <p:cNvSpPr/>
          <p:nvPr/>
        </p:nvSpPr>
        <p:spPr>
          <a:xfrm>
            <a:off x="7535538"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03</a:t>
            </a:r>
            <a:endParaRPr lang="es-ES" sz="30000">
              <a:solidFill>
                <a:schemeClr val="bg2"/>
              </a:solidFill>
              <a:latin typeface="DM Serif Display" pitchFamily="2" charset="0"/>
            </a:endParaRPr>
          </a:p>
        </p:txBody>
      </p:sp>
      <p:sp>
        <p:nvSpPr>
          <p:cNvPr id="2" name="Rectángulo 1">
            <a:extLst>
              <a:ext uri="{FF2B5EF4-FFF2-40B4-BE49-F238E27FC236}">
                <a16:creationId xmlns:a16="http://schemas.microsoft.com/office/drawing/2014/main" id="{E1AAF08B-AB44-6547-891C-337A413BF743}"/>
              </a:ext>
            </a:extLst>
          </p:cNvPr>
          <p:cNvSpPr/>
          <p:nvPr/>
        </p:nvSpPr>
        <p:spPr>
          <a:xfrm>
            <a:off x="629084" y="1390653"/>
            <a:ext cx="3157104" cy="646716"/>
          </a:xfrm>
          <a:prstGeom prst="rect">
            <a:avLst/>
          </a:prstGeom>
        </p:spPr>
        <p:txBody>
          <a:bodyPr wrap="square">
            <a:spAutoFit/>
          </a:bodyPr>
          <a:lstStyle/>
          <a:p>
            <a:pPr>
              <a:lnSpc>
                <a:spcPts val="42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Ocupación</a:t>
            </a:r>
            <a:endParaRPr lang="es-ES" sz="4000">
              <a:solidFill>
                <a:schemeClr val="tx1">
                  <a:lumMod val="85000"/>
                  <a:lumOff val="15000"/>
                </a:schemeClr>
              </a:solidFill>
              <a:latin typeface="DM Serif Display" pitchFamily="2" charset="0"/>
            </a:endParaRPr>
          </a:p>
        </p:txBody>
      </p:sp>
      <p:pic>
        <p:nvPicPr>
          <p:cNvPr id="8" name="Imagen 7">
            <a:extLst>
              <a:ext uri="{FF2B5EF4-FFF2-40B4-BE49-F238E27FC236}">
                <a16:creationId xmlns:a16="http://schemas.microsoft.com/office/drawing/2014/main" id="{79123888-33DE-6F4C-BBFA-CEE470E96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44" y="3443427"/>
            <a:ext cx="12339018" cy="3445670"/>
          </a:xfrm>
          <a:prstGeom prst="rect">
            <a:avLst/>
          </a:prstGeom>
        </p:spPr>
      </p:pic>
      <p:pic>
        <p:nvPicPr>
          <p:cNvPr id="9" name="Imagen 8">
            <a:extLst>
              <a:ext uri="{FF2B5EF4-FFF2-40B4-BE49-F238E27FC236}">
                <a16:creationId xmlns:a16="http://schemas.microsoft.com/office/drawing/2014/main" id="{186F85B8-CDF7-364E-B53F-7E0AA455358B}"/>
              </a:ext>
            </a:extLst>
          </p:cNvPr>
          <p:cNvPicPr>
            <a:picLocks noChangeAspect="1"/>
          </p:cNvPicPr>
          <p:nvPr/>
        </p:nvPicPr>
        <p:blipFill>
          <a:blip r:embed="rId3"/>
          <a:stretch>
            <a:fillRect/>
          </a:stretch>
        </p:blipFill>
        <p:spPr>
          <a:xfrm>
            <a:off x="686969" y="6124651"/>
            <a:ext cx="959505" cy="295562"/>
          </a:xfrm>
          <a:prstGeom prst="rect">
            <a:avLst/>
          </a:prstGeom>
        </p:spPr>
      </p:pic>
      <p:pic>
        <p:nvPicPr>
          <p:cNvPr id="11" name="Imagen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7777" y="5754856"/>
            <a:ext cx="1035151" cy="1035151"/>
          </a:xfrm>
          <a:prstGeom prst="rect">
            <a:avLst/>
          </a:prstGeom>
        </p:spPr>
      </p:pic>
      <p:sp>
        <p:nvSpPr>
          <p:cNvPr id="3" name="Rectángulo 2">
            <a:extLst>
              <a:ext uri="{FF2B5EF4-FFF2-40B4-BE49-F238E27FC236}">
                <a16:creationId xmlns:a16="http://schemas.microsoft.com/office/drawing/2014/main" id="{A1F3C2FE-572A-5FE9-2972-977B5B371855}"/>
              </a:ext>
            </a:extLst>
          </p:cNvPr>
          <p:cNvSpPr/>
          <p:nvPr/>
        </p:nvSpPr>
        <p:spPr>
          <a:xfrm>
            <a:off x="437957" y="3622439"/>
            <a:ext cx="5261810" cy="1249766"/>
          </a:xfrm>
          <a:prstGeom prst="rect">
            <a:avLst/>
          </a:prstGeom>
        </p:spPr>
        <p:txBody>
          <a:bodyPr wrap="square">
            <a:spAutoFit/>
          </a:bodyPr>
          <a:lstStyle/>
          <a:p>
            <a:pPr algn="just">
              <a:lnSpc>
                <a:spcPct val="115000"/>
              </a:lnSpc>
              <a:spcAft>
                <a:spcPts val="0"/>
              </a:spcAft>
            </a:pPr>
            <a:r>
              <a:rPr lang="es-ES" sz="1100" kern="0">
                <a:solidFill>
                  <a:schemeClr val="bg1"/>
                </a:solidFill>
                <a:latin typeface="Montserrat" pitchFamily="2" charset="77"/>
                <a:ea typeface="Times New Roman" panose="02020603050405020304" pitchFamily="18" charset="0"/>
                <a:cs typeface="Times New Roman" panose="02020603050405020304" pitchFamily="18" charset="0"/>
              </a:rPr>
              <a:t>A lo largo de 2025, la actividad alojativa en Guardamar del Segura registra 2.353.103 pernoctaciones, lo que supone un ligero ajuste respecto al año anterior. A pesar de esta reducción en el volumen total de noches, la estancia media aumenta hasta los 3,4 días, lo que indica una tendencia hacia visitas algo más prolongadas y una mayor intensidad de uso del alojamiento por turista. </a:t>
            </a:r>
            <a:endParaRPr lang="es-ES" sz="1100" kern="100">
              <a:solidFill>
                <a:schemeClr val="bg1"/>
              </a:solidFill>
              <a:effectLst/>
              <a:latin typeface="Aptos"/>
              <a:ea typeface="Times New Roman" panose="02020603050405020304" pitchFamily="18" charset="0"/>
              <a:cs typeface="Times New Roman" panose="02020603050405020304" pitchFamily="18" charset="0"/>
            </a:endParaRPr>
          </a:p>
        </p:txBody>
      </p:sp>
      <p:sp>
        <p:nvSpPr>
          <p:cNvPr id="4" name="Rectángulo 3">
            <a:extLst>
              <a:ext uri="{FF2B5EF4-FFF2-40B4-BE49-F238E27FC236}">
                <a16:creationId xmlns:a16="http://schemas.microsoft.com/office/drawing/2014/main" id="{D9803E4A-68BE-2D50-2896-0A0FDD6676E0}"/>
              </a:ext>
            </a:extLst>
          </p:cNvPr>
          <p:cNvSpPr/>
          <p:nvPr/>
        </p:nvSpPr>
        <p:spPr>
          <a:xfrm>
            <a:off x="6211233" y="3593614"/>
            <a:ext cx="5261810" cy="1444434"/>
          </a:xfrm>
          <a:prstGeom prst="rect">
            <a:avLst/>
          </a:prstGeom>
        </p:spPr>
        <p:txBody>
          <a:bodyPr wrap="square">
            <a:spAutoFit/>
          </a:bodyPr>
          <a:lstStyle/>
          <a:p>
            <a:pPr algn="just">
              <a:lnSpc>
                <a:spcPct val="115000"/>
              </a:lnSpc>
              <a:spcAft>
                <a:spcPts val="0"/>
              </a:spcAft>
            </a:pPr>
            <a:r>
              <a:rPr lang="es-ES" sz="1100" kern="0">
                <a:solidFill>
                  <a:schemeClr val="bg1"/>
                </a:solidFill>
                <a:latin typeface="Montserrat" pitchFamily="2" charset="77"/>
                <a:ea typeface="Times New Roman" panose="02020603050405020304" pitchFamily="18" charset="0"/>
                <a:cs typeface="Times New Roman" panose="02020603050405020304" pitchFamily="18" charset="0"/>
              </a:rPr>
              <a:t>En este bloque se analiza la evolución de la ocupación turística del destino, atendiendo al volumen de pernoctaciones, la duración media de las estancias y su distribución a lo largo del año. Asimismo, se examinan las diferencias entre mercados emisores y los patrones estacionales de la demanda, que evidencian una fuerte concentración en los meses de verano, junto con oportunidades para reforzar la actividad alojativa fuera de la temporada alta.</a:t>
            </a:r>
            <a:endParaRPr lang="es-ES" sz="1100" kern="100">
              <a:solidFill>
                <a:schemeClr val="bg1"/>
              </a:solidFill>
              <a:effectLst/>
              <a:latin typeface="Aptos"/>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5567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F9A87-741F-7666-A149-3298097CE7F1}"/>
            </a:ext>
          </a:extLst>
        </p:cNvPr>
        <p:cNvGrpSpPr/>
        <p:nvPr/>
      </p:nvGrpSpPr>
      <p:grpSpPr>
        <a:xfrm>
          <a:off x="0" y="0"/>
          <a:ext cx="0" cy="0"/>
          <a:chOff x="0" y="0"/>
          <a:chExt cx="0" cy="0"/>
        </a:xfrm>
      </p:grpSpPr>
      <p:sp>
        <p:nvSpPr>
          <p:cNvPr id="22" name="Rectángulo redondeado 21">
            <a:extLst>
              <a:ext uri="{FF2B5EF4-FFF2-40B4-BE49-F238E27FC236}">
                <a16:creationId xmlns:a16="http://schemas.microsoft.com/office/drawing/2014/main" id="{8B1F5843-4971-F30C-F0BF-1E19DF12F9BA}"/>
              </a:ext>
            </a:extLst>
          </p:cNvPr>
          <p:cNvSpPr/>
          <p:nvPr/>
        </p:nvSpPr>
        <p:spPr>
          <a:xfrm>
            <a:off x="12504712" y="155733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redondeado 3">
            <a:extLst>
              <a:ext uri="{FF2B5EF4-FFF2-40B4-BE49-F238E27FC236}">
                <a16:creationId xmlns:a16="http://schemas.microsoft.com/office/drawing/2014/main" id="{BBA32DED-F85B-D77A-6476-3CB8A615517F}"/>
              </a:ext>
            </a:extLst>
          </p:cNvPr>
          <p:cNvSpPr/>
          <p:nvPr/>
        </p:nvSpPr>
        <p:spPr>
          <a:xfrm>
            <a:off x="12668596" y="2793077"/>
            <a:ext cx="2212380" cy="382386"/>
          </a:xfrm>
          <a:prstGeom prst="roundRect">
            <a:avLst>
              <a:gd name="adj" fmla="val 50000"/>
            </a:avLst>
          </a:prstGeom>
          <a:solidFill>
            <a:srgbClr val="76B463">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redondeado 5">
            <a:extLst>
              <a:ext uri="{FF2B5EF4-FFF2-40B4-BE49-F238E27FC236}">
                <a16:creationId xmlns:a16="http://schemas.microsoft.com/office/drawing/2014/main" id="{E8ABA7D3-9F30-2B46-FC70-848A91376E29}"/>
              </a:ext>
            </a:extLst>
          </p:cNvPr>
          <p:cNvSpPr/>
          <p:nvPr/>
        </p:nvSpPr>
        <p:spPr>
          <a:xfrm>
            <a:off x="8915400" y="155733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redondeado 6">
            <a:extLst>
              <a:ext uri="{FF2B5EF4-FFF2-40B4-BE49-F238E27FC236}">
                <a16:creationId xmlns:a16="http://schemas.microsoft.com/office/drawing/2014/main" id="{9166070E-1F52-7DFE-01FB-0978259D7CF2}"/>
              </a:ext>
            </a:extLst>
          </p:cNvPr>
          <p:cNvSpPr/>
          <p:nvPr/>
        </p:nvSpPr>
        <p:spPr>
          <a:xfrm>
            <a:off x="8915400" y="3482155"/>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redondeado 14">
            <a:extLst>
              <a:ext uri="{FF2B5EF4-FFF2-40B4-BE49-F238E27FC236}">
                <a16:creationId xmlns:a16="http://schemas.microsoft.com/office/drawing/2014/main" id="{FE9CC9A9-55A1-D074-15A5-9EE0A2C8E1A2}"/>
              </a:ext>
            </a:extLst>
          </p:cNvPr>
          <p:cNvSpPr/>
          <p:nvPr/>
        </p:nvSpPr>
        <p:spPr>
          <a:xfrm>
            <a:off x="6161316" y="155733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redondeado 16">
            <a:extLst>
              <a:ext uri="{FF2B5EF4-FFF2-40B4-BE49-F238E27FC236}">
                <a16:creationId xmlns:a16="http://schemas.microsoft.com/office/drawing/2014/main" id="{286C7FF7-4AA6-87D8-F79B-8622F6701AD8}"/>
              </a:ext>
            </a:extLst>
          </p:cNvPr>
          <p:cNvSpPr/>
          <p:nvPr/>
        </p:nvSpPr>
        <p:spPr>
          <a:xfrm>
            <a:off x="6161316" y="349558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Rectángulo 1">
            <a:extLst>
              <a:ext uri="{FF2B5EF4-FFF2-40B4-BE49-F238E27FC236}">
                <a16:creationId xmlns:a16="http://schemas.microsoft.com/office/drawing/2014/main" id="{ECA1C6C8-7034-4B6B-7600-DD68C9EC6F5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ABCEC1DE-A3F8-EBBA-D150-C611272767A6}"/>
              </a:ext>
            </a:extLst>
          </p:cNvPr>
          <p:cNvSpPr/>
          <p:nvPr/>
        </p:nvSpPr>
        <p:spPr>
          <a:xfrm>
            <a:off x="638668" y="1392995"/>
            <a:ext cx="4607100"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Pernoctaciones y estancia media (Ene-Dic 2025)</a:t>
            </a:r>
            <a:endParaRPr lang="es-ES" sz="3000">
              <a:solidFill>
                <a:srgbClr val="FF0000"/>
              </a:solidFill>
              <a:latin typeface="DM Serif Display" pitchFamily="2" charset="0"/>
              <a:cs typeface="Times New Roman" panose="02020603050405020304" pitchFamily="18" charset="0"/>
            </a:endParaRPr>
          </a:p>
        </p:txBody>
      </p:sp>
      <p:sp>
        <p:nvSpPr>
          <p:cNvPr id="16" name="Rectángulo 15">
            <a:extLst>
              <a:ext uri="{FF2B5EF4-FFF2-40B4-BE49-F238E27FC236}">
                <a16:creationId xmlns:a16="http://schemas.microsoft.com/office/drawing/2014/main" id="{CA046757-C5B5-9C04-FB2E-4577F77EAD78}"/>
              </a:ext>
            </a:extLst>
          </p:cNvPr>
          <p:cNvSpPr/>
          <p:nvPr/>
        </p:nvSpPr>
        <p:spPr>
          <a:xfrm>
            <a:off x="638668" y="2656044"/>
            <a:ext cx="10021616" cy="3011109"/>
          </a:xfrm>
          <a:prstGeom prst="rect">
            <a:avLst/>
          </a:prstGeom>
        </p:spPr>
        <p:txBody>
          <a:bodyPr wrap="square" numCol="2" spcCol="432000">
            <a:noAutofit/>
          </a:bodyPr>
          <a:lstStyle/>
          <a:p>
            <a:pPr algn="just">
              <a:lnSpc>
                <a:spcPts val="1600"/>
              </a:lnSpc>
              <a:spcAft>
                <a:spcPts val="800"/>
              </a:spcAft>
            </a:pPr>
            <a:r>
              <a:rPr lang="es-ES" sz="1100" kern="0">
                <a:solidFill>
                  <a:schemeClr val="tx1">
                    <a:lumMod val="75000"/>
                    <a:lumOff val="25000"/>
                  </a:schemeClr>
                </a:solidFill>
                <a:latin typeface="Montserrat" pitchFamily="2" charset="77"/>
                <a:cs typeface="Times New Roman" panose="02020603050405020304" pitchFamily="18" charset="0"/>
              </a:rPr>
              <a:t>En 2025, Guardamar del Segura registra un total de 2.351.886 pernoctaciones, lo que supone un descenso interanual del −10,5% respecto al ejercicio anterior.</a:t>
            </a:r>
          </a:p>
          <a:p>
            <a:pPr algn="just">
              <a:lnSpc>
                <a:spcPts val="1600"/>
              </a:lnSpc>
              <a:spcAft>
                <a:spcPts val="800"/>
              </a:spcAft>
            </a:pPr>
            <a:r>
              <a:rPr lang="es-ES" sz="1100" kern="0">
                <a:solidFill>
                  <a:schemeClr val="tx1">
                    <a:lumMod val="75000"/>
                    <a:lumOff val="25000"/>
                  </a:schemeClr>
                </a:solidFill>
                <a:latin typeface="Montserrat" pitchFamily="2" charset="77"/>
                <a:cs typeface="Times New Roman" panose="02020603050405020304" pitchFamily="18" charset="0"/>
              </a:rPr>
              <a:t>Pese a esta reducción en el volumen total de noches, la estancia media se sitúa en 3,4 días, con un incremento del 4,8,%, lo que indica que, aunque el número total de pernoctaciones disminuye, los visitantes han tendido a prolongar ligeramente su estancia en el destino.</a:t>
            </a:r>
          </a:p>
          <a:p>
            <a:pPr algn="just">
              <a:lnSpc>
                <a:spcPts val="1600"/>
              </a:lnSpc>
              <a:spcAft>
                <a:spcPts val="800"/>
              </a:spcAft>
            </a:pPr>
            <a:r>
              <a:rPr lang="es-ES" sz="1100" kern="0">
                <a:solidFill>
                  <a:schemeClr val="tx1">
                    <a:lumMod val="75000"/>
                    <a:lumOff val="25000"/>
                  </a:schemeClr>
                </a:solidFill>
                <a:latin typeface="Montserrat" pitchFamily="2" charset="77"/>
                <a:cs typeface="Times New Roman" panose="02020603050405020304" pitchFamily="18" charset="0"/>
              </a:rPr>
              <a:t>Este comportamiento apunta a un ajuste en el volumen global de demanda, acompañado de una mayor duración de las estancias, lo que contribuye a mantener la intensidad de uso del alojamiento y el impacto económico asociado a cada visitante. </a:t>
            </a:r>
          </a:p>
        </p:txBody>
      </p:sp>
      <p:sp>
        <p:nvSpPr>
          <p:cNvPr id="9" name="Rectángulo 8">
            <a:extLst>
              <a:ext uri="{FF2B5EF4-FFF2-40B4-BE49-F238E27FC236}">
                <a16:creationId xmlns:a16="http://schemas.microsoft.com/office/drawing/2014/main" id="{F92C1A9D-E007-FC8A-42CF-4E93BD7D9E88}"/>
              </a:ext>
            </a:extLst>
          </p:cNvPr>
          <p:cNvSpPr/>
          <p:nvPr/>
        </p:nvSpPr>
        <p:spPr>
          <a:xfrm>
            <a:off x="6160654" y="1990710"/>
            <a:ext cx="2530177" cy="1077218"/>
          </a:xfrm>
          <a:prstGeom prst="rect">
            <a:avLst/>
          </a:prstGeom>
        </p:spPr>
        <p:txBody>
          <a:bodyPr wrap="square">
            <a:spAutoFit/>
          </a:bodyPr>
          <a:lstStyle/>
          <a:p>
            <a:pPr algn="ctr"/>
            <a:r>
              <a:rPr lang="es-ES" sz="4000">
                <a:solidFill>
                  <a:srgbClr val="000000"/>
                </a:solidFill>
                <a:latin typeface="DM Serif Display" pitchFamily="2" charset="0"/>
                <a:cs typeface="Times New Roman" panose="02020603050405020304" pitchFamily="18" charset="0"/>
              </a:rPr>
              <a:t>2.351.886</a:t>
            </a:r>
          </a:p>
          <a:p>
            <a:pPr algn="ctr"/>
            <a:endParaRPr lang="es-ES" sz="1200">
              <a:solidFill>
                <a:srgbClr val="000000"/>
              </a:solidFill>
              <a:latin typeface="Montserrat Medium" pitchFamily="2" charset="77"/>
              <a:cs typeface="Times New Roman" panose="02020603050405020304" pitchFamily="18" charset="0"/>
            </a:endParaRPr>
          </a:p>
          <a:p>
            <a:pPr algn="ctr"/>
            <a:r>
              <a:rPr lang="es-ES" sz="1200">
                <a:solidFill>
                  <a:srgbClr val="000000"/>
                </a:solidFill>
                <a:latin typeface="Montserrat Medium" pitchFamily="2" charset="77"/>
                <a:cs typeface="Times New Roman" panose="02020603050405020304" pitchFamily="18" charset="0"/>
              </a:rPr>
              <a:t>N.º TOTAL PERNOCTACIONES</a:t>
            </a:r>
          </a:p>
        </p:txBody>
      </p:sp>
      <p:sp>
        <p:nvSpPr>
          <p:cNvPr id="18" name="Rectángulo 17">
            <a:extLst>
              <a:ext uri="{FF2B5EF4-FFF2-40B4-BE49-F238E27FC236}">
                <a16:creationId xmlns:a16="http://schemas.microsoft.com/office/drawing/2014/main" id="{772EC619-C210-B123-90BD-2CC1D36FC92D}"/>
              </a:ext>
            </a:extLst>
          </p:cNvPr>
          <p:cNvSpPr/>
          <p:nvPr/>
        </p:nvSpPr>
        <p:spPr>
          <a:xfrm>
            <a:off x="8913091" y="1990710"/>
            <a:ext cx="2528032" cy="1077218"/>
          </a:xfrm>
          <a:prstGeom prst="rect">
            <a:avLst/>
          </a:prstGeom>
        </p:spPr>
        <p:txBody>
          <a:bodyPr wrap="square">
            <a:spAutoFit/>
          </a:bodyPr>
          <a:lstStyle/>
          <a:p>
            <a:pPr algn="ctr"/>
            <a:r>
              <a:rPr lang="es-ES" sz="4000">
                <a:solidFill>
                  <a:srgbClr val="000000"/>
                </a:solidFill>
                <a:latin typeface="DM Serif Display" pitchFamily="2" charset="0"/>
                <a:cs typeface="Times New Roman" panose="02020603050405020304" pitchFamily="18" charset="0"/>
              </a:rPr>
              <a:t>-10,5%</a:t>
            </a:r>
          </a:p>
          <a:p>
            <a:pPr algn="ctr"/>
            <a:endParaRPr lang="es-ES" sz="1200">
              <a:solidFill>
                <a:srgbClr val="000000"/>
              </a:solidFill>
              <a:latin typeface="Montserrat Medium" pitchFamily="2" charset="77"/>
              <a:cs typeface="Times New Roman" panose="02020603050405020304" pitchFamily="18" charset="0"/>
            </a:endParaRPr>
          </a:p>
          <a:p>
            <a:pPr algn="ctr"/>
            <a:r>
              <a:rPr lang="es-ES" sz="1200">
                <a:solidFill>
                  <a:srgbClr val="000000"/>
                </a:solidFill>
                <a:latin typeface="Montserrat Medium" pitchFamily="2" charset="77"/>
                <a:cs typeface="Times New Roman" panose="02020603050405020304" pitchFamily="18" charset="0"/>
              </a:rPr>
              <a:t>% VARIACIÓN INTERANUAL</a:t>
            </a:r>
          </a:p>
        </p:txBody>
      </p:sp>
      <p:sp>
        <p:nvSpPr>
          <p:cNvPr id="19" name="Rectángulo 18">
            <a:extLst>
              <a:ext uri="{FF2B5EF4-FFF2-40B4-BE49-F238E27FC236}">
                <a16:creationId xmlns:a16="http://schemas.microsoft.com/office/drawing/2014/main" id="{C902B545-579D-6081-584E-AE23101DA6CB}"/>
              </a:ext>
            </a:extLst>
          </p:cNvPr>
          <p:cNvSpPr/>
          <p:nvPr/>
        </p:nvSpPr>
        <p:spPr>
          <a:xfrm>
            <a:off x="6160654" y="3925842"/>
            <a:ext cx="2540001" cy="1077218"/>
          </a:xfrm>
          <a:prstGeom prst="rect">
            <a:avLst/>
          </a:prstGeom>
        </p:spPr>
        <p:txBody>
          <a:bodyPr wrap="square">
            <a:spAutoFit/>
          </a:bodyPr>
          <a:lstStyle/>
          <a:p>
            <a:pPr algn="ctr"/>
            <a:r>
              <a:rPr lang="es-ES" sz="4000">
                <a:solidFill>
                  <a:srgbClr val="000000"/>
                </a:solidFill>
                <a:latin typeface="DM Serif Display" pitchFamily="2" charset="0"/>
                <a:cs typeface="Times New Roman" panose="02020603050405020304" pitchFamily="18" charset="0"/>
              </a:rPr>
              <a:t>3,4</a:t>
            </a:r>
          </a:p>
          <a:p>
            <a:pPr algn="ctr"/>
            <a:endParaRPr lang="es-ES" sz="1200">
              <a:solidFill>
                <a:srgbClr val="000000"/>
              </a:solidFill>
              <a:latin typeface="Montserrat Medium" pitchFamily="2" charset="77"/>
              <a:cs typeface="Times New Roman" panose="02020603050405020304" pitchFamily="18" charset="0"/>
            </a:endParaRPr>
          </a:p>
          <a:p>
            <a:pPr algn="ctr"/>
            <a:r>
              <a:rPr lang="es-ES" sz="1200">
                <a:solidFill>
                  <a:srgbClr val="000000"/>
                </a:solidFill>
                <a:latin typeface="Montserrat Medium" pitchFamily="2" charset="77"/>
                <a:cs typeface="Times New Roman" panose="02020603050405020304" pitchFamily="18" charset="0"/>
              </a:rPr>
              <a:t>ESTANCIA MEDIA (DÍAS) </a:t>
            </a:r>
          </a:p>
        </p:txBody>
      </p:sp>
      <p:sp>
        <p:nvSpPr>
          <p:cNvPr id="20" name="Rectángulo 19">
            <a:extLst>
              <a:ext uri="{FF2B5EF4-FFF2-40B4-BE49-F238E27FC236}">
                <a16:creationId xmlns:a16="http://schemas.microsoft.com/office/drawing/2014/main" id="{3FA1799C-0D20-5048-7E7E-C88BE1238C4B}"/>
              </a:ext>
            </a:extLst>
          </p:cNvPr>
          <p:cNvSpPr/>
          <p:nvPr/>
        </p:nvSpPr>
        <p:spPr>
          <a:xfrm>
            <a:off x="8913091" y="3925842"/>
            <a:ext cx="2528032" cy="1077218"/>
          </a:xfrm>
          <a:prstGeom prst="rect">
            <a:avLst/>
          </a:prstGeom>
        </p:spPr>
        <p:txBody>
          <a:bodyPr wrap="square">
            <a:spAutoFit/>
          </a:bodyPr>
          <a:lstStyle/>
          <a:p>
            <a:pPr algn="ctr"/>
            <a:r>
              <a:rPr lang="es-ES" sz="4000">
                <a:solidFill>
                  <a:srgbClr val="000000"/>
                </a:solidFill>
                <a:latin typeface="DM Serif Display" pitchFamily="2" charset="0"/>
                <a:cs typeface="Times New Roman" panose="02020603050405020304" pitchFamily="18" charset="0"/>
              </a:rPr>
              <a:t>4,8%</a:t>
            </a:r>
          </a:p>
          <a:p>
            <a:pPr algn="ctr"/>
            <a:endParaRPr lang="es-ES" sz="1200">
              <a:solidFill>
                <a:srgbClr val="000000"/>
              </a:solidFill>
              <a:latin typeface="Montserrat Medium" pitchFamily="2" charset="77"/>
              <a:cs typeface="Times New Roman" panose="02020603050405020304" pitchFamily="18" charset="0"/>
            </a:endParaRPr>
          </a:p>
          <a:p>
            <a:pPr algn="ctr"/>
            <a:r>
              <a:rPr lang="es-ES" sz="1200">
                <a:solidFill>
                  <a:srgbClr val="000000"/>
                </a:solidFill>
                <a:latin typeface="Montserrat Medium" pitchFamily="2" charset="77"/>
                <a:cs typeface="Times New Roman" panose="02020603050405020304" pitchFamily="18" charset="0"/>
              </a:rPr>
              <a:t>% VARIACIÓN INTERANUAL</a:t>
            </a:r>
          </a:p>
        </p:txBody>
      </p:sp>
      <p:sp>
        <p:nvSpPr>
          <p:cNvPr id="14" name="Rectángulo redondeado 13">
            <a:extLst>
              <a:ext uri="{FF2B5EF4-FFF2-40B4-BE49-F238E27FC236}">
                <a16:creationId xmlns:a16="http://schemas.microsoft.com/office/drawing/2014/main" id="{750C6217-3841-E7F7-A5DA-764DBDED79CA}"/>
              </a:ext>
            </a:extLst>
          </p:cNvPr>
          <p:cNvSpPr/>
          <p:nvPr/>
        </p:nvSpPr>
        <p:spPr>
          <a:xfrm>
            <a:off x="15258796" y="155733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redondeado 20">
            <a:extLst>
              <a:ext uri="{FF2B5EF4-FFF2-40B4-BE49-F238E27FC236}">
                <a16:creationId xmlns:a16="http://schemas.microsoft.com/office/drawing/2014/main" id="{E9E582FA-2C95-EF26-660F-E474A5F9AE27}"/>
              </a:ext>
            </a:extLst>
          </p:cNvPr>
          <p:cNvSpPr/>
          <p:nvPr/>
        </p:nvSpPr>
        <p:spPr>
          <a:xfrm>
            <a:off x="15258796" y="349558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redondeado 22">
            <a:extLst>
              <a:ext uri="{FF2B5EF4-FFF2-40B4-BE49-F238E27FC236}">
                <a16:creationId xmlns:a16="http://schemas.microsoft.com/office/drawing/2014/main" id="{2C82217B-08C0-115B-A69A-7505C4320238}"/>
              </a:ext>
            </a:extLst>
          </p:cNvPr>
          <p:cNvSpPr/>
          <p:nvPr/>
        </p:nvSpPr>
        <p:spPr>
          <a:xfrm>
            <a:off x="12504712" y="3495588"/>
            <a:ext cx="2544763" cy="177241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Rectángulo 23">
            <a:extLst>
              <a:ext uri="{FF2B5EF4-FFF2-40B4-BE49-F238E27FC236}">
                <a16:creationId xmlns:a16="http://schemas.microsoft.com/office/drawing/2014/main" id="{6A606165-70B5-76BF-4AF3-2C31E8FA61DD}"/>
              </a:ext>
            </a:extLst>
          </p:cNvPr>
          <p:cNvSpPr/>
          <p:nvPr/>
        </p:nvSpPr>
        <p:spPr>
          <a:xfrm>
            <a:off x="12504050" y="1763492"/>
            <a:ext cx="2530177"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23,42%</a:t>
            </a:r>
          </a:p>
          <a:p>
            <a:pPr algn="ctr"/>
            <a:r>
              <a:rPr lang="es-ES" sz="1200">
                <a:solidFill>
                  <a:srgbClr val="04145E"/>
                </a:solidFill>
                <a:latin typeface="Montserrat Medium" pitchFamily="2" charset="77"/>
                <a:cs typeface="Times New Roman" panose="02020603050405020304" pitchFamily="18" charset="0"/>
              </a:rPr>
              <a:t>HOTELES</a:t>
            </a:r>
          </a:p>
        </p:txBody>
      </p:sp>
      <p:sp>
        <p:nvSpPr>
          <p:cNvPr id="25" name="Rectángulo 24">
            <a:extLst>
              <a:ext uri="{FF2B5EF4-FFF2-40B4-BE49-F238E27FC236}">
                <a16:creationId xmlns:a16="http://schemas.microsoft.com/office/drawing/2014/main" id="{E2836029-74E8-7515-AC4D-63283EDA4968}"/>
              </a:ext>
            </a:extLst>
          </p:cNvPr>
          <p:cNvSpPr/>
          <p:nvPr/>
        </p:nvSpPr>
        <p:spPr>
          <a:xfrm>
            <a:off x="15256487" y="1763492"/>
            <a:ext cx="2528032"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19,58%</a:t>
            </a:r>
          </a:p>
          <a:p>
            <a:pPr algn="ctr"/>
            <a:r>
              <a:rPr lang="es-ES" sz="1200">
                <a:solidFill>
                  <a:srgbClr val="04145E"/>
                </a:solidFill>
                <a:latin typeface="Montserrat Medium" pitchFamily="2" charset="77"/>
                <a:cs typeface="Times New Roman" panose="02020603050405020304" pitchFamily="18" charset="0"/>
              </a:rPr>
              <a:t>ALOJAMIENTO RURAL</a:t>
            </a:r>
          </a:p>
        </p:txBody>
      </p:sp>
      <p:sp>
        <p:nvSpPr>
          <p:cNvPr id="26" name="Rectángulo 25">
            <a:extLst>
              <a:ext uri="{FF2B5EF4-FFF2-40B4-BE49-F238E27FC236}">
                <a16:creationId xmlns:a16="http://schemas.microsoft.com/office/drawing/2014/main" id="{6C3D04DF-12BD-E601-A5B8-80C47C262F8A}"/>
              </a:ext>
            </a:extLst>
          </p:cNvPr>
          <p:cNvSpPr/>
          <p:nvPr/>
        </p:nvSpPr>
        <p:spPr>
          <a:xfrm>
            <a:off x="12504050" y="3698624"/>
            <a:ext cx="2540001"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39,75%</a:t>
            </a:r>
          </a:p>
          <a:p>
            <a:pPr algn="ctr"/>
            <a:r>
              <a:rPr lang="es-ES" sz="1200">
                <a:solidFill>
                  <a:srgbClr val="04145E"/>
                </a:solidFill>
                <a:latin typeface="Montserrat Medium" pitchFamily="2" charset="77"/>
                <a:cs typeface="Times New Roman" panose="02020603050405020304" pitchFamily="18" charset="0"/>
              </a:rPr>
              <a:t>CHALETS Y VILLAS</a:t>
            </a:r>
          </a:p>
        </p:txBody>
      </p:sp>
      <p:sp>
        <p:nvSpPr>
          <p:cNvPr id="27" name="Rectángulo 26">
            <a:extLst>
              <a:ext uri="{FF2B5EF4-FFF2-40B4-BE49-F238E27FC236}">
                <a16:creationId xmlns:a16="http://schemas.microsoft.com/office/drawing/2014/main" id="{9F1D46D6-B106-39AB-4F47-43346B5B732B}"/>
              </a:ext>
            </a:extLst>
          </p:cNvPr>
          <p:cNvSpPr/>
          <p:nvPr/>
        </p:nvSpPr>
        <p:spPr>
          <a:xfrm>
            <a:off x="15256487" y="3698624"/>
            <a:ext cx="2528032" cy="892552"/>
          </a:xfrm>
          <a:prstGeom prst="rect">
            <a:avLst/>
          </a:prstGeom>
        </p:spPr>
        <p:txBody>
          <a:bodyPr wrap="square">
            <a:spAutoFit/>
          </a:bodyPr>
          <a:lstStyle/>
          <a:p>
            <a:pPr algn="ctr"/>
            <a:r>
              <a:rPr lang="es-ES" sz="4000">
                <a:solidFill>
                  <a:srgbClr val="04145E"/>
                </a:solidFill>
                <a:latin typeface="DM Serif Display" pitchFamily="2" charset="0"/>
                <a:cs typeface="Times New Roman" panose="02020603050405020304" pitchFamily="18" charset="0"/>
              </a:rPr>
              <a:t>44,83%</a:t>
            </a:r>
          </a:p>
          <a:p>
            <a:pPr algn="ctr"/>
            <a:r>
              <a:rPr lang="es-ES" sz="1200">
                <a:solidFill>
                  <a:srgbClr val="04145E"/>
                </a:solidFill>
                <a:latin typeface="Montserrat Medium" pitchFamily="2" charset="77"/>
                <a:cs typeface="Times New Roman" panose="02020603050405020304" pitchFamily="18" charset="0"/>
              </a:rPr>
              <a:t>VIVIENDAS TURÍSTICAS</a:t>
            </a:r>
          </a:p>
        </p:txBody>
      </p:sp>
      <p:sp>
        <p:nvSpPr>
          <p:cNvPr id="32" name="Rectángulo 31">
            <a:extLst>
              <a:ext uri="{FF2B5EF4-FFF2-40B4-BE49-F238E27FC236}">
                <a16:creationId xmlns:a16="http://schemas.microsoft.com/office/drawing/2014/main" id="{F845939B-DA9F-74D6-6149-27DB453D240C}"/>
              </a:ext>
            </a:extLst>
          </p:cNvPr>
          <p:cNvSpPr/>
          <p:nvPr/>
        </p:nvSpPr>
        <p:spPr>
          <a:xfrm>
            <a:off x="13377527" y="2858206"/>
            <a:ext cx="1443024" cy="276999"/>
          </a:xfrm>
          <a:prstGeom prst="rect">
            <a:avLst/>
          </a:prstGeom>
        </p:spPr>
        <p:txBody>
          <a:bodyPr wrap="none">
            <a:spAutoFit/>
          </a:bodyPr>
          <a:lstStyle/>
          <a:p>
            <a:r>
              <a:rPr lang="es-ES" sz="1200" kern="0">
                <a:solidFill>
                  <a:srgbClr val="76B463"/>
                </a:solidFill>
                <a:latin typeface="Montserrat" pitchFamily="2" charset="77"/>
                <a:cs typeface="Times New Roman" panose="02020603050405020304" pitchFamily="18" charset="0"/>
              </a:rPr>
              <a:t>Respecto a 2025</a:t>
            </a:r>
          </a:p>
        </p:txBody>
      </p:sp>
      <p:pic>
        <p:nvPicPr>
          <p:cNvPr id="10" name="Gráfico 9">
            <a:extLst>
              <a:ext uri="{FF2B5EF4-FFF2-40B4-BE49-F238E27FC236}">
                <a16:creationId xmlns:a16="http://schemas.microsoft.com/office/drawing/2014/main" id="{6DFB8A0C-90F6-0C59-1B74-5C8F3EA481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79188" y="2882153"/>
            <a:ext cx="210671" cy="210671"/>
          </a:xfrm>
          <a:prstGeom prst="rect">
            <a:avLst/>
          </a:prstGeom>
        </p:spPr>
      </p:pic>
      <p:sp>
        <p:nvSpPr>
          <p:cNvPr id="33" name="Rectángulo redondeado 32">
            <a:extLst>
              <a:ext uri="{FF2B5EF4-FFF2-40B4-BE49-F238E27FC236}">
                <a16:creationId xmlns:a16="http://schemas.microsoft.com/office/drawing/2014/main" id="{629C1BF4-B410-F766-9632-3EEBF44DBC10}"/>
              </a:ext>
            </a:extLst>
          </p:cNvPr>
          <p:cNvSpPr/>
          <p:nvPr/>
        </p:nvSpPr>
        <p:spPr>
          <a:xfrm>
            <a:off x="15438822" y="2793077"/>
            <a:ext cx="2212380" cy="382386"/>
          </a:xfrm>
          <a:prstGeom prst="roundRect">
            <a:avLst>
              <a:gd name="adj" fmla="val 50000"/>
            </a:avLst>
          </a:prstGeom>
          <a:solidFill>
            <a:srgbClr val="EB704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68AA50E5-BF61-71F0-F138-8FE53AF64FF3}"/>
              </a:ext>
            </a:extLst>
          </p:cNvPr>
          <p:cNvSpPr/>
          <p:nvPr/>
        </p:nvSpPr>
        <p:spPr>
          <a:xfrm>
            <a:off x="16147753" y="2858206"/>
            <a:ext cx="1443024" cy="276999"/>
          </a:xfrm>
          <a:prstGeom prst="rect">
            <a:avLst/>
          </a:prstGeom>
        </p:spPr>
        <p:txBody>
          <a:bodyPr wrap="none">
            <a:spAutoFit/>
          </a:bodyPr>
          <a:lstStyle/>
          <a:p>
            <a:r>
              <a:rPr lang="es-ES" sz="1200" kern="0">
                <a:solidFill>
                  <a:srgbClr val="EB704A"/>
                </a:solidFill>
                <a:latin typeface="Montserrat" pitchFamily="2" charset="77"/>
                <a:cs typeface="Times New Roman" panose="02020603050405020304" pitchFamily="18" charset="0"/>
              </a:rPr>
              <a:t>Respecto a 2025</a:t>
            </a:r>
          </a:p>
        </p:txBody>
      </p:sp>
      <p:pic>
        <p:nvPicPr>
          <p:cNvPr id="35" name="Gráfico 34">
            <a:extLst>
              <a:ext uri="{FF2B5EF4-FFF2-40B4-BE49-F238E27FC236}">
                <a16:creationId xmlns:a16="http://schemas.microsoft.com/office/drawing/2014/main" id="{18871C5E-2455-2309-D270-22E4FA01D0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15549414" y="2882153"/>
            <a:ext cx="210671" cy="210671"/>
          </a:xfrm>
          <a:prstGeom prst="rect">
            <a:avLst/>
          </a:prstGeom>
        </p:spPr>
      </p:pic>
      <p:sp>
        <p:nvSpPr>
          <p:cNvPr id="36" name="Rectángulo redondeado 35">
            <a:extLst>
              <a:ext uri="{FF2B5EF4-FFF2-40B4-BE49-F238E27FC236}">
                <a16:creationId xmlns:a16="http://schemas.microsoft.com/office/drawing/2014/main" id="{A279BA03-8FF6-A743-6996-DDEB04BFA59A}"/>
              </a:ext>
            </a:extLst>
          </p:cNvPr>
          <p:cNvSpPr/>
          <p:nvPr/>
        </p:nvSpPr>
        <p:spPr>
          <a:xfrm>
            <a:off x="12648728" y="4725144"/>
            <a:ext cx="2212380" cy="382386"/>
          </a:xfrm>
          <a:prstGeom prst="roundRect">
            <a:avLst>
              <a:gd name="adj" fmla="val 50000"/>
            </a:avLst>
          </a:prstGeom>
          <a:solidFill>
            <a:srgbClr val="EB704A">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A6A59323-D20B-5C1C-B13B-1E89BDE981CC}"/>
              </a:ext>
            </a:extLst>
          </p:cNvPr>
          <p:cNvSpPr/>
          <p:nvPr/>
        </p:nvSpPr>
        <p:spPr>
          <a:xfrm>
            <a:off x="13357659" y="4790273"/>
            <a:ext cx="1443024" cy="276999"/>
          </a:xfrm>
          <a:prstGeom prst="rect">
            <a:avLst/>
          </a:prstGeom>
        </p:spPr>
        <p:txBody>
          <a:bodyPr wrap="none">
            <a:spAutoFit/>
          </a:bodyPr>
          <a:lstStyle/>
          <a:p>
            <a:r>
              <a:rPr lang="es-ES" sz="1200" kern="0">
                <a:solidFill>
                  <a:srgbClr val="EB704A"/>
                </a:solidFill>
                <a:latin typeface="Montserrat" pitchFamily="2" charset="77"/>
                <a:cs typeface="Times New Roman" panose="02020603050405020304" pitchFamily="18" charset="0"/>
              </a:rPr>
              <a:t>Respecto a 2025</a:t>
            </a:r>
          </a:p>
        </p:txBody>
      </p:sp>
      <p:pic>
        <p:nvPicPr>
          <p:cNvPr id="38" name="Gráfico 37">
            <a:extLst>
              <a:ext uri="{FF2B5EF4-FFF2-40B4-BE49-F238E27FC236}">
                <a16:creationId xmlns:a16="http://schemas.microsoft.com/office/drawing/2014/main" id="{BE91AA97-5AA2-AD45-BB8D-B26057BCF5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12759320" y="4814220"/>
            <a:ext cx="210671" cy="210671"/>
          </a:xfrm>
          <a:prstGeom prst="rect">
            <a:avLst/>
          </a:prstGeom>
        </p:spPr>
      </p:pic>
      <p:sp>
        <p:nvSpPr>
          <p:cNvPr id="39" name="Rectángulo redondeado 38">
            <a:extLst>
              <a:ext uri="{FF2B5EF4-FFF2-40B4-BE49-F238E27FC236}">
                <a16:creationId xmlns:a16="http://schemas.microsoft.com/office/drawing/2014/main" id="{A7D73A5E-F584-7878-2BCA-FBC8AD3390E5}"/>
              </a:ext>
            </a:extLst>
          </p:cNvPr>
          <p:cNvSpPr/>
          <p:nvPr/>
        </p:nvSpPr>
        <p:spPr>
          <a:xfrm>
            <a:off x="15416826" y="4725144"/>
            <a:ext cx="2212380" cy="382386"/>
          </a:xfrm>
          <a:prstGeom prst="roundRect">
            <a:avLst>
              <a:gd name="adj" fmla="val 50000"/>
            </a:avLst>
          </a:prstGeom>
          <a:solidFill>
            <a:srgbClr val="76B463">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344D69A5-934B-05A3-F265-AB62C5BA70CA}"/>
              </a:ext>
            </a:extLst>
          </p:cNvPr>
          <p:cNvSpPr/>
          <p:nvPr/>
        </p:nvSpPr>
        <p:spPr>
          <a:xfrm>
            <a:off x="16125757" y="4790273"/>
            <a:ext cx="1443024" cy="276999"/>
          </a:xfrm>
          <a:prstGeom prst="rect">
            <a:avLst/>
          </a:prstGeom>
        </p:spPr>
        <p:txBody>
          <a:bodyPr wrap="none">
            <a:spAutoFit/>
          </a:bodyPr>
          <a:lstStyle/>
          <a:p>
            <a:r>
              <a:rPr lang="es-ES" sz="1200" kern="0">
                <a:solidFill>
                  <a:srgbClr val="76B463"/>
                </a:solidFill>
                <a:latin typeface="Montserrat" pitchFamily="2" charset="77"/>
                <a:cs typeface="Times New Roman" panose="02020603050405020304" pitchFamily="18" charset="0"/>
              </a:rPr>
              <a:t>Respecto a 2025</a:t>
            </a:r>
          </a:p>
        </p:txBody>
      </p:sp>
      <p:pic>
        <p:nvPicPr>
          <p:cNvPr id="41" name="Gráfico 40">
            <a:extLst>
              <a:ext uri="{FF2B5EF4-FFF2-40B4-BE49-F238E27FC236}">
                <a16:creationId xmlns:a16="http://schemas.microsoft.com/office/drawing/2014/main" id="{65A4E5A4-0618-8B0D-3309-8A8AB2464F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27418" y="4814220"/>
            <a:ext cx="210671" cy="210671"/>
          </a:xfrm>
          <a:prstGeom prst="rect">
            <a:avLst/>
          </a:prstGeom>
        </p:spPr>
      </p:pic>
      <p:sp>
        <p:nvSpPr>
          <p:cNvPr id="11" name="Rectángulo 10">
            <a:extLst>
              <a:ext uri="{FF2B5EF4-FFF2-40B4-BE49-F238E27FC236}">
                <a16:creationId xmlns:a16="http://schemas.microsoft.com/office/drawing/2014/main" id="{76CDE1FE-C656-E91B-267C-F6AF19950F5E}"/>
              </a:ext>
            </a:extLst>
          </p:cNvPr>
          <p:cNvSpPr/>
          <p:nvPr/>
        </p:nvSpPr>
        <p:spPr>
          <a:xfrm>
            <a:off x="638668" y="5450489"/>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cxnSp>
        <p:nvCxnSpPr>
          <p:cNvPr id="8" name="Conector recto 7">
            <a:extLst>
              <a:ext uri="{FF2B5EF4-FFF2-40B4-BE49-F238E27FC236}">
                <a16:creationId xmlns:a16="http://schemas.microsoft.com/office/drawing/2014/main" id="{E5B7423C-4CAF-7833-1A6A-9DDC7727D750}"/>
              </a:ext>
            </a:extLst>
          </p:cNvPr>
          <p:cNvCxnSpPr/>
          <p:nvPr/>
        </p:nvCxnSpPr>
        <p:spPr>
          <a:xfrm>
            <a:off x="8690831" y="2443546"/>
            <a:ext cx="22226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6CDA7863-5D57-4A06-2A75-7CA4B769510E}"/>
              </a:ext>
            </a:extLst>
          </p:cNvPr>
          <p:cNvCxnSpPr>
            <a:cxnSpLocks/>
          </p:cNvCxnSpPr>
          <p:nvPr/>
        </p:nvCxnSpPr>
        <p:spPr>
          <a:xfrm>
            <a:off x="8690831" y="4272346"/>
            <a:ext cx="22226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2460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866393"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de la cantidad de pernoctaciones en 2025</a:t>
            </a:r>
          </a:p>
        </p:txBody>
      </p:sp>
      <p:sp>
        <p:nvSpPr>
          <p:cNvPr id="14" name="Rectángulo 13">
            <a:extLst>
              <a:ext uri="{FF2B5EF4-FFF2-40B4-BE49-F238E27FC236}">
                <a16:creationId xmlns:a16="http://schemas.microsoft.com/office/drawing/2014/main" id="{2D38D1C3-4EEA-BE4B-AD55-7887288761F2}"/>
              </a:ext>
            </a:extLst>
          </p:cNvPr>
          <p:cNvSpPr/>
          <p:nvPr/>
        </p:nvSpPr>
        <p:spPr>
          <a:xfrm>
            <a:off x="6059488" y="1530768"/>
            <a:ext cx="5400675" cy="3764380"/>
          </a:xfrm>
          <a:prstGeom prst="rect">
            <a:avLst/>
          </a:prstGeom>
        </p:spPr>
        <p:txBody>
          <a:bodyPr wrap="square" numCol="1" spcCol="432000">
            <a:noAutofit/>
          </a:bodyPr>
          <a:lstStyle/>
          <a:p>
            <a:pPr>
              <a:lnSpc>
                <a:spcPts val="1600"/>
              </a:lnSpc>
              <a:spcAft>
                <a:spcPts val="600"/>
              </a:spcAft>
            </a:pPr>
            <a:r>
              <a:rPr lang="es-ES" sz="1200" b="1" kern="0">
                <a:solidFill>
                  <a:srgbClr val="373736"/>
                </a:solidFill>
                <a:latin typeface="Montserrat SemiBold" pitchFamily="2" charset="77"/>
                <a:cs typeface="Times New Roman" panose="02020603050405020304" pitchFamily="18" charset="0"/>
              </a:rPr>
              <a:t>Número total de turistas alojados por estación</a:t>
            </a:r>
          </a:p>
          <a:p>
            <a:pPr>
              <a:lnSpc>
                <a:spcPts val="1600"/>
              </a:lnSpc>
              <a:spcAft>
                <a:spcPts val="600"/>
              </a:spcAft>
            </a:pPr>
            <a:endParaRPr lang="es-ES" sz="1200" kern="0">
              <a:solidFill>
                <a:srgbClr val="373736"/>
              </a:solidFill>
              <a:latin typeface="Montserrat" pitchFamily="2" charset="77"/>
              <a:cs typeface="Times New Roman" panose="02020603050405020304" pitchFamily="18" charset="0"/>
            </a:endParaRPr>
          </a:p>
          <a:p>
            <a:pPr algn="just">
              <a:spcAft>
                <a:spcPts val="600"/>
              </a:spcAft>
            </a:pPr>
            <a:r>
              <a:rPr lang="es-ES" sz="1100" kern="0">
                <a:solidFill>
                  <a:schemeClr val="tx1">
                    <a:lumMod val="75000"/>
                    <a:lumOff val="25000"/>
                  </a:schemeClr>
                </a:solidFill>
                <a:latin typeface="Montserrat" pitchFamily="2" charset="77"/>
                <a:cs typeface="Times New Roman" panose="02020603050405020304" pitchFamily="18" charset="0"/>
              </a:rPr>
              <a:t>La distribución estacional de la demanda en 2025 muestra una clara concentración en verano, con 1.165.895 turistas alojados, muy por encima del resto de estaciones, lo que confirma el peso determinante de la temporada alta en la actividad alojativa del destino.</a:t>
            </a:r>
          </a:p>
          <a:p>
            <a:pPr algn="just">
              <a:spcAft>
                <a:spcPts val="60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spcAft>
                <a:spcPts val="600"/>
              </a:spcAft>
            </a:pPr>
            <a:r>
              <a:rPr lang="es-ES" sz="1100" kern="0">
                <a:solidFill>
                  <a:schemeClr val="tx1">
                    <a:lumMod val="75000"/>
                    <a:lumOff val="25000"/>
                  </a:schemeClr>
                </a:solidFill>
                <a:latin typeface="Montserrat" pitchFamily="2" charset="77"/>
                <a:cs typeface="Times New Roman" panose="02020603050405020304" pitchFamily="18" charset="0"/>
              </a:rPr>
              <a:t>En primavera (47.329) y otoño (47.384) los niveles se sitúan en cifras prácticamente similares, evidenciando un comportamiento equilibrado en las temporadas intermedias y una base de demanda estable más allá de los meses centrales del verano. Por su parte, el invierno (29.438) registra el volumen más reducido del año, reflejando el patrón estacional característico del destino.</a:t>
            </a:r>
          </a:p>
          <a:p>
            <a:pPr algn="just">
              <a:spcAft>
                <a:spcPts val="600"/>
              </a:spcAft>
            </a:pPr>
            <a:endParaRPr lang="es-ES" sz="1100" kern="0">
              <a:solidFill>
                <a:schemeClr val="tx1">
                  <a:lumMod val="75000"/>
                  <a:lumOff val="25000"/>
                </a:schemeClr>
              </a:solidFill>
              <a:latin typeface="Montserrat" pitchFamily="2" charset="77"/>
              <a:cs typeface="Times New Roman" panose="02020603050405020304" pitchFamily="18" charset="0"/>
            </a:endParaRPr>
          </a:p>
          <a:p>
            <a:pPr algn="just">
              <a:spcAft>
                <a:spcPts val="600"/>
              </a:spcAft>
            </a:pPr>
            <a:r>
              <a:rPr lang="es-ES" sz="1100" kern="0">
                <a:solidFill>
                  <a:schemeClr val="tx1">
                    <a:lumMod val="75000"/>
                    <a:lumOff val="25000"/>
                  </a:schemeClr>
                </a:solidFill>
                <a:latin typeface="Montserrat" pitchFamily="2" charset="77"/>
                <a:cs typeface="Times New Roman" panose="02020603050405020304" pitchFamily="18" charset="0"/>
              </a:rPr>
              <a:t>Los datos confirman una marcada estacionalidad, con una fuerte dependencia del periodo estival y un margen de mejora en la dinamización de la demanda durante la temporada baja.</a:t>
            </a:r>
          </a:p>
        </p:txBody>
      </p:sp>
      <p:graphicFrame>
        <p:nvGraphicFramePr>
          <p:cNvPr id="3" name="Gráfico 2">
            <a:extLst>
              <a:ext uri="{FF2B5EF4-FFF2-40B4-BE49-F238E27FC236}">
                <a16:creationId xmlns:a16="http://schemas.microsoft.com/office/drawing/2014/main" id="{8A34BC5E-B384-F6AC-2282-D96678C2BBC1}"/>
              </a:ext>
            </a:extLst>
          </p:cNvPr>
          <p:cNvGraphicFramePr>
            <a:graphicFrameLocks/>
          </p:cNvGraphicFramePr>
          <p:nvPr>
            <p:extLst>
              <p:ext uri="{D42A27DB-BD31-4B8C-83A1-F6EECF244321}">
                <p14:modId xmlns:p14="http://schemas.microsoft.com/office/powerpoint/2010/main" val="3769992647"/>
              </p:ext>
            </p:extLst>
          </p:nvPr>
        </p:nvGraphicFramePr>
        <p:xfrm>
          <a:off x="503049" y="2562447"/>
          <a:ext cx="4730774" cy="2902558"/>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ángulo 3">
            <a:extLst>
              <a:ext uri="{FF2B5EF4-FFF2-40B4-BE49-F238E27FC236}">
                <a16:creationId xmlns:a16="http://schemas.microsoft.com/office/drawing/2014/main" id="{694B7319-E151-1FF7-0361-B1DD7B169FAF}"/>
              </a:ext>
            </a:extLst>
          </p:cNvPr>
          <p:cNvSpPr/>
          <p:nvPr/>
        </p:nvSpPr>
        <p:spPr>
          <a:xfrm>
            <a:off x="638668" y="5450489"/>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1794738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BF879-4465-5E22-BA4E-267BC22DBC36}"/>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669DF1B-36BC-6F1F-A0D3-33080001EB6D}"/>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118C57C2-8739-EF4B-FC6B-0B2E60E7260D}"/>
              </a:ext>
            </a:extLst>
          </p:cNvPr>
          <p:cNvSpPr/>
          <p:nvPr/>
        </p:nvSpPr>
        <p:spPr>
          <a:xfrm>
            <a:off x="638668" y="1392995"/>
            <a:ext cx="4607100"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Media de pernoctaciones por estación</a:t>
            </a:r>
          </a:p>
        </p:txBody>
      </p:sp>
      <p:graphicFrame>
        <p:nvGraphicFramePr>
          <p:cNvPr id="3" name="Gráfico 2">
            <a:extLst>
              <a:ext uri="{FF2B5EF4-FFF2-40B4-BE49-F238E27FC236}">
                <a16:creationId xmlns:a16="http://schemas.microsoft.com/office/drawing/2014/main" id="{DA773E05-5147-AA67-02AA-353A3CA53A21}"/>
              </a:ext>
            </a:extLst>
          </p:cNvPr>
          <p:cNvGraphicFramePr>
            <a:graphicFrameLocks/>
          </p:cNvGraphicFramePr>
          <p:nvPr>
            <p:extLst>
              <p:ext uri="{D42A27DB-BD31-4B8C-83A1-F6EECF244321}">
                <p14:modId xmlns:p14="http://schemas.microsoft.com/office/powerpoint/2010/main" val="2125585830"/>
              </p:ext>
            </p:extLst>
          </p:nvPr>
        </p:nvGraphicFramePr>
        <p:xfrm>
          <a:off x="6422065" y="1169581"/>
          <a:ext cx="5486399" cy="4306186"/>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EB0ADDEB-3DE3-4044-D6C6-F790819D6FB7}"/>
              </a:ext>
            </a:extLst>
          </p:cNvPr>
          <p:cNvSpPr txBox="1"/>
          <p:nvPr/>
        </p:nvSpPr>
        <p:spPr>
          <a:xfrm>
            <a:off x="702649" y="2608122"/>
            <a:ext cx="5131268" cy="2123658"/>
          </a:xfrm>
          <a:prstGeom prst="rect">
            <a:avLst/>
          </a:prstGeom>
          <a:noFill/>
        </p:spPr>
        <p:txBody>
          <a:bodyPr wrap="square" rtlCol="0">
            <a:spAutoFit/>
          </a:bodyPr>
          <a:lstStyle/>
          <a:p>
            <a:pPr algn="just"/>
            <a:r>
              <a:rPr lang="es-ES" sz="1100">
                <a:solidFill>
                  <a:schemeClr val="tx1">
                    <a:lumMod val="75000"/>
                    <a:lumOff val="25000"/>
                  </a:schemeClr>
                </a:solidFill>
                <a:latin typeface="Montserrat" panose="00000500000000000000" pitchFamily="2" charset="0"/>
              </a:rPr>
              <a:t>En 2025, la estancia media muestra diferencias moderadas según la estación del año, alcanzando su valor más elevado en verano (3,8 noches), lo que confirma el carácter vacacional de la temporada alta.</a:t>
            </a:r>
          </a:p>
          <a:p>
            <a:pPr algn="just"/>
            <a:endParaRPr lang="es-ES" sz="1100">
              <a:solidFill>
                <a:schemeClr val="tx1">
                  <a:lumMod val="75000"/>
                  <a:lumOff val="25000"/>
                </a:schemeClr>
              </a:solidFill>
              <a:latin typeface="Montserrat" panose="00000500000000000000" pitchFamily="2" charset="0"/>
            </a:endParaRPr>
          </a:p>
          <a:p>
            <a:pPr algn="just"/>
            <a:r>
              <a:rPr lang="es-ES" sz="1100">
                <a:solidFill>
                  <a:schemeClr val="tx1">
                    <a:lumMod val="75000"/>
                    <a:lumOff val="25000"/>
                  </a:schemeClr>
                </a:solidFill>
                <a:latin typeface="Montserrat" panose="00000500000000000000" pitchFamily="2" charset="0"/>
              </a:rPr>
              <a:t>El verano registra las estancias medias más prolongadas (3,8 noches). Le siguen invierno (3,1 noches) y otoño (2,9 noches), mientras que primavera presenta la estancia media más corta del año (2,7 noches).</a:t>
            </a:r>
          </a:p>
          <a:p>
            <a:pPr algn="just"/>
            <a:endParaRPr lang="es-ES" sz="1100">
              <a:solidFill>
                <a:schemeClr val="tx1">
                  <a:lumMod val="75000"/>
                  <a:lumOff val="25000"/>
                </a:schemeClr>
              </a:solidFill>
              <a:latin typeface="Montserrat" panose="00000500000000000000" pitchFamily="2" charset="0"/>
            </a:endParaRPr>
          </a:p>
          <a:p>
            <a:pPr algn="just"/>
            <a:r>
              <a:rPr lang="es-ES" sz="1100">
                <a:solidFill>
                  <a:schemeClr val="tx1">
                    <a:lumMod val="75000"/>
                    <a:lumOff val="25000"/>
                  </a:schemeClr>
                </a:solidFill>
                <a:latin typeface="Montserrat" panose="00000500000000000000" pitchFamily="2" charset="0"/>
              </a:rPr>
              <a:t>Los datos reflejan una estructura relativamente equilibrada a lo largo del año, aunque el verano continúa concentrando las estancias más prolongadas, reforzando su papel central en la dinámica anual de ocupación.</a:t>
            </a:r>
            <a:endParaRPr lang="es-ES" sz="1100">
              <a:latin typeface="Montserrat" panose="00000500000000000000" pitchFamily="2" charset="0"/>
            </a:endParaRPr>
          </a:p>
        </p:txBody>
      </p:sp>
      <p:sp>
        <p:nvSpPr>
          <p:cNvPr id="7" name="Rectángulo 6">
            <a:extLst>
              <a:ext uri="{FF2B5EF4-FFF2-40B4-BE49-F238E27FC236}">
                <a16:creationId xmlns:a16="http://schemas.microsoft.com/office/drawing/2014/main" id="{3FD8A601-6DA6-283F-3E59-216F7D504C6D}"/>
              </a:ext>
            </a:extLst>
          </p:cNvPr>
          <p:cNvSpPr/>
          <p:nvPr/>
        </p:nvSpPr>
        <p:spPr>
          <a:xfrm>
            <a:off x="638668" y="5450489"/>
            <a:ext cx="4672529" cy="297133"/>
          </a:xfrm>
          <a:prstGeom prst="rect">
            <a:avLst/>
          </a:prstGeom>
        </p:spPr>
        <p:txBody>
          <a:bodyPr wrap="square">
            <a:spAutoFit/>
          </a:bodyPr>
          <a:lstStyle/>
          <a:p>
            <a:pPr>
              <a:lnSpc>
                <a:spcPts val="1800"/>
              </a:lnSpc>
            </a:pP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Fuente: elaboración propia a partir de datos de Smart </a:t>
            </a:r>
            <a:r>
              <a:rPr lang="es-ES" sz="900" i="1" err="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Tourism</a:t>
            </a:r>
            <a:r>
              <a:rPr lang="es-ES" sz="900" i="1">
                <a:solidFill>
                  <a:schemeClr val="tx1">
                    <a:lumMod val="75000"/>
                    <a:lumOff val="25000"/>
                  </a:schemeClr>
                </a:solidFill>
                <a:latin typeface="Montserrat" panose="00000500000000000000" pitchFamily="2" charset="0"/>
                <a:ea typeface="Times New Roman" panose="02020603050405020304" pitchFamily="18" charset="0"/>
                <a:cs typeface="Times New Roman" panose="02020603050405020304" pitchFamily="18" charset="0"/>
              </a:rPr>
              <a:t> CV</a:t>
            </a:r>
            <a:endParaRPr lang="es-ES" sz="900" i="1">
              <a:solidFill>
                <a:schemeClr val="tx1">
                  <a:lumMod val="75000"/>
                  <a:lumOff val="25000"/>
                </a:schemeClr>
              </a:solidFill>
              <a:latin typeface="Montserrat" panose="00000500000000000000" pitchFamily="2" charset="0"/>
            </a:endParaRPr>
          </a:p>
        </p:txBody>
      </p:sp>
    </p:spTree>
    <p:extLst>
      <p:ext uri="{BB962C8B-B14F-4D97-AF65-F5344CB8AC3E}">
        <p14:creationId xmlns:p14="http://schemas.microsoft.com/office/powerpoint/2010/main" val="42651342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8EDC1-D2B1-70C6-3AB9-C0BD668CD55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C112402-A806-3760-BEBB-681915AADF17}"/>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21" name="Rectángulo 20">
            <a:extLst>
              <a:ext uri="{FF2B5EF4-FFF2-40B4-BE49-F238E27FC236}">
                <a16:creationId xmlns:a16="http://schemas.microsoft.com/office/drawing/2014/main" id="{21B39BE8-F59D-0FEF-AF5A-55B1A5D7C796}"/>
              </a:ext>
            </a:extLst>
          </p:cNvPr>
          <p:cNvSpPr/>
          <p:nvPr/>
        </p:nvSpPr>
        <p:spPr>
          <a:xfrm>
            <a:off x="638668" y="2740538"/>
            <a:ext cx="5280124" cy="2786147"/>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000000"/>
                </a:solidFill>
                <a:latin typeface="Montserrat SemiBold" pitchFamily="2" charset="77"/>
                <a:cs typeface="Times New Roman" panose="02020603050405020304" pitchFamily="18" charset="0"/>
              </a:rPr>
              <a:t>Turismo nacional</a:t>
            </a:r>
          </a:p>
          <a:p>
            <a:pPr marL="15875">
              <a:lnSpc>
                <a:spcPct val="115000"/>
              </a:lnSpc>
              <a:spcAft>
                <a:spcPts val="0"/>
              </a:spcAft>
              <a:buClr>
                <a:srgbClr val="00325C"/>
              </a:buClr>
              <a:buSzPct val="100000"/>
            </a:pPr>
            <a:endParaRPr lang="es-ES" sz="900" b="1" kern="0">
              <a:solidFill>
                <a:srgbClr val="000000"/>
              </a:solidFill>
              <a:latin typeface="Montserrat SemiBold"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anose="00000500000000000000" pitchFamily="2" charset="0"/>
                <a:cs typeface="Times New Roman" panose="02020603050405020304" pitchFamily="18" charset="0"/>
              </a:rPr>
              <a:t>En 2025, la estancia media del turismo nacional muestra diferencias moderadas entre los principales mercados emisores. Ciudad Real registra la duración más elevada, con 7,7 noches, seguida de Madrid (6,7), Toledo (6,4) y Guadalajara (6,3), configurando un grupo de mercados con estancias relativamente prolongadas.</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anose="00000500000000000000" pitchFamily="2" charset="0"/>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anose="00000500000000000000" pitchFamily="2" charset="0"/>
                <a:cs typeface="Times New Roman" panose="02020603050405020304" pitchFamily="18" charset="0"/>
              </a:rPr>
              <a:t>Por el contrario, Albacete (3,6 noches) presenta una permanencia significativamente más corta, lo que apunta a un perfil de visita más breve, asociado a viajes de proximidad o de escapada. En términos interanuales, todos los mercados muestran ligeros descensos, especialmente Guadalajara (−11,40%) y Madrid (−10,60%), mientras que Ciudad Real (−1%) y Albacete (−0,30%) presentan una mayor estabilidad.</a:t>
            </a:r>
          </a:p>
        </p:txBody>
      </p:sp>
      <p:graphicFrame>
        <p:nvGraphicFramePr>
          <p:cNvPr id="10" name="Gráfico 9">
            <a:extLst>
              <a:ext uri="{FF2B5EF4-FFF2-40B4-BE49-F238E27FC236}">
                <a16:creationId xmlns:a16="http://schemas.microsoft.com/office/drawing/2014/main" id="{C2CA99ED-68AF-AC34-50F0-B24AC7426068}"/>
              </a:ext>
            </a:extLst>
          </p:cNvPr>
          <p:cNvGraphicFramePr>
            <a:graphicFrameLocks/>
          </p:cNvGraphicFramePr>
          <p:nvPr>
            <p:extLst>
              <p:ext uri="{D42A27DB-BD31-4B8C-83A1-F6EECF244321}">
                <p14:modId xmlns:p14="http://schemas.microsoft.com/office/powerpoint/2010/main" val="299653816"/>
              </p:ext>
            </p:extLst>
          </p:nvPr>
        </p:nvGraphicFramePr>
        <p:xfrm>
          <a:off x="6273209" y="1075606"/>
          <a:ext cx="5751093" cy="4963687"/>
        </p:xfrm>
        <a:graphic>
          <a:graphicData uri="http://schemas.openxmlformats.org/drawingml/2006/chart">
            <c:chart xmlns:c="http://schemas.openxmlformats.org/drawingml/2006/chart" xmlns:r="http://schemas.openxmlformats.org/officeDocument/2006/relationships" r:id="rId2"/>
          </a:graphicData>
        </a:graphic>
      </p:graphicFrame>
      <p:sp>
        <p:nvSpPr>
          <p:cNvPr id="12" name="CuadroTexto 11">
            <a:extLst>
              <a:ext uri="{FF2B5EF4-FFF2-40B4-BE49-F238E27FC236}">
                <a16:creationId xmlns:a16="http://schemas.microsoft.com/office/drawing/2014/main" id="{8A23EF84-63A1-4816-A19D-B4E950570ED4}"/>
              </a:ext>
            </a:extLst>
          </p:cNvPr>
          <p:cNvSpPr txBox="1"/>
          <p:nvPr/>
        </p:nvSpPr>
        <p:spPr>
          <a:xfrm>
            <a:off x="683253" y="1406903"/>
            <a:ext cx="6097772" cy="1333635"/>
          </a:xfrm>
          <a:prstGeom prst="rect">
            <a:avLst/>
          </a:prstGeom>
          <a:noFill/>
        </p:spPr>
        <p:txBody>
          <a:bodyPr wrap="square">
            <a:spAutoFit/>
          </a:bodyPr>
          <a:lstStyle/>
          <a:p>
            <a:pPr marL="0" marR="0" lvl="0" indent="0" algn="l" defTabSz="914400" rtl="0" eaLnBrk="1" fontAlgn="auto" latinLnBrk="0" hangingPunct="1">
              <a:lnSpc>
                <a:spcPts val="3200"/>
              </a:lnSpc>
              <a:spcBef>
                <a:spcPts val="0"/>
              </a:spcBef>
              <a:spcAft>
                <a:spcPts val="0"/>
              </a:spcAft>
              <a:buClrTx/>
              <a:buSzTx/>
              <a:buFontTx/>
              <a:buNone/>
              <a:tabLst/>
              <a:defRPr/>
            </a:pPr>
            <a:r>
              <a:rPr kumimoji="0" lang="es-ES" sz="3000" b="0" i="0" u="none" strike="noStrike" kern="1200" cap="none" spc="0" normalizeH="0" baseline="0" noProof="0">
                <a:ln>
                  <a:noFill/>
                </a:ln>
                <a:solidFill>
                  <a:prstClr val="black">
                    <a:lumMod val="85000"/>
                    <a:lumOff val="15000"/>
                  </a:prstClr>
                </a:solidFill>
                <a:effectLst/>
                <a:uLnTx/>
                <a:uFillTx/>
                <a:latin typeface="DM Serif Display" pitchFamily="2" charset="0"/>
                <a:ea typeface="+mn-ea"/>
                <a:cs typeface="Times New Roman" panose="02020603050405020304" pitchFamily="18" charset="0"/>
              </a:rPr>
              <a:t>Estancia media principales </a:t>
            </a:r>
            <a:br>
              <a:rPr kumimoji="0" lang="es-ES" sz="3000" b="0" i="0" u="none" strike="noStrike" kern="1200" cap="none" spc="0" normalizeH="0" baseline="0" noProof="0">
                <a:ln>
                  <a:noFill/>
                </a:ln>
                <a:solidFill>
                  <a:prstClr val="black">
                    <a:lumMod val="85000"/>
                    <a:lumOff val="15000"/>
                  </a:prstClr>
                </a:solidFill>
                <a:effectLst/>
                <a:uLnTx/>
                <a:uFillTx/>
                <a:latin typeface="DM Serif Display" pitchFamily="2" charset="0"/>
                <a:ea typeface="+mn-ea"/>
                <a:cs typeface="Times New Roman" panose="02020603050405020304" pitchFamily="18" charset="0"/>
              </a:rPr>
            </a:br>
            <a:r>
              <a:rPr kumimoji="0" lang="es-ES" sz="3000" b="0" i="0" u="none" strike="noStrike" kern="1200" cap="none" spc="0" normalizeH="0" baseline="0" noProof="0">
                <a:ln>
                  <a:noFill/>
                </a:ln>
                <a:solidFill>
                  <a:prstClr val="black">
                    <a:lumMod val="85000"/>
                    <a:lumOff val="15000"/>
                  </a:prstClr>
                </a:solidFill>
                <a:effectLst/>
                <a:uLnTx/>
                <a:uFillTx/>
                <a:latin typeface="DM Serif Display" pitchFamily="2" charset="0"/>
                <a:ea typeface="+mn-ea"/>
                <a:cs typeface="Times New Roman" panose="02020603050405020304" pitchFamily="18" charset="0"/>
              </a:rPr>
              <a:t>mercados </a:t>
            </a:r>
            <a:r>
              <a:rPr lang="es-ES" sz="3000">
                <a:solidFill>
                  <a:prstClr val="black">
                    <a:lumMod val="85000"/>
                    <a:lumOff val="15000"/>
                  </a:prstClr>
                </a:solidFill>
                <a:latin typeface="DM Serif Display" pitchFamily="2" charset="0"/>
                <a:cs typeface="Times New Roman" panose="02020603050405020304" pitchFamily="18" charset="0"/>
              </a:rPr>
              <a:t>nacionales</a:t>
            </a:r>
            <a:r>
              <a:rPr kumimoji="0" lang="es-ES" sz="3000" b="0" i="0" u="none" strike="noStrike" kern="1200" cap="none" spc="0" normalizeH="0" baseline="0" noProof="0">
                <a:ln>
                  <a:noFill/>
                </a:ln>
                <a:solidFill>
                  <a:prstClr val="black">
                    <a:lumMod val="85000"/>
                    <a:lumOff val="15000"/>
                  </a:prstClr>
                </a:solidFill>
                <a:effectLst/>
                <a:uLnTx/>
                <a:uFillTx/>
                <a:latin typeface="DM Serif Display" pitchFamily="2" charset="0"/>
                <a:ea typeface="+mn-ea"/>
                <a:cs typeface="Times New Roman" panose="02020603050405020304" pitchFamily="18" charset="0"/>
              </a:rPr>
              <a:t> </a:t>
            </a:r>
          </a:p>
          <a:p>
            <a:pPr marL="0" marR="0" lvl="0" indent="0" algn="l" defTabSz="914400" rtl="0" eaLnBrk="1" fontAlgn="auto" latinLnBrk="0" hangingPunct="1">
              <a:lnSpc>
                <a:spcPts val="3200"/>
              </a:lnSpc>
              <a:spcBef>
                <a:spcPts val="0"/>
              </a:spcBef>
              <a:spcAft>
                <a:spcPts val="0"/>
              </a:spcAft>
              <a:buClrTx/>
              <a:buSzTx/>
              <a:buFontTx/>
              <a:buNone/>
              <a:tabLst/>
              <a:defRPr/>
            </a:pPr>
            <a:r>
              <a:rPr kumimoji="0" lang="es-ES" sz="3000" b="0" i="0" u="none" strike="noStrike" kern="1200" cap="none" spc="0" normalizeH="0" baseline="0" noProof="0">
                <a:ln>
                  <a:noFill/>
                </a:ln>
                <a:solidFill>
                  <a:prstClr val="black">
                    <a:lumMod val="85000"/>
                    <a:lumOff val="15000"/>
                  </a:prstClr>
                </a:solidFill>
                <a:effectLst/>
                <a:uLnTx/>
                <a:uFillTx/>
                <a:latin typeface="DM Serif Display" pitchFamily="2" charset="0"/>
                <a:ea typeface="+mn-ea"/>
                <a:cs typeface="Times New Roman" panose="02020603050405020304" pitchFamily="18" charset="0"/>
              </a:rPr>
              <a:t>(Ene - Dic 2025)</a:t>
            </a:r>
            <a:endParaRPr kumimoji="0" lang="es-ES" sz="3000" b="0" i="0" u="none" strike="noStrike" kern="1200" cap="none" spc="0" normalizeH="0" baseline="0" noProof="0">
              <a:ln>
                <a:noFill/>
              </a:ln>
              <a:solidFill>
                <a:srgbClr val="FF0000"/>
              </a:solidFill>
              <a:effectLst/>
              <a:highlight>
                <a:srgbClr val="FFFF00"/>
              </a:highlight>
              <a:uLnTx/>
              <a:uFillTx/>
              <a:latin typeface="DM Serif Display" pitchFamily="2" charset="0"/>
              <a:ea typeface="+mn-ea"/>
              <a:cs typeface="Times New Roman" panose="02020603050405020304" pitchFamily="18" charset="0"/>
            </a:endParaRPr>
          </a:p>
        </p:txBody>
      </p:sp>
      <p:sp>
        <p:nvSpPr>
          <p:cNvPr id="13" name="Rectángulo 12">
            <a:extLst>
              <a:ext uri="{FF2B5EF4-FFF2-40B4-BE49-F238E27FC236}">
                <a16:creationId xmlns:a16="http://schemas.microsoft.com/office/drawing/2014/main" id="{42A1D321-7764-A830-038E-E685945E1FC0}"/>
              </a:ext>
            </a:extLst>
          </p:cNvPr>
          <p:cNvSpPr/>
          <p:nvPr/>
        </p:nvSpPr>
        <p:spPr>
          <a:xfrm>
            <a:off x="6434216" y="612182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-1%</a:t>
            </a:r>
          </a:p>
        </p:txBody>
      </p:sp>
      <p:sp>
        <p:nvSpPr>
          <p:cNvPr id="14" name="Rectángulo 13">
            <a:extLst>
              <a:ext uri="{FF2B5EF4-FFF2-40B4-BE49-F238E27FC236}">
                <a16:creationId xmlns:a16="http://schemas.microsoft.com/office/drawing/2014/main" id="{D513D7E1-2457-C64F-EA02-789E39160CD1}"/>
              </a:ext>
            </a:extLst>
          </p:cNvPr>
          <p:cNvSpPr/>
          <p:nvPr/>
        </p:nvSpPr>
        <p:spPr>
          <a:xfrm>
            <a:off x="7519600" y="612182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-10,60%</a:t>
            </a:r>
          </a:p>
        </p:txBody>
      </p:sp>
      <p:sp>
        <p:nvSpPr>
          <p:cNvPr id="15" name="Rectángulo 14">
            <a:extLst>
              <a:ext uri="{FF2B5EF4-FFF2-40B4-BE49-F238E27FC236}">
                <a16:creationId xmlns:a16="http://schemas.microsoft.com/office/drawing/2014/main" id="{C05F5A92-D203-5E75-1C74-2535D7AB8F47}"/>
              </a:ext>
            </a:extLst>
          </p:cNvPr>
          <p:cNvSpPr/>
          <p:nvPr/>
        </p:nvSpPr>
        <p:spPr>
          <a:xfrm>
            <a:off x="8595407" y="612182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-9,99%</a:t>
            </a:r>
          </a:p>
        </p:txBody>
      </p:sp>
      <p:sp>
        <p:nvSpPr>
          <p:cNvPr id="16" name="Rectángulo 15">
            <a:extLst>
              <a:ext uri="{FF2B5EF4-FFF2-40B4-BE49-F238E27FC236}">
                <a16:creationId xmlns:a16="http://schemas.microsoft.com/office/drawing/2014/main" id="{24B250E8-15FA-236B-FA01-CA45ACEF1C81}"/>
              </a:ext>
            </a:extLst>
          </p:cNvPr>
          <p:cNvSpPr/>
          <p:nvPr/>
        </p:nvSpPr>
        <p:spPr>
          <a:xfrm>
            <a:off x="9655088" y="612182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-11,40%</a:t>
            </a:r>
          </a:p>
        </p:txBody>
      </p:sp>
      <p:sp>
        <p:nvSpPr>
          <p:cNvPr id="17" name="Rectángulo 16">
            <a:extLst>
              <a:ext uri="{FF2B5EF4-FFF2-40B4-BE49-F238E27FC236}">
                <a16:creationId xmlns:a16="http://schemas.microsoft.com/office/drawing/2014/main" id="{2FCBE656-8C30-6450-F2EC-1C3597566C2C}"/>
              </a:ext>
            </a:extLst>
          </p:cNvPr>
          <p:cNvSpPr/>
          <p:nvPr/>
        </p:nvSpPr>
        <p:spPr>
          <a:xfrm>
            <a:off x="10719410" y="612182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-0,30%</a:t>
            </a:r>
          </a:p>
        </p:txBody>
      </p:sp>
    </p:spTree>
    <p:extLst>
      <p:ext uri="{BB962C8B-B14F-4D97-AF65-F5344CB8AC3E}">
        <p14:creationId xmlns:p14="http://schemas.microsoft.com/office/powerpoint/2010/main" val="38507992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81A38-1143-068A-4EFE-3F61126569A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B2FC3E6-ED20-C37E-5692-DC2364758B1A}"/>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19" name="Rectángulo 18">
            <a:extLst>
              <a:ext uri="{FF2B5EF4-FFF2-40B4-BE49-F238E27FC236}">
                <a16:creationId xmlns:a16="http://schemas.microsoft.com/office/drawing/2014/main" id="{EF4E067D-CD46-7F51-6618-3F200267F0A5}"/>
              </a:ext>
            </a:extLst>
          </p:cNvPr>
          <p:cNvSpPr/>
          <p:nvPr/>
        </p:nvSpPr>
        <p:spPr>
          <a:xfrm>
            <a:off x="519763" y="2726630"/>
            <a:ext cx="5260806" cy="2786147"/>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E62C43"/>
                </a:solidFill>
                <a:latin typeface="Montserrat SemiBold" pitchFamily="2" charset="77"/>
                <a:cs typeface="Times New Roman" panose="02020603050405020304" pitchFamily="18" charset="0"/>
              </a:rPr>
              <a:t>Turismo internacional </a:t>
            </a:r>
          </a:p>
          <a:p>
            <a:pPr marL="15875" algn="just">
              <a:lnSpc>
                <a:spcPct val="115000"/>
              </a:lnSpc>
              <a:spcAft>
                <a:spcPts val="0"/>
              </a:spcAft>
              <a:buClr>
                <a:srgbClr val="00325C"/>
              </a:buClr>
              <a:buSzPct val="100000"/>
            </a:pPr>
            <a:endParaRPr lang="es-ES" sz="9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En 2025, la estancia media presenta diferencias relevantes según el mercado emisor. Italia (4,14 noches) registra la permanencia más prolongada, seguida de Francia (3,28) y Bélgica (3,25), configurando el grupo de mercados con mayor duración de estancia. En un nivel intermedio se sitúan Países Bajos (3,13 noches) y Reino Unido (2,65), mientras que Alemania (2,26 noches) presenta la estancia media más reducida entre los principales emisores internacionales.</a:t>
            </a:r>
          </a:p>
          <a:p>
            <a:pPr marL="15875" algn="just">
              <a:lnSpc>
                <a:spcPct val="115000"/>
              </a:lnSpc>
              <a:spcAft>
                <a:spcPts val="0"/>
              </a:spcAft>
              <a:buClr>
                <a:srgbClr val="00325C"/>
              </a:buClr>
              <a:buSzPct val="100000"/>
            </a:pPr>
            <a:endParaRPr lang="es-ES" sz="1100" kern="0">
              <a:solidFill>
                <a:schemeClr val="tx1">
                  <a:lumMod val="75000"/>
                  <a:lumOff val="25000"/>
                </a:schemeClr>
              </a:solidFill>
              <a:latin typeface="Montserrat" pitchFamily="2" charset="77"/>
              <a:cs typeface="Times New Roman" panose="02020603050405020304" pitchFamily="18" charset="0"/>
            </a:endParaRPr>
          </a:p>
          <a:p>
            <a:pPr marL="15875" algn="just">
              <a:lnSpc>
                <a:spcPct val="115000"/>
              </a:lnSpc>
              <a:spcAft>
                <a:spcPts val="0"/>
              </a:spcAft>
              <a:buClr>
                <a:srgbClr val="00325C"/>
              </a:buClr>
              <a:buSzPct val="100000"/>
            </a:pPr>
            <a:r>
              <a:rPr lang="es-ES" sz="1100" kern="0">
                <a:solidFill>
                  <a:schemeClr val="tx1">
                    <a:lumMod val="75000"/>
                    <a:lumOff val="25000"/>
                  </a:schemeClr>
                </a:solidFill>
                <a:latin typeface="Montserrat" pitchFamily="2" charset="77"/>
                <a:cs typeface="Times New Roman" panose="02020603050405020304" pitchFamily="18" charset="0"/>
              </a:rPr>
              <a:t>En términos de evolución interanual, destaca el crecimiento significativo de Bélgica (32,69%) e Italia (15,21%), lo que refuerza el atractivo del destino en estos mercados. Por el contrario, Francia (-1,56%) muestra una ligera contracción. </a:t>
            </a:r>
            <a:endParaRPr lang="es-ES" sz="1100" kern="0">
              <a:solidFill>
                <a:schemeClr val="tx1">
                  <a:lumMod val="75000"/>
                  <a:lumOff val="25000"/>
                </a:schemeClr>
              </a:solidFill>
              <a:highlight>
                <a:srgbClr val="BCBCBC"/>
              </a:highlight>
              <a:latin typeface="Montserrat" pitchFamily="2" charset="77"/>
              <a:cs typeface="Times New Roman" panose="02020603050405020304" pitchFamily="18" charset="0"/>
            </a:endParaRPr>
          </a:p>
        </p:txBody>
      </p:sp>
      <p:sp>
        <p:nvSpPr>
          <p:cNvPr id="20" name="Rectángulo 19">
            <a:extLst>
              <a:ext uri="{FF2B5EF4-FFF2-40B4-BE49-F238E27FC236}">
                <a16:creationId xmlns:a16="http://schemas.microsoft.com/office/drawing/2014/main" id="{B2F34C4E-24ED-0A6D-1AEF-014219248372}"/>
              </a:ext>
            </a:extLst>
          </p:cNvPr>
          <p:cNvSpPr/>
          <p:nvPr/>
        </p:nvSpPr>
        <p:spPr>
          <a:xfrm>
            <a:off x="524107" y="1392995"/>
            <a:ext cx="5486399" cy="1333635"/>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Estancia media principales </a:t>
            </a:r>
            <a:br>
              <a:rPr lang="es-ES" sz="3000">
                <a:solidFill>
                  <a:schemeClr val="tx1">
                    <a:lumMod val="85000"/>
                    <a:lumOff val="15000"/>
                  </a:schemeClr>
                </a:solidFill>
                <a:latin typeface="DM Serif Display" pitchFamily="2" charset="0"/>
                <a:cs typeface="Times New Roman" panose="02020603050405020304" pitchFamily="18" charset="0"/>
              </a:rPr>
            </a:br>
            <a:r>
              <a:rPr lang="es-ES" sz="3000">
                <a:solidFill>
                  <a:schemeClr val="tx1">
                    <a:lumMod val="85000"/>
                    <a:lumOff val="15000"/>
                  </a:schemeClr>
                </a:solidFill>
                <a:latin typeface="DM Serif Display" pitchFamily="2" charset="0"/>
                <a:cs typeface="Times New Roman" panose="02020603050405020304" pitchFamily="18" charset="0"/>
              </a:rPr>
              <a:t>mercados internacionales </a:t>
            </a:r>
          </a:p>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(Ene - Dic 2025) </a:t>
            </a:r>
          </a:p>
        </p:txBody>
      </p:sp>
      <p:graphicFrame>
        <p:nvGraphicFramePr>
          <p:cNvPr id="9" name="Gráfico 8">
            <a:extLst>
              <a:ext uri="{FF2B5EF4-FFF2-40B4-BE49-F238E27FC236}">
                <a16:creationId xmlns:a16="http://schemas.microsoft.com/office/drawing/2014/main" id="{AB551BB9-201E-C3CF-48FB-1C326A54E8F6}"/>
              </a:ext>
            </a:extLst>
          </p:cNvPr>
          <p:cNvGraphicFramePr>
            <a:graphicFrameLocks/>
          </p:cNvGraphicFramePr>
          <p:nvPr>
            <p:extLst>
              <p:ext uri="{D42A27DB-BD31-4B8C-83A1-F6EECF244321}">
                <p14:modId xmlns:p14="http://schemas.microsoft.com/office/powerpoint/2010/main" val="3654102814"/>
              </p:ext>
            </p:extLst>
          </p:nvPr>
        </p:nvGraphicFramePr>
        <p:xfrm>
          <a:off x="6411432" y="1227347"/>
          <a:ext cx="5582094" cy="4970254"/>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ángulo 9">
            <a:extLst>
              <a:ext uri="{FF2B5EF4-FFF2-40B4-BE49-F238E27FC236}">
                <a16:creationId xmlns:a16="http://schemas.microsoft.com/office/drawing/2014/main" id="{08681372-CFCF-F07D-889C-BCFBE1929A09}"/>
              </a:ext>
            </a:extLst>
          </p:cNvPr>
          <p:cNvSpPr/>
          <p:nvPr/>
        </p:nvSpPr>
        <p:spPr>
          <a:xfrm>
            <a:off x="6519277" y="6132345"/>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+15,21%</a:t>
            </a:r>
          </a:p>
        </p:txBody>
      </p:sp>
      <p:sp>
        <p:nvSpPr>
          <p:cNvPr id="11" name="Rectángulo 10">
            <a:extLst>
              <a:ext uri="{FF2B5EF4-FFF2-40B4-BE49-F238E27FC236}">
                <a16:creationId xmlns:a16="http://schemas.microsoft.com/office/drawing/2014/main" id="{23171ADF-44EA-9B21-EE2B-7D572B148E24}"/>
              </a:ext>
            </a:extLst>
          </p:cNvPr>
          <p:cNvSpPr/>
          <p:nvPr/>
        </p:nvSpPr>
        <p:spPr>
          <a:xfrm>
            <a:off x="7604661" y="6132345"/>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-1,56%</a:t>
            </a:r>
          </a:p>
        </p:txBody>
      </p:sp>
      <p:sp>
        <p:nvSpPr>
          <p:cNvPr id="12" name="Rectángulo 11">
            <a:extLst>
              <a:ext uri="{FF2B5EF4-FFF2-40B4-BE49-F238E27FC236}">
                <a16:creationId xmlns:a16="http://schemas.microsoft.com/office/drawing/2014/main" id="{D9679DE4-1D7E-6EA4-BCE0-CE242C5E26C7}"/>
              </a:ext>
            </a:extLst>
          </p:cNvPr>
          <p:cNvSpPr/>
          <p:nvPr/>
        </p:nvSpPr>
        <p:spPr>
          <a:xfrm>
            <a:off x="8647317" y="6132345"/>
            <a:ext cx="1092832"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+32,69%</a:t>
            </a:r>
          </a:p>
        </p:txBody>
      </p:sp>
      <p:sp>
        <p:nvSpPr>
          <p:cNvPr id="13" name="Rectángulo 12">
            <a:extLst>
              <a:ext uri="{FF2B5EF4-FFF2-40B4-BE49-F238E27FC236}">
                <a16:creationId xmlns:a16="http://schemas.microsoft.com/office/drawing/2014/main" id="{BD3ADFB4-CA35-F21B-3C8E-08702E52FA49}"/>
              </a:ext>
            </a:extLst>
          </p:cNvPr>
          <p:cNvSpPr/>
          <p:nvPr/>
        </p:nvSpPr>
        <p:spPr>
          <a:xfrm>
            <a:off x="9740149" y="6132345"/>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+9,81%</a:t>
            </a:r>
          </a:p>
        </p:txBody>
      </p:sp>
      <p:sp>
        <p:nvSpPr>
          <p:cNvPr id="14" name="Rectángulo 13">
            <a:extLst>
              <a:ext uri="{FF2B5EF4-FFF2-40B4-BE49-F238E27FC236}">
                <a16:creationId xmlns:a16="http://schemas.microsoft.com/office/drawing/2014/main" id="{BA4B705E-D94F-72D0-1AD8-4154B790497C}"/>
              </a:ext>
            </a:extLst>
          </p:cNvPr>
          <p:cNvSpPr/>
          <p:nvPr/>
        </p:nvSpPr>
        <p:spPr>
          <a:xfrm>
            <a:off x="10804471" y="6132345"/>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+12,33%</a:t>
            </a:r>
          </a:p>
        </p:txBody>
      </p:sp>
    </p:spTree>
    <p:extLst>
      <p:ext uri="{BB962C8B-B14F-4D97-AF65-F5344CB8AC3E}">
        <p14:creationId xmlns:p14="http://schemas.microsoft.com/office/powerpoint/2010/main" val="176255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A48E-A992-45B2-387F-9D7784ECB330}"/>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B517E1D7-644F-7B26-DE7F-C2E4564B42A0}"/>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B2E9E2F9-3215-F1DE-C19C-52189956B8C5}"/>
              </a:ext>
            </a:extLst>
          </p:cNvPr>
          <p:cNvSpPr/>
          <p:nvPr/>
        </p:nvSpPr>
        <p:spPr>
          <a:xfrm>
            <a:off x="638668" y="1392995"/>
            <a:ext cx="7139240" cy="512897"/>
          </a:xfrm>
          <a:prstGeom prst="rect">
            <a:avLst/>
          </a:prstGeom>
        </p:spPr>
        <p:txBody>
          <a:bodyPr wrap="square">
            <a:spAutoFit/>
          </a:bodyPr>
          <a:lstStyle/>
          <a:p>
            <a:pPr>
              <a:lnSpc>
                <a:spcPts val="3200"/>
              </a:lnSpc>
            </a:pPr>
            <a:r>
              <a:rPr lang="es-ES" sz="300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BF45F7E6-D765-5E02-B210-BCC2B286E7C2}"/>
              </a:ext>
            </a:extLst>
          </p:cNvPr>
          <p:cNvSpPr/>
          <p:nvPr/>
        </p:nvSpPr>
        <p:spPr>
          <a:xfrm>
            <a:off x="638668" y="2136261"/>
            <a:ext cx="5261810" cy="3680303"/>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Descenso de pernoctaciones con aumento de la estancia media</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En 2025 se registran 2.351.886 pernoctaciones, lo que supone un descenso del −10,5% interanual. Sin embargo, la estancia media aumenta hasta 3,4 días (+4,8%), indicando una mayor duración de las visitas pese al ajuste en el volumen total.</a:t>
            </a:r>
          </a:p>
          <a:p>
            <a:pPr marL="185738" lvl="0" indent="-185738">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Fuerte concentración estacional en verano</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El verano concentra el mayor volumen de turistas alojados (165.895), muy por encima del resto de estaciones, confirmando el peso determinante de la temporada alta en la estructura anual de la actividad alojativa.</a:t>
            </a:r>
          </a:p>
          <a:p>
            <a:pPr marL="185738" lvl="0" indent="-185738">
              <a:lnSpc>
                <a:spcPct val="115000"/>
              </a:lnSpc>
              <a:spcAft>
                <a:spcPts val="800"/>
              </a:spcAft>
              <a:buFont typeface="Symbol" pitchFamily="2" charset="2"/>
              <a:buChar char=""/>
            </a:pPr>
            <a:r>
              <a:rPr lang="es-ES" sz="1200" kern="0">
                <a:solidFill>
                  <a:schemeClr val="bg1"/>
                </a:solidFill>
                <a:latin typeface="Montserrat" pitchFamily="2" charset="77"/>
                <a:cs typeface="Times New Roman" panose="02020603050405020304" pitchFamily="18" charset="0"/>
              </a:rPr>
              <a:t> </a:t>
            </a:r>
            <a:r>
              <a:rPr lang="es-ES" sz="1200" b="1" kern="0">
                <a:solidFill>
                  <a:schemeClr val="bg1"/>
                </a:solidFill>
                <a:latin typeface="Montserrat SemiBold" pitchFamily="2" charset="77"/>
                <a:cs typeface="Times New Roman" panose="02020603050405020304" pitchFamily="18" charset="0"/>
              </a:rPr>
              <a:t>Estancias más prolongadas en temporada estival</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La media de pernoctaciones por estación alcanza su valor más alto en verano (11,4 noches), seguida de invierno (9,4), lo que refleja una mayor duración de las estancias durante los meses centrales del verano.</a:t>
            </a:r>
          </a:p>
        </p:txBody>
      </p:sp>
      <p:sp>
        <p:nvSpPr>
          <p:cNvPr id="11" name="Rectángulo 10">
            <a:extLst>
              <a:ext uri="{FF2B5EF4-FFF2-40B4-BE49-F238E27FC236}">
                <a16:creationId xmlns:a16="http://schemas.microsoft.com/office/drawing/2014/main" id="{3D5EA613-BD06-FF33-116F-7A876550B9A5}"/>
              </a:ext>
            </a:extLst>
          </p:cNvPr>
          <p:cNvSpPr/>
          <p:nvPr/>
        </p:nvSpPr>
        <p:spPr>
          <a:xfrm>
            <a:off x="6291522" y="2136261"/>
            <a:ext cx="5261810" cy="2515882"/>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Comportamientos diferenciados por mercado internacional</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La estancia media presenta diferencias claras entre mercados internacionales, con Italia y Bélgica situándose entre los más prolongados. En términos de evolución, Bélgica, Italia, Reino Unido y Países Bajos muestran avances interanuales, mientras que Francia registra una ligera contracción.</a:t>
            </a:r>
          </a:p>
          <a:p>
            <a:pPr marL="185738" lvl="0" indent="-185738">
              <a:lnSpc>
                <a:spcPct val="115000"/>
              </a:lnSpc>
              <a:spcAft>
                <a:spcPts val="800"/>
              </a:spcAft>
              <a:buFont typeface="Symbol" pitchFamily="2" charset="2"/>
              <a:buChar char=""/>
            </a:pPr>
            <a:r>
              <a:rPr lang="es-ES" sz="1200" b="1" kern="0">
                <a:solidFill>
                  <a:schemeClr val="bg1"/>
                </a:solidFill>
                <a:latin typeface="Montserrat SemiBold" pitchFamily="2" charset="77"/>
                <a:cs typeface="Times New Roman" panose="02020603050405020304" pitchFamily="18" charset="0"/>
              </a:rPr>
              <a:t>Mercados nacionales con estancias largas, pero en retroceso</a:t>
            </a:r>
            <a:br>
              <a:rPr lang="es-ES" sz="1200" kern="0">
                <a:solidFill>
                  <a:schemeClr val="bg1"/>
                </a:solidFill>
                <a:latin typeface="Montserrat" pitchFamily="2" charset="77"/>
                <a:cs typeface="Times New Roman" panose="02020603050405020304" pitchFamily="18" charset="0"/>
              </a:rPr>
            </a:br>
            <a:r>
              <a:rPr lang="es-ES" sz="1200" kern="0">
                <a:solidFill>
                  <a:schemeClr val="bg1"/>
                </a:solidFill>
                <a:latin typeface="Montserrat" pitchFamily="2" charset="77"/>
                <a:cs typeface="Times New Roman" panose="02020603050405020304" pitchFamily="18" charset="0"/>
              </a:rPr>
              <a:t>En el ámbito nacional, provincias como Ciudad Real y Madrid mantienen estancias medias elevadas (7,7 y 6,7 noches), aunque la mayoría de los mercados presentan ligeras caídas interanuales.</a:t>
            </a:r>
          </a:p>
        </p:txBody>
      </p:sp>
    </p:spTree>
    <p:extLst>
      <p:ext uri="{BB962C8B-B14F-4D97-AF65-F5344CB8AC3E}">
        <p14:creationId xmlns:p14="http://schemas.microsoft.com/office/powerpoint/2010/main" val="289521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C60A6-75E8-9030-186B-58A827EEBCEF}"/>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A2C0E50B-736D-AA6E-3654-9F4749038FDC}"/>
              </a:ext>
            </a:extLst>
          </p:cNvPr>
          <p:cNvSpPr/>
          <p:nvPr/>
        </p:nvSpPr>
        <p:spPr>
          <a:xfrm>
            <a:off x="7535538"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04</a:t>
            </a:r>
            <a:endParaRPr lang="es-ES" sz="30000">
              <a:solidFill>
                <a:schemeClr val="bg2"/>
              </a:solidFill>
              <a:latin typeface="DM Serif Display" pitchFamily="2" charset="0"/>
            </a:endParaRPr>
          </a:p>
        </p:txBody>
      </p:sp>
      <p:sp>
        <p:nvSpPr>
          <p:cNvPr id="2" name="Rectángulo 1">
            <a:extLst>
              <a:ext uri="{FF2B5EF4-FFF2-40B4-BE49-F238E27FC236}">
                <a16:creationId xmlns:a16="http://schemas.microsoft.com/office/drawing/2014/main" id="{C3E541AD-F1F6-C7C4-C991-A745E5AC7F15}"/>
              </a:ext>
            </a:extLst>
          </p:cNvPr>
          <p:cNvSpPr/>
          <p:nvPr/>
        </p:nvSpPr>
        <p:spPr>
          <a:xfrm>
            <a:off x="629084" y="1390653"/>
            <a:ext cx="3157104" cy="1185324"/>
          </a:xfrm>
          <a:prstGeom prst="rect">
            <a:avLst/>
          </a:prstGeom>
        </p:spPr>
        <p:txBody>
          <a:bodyPr wrap="square">
            <a:spAutoFit/>
          </a:bodyPr>
          <a:lstStyle/>
          <a:p>
            <a:pPr>
              <a:lnSpc>
                <a:spcPts val="42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Glosario </a:t>
            </a:r>
            <a:b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b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de términos</a:t>
            </a:r>
            <a:endParaRPr lang="es-ES" sz="4000">
              <a:solidFill>
                <a:schemeClr val="tx1">
                  <a:lumMod val="85000"/>
                  <a:lumOff val="15000"/>
                </a:schemeClr>
              </a:solidFill>
              <a:latin typeface="DM Serif Display" pitchFamily="2" charset="0"/>
            </a:endParaRPr>
          </a:p>
        </p:txBody>
      </p:sp>
      <p:pic>
        <p:nvPicPr>
          <p:cNvPr id="8" name="Imagen 7">
            <a:extLst>
              <a:ext uri="{FF2B5EF4-FFF2-40B4-BE49-F238E27FC236}">
                <a16:creationId xmlns:a16="http://schemas.microsoft.com/office/drawing/2014/main" id="{79123888-33DE-6F4C-BBFA-CEE470E964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44" y="3443427"/>
            <a:ext cx="12339018" cy="3445670"/>
          </a:xfrm>
          <a:prstGeom prst="rect">
            <a:avLst/>
          </a:prstGeom>
        </p:spPr>
      </p:pic>
      <p:pic>
        <p:nvPicPr>
          <p:cNvPr id="9" name="Imagen 8">
            <a:extLst>
              <a:ext uri="{FF2B5EF4-FFF2-40B4-BE49-F238E27FC236}">
                <a16:creationId xmlns:a16="http://schemas.microsoft.com/office/drawing/2014/main" id="{186F85B8-CDF7-364E-B53F-7E0AA455358B}"/>
              </a:ext>
            </a:extLst>
          </p:cNvPr>
          <p:cNvPicPr>
            <a:picLocks noChangeAspect="1"/>
          </p:cNvPicPr>
          <p:nvPr/>
        </p:nvPicPr>
        <p:blipFill>
          <a:blip r:embed="rId3"/>
          <a:stretch>
            <a:fillRect/>
          </a:stretch>
        </p:blipFill>
        <p:spPr>
          <a:xfrm>
            <a:off x="686969" y="6124651"/>
            <a:ext cx="959505" cy="295562"/>
          </a:xfrm>
          <a:prstGeom prst="rect">
            <a:avLst/>
          </a:prstGeom>
        </p:spPr>
      </p:pic>
      <p:pic>
        <p:nvPicPr>
          <p:cNvPr id="11" name="Imagen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7777" y="5754856"/>
            <a:ext cx="1035151" cy="1035151"/>
          </a:xfrm>
          <a:prstGeom prst="rect">
            <a:avLst/>
          </a:prstGeom>
        </p:spPr>
      </p:pic>
    </p:spTree>
    <p:extLst>
      <p:ext uri="{BB962C8B-B14F-4D97-AF65-F5344CB8AC3E}">
        <p14:creationId xmlns:p14="http://schemas.microsoft.com/office/powerpoint/2010/main" val="579000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0F1BA-F75D-80E9-C6D5-182424313BE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3FDBCDC-4870-1976-5F10-05B71127807C}"/>
              </a:ext>
            </a:extLst>
          </p:cNvPr>
          <p:cNvSpPr/>
          <p:nvPr/>
        </p:nvSpPr>
        <p:spPr>
          <a:xfrm>
            <a:off x="638668" y="1075606"/>
            <a:ext cx="4074261" cy="303481"/>
          </a:xfrm>
          <a:prstGeom prst="rect">
            <a:avLst/>
          </a:prstGeom>
        </p:spPr>
        <p:txBody>
          <a:bodyPr wrap="square">
            <a:spAutoFit/>
          </a:bodyPr>
          <a:lstStyle/>
          <a:p>
            <a:pPr>
              <a:lnSpc>
                <a:spcPts val="1800"/>
              </a:lnSpc>
            </a:pPr>
            <a:r>
              <a:rPr lang="es-ES" sz="1200" b="1">
                <a:solidFill>
                  <a:schemeClr val="tx1">
                    <a:lumMod val="85000"/>
                    <a:lumOff val="15000"/>
                  </a:schemeClr>
                </a:solidFill>
                <a:latin typeface="Montserrat Medium" pitchFamily="2" charset="77"/>
                <a:ea typeface="Times New Roman" panose="02020603050405020304" pitchFamily="18" charset="0"/>
                <a:cs typeface="Times New Roman" panose="02020603050405020304" pitchFamily="18" charset="0"/>
              </a:rPr>
              <a:t>GLOSARIO DE TÉRMINOS</a:t>
            </a:r>
            <a:endParaRPr lang="es-ES" sz="1200" b="1">
              <a:solidFill>
                <a:schemeClr val="tx1">
                  <a:lumMod val="85000"/>
                  <a:lumOff val="15000"/>
                </a:schemeClr>
              </a:solidFill>
              <a:latin typeface="Montserrat Medium" pitchFamily="2" charset="77"/>
            </a:endParaRPr>
          </a:p>
        </p:txBody>
      </p:sp>
      <p:sp>
        <p:nvSpPr>
          <p:cNvPr id="12" name="Rectángulo 11">
            <a:extLst>
              <a:ext uri="{FF2B5EF4-FFF2-40B4-BE49-F238E27FC236}">
                <a16:creationId xmlns:a16="http://schemas.microsoft.com/office/drawing/2014/main" id="{A25B502C-2F73-C6A3-1A2E-CA1B444BF5DE}"/>
              </a:ext>
            </a:extLst>
          </p:cNvPr>
          <p:cNvSpPr/>
          <p:nvPr/>
        </p:nvSpPr>
        <p:spPr>
          <a:xfrm>
            <a:off x="638668" y="1478984"/>
            <a:ext cx="4928755" cy="4182748"/>
          </a:xfrm>
          <a:prstGeom prst="rect">
            <a:avLst/>
          </a:prstGeom>
        </p:spPr>
        <p:txBody>
          <a:bodyPr wrap="square" lIns="91440" tIns="45720" rIns="91440" bIns="45720" anchor="t">
            <a:spAutoFit/>
          </a:bodyPr>
          <a:lstStyle/>
          <a:p>
            <a:pPr>
              <a:lnSpc>
                <a:spcPts val="1600"/>
              </a:lnSpc>
            </a:pPr>
            <a:r>
              <a:rPr lang="es-ES" sz="1200" b="1" kern="0">
                <a:solidFill>
                  <a:srgbClr val="E62C43"/>
                </a:solidFill>
                <a:latin typeface="Montserrat SemiBold"/>
                <a:cs typeface="Times New Roman"/>
              </a:rPr>
              <a:t>Turista</a:t>
            </a:r>
            <a:br>
              <a:rPr lang="es-ES" sz="1200" b="1" kern="0" dirty="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Persona que se desplaza a un destino distinto de su residencia habitual, pernoctando al menos una noche</a:t>
            </a:r>
          </a:p>
          <a:p>
            <a:pPr>
              <a:lnSpc>
                <a:spcPts val="1600"/>
              </a:lnSpc>
            </a:pPr>
            <a:endParaRPr lang="es-ES" sz="1200" kern="0">
              <a:solidFill>
                <a:srgbClr val="E62C43"/>
              </a:solidFill>
              <a:latin typeface="Montserrat" pitchFamily="2" charset="77"/>
              <a:cs typeface="Times New Roman" panose="02020603050405020304" pitchFamily="18" charset="0"/>
            </a:endParaRPr>
          </a:p>
          <a:p>
            <a:pPr>
              <a:lnSpc>
                <a:spcPts val="1600"/>
              </a:lnSpc>
            </a:pPr>
            <a:r>
              <a:rPr lang="es-ES" sz="1200" b="1" kern="0">
                <a:solidFill>
                  <a:srgbClr val="E62C43"/>
                </a:solidFill>
                <a:latin typeface="Montserrat SemiBold"/>
                <a:cs typeface="Times New Roman"/>
              </a:rPr>
              <a:t>Visitante</a:t>
            </a:r>
            <a:br>
              <a:rPr lang="es-ES" sz="1200" b="1" kern="0" dirty="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Persona que viaja a un destino distinto del de su residencia habitual pero no pernocta</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E62C43"/>
                </a:solidFill>
                <a:latin typeface="Montserrat SemiBold"/>
                <a:cs typeface="Times New Roman"/>
              </a:rPr>
              <a:t>Turismo nacional / interno</a:t>
            </a:r>
            <a:br>
              <a:rPr lang="es-ES" sz="1200" b="1" kern="0" dirty="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Conjunto de turistas y visitantes residentes en España que se desplazan a otro punto dentro del territorio nacional</a:t>
            </a:r>
          </a:p>
          <a:p>
            <a:pPr>
              <a:lnSpc>
                <a:spcPts val="1600"/>
              </a:lnSpc>
            </a:pPr>
            <a:endParaRPr lang="es-ES" sz="1200" kern="0">
              <a:solidFill>
                <a:srgbClr val="C6A76E"/>
              </a:solidFill>
              <a:latin typeface="Montserrat" pitchFamily="2" charset="77"/>
              <a:cs typeface="Times New Roman" panose="02020603050405020304" pitchFamily="18" charset="0"/>
            </a:endParaRPr>
          </a:p>
          <a:p>
            <a:pPr>
              <a:lnSpc>
                <a:spcPts val="1600"/>
              </a:lnSpc>
            </a:pPr>
            <a:r>
              <a:rPr lang="es-ES" sz="1200" b="1" kern="0">
                <a:solidFill>
                  <a:srgbClr val="E62C43"/>
                </a:solidFill>
                <a:latin typeface="Montserrat SemiBold"/>
                <a:cs typeface="Times New Roman"/>
              </a:rPr>
              <a:t>Turismo internacional / receptor</a:t>
            </a:r>
            <a:br>
              <a:rPr lang="es-ES" sz="1200" b="1" kern="0" dirty="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Turistas procedentes de otros países que visitan el destino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E62C43"/>
                </a:solidFill>
                <a:latin typeface="Montserrat SemiBold"/>
                <a:cs typeface="Times New Roman"/>
              </a:rPr>
              <a:t>Afluencia turística</a:t>
            </a:r>
            <a:br>
              <a:rPr lang="es-ES" sz="1200" b="1" kern="0" dirty="0">
                <a:latin typeface="Montserrat SemiBold"/>
                <a:cs typeface="Times New Roman" panose="02020603050405020304" pitchFamily="18" charset="0"/>
              </a:rPr>
            </a:br>
            <a:r>
              <a:rPr lang="es-ES" sz="1200" kern="0">
                <a:solidFill>
                  <a:schemeClr val="tx1">
                    <a:lumMod val="75000"/>
                    <a:lumOff val="25000"/>
                  </a:schemeClr>
                </a:solidFill>
                <a:latin typeface="Montserrat"/>
                <a:cs typeface="Times New Roman"/>
              </a:rPr>
              <a:t>Número total de llegadas de turistas y visitantes a un destino en un periodo de tiempo determinado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3" name="Rectángulo 2">
            <a:extLst>
              <a:ext uri="{FF2B5EF4-FFF2-40B4-BE49-F238E27FC236}">
                <a16:creationId xmlns:a16="http://schemas.microsoft.com/office/drawing/2014/main" id="{4794660A-F323-7E0B-E13F-C388316A964C}"/>
              </a:ext>
            </a:extLst>
          </p:cNvPr>
          <p:cNvSpPr/>
          <p:nvPr/>
        </p:nvSpPr>
        <p:spPr>
          <a:xfrm>
            <a:off x="6345562" y="1478984"/>
            <a:ext cx="4928755" cy="3567195"/>
          </a:xfrm>
          <a:prstGeom prst="rect">
            <a:avLst/>
          </a:prstGeom>
        </p:spPr>
        <p:txBody>
          <a:bodyPr wrap="square" lIns="91440" tIns="45720" rIns="91440" bIns="45720" anchor="t">
            <a:spAutoFit/>
          </a:bodyPr>
          <a:lstStyle/>
          <a:p>
            <a:pPr>
              <a:lnSpc>
                <a:spcPts val="1600"/>
              </a:lnSpc>
            </a:pPr>
            <a:r>
              <a:rPr lang="es-ES" sz="1200" b="1" kern="0">
                <a:solidFill>
                  <a:srgbClr val="E62C43"/>
                </a:solidFill>
                <a:latin typeface="Montserrat SemiBold"/>
                <a:cs typeface="Times New Roman"/>
              </a:rPr>
              <a:t>Mercados emisores</a:t>
            </a:r>
            <a:br>
              <a:rPr lang="es-ES" sz="1200" b="1" kern="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Países o regiones de origen de los turistas que viajan hacia un destino</a:t>
            </a:r>
            <a:endParaRPr lang="es-ES">
              <a:solidFill>
                <a:schemeClr val="tx1">
                  <a:lumMod val="75000"/>
                  <a:lumOff val="25000"/>
                </a:schemeClr>
              </a:solidFill>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E62C43"/>
                </a:solidFill>
                <a:latin typeface="Montserrat SemiBold"/>
                <a:cs typeface="Times New Roman"/>
              </a:rPr>
              <a:t>Gasto medio por ticket/compra</a:t>
            </a:r>
            <a:br>
              <a:rPr lang="es-ES" sz="1200" b="1" kern="0" dirty="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Promedio de gasto realizado en cada transacción o compra</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E62C43"/>
                </a:solidFill>
                <a:latin typeface="Montserrat SemiBold"/>
                <a:cs typeface="Times New Roman"/>
              </a:rPr>
              <a:t>Gasto medio por persona/día</a:t>
            </a:r>
            <a:br>
              <a:rPr lang="es-ES" sz="1200" b="1" kern="0" dirty="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Promedio de gasto individual diario realizado por cada turista en el destino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E62C43"/>
                </a:solidFill>
                <a:latin typeface="Montserrat SemiBold"/>
                <a:cs typeface="Times New Roman"/>
              </a:rPr>
              <a:t>Gasto medio por persona/estancia </a:t>
            </a:r>
            <a:br>
              <a:rPr lang="es-ES" sz="1200" b="1" kern="0" dirty="0">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a:cs typeface="Times New Roman"/>
              </a:rPr>
              <a:t>Promedio de gasto individual diario realizado por cada turista en el destino en su estancia media</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2089034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A48E-A992-45B2-387F-9D7784ECB330}"/>
            </a:ext>
          </a:extLst>
        </p:cNvPr>
        <p:cNvGrpSpPr/>
        <p:nvPr/>
      </p:nvGrpSpPr>
      <p:grpSpPr>
        <a:xfrm>
          <a:off x="0" y="0"/>
          <a:ext cx="0" cy="0"/>
          <a:chOff x="0" y="0"/>
          <a:chExt cx="0" cy="0"/>
        </a:xfrm>
      </p:grpSpPr>
      <p:pic>
        <p:nvPicPr>
          <p:cNvPr id="8" name="Imagen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0527"/>
          </a:xfrm>
          <a:prstGeom prst="rect">
            <a:avLst/>
          </a:prstGeom>
        </p:spPr>
      </p:pic>
      <p:sp>
        <p:nvSpPr>
          <p:cNvPr id="19" name="CuadroTexto 18">
            <a:extLst>
              <a:ext uri="{FF2B5EF4-FFF2-40B4-BE49-F238E27FC236}">
                <a16:creationId xmlns:a16="http://schemas.microsoft.com/office/drawing/2014/main" id="{0A0CD324-6DCD-BA49-A073-078E28E36644}"/>
              </a:ext>
            </a:extLst>
          </p:cNvPr>
          <p:cNvSpPr txBox="1"/>
          <p:nvPr/>
        </p:nvSpPr>
        <p:spPr>
          <a:xfrm>
            <a:off x="929056" y="2377835"/>
            <a:ext cx="10260863" cy="839076"/>
          </a:xfrm>
          <a:prstGeom prst="rect">
            <a:avLst/>
          </a:prstGeom>
          <a:noFill/>
        </p:spPr>
        <p:txBody>
          <a:bodyPr wrap="square" rtlCol="0">
            <a:spAutoFit/>
          </a:bodyPr>
          <a:lstStyle/>
          <a:p>
            <a:pPr algn="ctr">
              <a:lnSpc>
                <a:spcPts val="6200"/>
              </a:lnSpc>
            </a:pPr>
            <a:r>
              <a:rPr lang="es-ES" sz="4000">
                <a:solidFill>
                  <a:schemeClr val="bg1"/>
                </a:solidFill>
                <a:latin typeface="DM Serif Display" pitchFamily="2" charset="0"/>
              </a:rPr>
              <a:t>Informe de análisis de datos </a:t>
            </a:r>
          </a:p>
        </p:txBody>
      </p:sp>
      <p:sp>
        <p:nvSpPr>
          <p:cNvPr id="20" name="Rectángulo 19">
            <a:extLst>
              <a:ext uri="{FF2B5EF4-FFF2-40B4-BE49-F238E27FC236}">
                <a16:creationId xmlns:a16="http://schemas.microsoft.com/office/drawing/2014/main" id="{B4095491-979B-8B42-8429-26E7A11D640F}"/>
              </a:ext>
            </a:extLst>
          </p:cNvPr>
          <p:cNvSpPr/>
          <p:nvPr/>
        </p:nvSpPr>
        <p:spPr>
          <a:xfrm>
            <a:off x="4431235" y="3165421"/>
            <a:ext cx="3256021" cy="338554"/>
          </a:xfrm>
          <a:prstGeom prst="rect">
            <a:avLst/>
          </a:prstGeom>
        </p:spPr>
        <p:txBody>
          <a:bodyPr wrap="none">
            <a:spAutoFit/>
          </a:bodyPr>
          <a:lstStyle/>
          <a:p>
            <a:pPr algn="ctr"/>
            <a:r>
              <a:rPr lang="es-ES" sz="1600">
                <a:solidFill>
                  <a:schemeClr val="bg1"/>
                </a:solidFill>
                <a:latin typeface="Montserrat Medium" pitchFamily="2" charset="77"/>
              </a:rPr>
              <a:t>SMART OFFICE GUARDAMAR</a:t>
            </a:r>
          </a:p>
        </p:txBody>
      </p:sp>
      <p:grpSp>
        <p:nvGrpSpPr>
          <p:cNvPr id="2" name="Grupo 1"/>
          <p:cNvGrpSpPr/>
          <p:nvPr/>
        </p:nvGrpSpPr>
        <p:grpSpPr>
          <a:xfrm>
            <a:off x="4375163" y="4758840"/>
            <a:ext cx="3441674" cy="1671812"/>
            <a:chOff x="5390147" y="5082524"/>
            <a:chExt cx="3208743" cy="1551432"/>
          </a:xfrm>
        </p:grpSpPr>
        <p:pic>
          <p:nvPicPr>
            <p:cNvPr id="12" name="Imagen 11">
              <a:extLst>
                <a:ext uri="{FF2B5EF4-FFF2-40B4-BE49-F238E27FC236}">
                  <a16:creationId xmlns:a16="http://schemas.microsoft.com/office/drawing/2014/main" id="{186F85B8-CDF7-364E-B53F-7E0AA455358B}"/>
                </a:ext>
              </a:extLst>
            </p:cNvPr>
            <p:cNvPicPr>
              <a:picLocks noChangeAspect="1"/>
            </p:cNvPicPr>
            <p:nvPr/>
          </p:nvPicPr>
          <p:blipFill>
            <a:blip r:embed="rId3"/>
            <a:stretch>
              <a:fillRect/>
            </a:stretch>
          </p:blipFill>
          <p:spPr>
            <a:xfrm>
              <a:off x="5390147" y="5695819"/>
              <a:ext cx="1422400" cy="438150"/>
            </a:xfrm>
            <a:prstGeom prst="rect">
              <a:avLst/>
            </a:prstGeom>
          </p:spPr>
        </p:pic>
        <p:pic>
          <p:nvPicPr>
            <p:cNvPr id="13" name="Imagen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7458" y="5082524"/>
              <a:ext cx="1551432" cy="1551432"/>
            </a:xfrm>
            <a:prstGeom prst="rect">
              <a:avLst/>
            </a:prstGeom>
          </p:spPr>
        </p:pic>
      </p:grpSp>
    </p:spTree>
    <p:extLst>
      <p:ext uri="{BB962C8B-B14F-4D97-AF65-F5344CB8AC3E}">
        <p14:creationId xmlns:p14="http://schemas.microsoft.com/office/powerpoint/2010/main" val="114448409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33</Slides>
  <Notes>8</Notes>
  <HiddenSlides>0</HiddenSlides>
  <ScaleCrop>false</ScaleCrop>
  <HeadingPairs>
    <vt:vector size="4" baseType="variant">
      <vt:variant>
        <vt:lpstr>Tema</vt:lpstr>
      </vt:variant>
      <vt:variant>
        <vt:i4>2</vt:i4>
      </vt:variant>
      <vt:variant>
        <vt:lpstr>Títulos de diapositiva</vt:lpstr>
      </vt:variant>
      <vt:variant>
        <vt:i4>33</vt:i4>
      </vt:variant>
    </vt:vector>
  </HeadingPairs>
  <TitlesOfParts>
    <vt:vector size="35" baseType="lpstr">
      <vt:lpstr>Tema de Office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Maite</dc:creator>
  <cp:revision>8</cp:revision>
  <dcterms:created xsi:type="dcterms:W3CDTF">2025-09-15T10:04:52Z</dcterms:created>
  <dcterms:modified xsi:type="dcterms:W3CDTF">2026-03-17T10:55:29Z</dcterms:modified>
</cp:coreProperties>
</file>