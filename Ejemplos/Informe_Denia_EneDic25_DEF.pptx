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3.xml" ContentType="application/vnd.openxmlformats-officedocument.presentationml.notesSl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4.xml" ContentType="application/vnd.openxmlformats-officedocument.presentationml.notesSlid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notesSlides/notesSlide5.xml" ContentType="application/vnd.openxmlformats-officedocument.presentationml.notesSlid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6.xml" ContentType="application/vnd.openxmlformats-officedocument.presentationml.notesSlid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notesSlides/notesSlide7.xml" ContentType="application/vnd.openxmlformats-officedocument.presentationml.notesSlid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notesSlides/notesSlide8.xml" ContentType="application/vnd.openxmlformats-officedocument.presentationml.notesSl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notesSlides/notesSlide9.xml" ContentType="application/vnd.openxmlformats-officedocument.presentationml.notesSlid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notesSlides/notesSlide10.xml" ContentType="application/vnd.openxmlformats-officedocument.presentationml.notesSlid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notesSlides/notesSlide11.xml" ContentType="application/vnd.openxmlformats-officedocument.presentationml.notesSlid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notesSlides/notesSlide12.xml" ContentType="application/vnd.openxmlformats-officedocument.presentationml.notesSlid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notesSlides/notesSlide13.xml" ContentType="application/vnd.openxmlformats-officedocument.presentationml.notesSlid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52"/>
  </p:notesMasterIdLst>
  <p:sldIdLst>
    <p:sldId id="256" r:id="rId3"/>
    <p:sldId id="257" r:id="rId4"/>
    <p:sldId id="258" r:id="rId5"/>
    <p:sldId id="259" r:id="rId6"/>
    <p:sldId id="261" r:id="rId7"/>
    <p:sldId id="336" r:id="rId8"/>
    <p:sldId id="337" r:id="rId9"/>
    <p:sldId id="338" r:id="rId10"/>
    <p:sldId id="266" r:id="rId11"/>
    <p:sldId id="264" r:id="rId12"/>
    <p:sldId id="265" r:id="rId13"/>
    <p:sldId id="268" r:id="rId14"/>
    <p:sldId id="324" r:id="rId15"/>
    <p:sldId id="269" r:id="rId16"/>
    <p:sldId id="316" r:id="rId17"/>
    <p:sldId id="302" r:id="rId18"/>
    <p:sldId id="303" r:id="rId19"/>
    <p:sldId id="271" r:id="rId20"/>
    <p:sldId id="270" r:id="rId21"/>
    <p:sldId id="272" r:id="rId22"/>
    <p:sldId id="273" r:id="rId23"/>
    <p:sldId id="305" r:id="rId24"/>
    <p:sldId id="304" r:id="rId25"/>
    <p:sldId id="335" r:id="rId26"/>
    <p:sldId id="317" r:id="rId27"/>
    <p:sldId id="325" r:id="rId28"/>
    <p:sldId id="326" r:id="rId29"/>
    <p:sldId id="327" r:id="rId30"/>
    <p:sldId id="299" r:id="rId31"/>
    <p:sldId id="281" r:id="rId32"/>
    <p:sldId id="323" r:id="rId33"/>
    <p:sldId id="319" r:id="rId34"/>
    <p:sldId id="320" r:id="rId35"/>
    <p:sldId id="321" r:id="rId36"/>
    <p:sldId id="315" r:id="rId37"/>
    <p:sldId id="306" r:id="rId38"/>
    <p:sldId id="328" r:id="rId39"/>
    <p:sldId id="322" r:id="rId40"/>
    <p:sldId id="334" r:id="rId41"/>
    <p:sldId id="339" r:id="rId42"/>
    <p:sldId id="332" r:id="rId43"/>
    <p:sldId id="311" r:id="rId44"/>
    <p:sldId id="330" r:id="rId45"/>
    <p:sldId id="312" r:id="rId46"/>
    <p:sldId id="313" r:id="rId47"/>
    <p:sldId id="314" r:id="rId48"/>
    <p:sldId id="300" r:id="rId49"/>
    <p:sldId id="297" r:id="rId50"/>
    <p:sldId id="298" r:id="rId5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guide id="3" pos="461" userDrawn="1">
          <p15:clr>
            <a:srgbClr val="A4A3A4"/>
          </p15:clr>
        </p15:guide>
        <p15:guide id="4" orient="horz" pos="822" userDrawn="1">
          <p15:clr>
            <a:srgbClr val="A4A3A4"/>
          </p15:clr>
        </p15:guide>
        <p15:guide id="5" orient="horz" pos="3838" userDrawn="1">
          <p15:clr>
            <a:srgbClr val="A4A3A4"/>
          </p15:clr>
        </p15:guide>
        <p15:guide id="6" pos="7219" userDrawn="1">
          <p15:clr>
            <a:srgbClr val="A4A3A4"/>
          </p15:clr>
        </p15:guide>
        <p15:guide id="7" orient="horz" pos="981" userDrawn="1">
          <p15:clr>
            <a:srgbClr val="A4A3A4"/>
          </p15:clr>
        </p15:guide>
        <p15:guide id="8" orient="horz" pos="1661" userDrawn="1">
          <p15:clr>
            <a:srgbClr val="A4A3A4"/>
          </p15:clr>
        </p15:guide>
        <p15:guide id="9" orient="horz" pos="33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9453"/>
    <a:srgbClr val="F0C147"/>
    <a:srgbClr val="EB704A"/>
    <a:srgbClr val="F5272D"/>
    <a:srgbClr val="81060A"/>
    <a:srgbClr val="76B463"/>
    <a:srgbClr val="009AA7"/>
    <a:srgbClr val="E5596B"/>
    <a:srgbClr val="04145E"/>
    <a:srgbClr val="AD04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CD335B-5411-4CF2-8CEE-DF1C3FCC6C65}" v="24" dt="2026-03-15T11:18:30.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354" y="306"/>
      </p:cViewPr>
      <p:guideLst>
        <p:guide orient="horz" pos="2183"/>
        <p:guide pos="3817"/>
        <p:guide pos="461"/>
        <p:guide orient="horz" pos="822"/>
        <p:guide orient="horz" pos="3838"/>
        <p:guide pos="7219"/>
        <p:guide orient="horz" pos="981"/>
        <p:guide orient="horz" pos="1661"/>
        <p:guide orient="horz" pos="33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microsoft.com/office/2016/11/relationships/changesInfo" Target="changesInfos/changesInfo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e Lloret" userId="7910d177-ec33-4b32-99c4-b326d77bd835" providerId="ADAL" clId="{74AC9018-D152-48B8-8D96-46F61B528486}"/>
    <pc:docChg chg="addSld delSld modSld">
      <pc:chgData name="Pere Lloret" userId="7910d177-ec33-4b32-99c4-b326d77bd835" providerId="ADAL" clId="{74AC9018-D152-48B8-8D96-46F61B528486}" dt="2026-03-15T11:18:39.779" v="60" actId="20577"/>
      <pc:docMkLst>
        <pc:docMk/>
      </pc:docMkLst>
      <pc:sldChg chg="del">
        <pc:chgData name="Pere Lloret" userId="7910d177-ec33-4b32-99c4-b326d77bd835" providerId="ADAL" clId="{74AC9018-D152-48B8-8D96-46F61B528486}" dt="2026-03-15T11:02:43.086" v="0" actId="2696"/>
        <pc:sldMkLst>
          <pc:docMk/>
          <pc:sldMk cId="530250927" sldId="329"/>
        </pc:sldMkLst>
      </pc:sldChg>
      <pc:sldChg chg="del">
        <pc:chgData name="Pere Lloret" userId="7910d177-ec33-4b32-99c4-b326d77bd835" providerId="ADAL" clId="{74AC9018-D152-48B8-8D96-46F61B528486}" dt="2026-03-15T11:02:48.345" v="1" actId="2696"/>
        <pc:sldMkLst>
          <pc:docMk/>
          <pc:sldMk cId="2178711561" sldId="331"/>
        </pc:sldMkLst>
      </pc:sldChg>
      <pc:sldChg chg="del">
        <pc:chgData name="Pere Lloret" userId="7910d177-ec33-4b32-99c4-b326d77bd835" providerId="ADAL" clId="{74AC9018-D152-48B8-8D96-46F61B528486}" dt="2026-03-15T11:02:52.160" v="2" actId="2696"/>
        <pc:sldMkLst>
          <pc:docMk/>
          <pc:sldMk cId="1899238868" sldId="333"/>
        </pc:sldMkLst>
      </pc:sldChg>
      <pc:sldChg chg="modSp add mod">
        <pc:chgData name="Pere Lloret" userId="7910d177-ec33-4b32-99c4-b326d77bd835" providerId="ADAL" clId="{74AC9018-D152-48B8-8D96-46F61B528486}" dt="2026-03-15T11:18:39.779" v="60" actId="20577"/>
        <pc:sldMkLst>
          <pc:docMk/>
          <pc:sldMk cId="3709576696" sldId="339"/>
        </pc:sldMkLst>
        <pc:spChg chg="mod">
          <ac:chgData name="Pere Lloret" userId="7910d177-ec33-4b32-99c4-b326d77bd835" providerId="ADAL" clId="{74AC9018-D152-48B8-8D96-46F61B528486}" dt="2026-03-15T11:12:05.707" v="39" actId="20577"/>
          <ac:spMkLst>
            <pc:docMk/>
            <pc:sldMk cId="3709576696" sldId="339"/>
            <ac:spMk id="5" creationId="{D1344290-CAF9-79C9-38BC-03AD3A6C683A}"/>
          </ac:spMkLst>
        </pc:spChg>
        <pc:spChg chg="mod">
          <ac:chgData name="Pere Lloret" userId="7910d177-ec33-4b32-99c4-b326d77bd835" providerId="ADAL" clId="{74AC9018-D152-48B8-8D96-46F61B528486}" dt="2026-03-15T11:18:39.779" v="60" actId="20577"/>
          <ac:spMkLst>
            <pc:docMk/>
            <pc:sldMk cId="3709576696" sldId="339"/>
            <ac:spMk id="7" creationId="{9F589502-9E51-6C14-E5B8-DACA726E03B6}"/>
          </ac:spMkLst>
        </pc:spChg>
        <pc:graphicFrameChg chg="mod">
          <ac:chgData name="Pere Lloret" userId="7910d177-ec33-4b32-99c4-b326d77bd835" providerId="ADAL" clId="{74AC9018-D152-48B8-8D96-46F61B528486}" dt="2026-03-15T11:15:30.946" v="54" actId="207"/>
          <ac:graphicFrameMkLst>
            <pc:docMk/>
            <pc:sldMk cId="3709576696" sldId="339"/>
            <ac:graphicFrameMk id="3" creationId="{3D875EAE-AAD7-04D7-41B5-21804A2A6CE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sienconsultingcom-my.sharepoint.com/personal/celeste_sienconsulting_com/Documents/PLANIFICACION/00.NUEVA%20ORGANIZACION/01.%20Proyectos/D&#233;nia/2025_SMART%20OFFICE/Informes%20trimestrales/Informes/01.Ene-Dic24/Datos_Inftrim_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sienconsultingcom-my.sharepoint.com/personal/celeste_sienconsulting_com/Documents/PLANIFICACION/00.NUEVA%20ORGANIZACION/01.%20Proyectos/D&#233;nia/2025_SMART%20OFFICE/Informes%20trimestrales/Informes/01.Ene-Dic24/Datos_Inftrim_1.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1.xlsx"/><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5.xml"/><Relationship Id="rId1" Type="http://schemas.microsoft.com/office/2011/relationships/chartStyle" Target="style3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chemeClr val="tx1">
                <a:lumMod val="85000"/>
                <a:lumOff val="15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85000"/>
                        <a:lumOff val="1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Hoja1!$B$2:$B$8</c:f>
              <c:numCache>
                <c:formatCode>_-* #,##0_-;\-* #,##0_-;_-* "-"??_-;_-@_-</c:formatCode>
                <c:ptCount val="7"/>
                <c:pt idx="0">
                  <c:v>340897</c:v>
                </c:pt>
                <c:pt idx="1">
                  <c:v>431879</c:v>
                </c:pt>
                <c:pt idx="2">
                  <c:v>535354</c:v>
                </c:pt>
                <c:pt idx="3">
                  <c:v>530872</c:v>
                </c:pt>
                <c:pt idx="4">
                  <c:v>587318</c:v>
                </c:pt>
                <c:pt idx="5">
                  <c:v>599018</c:v>
                </c:pt>
                <c:pt idx="6">
                  <c:v>516892</c:v>
                </c:pt>
              </c:numCache>
            </c:numRef>
          </c:val>
          <c:extLst>
            <c:ext xmlns:c16="http://schemas.microsoft.com/office/drawing/2014/chart" uri="{C3380CC4-5D6E-409C-BE32-E72D297353CC}">
              <c16:uniqueId val="{00000000-459C-4941-A249-524CEC012CA0}"/>
            </c:ext>
          </c:extLst>
        </c:ser>
        <c:ser>
          <c:idx val="1"/>
          <c:order val="1"/>
          <c:tx>
            <c:strRef>
              <c:f>Hoja1!$C$1</c:f>
              <c:strCache>
                <c:ptCount val="1"/>
                <c:pt idx="0">
                  <c:v>Internacional</c:v>
                </c:pt>
              </c:strCache>
            </c:strRef>
          </c:tx>
          <c:spPr>
            <a:solidFill>
              <a:srgbClr val="AD0407"/>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AD0407"/>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Hoja1!$C$2:$C$8</c:f>
              <c:numCache>
                <c:formatCode>_-* #,##0_-;\-* #,##0_-;_-* "-"??_-;_-@_-</c:formatCode>
                <c:ptCount val="7"/>
                <c:pt idx="0">
                  <c:v>309807</c:v>
                </c:pt>
                <c:pt idx="1">
                  <c:v>204581</c:v>
                </c:pt>
                <c:pt idx="2">
                  <c:v>269443</c:v>
                </c:pt>
                <c:pt idx="3">
                  <c:v>390653</c:v>
                </c:pt>
                <c:pt idx="4">
                  <c:v>437797</c:v>
                </c:pt>
                <c:pt idx="5">
                  <c:v>491765</c:v>
                </c:pt>
                <c:pt idx="6">
                  <c:v>612744</c:v>
                </c:pt>
              </c:numCache>
            </c:numRef>
          </c:val>
          <c:extLst>
            <c:ext xmlns:c16="http://schemas.microsoft.com/office/drawing/2014/chart" uri="{C3380CC4-5D6E-409C-BE32-E72D297353CC}">
              <c16:uniqueId val="{00000001-459C-4941-A249-524CEC012CA0}"/>
            </c:ext>
          </c:extLst>
        </c:ser>
        <c:ser>
          <c:idx val="2"/>
          <c:order val="2"/>
          <c:tx>
            <c:strRef>
              <c:f>Hoja1!$D$1</c:f>
              <c:strCache>
                <c:ptCount val="1"/>
                <c:pt idx="0">
                  <c:v>Afluencia total</c:v>
                </c:pt>
              </c:strCache>
            </c:strRef>
          </c:tx>
          <c:spPr>
            <a:solidFill>
              <a:srgbClr val="F5272D"/>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F5272D"/>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Hoja1!$D$2:$D$8</c:f>
              <c:numCache>
                <c:formatCode>_-* #,##0_-;\-* #,##0_-;_-* "-"??_-;_-@_-</c:formatCode>
                <c:ptCount val="7"/>
                <c:pt idx="0">
                  <c:v>650704</c:v>
                </c:pt>
                <c:pt idx="1">
                  <c:v>636460</c:v>
                </c:pt>
                <c:pt idx="2">
                  <c:v>804797</c:v>
                </c:pt>
                <c:pt idx="3">
                  <c:v>921525</c:v>
                </c:pt>
                <c:pt idx="4">
                  <c:v>1025115</c:v>
                </c:pt>
                <c:pt idx="5">
                  <c:v>1090783</c:v>
                </c:pt>
                <c:pt idx="6">
                  <c:v>1129636</c:v>
                </c:pt>
              </c:numCache>
            </c:numRef>
          </c:val>
          <c:extLst>
            <c:ext xmlns:c16="http://schemas.microsoft.com/office/drawing/2014/chart" uri="{C3380CC4-5D6E-409C-BE32-E72D297353CC}">
              <c16:uniqueId val="{00000002-459C-4941-A249-524CEC012CA0}"/>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1300000"/>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chemeClr val="tx1">
                <a:lumMod val="85000"/>
                <a:lumOff val="1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Hoja1!$B$2:$B$8</c:f>
              <c:numCache>
                <c:formatCode>_-* #,##0_-;\-* #,##0_-;_-* "-"??_-;_-@_-</c:formatCode>
                <c:ptCount val="7"/>
                <c:pt idx="0">
                  <c:v>340897</c:v>
                </c:pt>
                <c:pt idx="1">
                  <c:v>431879</c:v>
                </c:pt>
                <c:pt idx="2">
                  <c:v>535354</c:v>
                </c:pt>
                <c:pt idx="3">
                  <c:v>530872</c:v>
                </c:pt>
                <c:pt idx="4">
                  <c:v>587318</c:v>
                </c:pt>
                <c:pt idx="5">
                  <c:v>599018</c:v>
                </c:pt>
                <c:pt idx="6">
                  <c:v>516892</c:v>
                </c:pt>
              </c:numCache>
            </c:numRef>
          </c:val>
          <c:extLst>
            <c:ext xmlns:c16="http://schemas.microsoft.com/office/drawing/2014/chart" uri="{C3380CC4-5D6E-409C-BE32-E72D297353CC}">
              <c16:uniqueId val="{00000000-A40C-A44B-9A3E-D03477D00EF6}"/>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Hoja1!$C$2:$C$8</c:f>
              <c:numCache>
                <c:formatCode>General</c:formatCode>
                <c:ptCount val="7"/>
              </c:numCache>
            </c:numRef>
          </c:val>
          <c:extLst>
            <c:ext xmlns:c16="http://schemas.microsoft.com/office/drawing/2014/chart" uri="{C3380CC4-5D6E-409C-BE32-E72D297353CC}">
              <c16:uniqueId val="{00000001-A40C-A44B-9A3E-D03477D00EF6}"/>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Hoja1!$D$2:$D$8</c:f>
              <c:numCache>
                <c:formatCode>General</c:formatCode>
                <c:ptCount val="7"/>
              </c:numCache>
            </c:numRef>
          </c:val>
          <c:extLst>
            <c:ext xmlns:c16="http://schemas.microsoft.com/office/drawing/2014/chart" uri="{C3380CC4-5D6E-409C-BE32-E72D297353CC}">
              <c16:uniqueId val="{00000002-A40C-A44B-9A3E-D03477D00EF6}"/>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_-* #,##0_-;\-* #,##0_-;_-* &quot;-&quot;??_-;_-@_-"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F5272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Hoja1!$B$2:$B$5</c:f>
              <c:numCache>
                <c:formatCode>_-* #,##0_-;\-* #,##0_-;_-* "-"??_-;_-@_-</c:formatCode>
                <c:ptCount val="4"/>
                <c:pt idx="0">
                  <c:v>7573043</c:v>
                </c:pt>
                <c:pt idx="1">
                  <c:v>8354522</c:v>
                </c:pt>
                <c:pt idx="2">
                  <c:v>8423646</c:v>
                </c:pt>
                <c:pt idx="3">
                  <c:v>7161234</c:v>
                </c:pt>
              </c:numCache>
            </c:numRef>
          </c:val>
          <c:extLst>
            <c:ext xmlns:c16="http://schemas.microsoft.com/office/drawing/2014/chart" uri="{C3380CC4-5D6E-409C-BE32-E72D297353CC}">
              <c16:uniqueId val="{00000000-A40C-A44B-9A3E-D03477D00EF6}"/>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Hoja1!$C$2:$C$5</c:f>
              <c:numCache>
                <c:formatCode>General</c:formatCode>
                <c:ptCount val="4"/>
              </c:numCache>
            </c:numRef>
          </c:val>
          <c:extLst>
            <c:ext xmlns:c16="http://schemas.microsoft.com/office/drawing/2014/chart" uri="{C3380CC4-5D6E-409C-BE32-E72D297353CC}">
              <c16:uniqueId val="{00000001-A40C-A44B-9A3E-D03477D00EF6}"/>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Hoja1!$D$2:$D$5</c:f>
              <c:numCache>
                <c:formatCode>General</c:formatCode>
                <c:ptCount val="4"/>
              </c:numCache>
            </c:numRef>
          </c:val>
          <c:extLst>
            <c:ext xmlns:c16="http://schemas.microsoft.com/office/drawing/2014/chart" uri="{C3380CC4-5D6E-409C-BE32-E72D297353CC}">
              <c16:uniqueId val="{00000002-A40C-A44B-9A3E-D03477D00EF6}"/>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8600000"/>
          <c:min val="0"/>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F0C14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Hoja1!$B$2:$B$5</c:f>
              <c:numCache>
                <c:formatCode>_-* #,##0_-;\-* #,##0_-;_-* "-"??_-;_-@_-</c:formatCode>
                <c:ptCount val="4"/>
                <c:pt idx="0">
                  <c:v>16227308</c:v>
                </c:pt>
                <c:pt idx="1">
                  <c:v>19382714</c:v>
                </c:pt>
                <c:pt idx="2">
                  <c:v>18935982</c:v>
                </c:pt>
                <c:pt idx="3">
                  <c:v>17088622</c:v>
                </c:pt>
              </c:numCache>
            </c:numRef>
          </c:val>
          <c:extLst>
            <c:ext xmlns:c16="http://schemas.microsoft.com/office/drawing/2014/chart" uri="{C3380CC4-5D6E-409C-BE32-E72D297353CC}">
              <c16:uniqueId val="{00000000-A40C-A44B-9A3E-D03477D00EF6}"/>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Hoja1!$C$2:$C$5</c:f>
              <c:numCache>
                <c:formatCode>General</c:formatCode>
                <c:ptCount val="4"/>
              </c:numCache>
            </c:numRef>
          </c:val>
          <c:extLst>
            <c:ext xmlns:c16="http://schemas.microsoft.com/office/drawing/2014/chart" uri="{C3380CC4-5D6E-409C-BE32-E72D297353CC}">
              <c16:uniqueId val="{00000001-A40C-A44B-9A3E-D03477D00EF6}"/>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Hoja1!$A$2:$A$5</c:f>
              <c:numCache>
                <c:formatCode>General</c:formatCode>
                <c:ptCount val="4"/>
                <c:pt idx="0">
                  <c:v>2022</c:v>
                </c:pt>
                <c:pt idx="1">
                  <c:v>2023</c:v>
                </c:pt>
                <c:pt idx="2">
                  <c:v>2024</c:v>
                </c:pt>
                <c:pt idx="3">
                  <c:v>2025</c:v>
                </c:pt>
              </c:numCache>
            </c:numRef>
          </c:cat>
          <c:val>
            <c:numRef>
              <c:f>Hoja1!$D$2:$D$5</c:f>
              <c:numCache>
                <c:formatCode>General</c:formatCode>
                <c:ptCount val="4"/>
              </c:numCache>
            </c:numRef>
          </c:val>
          <c:extLst>
            <c:ext xmlns:c16="http://schemas.microsoft.com/office/drawing/2014/chart" uri="{C3380CC4-5D6E-409C-BE32-E72D297353CC}">
              <c16:uniqueId val="{00000002-A40C-A44B-9A3E-D03477D00EF6}"/>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10000000"/>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Internacional</c:v>
                </c:pt>
              </c:strCache>
            </c:strRef>
          </c:tx>
          <c:spPr>
            <a:solidFill>
              <a:srgbClr val="AD040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Hoja1!$B$2:$B$8</c:f>
              <c:numCache>
                <c:formatCode>_-* #,##0_-;\-* #,##0_-;_-* "-"??_-;_-@_-</c:formatCode>
                <c:ptCount val="7"/>
                <c:pt idx="0">
                  <c:v>309807</c:v>
                </c:pt>
                <c:pt idx="1">
                  <c:v>204581</c:v>
                </c:pt>
                <c:pt idx="2">
                  <c:v>269443</c:v>
                </c:pt>
                <c:pt idx="3">
                  <c:v>390653</c:v>
                </c:pt>
                <c:pt idx="4">
                  <c:v>437797</c:v>
                </c:pt>
                <c:pt idx="5">
                  <c:v>491765</c:v>
                </c:pt>
                <c:pt idx="6">
                  <c:v>612744</c:v>
                </c:pt>
              </c:numCache>
            </c:numRef>
          </c:val>
          <c:extLst>
            <c:ext xmlns:c16="http://schemas.microsoft.com/office/drawing/2014/chart" uri="{C3380CC4-5D6E-409C-BE32-E72D297353CC}">
              <c16:uniqueId val="{00000000-1352-2842-B6FC-E719A7C61F23}"/>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Hoja1!$C$2:$C$8</c:f>
              <c:numCache>
                <c:formatCode>General</c:formatCode>
                <c:ptCount val="7"/>
              </c:numCache>
            </c:numRef>
          </c:val>
          <c:extLst>
            <c:ext xmlns:c16="http://schemas.microsoft.com/office/drawing/2014/chart" uri="{C3380CC4-5D6E-409C-BE32-E72D297353CC}">
              <c16:uniqueId val="{00000001-1352-2842-B6FC-E719A7C61F23}"/>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Hoja1!$A$2:$A$8</c:f>
              <c:numCache>
                <c:formatCode>General</c:formatCode>
                <c:ptCount val="7"/>
                <c:pt idx="0">
                  <c:v>2019</c:v>
                </c:pt>
                <c:pt idx="1">
                  <c:v>2020</c:v>
                </c:pt>
                <c:pt idx="2">
                  <c:v>2021</c:v>
                </c:pt>
                <c:pt idx="3">
                  <c:v>2022</c:v>
                </c:pt>
                <c:pt idx="4">
                  <c:v>2023</c:v>
                </c:pt>
                <c:pt idx="5">
                  <c:v>2024</c:v>
                </c:pt>
                <c:pt idx="6">
                  <c:v>2025</c:v>
                </c:pt>
              </c:numCache>
            </c:numRef>
          </c:cat>
          <c:val>
            <c:numRef>
              <c:f>Hoja1!$D$2:$D$8</c:f>
              <c:numCache>
                <c:formatCode>General</c:formatCode>
                <c:ptCount val="7"/>
              </c:numCache>
            </c:numRef>
          </c:val>
          <c:extLst>
            <c:ext xmlns:c16="http://schemas.microsoft.com/office/drawing/2014/chart" uri="{C3380CC4-5D6E-409C-BE32-E72D297353CC}">
              <c16:uniqueId val="{00000002-1352-2842-B6FC-E719A7C61F23}"/>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_-* #,##0_-;\-* #,##0_-;_-* &quot;-&quot;??_-;_-@_-"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Hoja6!$B$1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Hoja6!$A$2:$A$13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Hoja6!$B$2:$B$13</c:f>
              <c:numCache>
                <c:formatCode>_-* #,##0_-;\-* #,##0_-;_-* "-"??_-;_-@_-</c:formatCode>
                <c:ptCount val="12"/>
                <c:pt idx="0">
                  <c:v>25955</c:v>
                </c:pt>
                <c:pt idx="1">
                  <c:v>23690</c:v>
                </c:pt>
                <c:pt idx="2">
                  <c:v>42682</c:v>
                </c:pt>
                <c:pt idx="3">
                  <c:v>48298</c:v>
                </c:pt>
                <c:pt idx="4">
                  <c:v>43494</c:v>
                </c:pt>
                <c:pt idx="5">
                  <c:v>56108</c:v>
                </c:pt>
                <c:pt idx="6">
                  <c:v>110788</c:v>
                </c:pt>
                <c:pt idx="7">
                  <c:v>120137</c:v>
                </c:pt>
                <c:pt idx="8">
                  <c:v>54662</c:v>
                </c:pt>
                <c:pt idx="9">
                  <c:v>25137</c:v>
                </c:pt>
                <c:pt idx="10">
                  <c:v>20125</c:v>
                </c:pt>
                <c:pt idx="11">
                  <c:v>27942</c:v>
                </c:pt>
              </c:numCache>
            </c:numRef>
          </c:val>
          <c:smooth val="0"/>
          <c:extLst>
            <c:ext xmlns:c16="http://schemas.microsoft.com/office/drawing/2014/chart" uri="{C3380CC4-5D6E-409C-BE32-E72D297353CC}">
              <c16:uniqueId val="{00000000-F028-4878-876C-D14A3DC887CB}"/>
            </c:ext>
          </c:extLst>
        </c:ser>
        <c:ser>
          <c:idx val="1"/>
          <c:order val="1"/>
          <c:tx>
            <c:strRef>
              <c:f>Hoja6!$C$1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Hoja6!$A$2:$A$13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Hoja6!$C$2:$C$13</c:f>
              <c:numCache>
                <c:formatCode>_-* #,##0_-;\-* #,##0_-;_-* "-"??_-;_-@_-</c:formatCode>
                <c:ptCount val="12"/>
                <c:pt idx="0">
                  <c:v>26890</c:v>
                </c:pt>
                <c:pt idx="1">
                  <c:v>21417</c:v>
                </c:pt>
                <c:pt idx="2">
                  <c:v>25159</c:v>
                </c:pt>
                <c:pt idx="3">
                  <c:v>52769</c:v>
                </c:pt>
                <c:pt idx="4">
                  <c:v>73001</c:v>
                </c:pt>
                <c:pt idx="5">
                  <c:v>66418</c:v>
                </c:pt>
                <c:pt idx="6">
                  <c:v>83552</c:v>
                </c:pt>
                <c:pt idx="7">
                  <c:v>109999</c:v>
                </c:pt>
                <c:pt idx="8">
                  <c:v>50083</c:v>
                </c:pt>
                <c:pt idx="9">
                  <c:v>21208</c:v>
                </c:pt>
                <c:pt idx="10">
                  <c:v>21918</c:v>
                </c:pt>
                <c:pt idx="11">
                  <c:v>19867</c:v>
                </c:pt>
              </c:numCache>
            </c:numRef>
          </c:val>
          <c:smooth val="0"/>
          <c:extLst>
            <c:ext xmlns:c16="http://schemas.microsoft.com/office/drawing/2014/chart" uri="{C3380CC4-5D6E-409C-BE32-E72D297353CC}">
              <c16:uniqueId val="{00000001-F028-4878-876C-D14A3DC887CB}"/>
            </c:ext>
          </c:extLst>
        </c:ser>
        <c:dLbls>
          <c:showLegendKey val="0"/>
          <c:showVal val="0"/>
          <c:showCatName val="0"/>
          <c:showSerName val="0"/>
          <c:showPercent val="0"/>
          <c:showBubbleSize val="0"/>
        </c:dLbls>
        <c:marker val="1"/>
        <c:smooth val="0"/>
        <c:axId val="290701600"/>
        <c:axId val="290699200"/>
      </c:lineChart>
      <c:catAx>
        <c:axId val="290701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ontserrat Medium" pitchFamily="2" charset="0"/>
                <a:ea typeface="+mn-ea"/>
                <a:cs typeface="+mn-cs"/>
              </a:defRPr>
            </a:pPr>
            <a:endParaRPr lang="es-ES"/>
          </a:p>
        </c:txPr>
        <c:crossAx val="290699200"/>
        <c:crosses val="autoZero"/>
        <c:auto val="1"/>
        <c:lblAlgn val="ctr"/>
        <c:lblOffset val="100"/>
        <c:noMultiLvlLbl val="0"/>
      </c:catAx>
      <c:valAx>
        <c:axId val="290699200"/>
        <c:scaling>
          <c:orientation val="minMax"/>
          <c:max val="135000"/>
          <c:min val="0"/>
        </c:scaling>
        <c:delete val="0"/>
        <c:axPos val="l"/>
        <c:majorGridlines>
          <c:spPr>
            <a:ln w="9525" cap="flat" cmpd="sng" algn="ctr">
              <a:solidFill>
                <a:schemeClr val="tx1">
                  <a:lumMod val="15000"/>
                  <a:lumOff val="85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0"/>
                <a:ea typeface="+mn-ea"/>
                <a:cs typeface="+mn-cs"/>
              </a:defRPr>
            </a:pPr>
            <a:endParaRPr lang="es-ES"/>
          </a:p>
        </c:txPr>
        <c:crossAx val="2907016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chart>
  <c:spPr>
    <a:noFill/>
    <a:ln>
      <a:noFill/>
      <a:prstDash val="sysDot"/>
    </a:ln>
    <a:effectLst/>
  </c:spPr>
  <c:txPr>
    <a:bodyPr/>
    <a:lstStyle/>
    <a:p>
      <a:pPr>
        <a:defRPr/>
      </a:pPr>
      <a:endParaRPr lang="es-E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#,##0_-;\-* #,##0_-;_-* "-"??_-;_-@_-</c:formatCode>
                <c:ptCount val="12"/>
                <c:pt idx="0">
                  <c:v>39771</c:v>
                </c:pt>
                <c:pt idx="1">
                  <c:v>30051</c:v>
                </c:pt>
                <c:pt idx="2">
                  <c:v>41668</c:v>
                </c:pt>
                <c:pt idx="3">
                  <c:v>53062</c:v>
                </c:pt>
                <c:pt idx="4">
                  <c:v>57277</c:v>
                </c:pt>
                <c:pt idx="5">
                  <c:v>60279</c:v>
                </c:pt>
                <c:pt idx="6">
                  <c:v>79374</c:v>
                </c:pt>
                <c:pt idx="7">
                  <c:v>106993</c:v>
                </c:pt>
                <c:pt idx="8">
                  <c:v>69326</c:v>
                </c:pt>
                <c:pt idx="9">
                  <c:v>70548</c:v>
                </c:pt>
                <c:pt idx="10">
                  <c:v>38007</c:v>
                </c:pt>
                <c:pt idx="11">
                  <c:v>29128</c:v>
                </c:pt>
              </c:numCache>
            </c:numRef>
          </c:val>
          <c:smooth val="0"/>
          <c:extLst>
            <c:ext xmlns:c16="http://schemas.microsoft.com/office/drawing/2014/chart" uri="{C3380CC4-5D6E-409C-BE32-E72D297353CC}">
              <c16:uniqueId val="{00000000-FB94-458F-BE89-9B53506F5599}"/>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76762</c:v>
                </c:pt>
                <c:pt idx="1">
                  <c:v>35697</c:v>
                </c:pt>
                <c:pt idx="2">
                  <c:v>47360</c:v>
                </c:pt>
                <c:pt idx="3">
                  <c:v>55898</c:v>
                </c:pt>
                <c:pt idx="4">
                  <c:v>63519</c:v>
                </c:pt>
                <c:pt idx="5">
                  <c:v>66418</c:v>
                </c:pt>
                <c:pt idx="6">
                  <c:v>83552</c:v>
                </c:pt>
                <c:pt idx="7">
                  <c:v>109177</c:v>
                </c:pt>
                <c:pt idx="8">
                  <c:v>72354</c:v>
                </c:pt>
                <c:pt idx="9">
                  <c:v>71564</c:v>
                </c:pt>
                <c:pt idx="10">
                  <c:v>42114</c:v>
                </c:pt>
                <c:pt idx="11">
                  <c:v>32247</c:v>
                </c:pt>
              </c:numCache>
            </c:numRef>
          </c:val>
          <c:smooth val="0"/>
          <c:extLst>
            <c:ext xmlns:c16="http://schemas.microsoft.com/office/drawing/2014/chart" uri="{C3380CC4-5D6E-409C-BE32-E72D297353CC}">
              <c16:uniqueId val="{00000001-FB94-458F-BE89-9B53506F5599}"/>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0"/>
        </c:scaling>
        <c:delete val="0"/>
        <c:axPos val="l"/>
        <c:majorGridlines>
          <c:spPr>
            <a:ln w="9525" cap="flat" cmpd="sng" algn="ctr">
              <a:solidFill>
                <a:schemeClr val="bg2">
                  <a:lumMod val="90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chemeClr val="tx1">
                <a:lumMod val="85000"/>
                <a:lumOff val="15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Hoja1!$A$2:$A$5</c:f>
              <c:strCache>
                <c:ptCount val="4"/>
                <c:pt idx="0">
                  <c:v>Valencia</c:v>
                </c:pt>
                <c:pt idx="1">
                  <c:v>Madrid</c:v>
                </c:pt>
                <c:pt idx="2">
                  <c:v>Albacete</c:v>
                </c:pt>
                <c:pt idx="3">
                  <c:v>Murcia</c:v>
                </c:pt>
              </c:strCache>
            </c:strRef>
          </c:cat>
          <c:val>
            <c:numRef>
              <c:f>Hoja1!$B$2:$B$5</c:f>
              <c:numCache>
                <c:formatCode>#,##0</c:formatCode>
                <c:ptCount val="4"/>
                <c:pt idx="0">
                  <c:v>241917</c:v>
                </c:pt>
                <c:pt idx="1">
                  <c:v>140749</c:v>
                </c:pt>
                <c:pt idx="2">
                  <c:v>9409</c:v>
                </c:pt>
                <c:pt idx="3">
                  <c:v>7102</c:v>
                </c:pt>
              </c:numCache>
            </c:numRef>
          </c:val>
          <c:extLst>
            <c:ext xmlns:c16="http://schemas.microsoft.com/office/drawing/2014/chart" uri="{C3380CC4-5D6E-409C-BE32-E72D297353CC}">
              <c16:uniqueId val="{00000000-74DA-9B49-9213-E8B117D22CE1}"/>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Hoja1!$B$1</c:f>
              <c:strCache>
                <c:ptCount val="1"/>
                <c:pt idx="0">
                  <c:v>ADR</c:v>
                </c:pt>
              </c:strCache>
            </c:strRef>
          </c:tx>
          <c:spPr>
            <a:solidFill>
              <a:schemeClr val="tx1">
                <a:lumMod val="85000"/>
                <a:lumOff val="15000"/>
              </a:schemeClr>
            </a:solidFill>
          </c:spPr>
          <c:dPt>
            <c:idx val="0"/>
            <c:bubble3D val="0"/>
            <c:spPr>
              <a:solidFill>
                <a:srgbClr val="81060A"/>
              </a:solidFill>
              <a:ln>
                <a:noFill/>
              </a:ln>
              <a:effectLst/>
            </c:spPr>
            <c:extLst>
              <c:ext xmlns:c16="http://schemas.microsoft.com/office/drawing/2014/chart" uri="{C3380CC4-5D6E-409C-BE32-E72D297353CC}">
                <c16:uniqueId val="{00000000-D861-4BCA-8F5A-DE1E3C3712E1}"/>
              </c:ext>
            </c:extLst>
          </c:dPt>
          <c:dPt>
            <c:idx val="1"/>
            <c:bubble3D val="0"/>
            <c:spPr>
              <a:solidFill>
                <a:srgbClr val="F0C147"/>
              </a:solidFill>
              <a:ln>
                <a:noFill/>
              </a:ln>
              <a:effectLst/>
            </c:spPr>
            <c:extLst>
              <c:ext xmlns:c16="http://schemas.microsoft.com/office/drawing/2014/chart" uri="{C3380CC4-5D6E-409C-BE32-E72D297353CC}">
                <c16:uniqueId val="{00000002-D861-4BCA-8F5A-DE1E3C3712E1}"/>
              </c:ext>
            </c:extLst>
          </c:dPt>
          <c:dPt>
            <c:idx val="2"/>
            <c:bubble3D val="0"/>
            <c:spPr>
              <a:solidFill>
                <a:srgbClr val="F5272D"/>
              </a:solidFill>
              <a:ln>
                <a:noFill/>
              </a:ln>
              <a:effectLst/>
            </c:spPr>
            <c:extLst>
              <c:ext xmlns:c16="http://schemas.microsoft.com/office/drawing/2014/chart" uri="{C3380CC4-5D6E-409C-BE32-E72D297353CC}">
                <c16:uniqueId val="{00000001-D861-4BCA-8F5A-DE1E3C3712E1}"/>
              </c:ext>
            </c:extLst>
          </c:dPt>
          <c:dPt>
            <c:idx val="3"/>
            <c:bubble3D val="0"/>
            <c:spPr>
              <a:solidFill>
                <a:srgbClr val="F09453"/>
              </a:solidFill>
              <a:ln>
                <a:noFill/>
              </a:ln>
              <a:effectLst/>
            </c:spPr>
            <c:extLst>
              <c:ext xmlns:c16="http://schemas.microsoft.com/office/drawing/2014/chart" uri="{C3380CC4-5D6E-409C-BE32-E72D297353CC}">
                <c16:uniqueId val="{00000007-027D-478B-9DAD-7EB11FEF969C}"/>
              </c:ext>
            </c:extLst>
          </c:dPt>
          <c:dPt>
            <c:idx val="4"/>
            <c:bubble3D val="0"/>
            <c:spPr>
              <a:solidFill>
                <a:srgbClr val="76B463"/>
              </a:solidFill>
              <a:ln>
                <a:noFill/>
              </a:ln>
              <a:effectLst/>
            </c:spPr>
            <c:extLst>
              <c:ext xmlns:c16="http://schemas.microsoft.com/office/drawing/2014/chart" uri="{C3380CC4-5D6E-409C-BE32-E72D297353CC}">
                <c16:uniqueId val="{00000009-027D-478B-9DAD-7EB11FEF969C}"/>
              </c:ext>
            </c:extLst>
          </c:dPt>
          <c:dPt>
            <c:idx val="5"/>
            <c:bubble3D val="0"/>
            <c:spPr>
              <a:solidFill>
                <a:srgbClr val="009AA7"/>
              </a:solidFill>
              <a:ln>
                <a:noFill/>
              </a:ln>
              <a:effectLst/>
            </c:spPr>
            <c:extLst>
              <c:ext xmlns:c16="http://schemas.microsoft.com/office/drawing/2014/chart" uri="{C3380CC4-5D6E-409C-BE32-E72D297353CC}">
                <c16:uniqueId val="{0000000B-027D-478B-9DAD-7EB11FEF969C}"/>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ontserrat Medium" pitchFamily="2" charset="77"/>
                    <a:ea typeface="+mn-ea"/>
                    <a:cs typeface="+mn-cs"/>
                  </a:defRPr>
                </a:pPr>
                <a:endParaRPr lang="es-E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Hoja1!$A$2:$A$7</c:f>
              <c:strCache>
                <c:ptCount val="6"/>
                <c:pt idx="0">
                  <c:v>Valencia/València</c:v>
                </c:pt>
                <c:pt idx="1">
                  <c:v>Madrid</c:v>
                </c:pt>
                <c:pt idx="2">
                  <c:v>Albacete</c:v>
                </c:pt>
                <c:pt idx="3">
                  <c:v>Murcia</c:v>
                </c:pt>
                <c:pt idx="4">
                  <c:v>Barcelona</c:v>
                </c:pt>
                <c:pt idx="5">
                  <c:v>Resto</c:v>
                </c:pt>
              </c:strCache>
            </c:strRef>
          </c:cat>
          <c:val>
            <c:numRef>
              <c:f>Hoja1!$B$2:$B$7</c:f>
              <c:numCache>
                <c:formatCode>General</c:formatCode>
                <c:ptCount val="6"/>
                <c:pt idx="0">
                  <c:v>215105</c:v>
                </c:pt>
                <c:pt idx="1">
                  <c:v>130317</c:v>
                </c:pt>
                <c:pt idx="2">
                  <c:v>8468</c:v>
                </c:pt>
                <c:pt idx="3">
                  <c:v>6327</c:v>
                </c:pt>
                <c:pt idx="4">
                  <c:v>4600</c:v>
                </c:pt>
                <c:pt idx="5">
                  <c:v>38999</c:v>
                </c:pt>
              </c:numCache>
            </c:numRef>
          </c:val>
          <c:extLst>
            <c:ext xmlns:c16="http://schemas.microsoft.com/office/drawing/2014/chart" uri="{C3380CC4-5D6E-409C-BE32-E72D297353CC}">
              <c16:uniqueId val="{00000000-BBFB-4687-8ED2-7E9062A38CE7}"/>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Nacional</c:v>
                </c:pt>
              </c:strCache>
            </c:strRef>
          </c:tx>
          <c:spPr>
            <a:solidFill>
              <a:srgbClr val="AD0407"/>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Hoja1!$A$2:$A$6</c:f>
              <c:strCache>
                <c:ptCount val="5"/>
                <c:pt idx="0">
                  <c:v>Reino Unido</c:v>
                </c:pt>
                <c:pt idx="1">
                  <c:v>Alemania</c:v>
                </c:pt>
                <c:pt idx="2">
                  <c:v>Francia</c:v>
                </c:pt>
                <c:pt idx="3">
                  <c:v>Países Bajos</c:v>
                </c:pt>
                <c:pt idx="4">
                  <c:v>Suiza</c:v>
                </c:pt>
              </c:strCache>
            </c:strRef>
          </c:cat>
          <c:val>
            <c:numRef>
              <c:f>Hoja1!$B$2:$B$6</c:f>
              <c:numCache>
                <c:formatCode>#,##0</c:formatCode>
                <c:ptCount val="5"/>
                <c:pt idx="0">
                  <c:v>36416</c:v>
                </c:pt>
                <c:pt idx="1">
                  <c:v>32353</c:v>
                </c:pt>
                <c:pt idx="2">
                  <c:v>28581</c:v>
                </c:pt>
                <c:pt idx="3">
                  <c:v>19719</c:v>
                </c:pt>
                <c:pt idx="4">
                  <c:v>11855</c:v>
                </c:pt>
              </c:numCache>
            </c:numRef>
          </c:val>
          <c:extLst>
            <c:ext xmlns:c16="http://schemas.microsoft.com/office/drawing/2014/chart" uri="{C3380CC4-5D6E-409C-BE32-E72D297353CC}">
              <c16:uniqueId val="{00000000-FD0C-1148-90FE-829790669645}"/>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Hoja1!$B$1</c:f>
              <c:strCache>
                <c:ptCount val="1"/>
                <c:pt idx="0">
                  <c:v>ADR</c:v>
                </c:pt>
              </c:strCache>
            </c:strRef>
          </c:tx>
          <c:spPr>
            <a:solidFill>
              <a:schemeClr val="tx1">
                <a:lumMod val="85000"/>
                <a:lumOff val="15000"/>
              </a:schemeClr>
            </a:solidFill>
          </c:spPr>
          <c:dPt>
            <c:idx val="0"/>
            <c:bubble3D val="0"/>
            <c:spPr>
              <a:solidFill>
                <a:srgbClr val="81060A"/>
              </a:solidFill>
              <a:ln>
                <a:noFill/>
              </a:ln>
              <a:effectLst/>
            </c:spPr>
            <c:extLst>
              <c:ext xmlns:c16="http://schemas.microsoft.com/office/drawing/2014/chart" uri="{C3380CC4-5D6E-409C-BE32-E72D297353CC}">
                <c16:uniqueId val="{00000000-D861-4BCA-8F5A-DE1E3C3712E1}"/>
              </c:ext>
            </c:extLst>
          </c:dPt>
          <c:dPt>
            <c:idx val="1"/>
            <c:bubble3D val="0"/>
            <c:spPr>
              <a:solidFill>
                <a:srgbClr val="F5272D"/>
              </a:solidFill>
              <a:ln>
                <a:noFill/>
              </a:ln>
              <a:effectLst/>
            </c:spPr>
            <c:extLst>
              <c:ext xmlns:c16="http://schemas.microsoft.com/office/drawing/2014/chart" uri="{C3380CC4-5D6E-409C-BE32-E72D297353CC}">
                <c16:uniqueId val="{00000002-D861-4BCA-8F5A-DE1E3C3712E1}"/>
              </c:ext>
            </c:extLst>
          </c:dPt>
          <c:dPt>
            <c:idx val="2"/>
            <c:bubble3D val="0"/>
            <c:spPr>
              <a:solidFill>
                <a:srgbClr val="F0C147"/>
              </a:solidFill>
              <a:ln>
                <a:noFill/>
              </a:ln>
              <a:effectLst/>
            </c:spPr>
            <c:extLst>
              <c:ext xmlns:c16="http://schemas.microsoft.com/office/drawing/2014/chart" uri="{C3380CC4-5D6E-409C-BE32-E72D297353CC}">
                <c16:uniqueId val="{00000001-D861-4BCA-8F5A-DE1E3C3712E1}"/>
              </c:ext>
            </c:extLst>
          </c:dPt>
          <c:dPt>
            <c:idx val="3"/>
            <c:bubble3D val="0"/>
            <c:spPr>
              <a:solidFill>
                <a:srgbClr val="F09453"/>
              </a:solidFill>
              <a:ln>
                <a:noFill/>
              </a:ln>
              <a:effectLst/>
            </c:spPr>
            <c:extLst>
              <c:ext xmlns:c16="http://schemas.microsoft.com/office/drawing/2014/chart" uri="{C3380CC4-5D6E-409C-BE32-E72D297353CC}">
                <c16:uniqueId val="{00000006-A1D8-4B87-B894-BFE8F14A615B}"/>
              </c:ext>
            </c:extLst>
          </c:dPt>
          <c:dPt>
            <c:idx val="4"/>
            <c:bubble3D val="0"/>
            <c:spPr>
              <a:solidFill>
                <a:srgbClr val="76B463"/>
              </a:solidFill>
              <a:ln>
                <a:noFill/>
              </a:ln>
              <a:effectLst/>
            </c:spPr>
            <c:extLst>
              <c:ext xmlns:c16="http://schemas.microsoft.com/office/drawing/2014/chart" uri="{C3380CC4-5D6E-409C-BE32-E72D297353CC}">
                <c16:uniqueId val="{00000007-A1D8-4B87-B894-BFE8F14A615B}"/>
              </c:ext>
            </c:extLst>
          </c:dPt>
          <c:dPt>
            <c:idx val="5"/>
            <c:bubble3D val="0"/>
            <c:spPr>
              <a:solidFill>
                <a:srgbClr val="009AA7"/>
              </a:solidFill>
              <a:ln>
                <a:noFill/>
              </a:ln>
              <a:effectLst/>
            </c:spPr>
            <c:extLst>
              <c:ext xmlns:c16="http://schemas.microsoft.com/office/drawing/2014/chart" uri="{C3380CC4-5D6E-409C-BE32-E72D297353CC}">
                <c16:uniqueId val="{00000008-A1D8-4B87-B894-BFE8F14A615B}"/>
              </c:ext>
            </c:extLst>
          </c:dPt>
          <c:dPt>
            <c:idx val="6"/>
            <c:bubble3D val="0"/>
            <c:spPr>
              <a:solidFill>
                <a:srgbClr val="E5596B"/>
              </a:solidFill>
              <a:ln>
                <a:noFill/>
              </a:ln>
              <a:effectLst/>
            </c:spPr>
            <c:extLst>
              <c:ext xmlns:c16="http://schemas.microsoft.com/office/drawing/2014/chart" uri="{C3380CC4-5D6E-409C-BE32-E72D297353CC}">
                <c16:uniqueId val="{00000009-A1D8-4B87-B894-BFE8F14A615B}"/>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ontserrat Medium" pitchFamily="2" charset="77"/>
                    <a:ea typeface="+mn-ea"/>
                    <a:cs typeface="+mn-cs"/>
                  </a:defRPr>
                </a:pPr>
                <a:endParaRPr lang="es-E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Hoja1!$A$2:$A$8</c:f>
              <c:strCache>
                <c:ptCount val="7"/>
                <c:pt idx="0">
                  <c:v>Reino Unido</c:v>
                </c:pt>
                <c:pt idx="1">
                  <c:v>Alemania</c:v>
                </c:pt>
                <c:pt idx="2">
                  <c:v>Francia</c:v>
                </c:pt>
                <c:pt idx="3">
                  <c:v>Países Bajos</c:v>
                </c:pt>
                <c:pt idx="4">
                  <c:v>Suiza</c:v>
                </c:pt>
                <c:pt idx="5">
                  <c:v>Bélgica</c:v>
                </c:pt>
                <c:pt idx="6">
                  <c:v>Resto</c:v>
                </c:pt>
              </c:strCache>
            </c:strRef>
          </c:cat>
          <c:val>
            <c:numRef>
              <c:f>Hoja1!$B$2:$B$8</c:f>
              <c:numCache>
                <c:formatCode>0</c:formatCode>
                <c:ptCount val="7"/>
                <c:pt idx="0" formatCode="#,##0">
                  <c:v>36416</c:v>
                </c:pt>
                <c:pt idx="1">
                  <c:v>32353</c:v>
                </c:pt>
                <c:pt idx="2">
                  <c:v>28581</c:v>
                </c:pt>
                <c:pt idx="3">
                  <c:v>19719</c:v>
                </c:pt>
                <c:pt idx="4">
                  <c:v>11855</c:v>
                </c:pt>
                <c:pt idx="5">
                  <c:v>5646</c:v>
                </c:pt>
                <c:pt idx="6">
                  <c:v>36891</c:v>
                </c:pt>
              </c:numCache>
            </c:numRef>
          </c:val>
          <c:extLst>
            <c:ext xmlns:c16="http://schemas.microsoft.com/office/drawing/2014/chart" uri="{C3380CC4-5D6E-409C-BE32-E72D297353CC}">
              <c16:uniqueId val="{00000000-BBFB-4687-8ED2-7E9062A38CE7}"/>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Población flotante </c:v>
                </c:pt>
              </c:strCache>
            </c:strRef>
          </c:tx>
          <c:spPr>
            <a:solidFill>
              <a:srgbClr val="AD0407"/>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Hoja1!$A$2:$A$4</c:f>
              <c:numCache>
                <c:formatCode>General</c:formatCode>
                <c:ptCount val="3"/>
                <c:pt idx="0">
                  <c:v>2023</c:v>
                </c:pt>
                <c:pt idx="1">
                  <c:v>2024</c:v>
                </c:pt>
                <c:pt idx="2">
                  <c:v>2025</c:v>
                </c:pt>
              </c:numCache>
            </c:numRef>
          </c:cat>
          <c:val>
            <c:numRef>
              <c:f>Hoja1!$B$2:$B$4</c:f>
              <c:numCache>
                <c:formatCode>#,##0</c:formatCode>
                <c:ptCount val="3"/>
                <c:pt idx="0">
                  <c:v>111667</c:v>
                </c:pt>
                <c:pt idx="1">
                  <c:v>117366</c:v>
                </c:pt>
                <c:pt idx="2">
                  <c:v>134387</c:v>
                </c:pt>
              </c:numCache>
            </c:numRef>
          </c:val>
          <c:extLst>
            <c:ext xmlns:c16="http://schemas.microsoft.com/office/drawing/2014/chart" uri="{C3380CC4-5D6E-409C-BE32-E72D297353CC}">
              <c16:uniqueId val="{00000000-FD0C-1148-90FE-829790669645}"/>
            </c:ext>
          </c:extLst>
        </c:ser>
        <c:ser>
          <c:idx val="1"/>
          <c:order val="1"/>
          <c:tx>
            <c:strRef>
              <c:f>Hoja1!$C$1</c:f>
              <c:strCache>
                <c:ptCount val="1"/>
                <c:pt idx="0">
                  <c:v>Población residente</c:v>
                </c:pt>
              </c:strCache>
            </c:strRef>
          </c:tx>
          <c:spPr>
            <a:solidFill>
              <a:schemeClr val="tx1">
                <a:lumMod val="85000"/>
                <a:lumOff val="15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Hoja1!$A$2:$A$4</c:f>
              <c:numCache>
                <c:formatCode>General</c:formatCode>
                <c:ptCount val="3"/>
                <c:pt idx="0">
                  <c:v>2023</c:v>
                </c:pt>
                <c:pt idx="1">
                  <c:v>2024</c:v>
                </c:pt>
                <c:pt idx="2">
                  <c:v>2025</c:v>
                </c:pt>
              </c:numCache>
            </c:numRef>
          </c:cat>
          <c:val>
            <c:numRef>
              <c:f>Hoja1!$C$2:$C$4</c:f>
              <c:numCache>
                <c:formatCode>#,##0</c:formatCode>
                <c:ptCount val="3"/>
                <c:pt idx="0">
                  <c:v>77945</c:v>
                </c:pt>
                <c:pt idx="1">
                  <c:v>77330</c:v>
                </c:pt>
                <c:pt idx="2">
                  <c:v>80509</c:v>
                </c:pt>
              </c:numCache>
            </c:numRef>
          </c:val>
          <c:extLst>
            <c:ext xmlns:c16="http://schemas.microsoft.com/office/drawing/2014/chart" uri="{C3380CC4-5D6E-409C-BE32-E72D297353CC}">
              <c16:uniqueId val="{00000000-198D-4EBD-814B-574E93BEE8AF}"/>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0"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'Evolución temporal de la poblac'!$H$22</c:f>
              <c:strCache>
                <c:ptCount val="1"/>
                <c:pt idx="0">
                  <c:v>Población flotante</c:v>
                </c:pt>
              </c:strCache>
            </c:strRef>
          </c:tx>
          <c:spPr>
            <a:ln w="28575" cap="rnd">
              <a:solidFill>
                <a:srgbClr val="F0C147"/>
              </a:solidFill>
              <a:prstDash val="sysDot"/>
              <a:round/>
            </a:ln>
            <a:effectLst/>
          </c:spPr>
          <c:marker>
            <c:symbol val="circle"/>
            <c:size val="5"/>
            <c:spPr>
              <a:solidFill>
                <a:srgbClr val="F0C147"/>
              </a:solidFill>
              <a:ln w="9525">
                <a:solidFill>
                  <a:srgbClr val="F0C147"/>
                </a:solidFill>
              </a:ln>
              <a:effectLst/>
            </c:spPr>
          </c:marker>
          <c:cat>
            <c:strRef>
              <c:f>'Evolución temporal de la poblac'!$G$23:$G$34</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'Evolución temporal de la poblac'!$H$23:$H$34</c:f>
              <c:numCache>
                <c:formatCode>_-* #,##0_-;\-* #,##0_-;_-* "-"??_-;_-@_-</c:formatCode>
                <c:ptCount val="12"/>
                <c:pt idx="0">
                  <c:v>91366</c:v>
                </c:pt>
                <c:pt idx="1">
                  <c:v>96752</c:v>
                </c:pt>
                <c:pt idx="2">
                  <c:v>97377</c:v>
                </c:pt>
                <c:pt idx="3">
                  <c:v>140816</c:v>
                </c:pt>
                <c:pt idx="4">
                  <c:v>124485</c:v>
                </c:pt>
                <c:pt idx="5">
                  <c:v>160700</c:v>
                </c:pt>
                <c:pt idx="6">
                  <c:v>211874</c:v>
                </c:pt>
                <c:pt idx="7">
                  <c:v>240538</c:v>
                </c:pt>
                <c:pt idx="8">
                  <c:v>137371</c:v>
                </c:pt>
                <c:pt idx="9">
                  <c:v>108527</c:v>
                </c:pt>
                <c:pt idx="10">
                  <c:v>89741</c:v>
                </c:pt>
                <c:pt idx="11">
                  <c:v>97663</c:v>
                </c:pt>
              </c:numCache>
            </c:numRef>
          </c:val>
          <c:smooth val="0"/>
          <c:extLst>
            <c:ext xmlns:c16="http://schemas.microsoft.com/office/drawing/2014/chart" uri="{C3380CC4-5D6E-409C-BE32-E72D297353CC}">
              <c16:uniqueId val="{00000000-232E-489E-827A-DB450B2F9688}"/>
            </c:ext>
          </c:extLst>
        </c:ser>
        <c:ser>
          <c:idx val="1"/>
          <c:order val="1"/>
          <c:tx>
            <c:strRef>
              <c:f>'Evolución temporal de la poblac'!$I$22</c:f>
              <c:strCache>
                <c:ptCount val="1"/>
                <c:pt idx="0">
                  <c:v>Población residente</c:v>
                </c:pt>
              </c:strCache>
            </c:strRef>
          </c:tx>
          <c:spPr>
            <a:ln w="28575" cap="rnd">
              <a:solidFill>
                <a:srgbClr val="81060A"/>
              </a:solidFill>
              <a:prstDash val="sysDot"/>
              <a:round/>
            </a:ln>
            <a:effectLst/>
          </c:spPr>
          <c:marker>
            <c:symbol val="circle"/>
            <c:size val="5"/>
            <c:spPr>
              <a:solidFill>
                <a:srgbClr val="81060A"/>
              </a:solidFill>
              <a:ln w="9525">
                <a:solidFill>
                  <a:srgbClr val="81060A"/>
                </a:solidFill>
              </a:ln>
              <a:effectLst/>
            </c:spPr>
          </c:marker>
          <c:cat>
            <c:strRef>
              <c:f>'Evolución temporal de la poblac'!$G$23:$G$34</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'Evolución temporal de la poblac'!$I$23:$I$34</c:f>
              <c:numCache>
                <c:formatCode>_-* #,##0_-;\-* #,##0_-;_-* "-"??_-;_-@_-</c:formatCode>
                <c:ptCount val="12"/>
                <c:pt idx="0">
                  <c:v>76923</c:v>
                </c:pt>
                <c:pt idx="1">
                  <c:v>78001</c:v>
                </c:pt>
                <c:pt idx="2">
                  <c:v>77600</c:v>
                </c:pt>
                <c:pt idx="3">
                  <c:v>79478</c:v>
                </c:pt>
                <c:pt idx="4">
                  <c:v>79331</c:v>
                </c:pt>
                <c:pt idx="5">
                  <c:v>81916</c:v>
                </c:pt>
                <c:pt idx="6">
                  <c:v>85789</c:v>
                </c:pt>
                <c:pt idx="7">
                  <c:v>97399</c:v>
                </c:pt>
                <c:pt idx="8">
                  <c:v>83715</c:v>
                </c:pt>
                <c:pt idx="9">
                  <c:v>76612</c:v>
                </c:pt>
                <c:pt idx="10">
                  <c:v>73959</c:v>
                </c:pt>
                <c:pt idx="11">
                  <c:v>72642</c:v>
                </c:pt>
              </c:numCache>
            </c:numRef>
          </c:val>
          <c:smooth val="0"/>
          <c:extLst>
            <c:ext xmlns:c16="http://schemas.microsoft.com/office/drawing/2014/chart" uri="{C3380CC4-5D6E-409C-BE32-E72D297353CC}">
              <c16:uniqueId val="{00000001-232E-489E-827A-DB450B2F9688}"/>
            </c:ext>
          </c:extLst>
        </c:ser>
        <c:dLbls>
          <c:showLegendKey val="0"/>
          <c:showVal val="0"/>
          <c:showCatName val="0"/>
          <c:showSerName val="0"/>
          <c:showPercent val="0"/>
          <c:showBubbleSize val="0"/>
        </c:dLbls>
        <c:marker val="1"/>
        <c:smooth val="0"/>
        <c:axId val="1303531744"/>
        <c:axId val="987348080"/>
      </c:lineChart>
      <c:catAx>
        <c:axId val="1303531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ontserrat Medium" pitchFamily="2" charset="0"/>
                <a:ea typeface="+mn-ea"/>
                <a:cs typeface="+mn-cs"/>
              </a:defRPr>
            </a:pPr>
            <a:endParaRPr lang="es-ES"/>
          </a:p>
        </c:txPr>
        <c:crossAx val="987348080"/>
        <c:crosses val="autoZero"/>
        <c:auto val="1"/>
        <c:lblAlgn val="ctr"/>
        <c:lblOffset val="100"/>
        <c:noMultiLvlLbl val="0"/>
      </c:catAx>
      <c:valAx>
        <c:axId val="987348080"/>
        <c:scaling>
          <c:orientation val="minMax"/>
        </c:scaling>
        <c:delete val="0"/>
        <c:axPos val="l"/>
        <c:majorGridlines>
          <c:spPr>
            <a:ln w="9525" cap="flat" cmpd="sng" algn="ctr">
              <a:solidFill>
                <a:schemeClr val="tx1">
                  <a:lumMod val="15000"/>
                  <a:lumOff val="85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0"/>
                <a:ea typeface="+mn-ea"/>
                <a:cs typeface="+mn-cs"/>
              </a:defRPr>
            </a:pPr>
            <a:endParaRPr lang="es-ES"/>
          </a:p>
        </c:txPr>
        <c:crossAx val="130353174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chart>
  <c:spPr>
    <a:noFill/>
    <a:ln>
      <a:noFill/>
    </a:ln>
    <a:effectLst/>
  </c:spPr>
  <c:txPr>
    <a:bodyPr/>
    <a:lstStyle/>
    <a:p>
      <a:pPr>
        <a:defRPr/>
      </a:pPr>
      <a:endParaRPr lang="es-E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2024</c:v>
                </c:pt>
              </c:strCache>
            </c:strRef>
          </c:tx>
          <c:spPr>
            <a:solidFill>
              <a:srgbClr val="F09453"/>
            </a:solidFill>
            <a:ln>
              <a:noFill/>
            </a:ln>
            <a:effectLst/>
          </c:spPr>
          <c:invertIfNegative val="0"/>
          <c:dLbls>
            <c:spPr>
              <a:noFill/>
              <a:ln>
                <a:noFill/>
              </a:ln>
              <a:effectLst/>
            </c:spPr>
            <c:txPr>
              <a:bodyPr rot="-5400000" spcFirstLastPara="1" vertOverflow="clip" horzOverflow="clip" vert="horz" wrap="square" lIns="38100" tIns="19050" rIns="38100" bIns="19050" anchor="ctr" anchorCtr="0">
                <a:spAutoFit/>
              </a:bodyPr>
              <a:lstStyle/>
              <a:p>
                <a:pPr algn="ctr">
                  <a:defRPr lang="en-US"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Hoja1!$A$2:$A$6</c:f>
              <c:strCache>
                <c:ptCount val="5"/>
                <c:pt idx="0">
                  <c:v>Reino Unido</c:v>
                </c:pt>
                <c:pt idx="1">
                  <c:v>Francia</c:v>
                </c:pt>
                <c:pt idx="2">
                  <c:v>Alemania</c:v>
                </c:pt>
                <c:pt idx="3">
                  <c:v>Países Bajos</c:v>
                </c:pt>
                <c:pt idx="4">
                  <c:v>Suiza</c:v>
                </c:pt>
              </c:strCache>
            </c:strRef>
          </c:cat>
          <c:val>
            <c:numRef>
              <c:f>Hoja1!$B$2:$B$6</c:f>
              <c:numCache>
                <c:formatCode>_("€"* #,##0.00_);_("€"* \(#,##0.00\);_("€"* "-"??_);_(@_)</c:formatCode>
                <c:ptCount val="5"/>
                <c:pt idx="0">
                  <c:v>39.200000000000003</c:v>
                </c:pt>
                <c:pt idx="1">
                  <c:v>32</c:v>
                </c:pt>
                <c:pt idx="2">
                  <c:v>40.9</c:v>
                </c:pt>
                <c:pt idx="3">
                  <c:v>32.4</c:v>
                </c:pt>
                <c:pt idx="4">
                  <c:v>45</c:v>
                </c:pt>
              </c:numCache>
            </c:numRef>
          </c:val>
          <c:extLst>
            <c:ext xmlns:c16="http://schemas.microsoft.com/office/drawing/2014/chart" uri="{C3380CC4-5D6E-409C-BE32-E72D297353CC}">
              <c16:uniqueId val="{00000000-E496-4236-B30F-10F029902B3A}"/>
            </c:ext>
          </c:extLst>
        </c:ser>
        <c:ser>
          <c:idx val="1"/>
          <c:order val="1"/>
          <c:tx>
            <c:strRef>
              <c:f>Hoja1!$C$1</c:f>
              <c:strCache>
                <c:ptCount val="1"/>
                <c:pt idx="0">
                  <c:v>2025</c:v>
                </c:pt>
              </c:strCache>
            </c:strRef>
          </c:tx>
          <c:spPr>
            <a:solidFill>
              <a:srgbClr val="AD0407"/>
            </a:solidFill>
            <a:ln>
              <a:noFill/>
            </a:ln>
            <a:effectLst/>
          </c:spPr>
          <c:invertIfNegative val="0"/>
          <c:dLbls>
            <c:spPr>
              <a:noFill/>
              <a:ln>
                <a:noFill/>
              </a:ln>
              <a:effectLst/>
            </c:spPr>
            <c:txPr>
              <a:bodyPr rot="-5400000" spcFirstLastPara="1" vertOverflow="clip" horzOverflow="clip" vert="horz" wrap="square" lIns="38100" tIns="19050" rIns="38100" bIns="19050" anchor="ctr" anchorCtr="0">
                <a:spAutoFit/>
              </a:bodyPr>
              <a:lstStyle/>
              <a:p>
                <a:pPr algn="ctr">
                  <a:defRPr lang="en-US"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Hoja1!$A$2:$A$6</c:f>
              <c:strCache>
                <c:ptCount val="5"/>
                <c:pt idx="0">
                  <c:v>Reino Unido</c:v>
                </c:pt>
                <c:pt idx="1">
                  <c:v>Francia</c:v>
                </c:pt>
                <c:pt idx="2">
                  <c:v>Alemania</c:v>
                </c:pt>
                <c:pt idx="3">
                  <c:v>Países Bajos</c:v>
                </c:pt>
                <c:pt idx="4">
                  <c:v>Suiza</c:v>
                </c:pt>
              </c:strCache>
            </c:strRef>
          </c:cat>
          <c:val>
            <c:numRef>
              <c:f>Hoja1!$C$2:$C$6</c:f>
              <c:numCache>
                <c:formatCode>_("€"* #,##0.00_);_("€"* \(#,##0.00\);_("€"* "-"??_);_(@_)</c:formatCode>
                <c:ptCount val="5"/>
                <c:pt idx="0">
                  <c:v>39.4</c:v>
                </c:pt>
                <c:pt idx="1">
                  <c:v>38.4</c:v>
                </c:pt>
                <c:pt idx="2">
                  <c:v>42.1</c:v>
                </c:pt>
                <c:pt idx="3">
                  <c:v>35.1</c:v>
                </c:pt>
                <c:pt idx="4">
                  <c:v>49.6</c:v>
                </c:pt>
              </c:numCache>
            </c:numRef>
          </c:val>
          <c:extLst>
            <c:ext xmlns:c16="http://schemas.microsoft.com/office/drawing/2014/chart" uri="{C3380CC4-5D6E-409C-BE32-E72D297353CC}">
              <c16:uniqueId val="{00000000-DC67-4040-B632-FDF1FC853C28}"/>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_(&quot;€&quot;* #,##0.00_);_(&quot;€&quot;* \(#,##0.00\);_(&quot;€&quot;* &quot;-&quot;??_);_(@_)" sourceLinked="1"/>
        <c:majorTickMark val="none"/>
        <c:minorTickMark val="none"/>
        <c:tickLblPos val="nextTo"/>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2024</c:v>
                </c:pt>
              </c:strCache>
            </c:strRef>
          </c:tx>
          <c:spPr>
            <a:solidFill>
              <a:srgbClr val="F09453"/>
            </a:solidFill>
            <a:ln>
              <a:noFill/>
            </a:ln>
            <a:effectLst/>
          </c:spPr>
          <c:invertIfNegative val="0"/>
          <c:dLbls>
            <c:spPr>
              <a:noFill/>
              <a:ln>
                <a:noFill/>
              </a:ln>
              <a:effectLst/>
            </c:spPr>
            <c:txPr>
              <a:bodyPr rot="-5400000" spcFirstLastPara="1" vertOverflow="clip" horzOverflow="clip" vert="horz" wrap="square" lIns="38100" tIns="19050" rIns="38100" bIns="19050" anchor="ctr" anchorCtr="0">
                <a:spAutoFit/>
              </a:bodyPr>
              <a:lstStyle/>
              <a:p>
                <a:pPr algn="ctr">
                  <a:defRPr lang="en-US"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Hoja1!$A$2:$A$6</c:f>
              <c:strCache>
                <c:ptCount val="5"/>
                <c:pt idx="0">
                  <c:v>Comunidad de Madrid </c:v>
                </c:pt>
                <c:pt idx="1">
                  <c:v>Castilla-La Mancha</c:v>
                </c:pt>
                <c:pt idx="2">
                  <c:v>Comunidad Valenciana </c:v>
                </c:pt>
                <c:pt idx="3">
                  <c:v>Murcia</c:v>
                </c:pt>
                <c:pt idx="4">
                  <c:v>Cataluña</c:v>
                </c:pt>
              </c:strCache>
            </c:strRef>
          </c:cat>
          <c:val>
            <c:numRef>
              <c:f>Hoja1!$B$2:$B$6</c:f>
              <c:numCache>
                <c:formatCode>_("€"* #,##0.00_);_("€"* \(#,##0.00\);_("€"* "-"??_);_(@_)</c:formatCode>
                <c:ptCount val="5"/>
                <c:pt idx="0">
                  <c:v>34.299999999999997</c:v>
                </c:pt>
                <c:pt idx="1">
                  <c:v>29.1</c:v>
                </c:pt>
                <c:pt idx="2">
                  <c:v>32.5</c:v>
                </c:pt>
                <c:pt idx="3">
                  <c:v>29</c:v>
                </c:pt>
                <c:pt idx="4">
                  <c:v>27.8</c:v>
                </c:pt>
              </c:numCache>
            </c:numRef>
          </c:val>
          <c:extLst>
            <c:ext xmlns:c16="http://schemas.microsoft.com/office/drawing/2014/chart" uri="{C3380CC4-5D6E-409C-BE32-E72D297353CC}">
              <c16:uniqueId val="{00000000-568F-45BF-95E9-FFD39041EAB5}"/>
            </c:ext>
          </c:extLst>
        </c:ser>
        <c:ser>
          <c:idx val="1"/>
          <c:order val="1"/>
          <c:tx>
            <c:strRef>
              <c:f>Hoja1!$C$1</c:f>
              <c:strCache>
                <c:ptCount val="1"/>
                <c:pt idx="0">
                  <c:v>2025</c:v>
                </c:pt>
              </c:strCache>
            </c:strRef>
          </c:tx>
          <c:spPr>
            <a:solidFill>
              <a:srgbClr val="81060A"/>
            </a:solidFill>
            <a:ln>
              <a:noFill/>
            </a:ln>
            <a:effectLst/>
          </c:spPr>
          <c:invertIfNegative val="0"/>
          <c:dLbls>
            <c:spPr>
              <a:noFill/>
              <a:ln>
                <a:noFill/>
              </a:ln>
              <a:effectLst/>
            </c:spPr>
            <c:txPr>
              <a:bodyPr rot="-5400000" spcFirstLastPara="1" vertOverflow="clip" horzOverflow="clip" vert="horz" wrap="square" lIns="38100" tIns="19050" rIns="38100" bIns="19050" anchor="ctr" anchorCtr="0">
                <a:spAutoFit/>
              </a:bodyPr>
              <a:lstStyle/>
              <a:p>
                <a:pPr algn="ctr">
                  <a:defRPr lang="en-US" sz="1000" b="0" i="0" u="none" strike="noStrike" kern="1200" baseline="0">
                    <a:solidFill>
                      <a:schemeClr val="tx1">
                        <a:lumMod val="75000"/>
                        <a:lumOff val="2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Hoja1!$A$2:$A$6</c:f>
              <c:strCache>
                <c:ptCount val="5"/>
                <c:pt idx="0">
                  <c:v>Comunidad de Madrid </c:v>
                </c:pt>
                <c:pt idx="1">
                  <c:v>Castilla-La Mancha</c:v>
                </c:pt>
                <c:pt idx="2">
                  <c:v>Comunidad Valenciana </c:v>
                </c:pt>
                <c:pt idx="3">
                  <c:v>Murcia</c:v>
                </c:pt>
                <c:pt idx="4">
                  <c:v>Cataluña</c:v>
                </c:pt>
              </c:strCache>
            </c:strRef>
          </c:cat>
          <c:val>
            <c:numRef>
              <c:f>Hoja1!$C$2:$C$6</c:f>
              <c:numCache>
                <c:formatCode>_("€"* #,##0.00_);_("€"* \(#,##0.00\);_("€"* "-"??_);_(@_)</c:formatCode>
                <c:ptCount val="5"/>
                <c:pt idx="0">
                  <c:v>37.799999999999997</c:v>
                </c:pt>
                <c:pt idx="1">
                  <c:v>36.200000000000003</c:v>
                </c:pt>
                <c:pt idx="2">
                  <c:v>32.799999999999997</c:v>
                </c:pt>
                <c:pt idx="3">
                  <c:v>30.1</c:v>
                </c:pt>
                <c:pt idx="4">
                  <c:v>24.5</c:v>
                </c:pt>
              </c:numCache>
            </c:numRef>
          </c:val>
          <c:extLst>
            <c:ext xmlns:c16="http://schemas.microsoft.com/office/drawing/2014/chart" uri="{C3380CC4-5D6E-409C-BE32-E72D297353CC}">
              <c16:uniqueId val="{00000000-EB35-4533-8CED-155AC3772BC9}"/>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50"/>
        </c:scaling>
        <c:delete val="1"/>
        <c:axPos val="l"/>
        <c:numFmt formatCode="_(&quot;€&quot;* #,##0.00_);_(&quot;€&quot;* \(#,##0.00\);_(&quot;€&quot;* &quot;-&quot;??_);_(@_)" sourceLinked="1"/>
        <c:majorTickMark val="out"/>
        <c:minorTickMark val="none"/>
        <c:tickLblPos val="nextTo"/>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ADR</c:v>
                </c:pt>
              </c:strCache>
            </c:strRef>
          </c:tx>
          <c:spPr>
            <a:solidFill>
              <a:schemeClr val="tx1">
                <a:lumMod val="85000"/>
                <a:lumOff val="1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Hoja1!$A$2:$A$4</c:f>
              <c:numCache>
                <c:formatCode>General</c:formatCode>
                <c:ptCount val="3"/>
                <c:pt idx="0">
                  <c:v>2023</c:v>
                </c:pt>
                <c:pt idx="1">
                  <c:v>2024</c:v>
                </c:pt>
                <c:pt idx="2">
                  <c:v>2025</c:v>
                </c:pt>
              </c:numCache>
            </c:numRef>
          </c:cat>
          <c:val>
            <c:numRef>
              <c:f>Hoja1!$B$2:$B$4</c:f>
              <c:numCache>
                <c:formatCode>_("€"* #,##0.00_);_("€"* \(#,##0.00\);_("€"* "-"??_);_(@_)</c:formatCode>
                <c:ptCount val="3"/>
                <c:pt idx="0">
                  <c:v>125.66</c:v>
                </c:pt>
                <c:pt idx="1">
                  <c:v>129.35</c:v>
                </c:pt>
                <c:pt idx="2">
                  <c:v>121.29</c:v>
                </c:pt>
              </c:numCache>
            </c:numRef>
          </c:val>
          <c:extLst>
            <c:ext xmlns:c16="http://schemas.microsoft.com/office/drawing/2014/chart" uri="{C3380CC4-5D6E-409C-BE32-E72D297353CC}">
              <c16:uniqueId val="{00000000-BBFB-4687-8ED2-7E9062A38CE7}"/>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Hoja1!$A$2:$A$4</c:f>
              <c:numCache>
                <c:formatCode>General</c:formatCode>
                <c:ptCount val="3"/>
                <c:pt idx="0">
                  <c:v>2023</c:v>
                </c:pt>
                <c:pt idx="1">
                  <c:v>2024</c:v>
                </c:pt>
                <c:pt idx="2">
                  <c:v>2025</c:v>
                </c:pt>
              </c:numCache>
            </c:numRef>
          </c:cat>
          <c:val>
            <c:numRef>
              <c:f>Hoja1!$C$2:$C$4</c:f>
              <c:numCache>
                <c:formatCode>General</c:formatCode>
                <c:ptCount val="3"/>
              </c:numCache>
            </c:numRef>
          </c:val>
          <c:extLst>
            <c:ext xmlns:c16="http://schemas.microsoft.com/office/drawing/2014/chart" uri="{C3380CC4-5D6E-409C-BE32-E72D297353CC}">
              <c16:uniqueId val="{00000001-BBFB-4687-8ED2-7E9062A38CE7}"/>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Hoja1!$A$2:$A$4</c:f>
              <c:numCache>
                <c:formatCode>General</c:formatCode>
                <c:ptCount val="3"/>
                <c:pt idx="0">
                  <c:v>2023</c:v>
                </c:pt>
                <c:pt idx="1">
                  <c:v>2024</c:v>
                </c:pt>
                <c:pt idx="2">
                  <c:v>2025</c:v>
                </c:pt>
              </c:numCache>
            </c:numRef>
          </c:cat>
          <c:val>
            <c:numRef>
              <c:f>Hoja1!$D$2:$D$4</c:f>
              <c:numCache>
                <c:formatCode>General</c:formatCode>
                <c:ptCount val="3"/>
              </c:numCache>
            </c:numRef>
          </c:val>
          <c:extLst>
            <c:ext xmlns:c16="http://schemas.microsoft.com/office/drawing/2014/chart" uri="{C3380CC4-5D6E-409C-BE32-E72D297353CC}">
              <c16:uniqueId val="{00000002-BBFB-4687-8ED2-7E9062A38CE7}"/>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40"/>
        </c:scaling>
        <c:delete val="1"/>
        <c:axPos val="l"/>
        <c:numFmt formatCode="_(&quot;€&quot;* #,##0.00_);_(&quot;€&quot;* \(#,##0.00\);_(&quot;€&quot;* &quot;-&quot;??_);_(@_)" sourceLinked="1"/>
        <c:majorTickMark val="out"/>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ADR</c:v>
                </c:pt>
              </c:strCache>
            </c:strRef>
          </c:tx>
          <c:spPr>
            <a:solidFill>
              <a:srgbClr val="81060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ontserrat Medium" pitchFamily="2" charset="77"/>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Hoja1!$A$2:$A$4</c:f>
              <c:numCache>
                <c:formatCode>General</c:formatCode>
                <c:ptCount val="3"/>
                <c:pt idx="0">
                  <c:v>2023</c:v>
                </c:pt>
                <c:pt idx="1">
                  <c:v>2024</c:v>
                </c:pt>
                <c:pt idx="2">
                  <c:v>2025</c:v>
                </c:pt>
              </c:numCache>
            </c:numRef>
          </c:cat>
          <c:val>
            <c:numRef>
              <c:f>Hoja1!$B$2:$B$4</c:f>
              <c:numCache>
                <c:formatCode>_("€"* #,##0.00_);_("€"* \(#,##0.00\);_("€"* "-"??_);_(@_)</c:formatCode>
                <c:ptCount val="3"/>
                <c:pt idx="0">
                  <c:v>84.26</c:v>
                </c:pt>
                <c:pt idx="1">
                  <c:v>82.99</c:v>
                </c:pt>
                <c:pt idx="2">
                  <c:v>88.89</c:v>
                </c:pt>
              </c:numCache>
            </c:numRef>
          </c:val>
          <c:extLst>
            <c:ext xmlns:c16="http://schemas.microsoft.com/office/drawing/2014/chart" uri="{C3380CC4-5D6E-409C-BE32-E72D297353CC}">
              <c16:uniqueId val="{00000000-BBFB-4687-8ED2-7E9062A38CE7}"/>
            </c:ext>
          </c:extLst>
        </c:ser>
        <c:ser>
          <c:idx val="1"/>
          <c:order val="1"/>
          <c:tx>
            <c:strRef>
              <c:f>Hoja1!$C$1</c:f>
              <c:strCache>
                <c:ptCount val="1"/>
                <c:pt idx="0">
                  <c:v>Columna2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Hoja1!$A$2:$A$4</c:f>
              <c:numCache>
                <c:formatCode>General</c:formatCode>
                <c:ptCount val="3"/>
                <c:pt idx="0">
                  <c:v>2023</c:v>
                </c:pt>
                <c:pt idx="1">
                  <c:v>2024</c:v>
                </c:pt>
                <c:pt idx="2">
                  <c:v>2025</c:v>
                </c:pt>
              </c:numCache>
            </c:numRef>
          </c:cat>
          <c:val>
            <c:numRef>
              <c:f>Hoja1!$C$2:$C$4</c:f>
              <c:numCache>
                <c:formatCode>General</c:formatCode>
                <c:ptCount val="3"/>
              </c:numCache>
            </c:numRef>
          </c:val>
          <c:extLst>
            <c:ext xmlns:c16="http://schemas.microsoft.com/office/drawing/2014/chart" uri="{C3380CC4-5D6E-409C-BE32-E72D297353CC}">
              <c16:uniqueId val="{00000001-BBFB-4687-8ED2-7E9062A38CE7}"/>
            </c:ext>
          </c:extLst>
        </c:ser>
        <c:ser>
          <c:idx val="2"/>
          <c:order val="2"/>
          <c:tx>
            <c:strRef>
              <c:f>Hoja1!$D$1</c:f>
              <c:strCache>
                <c:ptCount val="1"/>
                <c:pt idx="0">
                  <c:v>Columna3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Hoja1!$A$2:$A$4</c:f>
              <c:numCache>
                <c:formatCode>General</c:formatCode>
                <c:ptCount val="3"/>
                <c:pt idx="0">
                  <c:v>2023</c:v>
                </c:pt>
                <c:pt idx="1">
                  <c:v>2024</c:v>
                </c:pt>
                <c:pt idx="2">
                  <c:v>2025</c:v>
                </c:pt>
              </c:numCache>
            </c:numRef>
          </c:cat>
          <c:val>
            <c:numRef>
              <c:f>Hoja1!$D$2:$D$4</c:f>
              <c:numCache>
                <c:formatCode>General</c:formatCode>
                <c:ptCount val="3"/>
              </c:numCache>
            </c:numRef>
          </c:val>
          <c:extLst>
            <c:ext xmlns:c16="http://schemas.microsoft.com/office/drawing/2014/chart" uri="{C3380CC4-5D6E-409C-BE32-E72D297353CC}">
              <c16:uniqueId val="{00000002-BBFB-4687-8ED2-7E9062A38CE7}"/>
            </c:ext>
          </c:extLst>
        </c:ser>
        <c:dLbls>
          <c:showLegendKey val="0"/>
          <c:showVal val="1"/>
          <c:showCatName val="0"/>
          <c:showSerName val="0"/>
          <c:showPercent val="0"/>
          <c:showBubbleSize val="0"/>
        </c:dLbls>
        <c:gapWidth val="120"/>
        <c:overlap val="100"/>
        <c:axId val="1752506752"/>
        <c:axId val="1752508384"/>
      </c:bar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40"/>
        </c:scaling>
        <c:delete val="1"/>
        <c:axPos val="l"/>
        <c:numFmt formatCode="_(&quot;€&quot;* #,##0.00_);_(&quot;€&quot;* \(#,##0.00\);_(&quot;€&quot;* &quot;-&quot;??_);_(@_)" sourceLinked="1"/>
        <c:majorTickMark val="out"/>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#,##0.00_);_("€"* \(#,##0.00\);_("€"* "-"??_);_(@_)</c:formatCode>
                <c:ptCount val="12"/>
                <c:pt idx="0">
                  <c:v>49.3</c:v>
                </c:pt>
                <c:pt idx="1">
                  <c:v>47</c:v>
                </c:pt>
                <c:pt idx="2">
                  <c:v>54.8</c:v>
                </c:pt>
                <c:pt idx="3">
                  <c:v>51.5</c:v>
                </c:pt>
                <c:pt idx="4">
                  <c:v>57.3</c:v>
                </c:pt>
                <c:pt idx="5">
                  <c:v>64.400000000000006</c:v>
                </c:pt>
                <c:pt idx="6">
                  <c:v>115.6</c:v>
                </c:pt>
                <c:pt idx="7">
                  <c:v>145</c:v>
                </c:pt>
                <c:pt idx="8">
                  <c:v>63.4</c:v>
                </c:pt>
                <c:pt idx="9">
                  <c:v>50.2</c:v>
                </c:pt>
                <c:pt idx="10">
                  <c:v>42</c:v>
                </c:pt>
                <c:pt idx="11">
                  <c:v>46.8</c:v>
                </c:pt>
              </c:numCache>
            </c:numRef>
          </c:val>
          <c:smooth val="0"/>
          <c:extLst>
            <c:ext xmlns:c16="http://schemas.microsoft.com/office/drawing/2014/chart" uri="{C3380CC4-5D6E-409C-BE32-E72D297353CC}">
              <c16:uniqueId val="{00000000-EA4C-40B8-983B-1E9F0A0FD9C5}"/>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38.9</c:v>
                </c:pt>
                <c:pt idx="1">
                  <c:v>41.8</c:v>
                </c:pt>
                <c:pt idx="2">
                  <c:v>38.17</c:v>
                </c:pt>
                <c:pt idx="3">
                  <c:v>61.92</c:v>
                </c:pt>
                <c:pt idx="4">
                  <c:v>44.29</c:v>
                </c:pt>
                <c:pt idx="5">
                  <c:v>82.25</c:v>
                </c:pt>
                <c:pt idx="6">
                  <c:v>101.59</c:v>
                </c:pt>
                <c:pt idx="7">
                  <c:v>148.38</c:v>
                </c:pt>
                <c:pt idx="8">
                  <c:v>91.45</c:v>
                </c:pt>
                <c:pt idx="9">
                  <c:v>58.08</c:v>
                </c:pt>
                <c:pt idx="10">
                  <c:v>49.87</c:v>
                </c:pt>
                <c:pt idx="11">
                  <c:v>48.11</c:v>
                </c:pt>
              </c:numCache>
            </c:numRef>
          </c:val>
          <c:smooth val="0"/>
          <c:extLst>
            <c:ext xmlns:c16="http://schemas.microsoft.com/office/drawing/2014/chart" uri="{C3380CC4-5D6E-409C-BE32-E72D297353CC}">
              <c16:uniqueId val="{00000001-EA4C-40B8-983B-1E9F0A0FD9C5}"/>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0"/>
        </c:scaling>
        <c:delete val="0"/>
        <c:axPos val="l"/>
        <c:majorGridlines>
          <c:spPr>
            <a:ln w="9525" cap="flat" cmpd="sng" algn="ctr">
              <a:solidFill>
                <a:schemeClr val="bg2">
                  <a:lumMod val="90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#,##0.00_);_("€"* \(#,##0.00\);_("€"* "-"??_);_(@_)</c:formatCode>
                <c:ptCount val="12"/>
                <c:pt idx="0">
                  <c:v>5746588.0999999996</c:v>
                </c:pt>
                <c:pt idx="1">
                  <c:v>5145674.5999999996</c:v>
                </c:pt>
                <c:pt idx="2">
                  <c:v>6625563.2000000002</c:v>
                </c:pt>
                <c:pt idx="3">
                  <c:v>6223309.4000000004</c:v>
                </c:pt>
                <c:pt idx="4">
                  <c:v>7254534.5999999996</c:v>
                </c:pt>
                <c:pt idx="5">
                  <c:v>8249762.7999999998</c:v>
                </c:pt>
                <c:pt idx="6">
                  <c:v>15395144.1</c:v>
                </c:pt>
                <c:pt idx="7">
                  <c:v>18290382.899999999</c:v>
                </c:pt>
                <c:pt idx="8">
                  <c:v>8405352.0999999996</c:v>
                </c:pt>
                <c:pt idx="9">
                  <c:v>6470982.9000000004</c:v>
                </c:pt>
                <c:pt idx="10">
                  <c:v>5077236.5</c:v>
                </c:pt>
                <c:pt idx="11">
                  <c:v>5802603.5999999996</c:v>
                </c:pt>
              </c:numCache>
            </c:numRef>
          </c:val>
          <c:smooth val="0"/>
          <c:extLst>
            <c:ext xmlns:c16="http://schemas.microsoft.com/office/drawing/2014/chart" uri="{C3380CC4-5D6E-409C-BE32-E72D297353CC}">
              <c16:uniqueId val="{00000000-EA4C-40B8-983B-1E9F0A0FD9C5}"/>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_("€"* #,##0.00_);_("€"* \(#,##0.00\);_("€"* "-"??_);_(@_)</c:formatCode>
                <c:ptCount val="12"/>
                <c:pt idx="0">
                  <c:v>5703982.2999999998</c:v>
                </c:pt>
                <c:pt idx="1">
                  <c:v>5178532.7</c:v>
                </c:pt>
                <c:pt idx="2">
                  <c:v>6399571.9000000004</c:v>
                </c:pt>
                <c:pt idx="3">
                  <c:v>7811546</c:v>
                </c:pt>
                <c:pt idx="4">
                  <c:v>6886211.5999999996</c:v>
                </c:pt>
                <c:pt idx="5">
                  <c:v>9452916.5999999996</c:v>
                </c:pt>
                <c:pt idx="6">
                  <c:v>16315044.4</c:v>
                </c:pt>
                <c:pt idx="7">
                  <c:v>18450652</c:v>
                </c:pt>
                <c:pt idx="8">
                  <c:v>7245687</c:v>
                </c:pt>
                <c:pt idx="9">
                  <c:v>5556842</c:v>
                </c:pt>
                <c:pt idx="10">
                  <c:v>3856985</c:v>
                </c:pt>
                <c:pt idx="11">
                  <c:v>4197586</c:v>
                </c:pt>
              </c:numCache>
            </c:numRef>
          </c:val>
          <c:smooth val="0"/>
          <c:extLst>
            <c:ext xmlns:c16="http://schemas.microsoft.com/office/drawing/2014/chart" uri="{C3380CC4-5D6E-409C-BE32-E72D297353CC}">
              <c16:uniqueId val="{00000001-EA4C-40B8-983B-1E9F0A0FD9C5}"/>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0"/>
        </c:scaling>
        <c:delete val="0"/>
        <c:axPos val="l"/>
        <c:majorGridlines>
          <c:spPr>
            <a:ln w="9525" cap="flat" cmpd="sng" algn="ctr">
              <a:solidFill>
                <a:schemeClr val="bg2">
                  <a:lumMod val="90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#,##0.00_);_("€"* \(#,##0.00\);_("€"* "-"??_);_(@_)</c:formatCode>
                <c:ptCount val="12"/>
                <c:pt idx="0">
                  <c:v>49.3</c:v>
                </c:pt>
                <c:pt idx="1">
                  <c:v>47</c:v>
                </c:pt>
                <c:pt idx="2">
                  <c:v>54.8</c:v>
                </c:pt>
                <c:pt idx="3">
                  <c:v>51.5</c:v>
                </c:pt>
                <c:pt idx="4">
                  <c:v>57.3</c:v>
                </c:pt>
                <c:pt idx="5">
                  <c:v>64.400000000000006</c:v>
                </c:pt>
                <c:pt idx="6">
                  <c:v>115.6</c:v>
                </c:pt>
                <c:pt idx="7">
                  <c:v>145</c:v>
                </c:pt>
                <c:pt idx="8">
                  <c:v>63.4</c:v>
                </c:pt>
                <c:pt idx="9">
                  <c:v>50.2</c:v>
                </c:pt>
                <c:pt idx="10">
                  <c:v>42</c:v>
                </c:pt>
                <c:pt idx="11">
                  <c:v>46.8</c:v>
                </c:pt>
              </c:numCache>
            </c:numRef>
          </c:val>
          <c:smooth val="0"/>
          <c:extLst>
            <c:ext xmlns:c16="http://schemas.microsoft.com/office/drawing/2014/chart" uri="{C3380CC4-5D6E-409C-BE32-E72D297353CC}">
              <c16:uniqueId val="{00000000-EA4C-40B8-983B-1E9F0A0FD9C5}"/>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_("€"* #,##0.00_);_("€"* \(#,##0.00\);_("€"* "-"??_);_(@_)</c:formatCode>
                <c:ptCount val="12"/>
                <c:pt idx="0">
                  <c:v>46.6</c:v>
                </c:pt>
                <c:pt idx="1">
                  <c:v>47</c:v>
                </c:pt>
                <c:pt idx="2">
                  <c:v>51.8</c:v>
                </c:pt>
                <c:pt idx="3">
                  <c:v>57</c:v>
                </c:pt>
                <c:pt idx="4">
                  <c:v>53</c:v>
                </c:pt>
                <c:pt idx="5">
                  <c:v>73.5</c:v>
                </c:pt>
                <c:pt idx="6">
                  <c:v>122.2</c:v>
                </c:pt>
                <c:pt idx="7">
                  <c:v>141.9</c:v>
                </c:pt>
                <c:pt idx="8">
                  <c:v>60.7</c:v>
                </c:pt>
                <c:pt idx="9">
                  <c:v>40.5</c:v>
                </c:pt>
                <c:pt idx="10">
                  <c:v>32.4</c:v>
                </c:pt>
                <c:pt idx="11">
                  <c:v>34.6</c:v>
                </c:pt>
              </c:numCache>
            </c:numRef>
          </c:val>
          <c:smooth val="0"/>
          <c:extLst>
            <c:ext xmlns:c16="http://schemas.microsoft.com/office/drawing/2014/chart" uri="{C3380CC4-5D6E-409C-BE32-E72D297353CC}">
              <c16:uniqueId val="{00000001-EA4C-40B8-983B-1E9F0A0FD9C5}"/>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0"/>
        </c:scaling>
        <c:delete val="0"/>
        <c:axPos val="l"/>
        <c:majorGridlines>
          <c:spPr>
            <a:ln w="9525" cap="flat" cmpd="sng" algn="ctr">
              <a:solidFill>
                <a:schemeClr val="bg2">
                  <a:lumMod val="90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#,##0.00_);_("€"* \(#,##0.00\);_("€"* "-"??_);_(@_)</c:formatCode>
                <c:ptCount val="12"/>
                <c:pt idx="0">
                  <c:v>144.4</c:v>
                </c:pt>
                <c:pt idx="1">
                  <c:v>140.69999999999999</c:v>
                </c:pt>
                <c:pt idx="2">
                  <c:v>141.9</c:v>
                </c:pt>
                <c:pt idx="3">
                  <c:v>147.6</c:v>
                </c:pt>
                <c:pt idx="4">
                  <c:v>151.1</c:v>
                </c:pt>
                <c:pt idx="5">
                  <c:v>154.9</c:v>
                </c:pt>
                <c:pt idx="6">
                  <c:v>198.2</c:v>
                </c:pt>
                <c:pt idx="7">
                  <c:v>206.9</c:v>
                </c:pt>
                <c:pt idx="8">
                  <c:v>148.5</c:v>
                </c:pt>
                <c:pt idx="9">
                  <c:v>135.1</c:v>
                </c:pt>
                <c:pt idx="10">
                  <c:v>131.9</c:v>
                </c:pt>
                <c:pt idx="11">
                  <c:v>138</c:v>
                </c:pt>
              </c:numCache>
            </c:numRef>
          </c:val>
          <c:smooth val="0"/>
          <c:extLst>
            <c:ext xmlns:c16="http://schemas.microsoft.com/office/drawing/2014/chart" uri="{C3380CC4-5D6E-409C-BE32-E72D297353CC}">
              <c16:uniqueId val="{00000000-EA4C-40B8-983B-1E9F0A0FD9C5}"/>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_("€"* #,##0.00_);_("€"* \(#,##0.00\);_("€"* "-"??_);_(@_)</c:formatCode>
                <c:ptCount val="12"/>
                <c:pt idx="0">
                  <c:v>133.6</c:v>
                </c:pt>
                <c:pt idx="1">
                  <c:v>127.8</c:v>
                </c:pt>
                <c:pt idx="2">
                  <c:v>148.80000000000001</c:v>
                </c:pt>
                <c:pt idx="3">
                  <c:v>147</c:v>
                </c:pt>
                <c:pt idx="4">
                  <c:v>147.19999999999999</c:v>
                </c:pt>
                <c:pt idx="5">
                  <c:v>168.2</c:v>
                </c:pt>
                <c:pt idx="6">
                  <c:v>207.9</c:v>
                </c:pt>
                <c:pt idx="7">
                  <c:v>222.5</c:v>
                </c:pt>
                <c:pt idx="8">
                  <c:v>173.8</c:v>
                </c:pt>
                <c:pt idx="9">
                  <c:v>154.30000000000001</c:v>
                </c:pt>
                <c:pt idx="10">
                  <c:v>146.1</c:v>
                </c:pt>
                <c:pt idx="11">
                  <c:v>160.80000000000001</c:v>
                </c:pt>
              </c:numCache>
            </c:numRef>
          </c:val>
          <c:smooth val="0"/>
          <c:extLst>
            <c:ext xmlns:c16="http://schemas.microsoft.com/office/drawing/2014/chart" uri="{C3380CC4-5D6E-409C-BE32-E72D297353CC}">
              <c16:uniqueId val="{00000001-EA4C-40B8-983B-1E9F0A0FD9C5}"/>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0"/>
        </c:scaling>
        <c:delete val="0"/>
        <c:axPos val="l"/>
        <c:majorGridlines>
          <c:spPr>
            <a:ln w="9525" cap="flat" cmpd="sng" algn="ctr">
              <a:solidFill>
                <a:schemeClr val="bg2">
                  <a:lumMod val="90000"/>
                </a:schemeClr>
              </a:solidFill>
              <a:round/>
            </a:ln>
            <a:effectLst/>
          </c:spPr>
        </c:majorGridlines>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Hoja1!$B$1</c:f>
              <c:strCache>
                <c:ptCount val="1"/>
                <c:pt idx="0">
                  <c:v>ADR</c:v>
                </c:pt>
              </c:strCache>
            </c:strRef>
          </c:tx>
          <c:spPr>
            <a:solidFill>
              <a:schemeClr val="tx1">
                <a:lumMod val="85000"/>
                <a:lumOff val="15000"/>
              </a:schemeClr>
            </a:solidFill>
          </c:spPr>
          <c:dPt>
            <c:idx val="0"/>
            <c:bubble3D val="0"/>
            <c:spPr>
              <a:solidFill>
                <a:srgbClr val="81060A"/>
              </a:solidFill>
              <a:ln>
                <a:noFill/>
              </a:ln>
              <a:effectLst/>
            </c:spPr>
            <c:extLst>
              <c:ext xmlns:c16="http://schemas.microsoft.com/office/drawing/2014/chart" uri="{C3380CC4-5D6E-409C-BE32-E72D297353CC}">
                <c16:uniqueId val="{00000000-D861-4BCA-8F5A-DE1E3C3712E1}"/>
              </c:ext>
            </c:extLst>
          </c:dPt>
          <c:dPt>
            <c:idx val="1"/>
            <c:bubble3D val="0"/>
            <c:spPr>
              <a:solidFill>
                <a:srgbClr val="F0C147"/>
              </a:solidFill>
              <a:ln>
                <a:noFill/>
              </a:ln>
              <a:effectLst/>
            </c:spPr>
            <c:extLst>
              <c:ext xmlns:c16="http://schemas.microsoft.com/office/drawing/2014/chart" uri="{C3380CC4-5D6E-409C-BE32-E72D297353CC}">
                <c16:uniqueId val="{00000002-D861-4BCA-8F5A-DE1E3C3712E1}"/>
              </c:ext>
            </c:extLst>
          </c:dPt>
          <c:dPt>
            <c:idx val="2"/>
            <c:bubble3D val="0"/>
            <c:spPr>
              <a:solidFill>
                <a:srgbClr val="F5272D"/>
              </a:solidFill>
              <a:ln>
                <a:noFill/>
              </a:ln>
              <a:effectLst/>
            </c:spPr>
            <c:extLst>
              <c:ext xmlns:c16="http://schemas.microsoft.com/office/drawing/2014/chart" uri="{C3380CC4-5D6E-409C-BE32-E72D297353CC}">
                <c16:uniqueId val="{00000001-D861-4BCA-8F5A-DE1E3C3712E1}"/>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ontserrat Medium" pitchFamily="2" charset="77"/>
                    <a:ea typeface="+mn-ea"/>
                    <a:cs typeface="+mn-cs"/>
                  </a:defRPr>
                </a:pPr>
                <a:endParaRPr lang="es-E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Hoja1!$A$2:$A$4</c:f>
              <c:strCache>
                <c:ptCount val="3"/>
                <c:pt idx="0">
                  <c:v>AirBNB</c:v>
                </c:pt>
                <c:pt idx="1">
                  <c:v>Booking</c:v>
                </c:pt>
                <c:pt idx="2">
                  <c:v>VRBO</c:v>
                </c:pt>
              </c:strCache>
            </c:strRef>
          </c:cat>
          <c:val>
            <c:numRef>
              <c:f>Hoja1!$B$2:$B$4</c:f>
              <c:numCache>
                <c:formatCode>0</c:formatCode>
                <c:ptCount val="3"/>
                <c:pt idx="0">
                  <c:v>34801</c:v>
                </c:pt>
                <c:pt idx="1">
                  <c:v>20596</c:v>
                </c:pt>
                <c:pt idx="2">
                  <c:v>17860</c:v>
                </c:pt>
              </c:numCache>
            </c:numRef>
          </c:val>
          <c:extLst>
            <c:ext xmlns:c16="http://schemas.microsoft.com/office/drawing/2014/chart" uri="{C3380CC4-5D6E-409C-BE32-E72D297353CC}">
              <c16:uniqueId val="{00000000-BBFB-4687-8ED2-7E9062A38CE7}"/>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2023</c:v>
                </c:pt>
              </c:strCache>
            </c:strRef>
          </c:tx>
          <c:spPr>
            <a:ln w="25400" cap="rnd">
              <a:solidFill>
                <a:srgbClr val="F0C147"/>
              </a:solidFill>
              <a:prstDash val="sysDot"/>
              <a:round/>
            </a:ln>
            <a:effectLst/>
          </c:spPr>
          <c:marker>
            <c:symbol val="circle"/>
            <c:size val="5"/>
            <c:spPr>
              <a:solidFill>
                <a:srgbClr val="F0C147"/>
              </a:solidFill>
              <a:ln w="9525">
                <a:solidFill>
                  <a:srgbClr val="F0C14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#,##0_-;\-* #,##0_-;_-* "-"??_-;_-@_-</c:formatCode>
                <c:ptCount val="12"/>
                <c:pt idx="0">
                  <c:v>6516</c:v>
                </c:pt>
                <c:pt idx="1">
                  <c:v>6589</c:v>
                </c:pt>
                <c:pt idx="2">
                  <c:v>6905</c:v>
                </c:pt>
                <c:pt idx="3">
                  <c:v>7246</c:v>
                </c:pt>
                <c:pt idx="4">
                  <c:v>7575</c:v>
                </c:pt>
                <c:pt idx="5">
                  <c:v>7925</c:v>
                </c:pt>
                <c:pt idx="6">
                  <c:v>6444</c:v>
                </c:pt>
                <c:pt idx="7">
                  <c:v>8023</c:v>
                </c:pt>
                <c:pt idx="8">
                  <c:v>7924</c:v>
                </c:pt>
                <c:pt idx="9">
                  <c:v>7476</c:v>
                </c:pt>
                <c:pt idx="10">
                  <c:v>7114</c:v>
                </c:pt>
                <c:pt idx="11">
                  <c:v>7165</c:v>
                </c:pt>
              </c:numCache>
            </c:numRef>
          </c:val>
          <c:smooth val="0"/>
          <c:extLst>
            <c:ext xmlns:c16="http://schemas.microsoft.com/office/drawing/2014/chart" uri="{C3380CC4-5D6E-409C-BE32-E72D297353CC}">
              <c16:uniqueId val="{00000000-A084-4FC6-B30C-89F42E2BAA41}"/>
            </c:ext>
          </c:extLst>
        </c:ser>
        <c:ser>
          <c:idx val="1"/>
          <c:order val="1"/>
          <c:tx>
            <c:strRef>
              <c:f>Hoja1!$C$1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_-* #,##0_-;\-* #,##0_-;_-* "-"??_-;_-@_-</c:formatCode>
                <c:ptCount val="12"/>
                <c:pt idx="0">
                  <c:v>7266</c:v>
                </c:pt>
                <c:pt idx="1">
                  <c:v>7330</c:v>
                </c:pt>
                <c:pt idx="2">
                  <c:v>7771</c:v>
                </c:pt>
                <c:pt idx="3">
                  <c:v>7961</c:v>
                </c:pt>
                <c:pt idx="4">
                  <c:v>8147</c:v>
                </c:pt>
                <c:pt idx="5">
                  <c:v>8357</c:v>
                </c:pt>
                <c:pt idx="6">
                  <c:v>8651</c:v>
                </c:pt>
                <c:pt idx="7">
                  <c:v>8627</c:v>
                </c:pt>
                <c:pt idx="8">
                  <c:v>8394</c:v>
                </c:pt>
                <c:pt idx="9">
                  <c:v>7857</c:v>
                </c:pt>
                <c:pt idx="10">
                  <c:v>7451</c:v>
                </c:pt>
                <c:pt idx="11">
                  <c:v>7478</c:v>
                </c:pt>
              </c:numCache>
            </c:numRef>
          </c:val>
          <c:smooth val="0"/>
          <c:extLst>
            <c:ext xmlns:c16="http://schemas.microsoft.com/office/drawing/2014/chart" uri="{C3380CC4-5D6E-409C-BE32-E72D297353CC}">
              <c16:uniqueId val="{00000001-A084-4FC6-B30C-89F42E2BAA41}"/>
            </c:ext>
          </c:extLst>
        </c:ser>
        <c:ser>
          <c:idx val="2"/>
          <c:order val="2"/>
          <c:tx>
            <c:strRef>
              <c:f>Hoja1!$D$1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7547</c:v>
                </c:pt>
                <c:pt idx="1">
                  <c:v>7701</c:v>
                </c:pt>
                <c:pt idx="2">
                  <c:v>7875</c:v>
                </c:pt>
                <c:pt idx="3">
                  <c:v>7852</c:v>
                </c:pt>
                <c:pt idx="4">
                  <c:v>8058</c:v>
                </c:pt>
                <c:pt idx="5">
                  <c:v>8235</c:v>
                </c:pt>
                <c:pt idx="6">
                  <c:v>8234</c:v>
                </c:pt>
                <c:pt idx="7">
                  <c:v>7224</c:v>
                </c:pt>
                <c:pt idx="8">
                  <c:v>7027</c:v>
                </c:pt>
                <c:pt idx="9">
                  <c:v>6521</c:v>
                </c:pt>
                <c:pt idx="10">
                  <c:v>6201</c:v>
                </c:pt>
                <c:pt idx="11">
                  <c:v>6188</c:v>
                </c:pt>
              </c:numCache>
            </c:numRef>
          </c:val>
          <c:smooth val="0"/>
          <c:extLst>
            <c:ext xmlns:c16="http://schemas.microsoft.com/office/drawing/2014/chart" uri="{C3380CC4-5D6E-409C-BE32-E72D297353CC}">
              <c16:uniqueId val="{00000000-5078-4AA9-A1F4-5DBFA002DE4F}"/>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9500"/>
          <c:min val="5000"/>
        </c:scaling>
        <c:delete val="0"/>
        <c:axPos val="l"/>
        <c:majorGridlines>
          <c:spPr>
            <a:ln w="9525" cap="flat" cmpd="sng" algn="ctr">
              <a:solidFill>
                <a:schemeClr val="bg2">
                  <a:lumMod val="90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2023</c:v>
                </c:pt>
              </c:strCache>
            </c:strRef>
          </c:tx>
          <c:spPr>
            <a:ln w="25400" cap="rnd">
              <a:solidFill>
                <a:srgbClr val="F0C147"/>
              </a:solidFill>
              <a:prstDash val="sysDot"/>
              <a:round/>
            </a:ln>
            <a:effectLst/>
          </c:spPr>
          <c:marker>
            <c:symbol val="circle"/>
            <c:size val="5"/>
            <c:spPr>
              <a:solidFill>
                <a:srgbClr val="F0C147"/>
              </a:solidFill>
              <a:ln w="9525">
                <a:solidFill>
                  <a:srgbClr val="F0C14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#,##0_-;\-* #,##0_-;_-* "-"??_-;_-@_-</c:formatCode>
                <c:ptCount val="12"/>
                <c:pt idx="0">
                  <c:v>3770</c:v>
                </c:pt>
                <c:pt idx="1">
                  <c:v>3776</c:v>
                </c:pt>
                <c:pt idx="2">
                  <c:v>3949</c:v>
                </c:pt>
                <c:pt idx="3">
                  <c:v>4110</c:v>
                </c:pt>
                <c:pt idx="4">
                  <c:v>4291</c:v>
                </c:pt>
                <c:pt idx="5">
                  <c:v>4486</c:v>
                </c:pt>
                <c:pt idx="6">
                  <c:v>4297</c:v>
                </c:pt>
                <c:pt idx="7">
                  <c:v>4560</c:v>
                </c:pt>
                <c:pt idx="8">
                  <c:v>4527</c:v>
                </c:pt>
                <c:pt idx="9">
                  <c:v>4327</c:v>
                </c:pt>
                <c:pt idx="10">
                  <c:v>4230</c:v>
                </c:pt>
                <c:pt idx="11">
                  <c:v>4215</c:v>
                </c:pt>
              </c:numCache>
            </c:numRef>
          </c:val>
          <c:smooth val="0"/>
          <c:extLst>
            <c:ext xmlns:c16="http://schemas.microsoft.com/office/drawing/2014/chart" uri="{C3380CC4-5D6E-409C-BE32-E72D297353CC}">
              <c16:uniqueId val="{00000000-A084-4FC6-B30C-89F42E2BAA41}"/>
            </c:ext>
          </c:extLst>
        </c:ser>
        <c:ser>
          <c:idx val="1"/>
          <c:order val="1"/>
          <c:tx>
            <c:strRef>
              <c:f>Hoja1!$C$1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_-* #,##0_-;\-* #,##0_-;_-* "-"??_-;_-@_-</c:formatCode>
                <c:ptCount val="12"/>
                <c:pt idx="0">
                  <c:v>4278</c:v>
                </c:pt>
                <c:pt idx="1">
                  <c:v>4340</c:v>
                </c:pt>
                <c:pt idx="2">
                  <c:v>4499</c:v>
                </c:pt>
                <c:pt idx="3">
                  <c:v>4557</c:v>
                </c:pt>
                <c:pt idx="4">
                  <c:v>4662</c:v>
                </c:pt>
                <c:pt idx="5">
                  <c:v>4820</c:v>
                </c:pt>
                <c:pt idx="6">
                  <c:v>4942</c:v>
                </c:pt>
                <c:pt idx="7">
                  <c:v>4964</c:v>
                </c:pt>
                <c:pt idx="8">
                  <c:v>4861</c:v>
                </c:pt>
                <c:pt idx="9">
                  <c:v>4608</c:v>
                </c:pt>
                <c:pt idx="10">
                  <c:v>4448</c:v>
                </c:pt>
                <c:pt idx="11">
                  <c:v>4375</c:v>
                </c:pt>
              </c:numCache>
            </c:numRef>
          </c:val>
          <c:smooth val="0"/>
          <c:extLst>
            <c:ext xmlns:c16="http://schemas.microsoft.com/office/drawing/2014/chart" uri="{C3380CC4-5D6E-409C-BE32-E72D297353CC}">
              <c16:uniqueId val="{00000001-A084-4FC6-B30C-89F42E2BAA41}"/>
            </c:ext>
          </c:extLst>
        </c:ser>
        <c:ser>
          <c:idx val="2"/>
          <c:order val="2"/>
          <c:tx>
            <c:strRef>
              <c:f>Hoja1!$D$1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4362</c:v>
                </c:pt>
                <c:pt idx="1">
                  <c:v>4477</c:v>
                </c:pt>
                <c:pt idx="2">
                  <c:v>4489</c:v>
                </c:pt>
                <c:pt idx="3">
                  <c:v>4536</c:v>
                </c:pt>
                <c:pt idx="4">
                  <c:v>4654</c:v>
                </c:pt>
                <c:pt idx="5">
                  <c:v>4699</c:v>
                </c:pt>
                <c:pt idx="6">
                  <c:v>4686</c:v>
                </c:pt>
                <c:pt idx="7">
                  <c:v>4132</c:v>
                </c:pt>
                <c:pt idx="8">
                  <c:v>4037</c:v>
                </c:pt>
                <c:pt idx="9">
                  <c:v>3805</c:v>
                </c:pt>
                <c:pt idx="10">
                  <c:v>3682</c:v>
                </c:pt>
                <c:pt idx="11">
                  <c:v>3681</c:v>
                </c:pt>
              </c:numCache>
            </c:numRef>
          </c:val>
          <c:smooth val="0"/>
          <c:extLst>
            <c:ext xmlns:c16="http://schemas.microsoft.com/office/drawing/2014/chart" uri="{C3380CC4-5D6E-409C-BE32-E72D297353CC}">
              <c16:uniqueId val="{00000000-5B86-47F9-B48C-DAAF402F3A97}"/>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6000"/>
          <c:min val="3000"/>
        </c:scaling>
        <c:delete val="0"/>
        <c:axPos val="l"/>
        <c:majorGridlines>
          <c:spPr>
            <a:ln w="9525" cap="flat" cmpd="sng" algn="ctr">
              <a:solidFill>
                <a:schemeClr val="bg2">
                  <a:lumMod val="90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8575"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0.00%</c:formatCode>
                <c:ptCount val="12"/>
                <c:pt idx="0">
                  <c:v>0.39800000000000002</c:v>
                </c:pt>
                <c:pt idx="1">
                  <c:v>0.45800000000000002</c:v>
                </c:pt>
                <c:pt idx="2">
                  <c:v>0.54179999999999995</c:v>
                </c:pt>
                <c:pt idx="3">
                  <c:v>0.4995</c:v>
                </c:pt>
                <c:pt idx="4">
                  <c:v>0.55459999999999998</c:v>
                </c:pt>
                <c:pt idx="5">
                  <c:v>0.61819999999999997</c:v>
                </c:pt>
                <c:pt idx="6">
                  <c:v>0.77600000000000002</c:v>
                </c:pt>
                <c:pt idx="7">
                  <c:v>0.90669999999999995</c:v>
                </c:pt>
                <c:pt idx="8">
                  <c:v>0.6119</c:v>
                </c:pt>
                <c:pt idx="9">
                  <c:v>0.60840000000000005</c:v>
                </c:pt>
                <c:pt idx="10">
                  <c:v>0.53400000000000003</c:v>
                </c:pt>
                <c:pt idx="11">
                  <c:v>0.46500000000000002</c:v>
                </c:pt>
              </c:numCache>
            </c:numRef>
          </c:val>
          <c:smooth val="0"/>
          <c:extLst>
            <c:ext xmlns:c16="http://schemas.microsoft.com/office/drawing/2014/chart" uri="{C3380CC4-5D6E-409C-BE32-E72D297353CC}">
              <c16:uniqueId val="{00000000-414E-40AB-8B37-295157575F87}"/>
            </c:ext>
          </c:extLst>
        </c:ser>
        <c:ser>
          <c:idx val="1"/>
          <c:order val="1"/>
          <c:tx>
            <c:strRef>
              <c:f>Hoja1!$C$1</c:f>
              <c:strCache>
                <c:ptCount val="1"/>
                <c:pt idx="0">
                  <c:v>2025</c:v>
                </c:pt>
              </c:strCache>
            </c:strRef>
          </c:tx>
          <c:spPr>
            <a:ln w="28575"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0.00%</c:formatCode>
                <c:ptCount val="12"/>
                <c:pt idx="0">
                  <c:v>0.41499999999999998</c:v>
                </c:pt>
                <c:pt idx="1">
                  <c:v>0.438</c:v>
                </c:pt>
                <c:pt idx="2">
                  <c:v>0.59799999999999998</c:v>
                </c:pt>
                <c:pt idx="3">
                  <c:v>0.52180000000000004</c:v>
                </c:pt>
                <c:pt idx="4">
                  <c:v>0.42959999999999998</c:v>
                </c:pt>
                <c:pt idx="5">
                  <c:v>0.70589999999999997</c:v>
                </c:pt>
                <c:pt idx="6">
                  <c:v>0.79200000000000004</c:v>
                </c:pt>
                <c:pt idx="7">
                  <c:v>0.94199999999999995</c:v>
                </c:pt>
                <c:pt idx="8">
                  <c:v>0.69310000000000005</c:v>
                </c:pt>
                <c:pt idx="9">
                  <c:v>0.68700000000000006</c:v>
                </c:pt>
                <c:pt idx="10">
                  <c:v>0.42799999999999999</c:v>
                </c:pt>
                <c:pt idx="11">
                  <c:v>0.41799999999999998</c:v>
                </c:pt>
              </c:numCache>
            </c:numRef>
          </c:val>
          <c:smooth val="0"/>
          <c:extLst>
            <c:ext xmlns:c16="http://schemas.microsoft.com/office/drawing/2014/chart" uri="{C3380CC4-5D6E-409C-BE32-E72D297353CC}">
              <c16:uniqueId val="{00000001-414E-40AB-8B37-295157575F87}"/>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1"/>
        </c:scaling>
        <c:delete val="0"/>
        <c:axPos val="l"/>
        <c:majorGridlines>
          <c:spPr>
            <a:ln w="9525" cap="flat" cmpd="sng" algn="ctr">
              <a:solidFill>
                <a:schemeClr val="bg2">
                  <a:lumMod val="9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3815016243213272"/>
        </c:manualLayout>
      </c:layout>
      <c:lineChart>
        <c:grouping val="standard"/>
        <c:varyColors val="0"/>
        <c:ser>
          <c:idx val="0"/>
          <c:order val="0"/>
          <c:tx>
            <c:strRef>
              <c:f>Hoja1!$B$1</c:f>
              <c:strCache>
                <c:ptCount val="1"/>
                <c:pt idx="0">
                  <c:v>2024</c:v>
                </c:pt>
              </c:strCache>
            </c:strRef>
          </c:tx>
          <c:spPr>
            <a:ln w="28575"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General</c:formatCode>
                <c:ptCount val="12"/>
                <c:pt idx="2" formatCode="0%">
                  <c:v>0.54849999999999999</c:v>
                </c:pt>
                <c:pt idx="3" formatCode="0%">
                  <c:v>0.61019999999999996</c:v>
                </c:pt>
                <c:pt idx="4" formatCode="0%">
                  <c:v>0.75160000000000005</c:v>
                </c:pt>
                <c:pt idx="5" formatCode="0%">
                  <c:v>0.88900000000000001</c:v>
                </c:pt>
                <c:pt idx="6" formatCode="0%">
                  <c:v>0.96899999999999997</c:v>
                </c:pt>
                <c:pt idx="7" formatCode="0%">
                  <c:v>0.93889999999999996</c:v>
                </c:pt>
                <c:pt idx="8" formatCode="0%">
                  <c:v>0.78939999999999999</c:v>
                </c:pt>
                <c:pt idx="9" formatCode="0%">
                  <c:v>0.70530000000000004</c:v>
                </c:pt>
              </c:numCache>
            </c:numRef>
          </c:val>
          <c:smooth val="0"/>
          <c:extLst>
            <c:ext xmlns:c16="http://schemas.microsoft.com/office/drawing/2014/chart" uri="{C3380CC4-5D6E-409C-BE32-E72D297353CC}">
              <c16:uniqueId val="{00000000-414E-40AB-8B37-295157575F87}"/>
            </c:ext>
          </c:extLst>
        </c:ser>
        <c:ser>
          <c:idx val="1"/>
          <c:order val="1"/>
          <c:tx>
            <c:strRef>
              <c:f>Hoja1!$C$1</c:f>
              <c:strCache>
                <c:ptCount val="1"/>
                <c:pt idx="0">
                  <c:v>2025</c:v>
                </c:pt>
              </c:strCache>
            </c:strRef>
          </c:tx>
          <c:spPr>
            <a:ln w="28575"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2" formatCode="0%">
                  <c:v>0.58899999999999997</c:v>
                </c:pt>
                <c:pt idx="3" formatCode="0%">
                  <c:v>0.76690000000000003</c:v>
                </c:pt>
                <c:pt idx="4" formatCode="0%">
                  <c:v>0.58330000000000004</c:v>
                </c:pt>
                <c:pt idx="5" formatCode="0%">
                  <c:v>0.91620000000000001</c:v>
                </c:pt>
                <c:pt idx="6" formatCode="0%">
                  <c:v>0.96619999999999995</c:v>
                </c:pt>
                <c:pt idx="7" formatCode="0%">
                  <c:v>0.9708</c:v>
                </c:pt>
                <c:pt idx="8" formatCode="0%">
                  <c:v>0.89670000000000005</c:v>
                </c:pt>
                <c:pt idx="9" formatCode="0%">
                  <c:v>0.72430000000000005</c:v>
                </c:pt>
              </c:numCache>
            </c:numRef>
          </c:val>
          <c:smooth val="0"/>
          <c:extLst>
            <c:ext xmlns:c16="http://schemas.microsoft.com/office/drawing/2014/chart" uri="{C3380CC4-5D6E-409C-BE32-E72D297353CC}">
              <c16:uniqueId val="{00000001-414E-40AB-8B37-295157575F87}"/>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1"/>
          <c:min val="0.30000000000000004"/>
        </c:scaling>
        <c:delete val="0"/>
        <c:axPos val="l"/>
        <c:majorGridlines>
          <c:spPr>
            <a:ln w="9525" cap="flat" cmpd="sng" algn="ctr">
              <a:solidFill>
                <a:schemeClr val="bg2">
                  <a:lumMod val="9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8575"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0.00%</c:formatCode>
                <c:ptCount val="12"/>
                <c:pt idx="0">
                  <c:v>6.4899999999999999E-2</c:v>
                </c:pt>
                <c:pt idx="1">
                  <c:v>7.4200000000000002E-2</c:v>
                </c:pt>
                <c:pt idx="2">
                  <c:v>0.1308</c:v>
                </c:pt>
                <c:pt idx="3">
                  <c:v>6.7599999999999993E-2</c:v>
                </c:pt>
                <c:pt idx="4">
                  <c:v>0.1143</c:v>
                </c:pt>
                <c:pt idx="5">
                  <c:v>0.13900000000000001</c:v>
                </c:pt>
                <c:pt idx="6">
                  <c:v>0.4103</c:v>
                </c:pt>
                <c:pt idx="7">
                  <c:v>0.5141</c:v>
                </c:pt>
                <c:pt idx="8">
                  <c:v>0.20069999999999999</c:v>
                </c:pt>
                <c:pt idx="9">
                  <c:v>0.11219999999999999</c:v>
                </c:pt>
                <c:pt idx="10">
                  <c:v>5.4600000000000003E-2</c:v>
                </c:pt>
                <c:pt idx="11">
                  <c:v>7.8600000000000003E-2</c:v>
                </c:pt>
              </c:numCache>
            </c:numRef>
          </c:val>
          <c:smooth val="0"/>
          <c:extLst>
            <c:ext xmlns:c16="http://schemas.microsoft.com/office/drawing/2014/chart" uri="{C3380CC4-5D6E-409C-BE32-E72D297353CC}">
              <c16:uniqueId val="{00000000-414E-40AB-8B37-295157575F87}"/>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0.00%</c:formatCode>
                <c:ptCount val="12"/>
                <c:pt idx="0">
                  <c:v>2.9499999999999998E-2</c:v>
                </c:pt>
                <c:pt idx="1">
                  <c:v>0.1056</c:v>
                </c:pt>
                <c:pt idx="2">
                  <c:v>0.1368</c:v>
                </c:pt>
                <c:pt idx="3">
                  <c:v>0.1336</c:v>
                </c:pt>
                <c:pt idx="4">
                  <c:v>0.17910000000000001</c:v>
                </c:pt>
                <c:pt idx="5">
                  <c:v>0.22509999999999999</c:v>
                </c:pt>
                <c:pt idx="6">
                  <c:v>0.38369999999999999</c:v>
                </c:pt>
                <c:pt idx="7">
                  <c:v>0.66190000000000004</c:v>
                </c:pt>
                <c:pt idx="8">
                  <c:v>0.32519999999999999</c:v>
                </c:pt>
                <c:pt idx="9">
                  <c:v>0.1807</c:v>
                </c:pt>
                <c:pt idx="10">
                  <c:v>8.4900000000000003E-2</c:v>
                </c:pt>
                <c:pt idx="11">
                  <c:v>9.5799999999999996E-2</c:v>
                </c:pt>
              </c:numCache>
            </c:numRef>
          </c:val>
          <c:smooth val="0"/>
          <c:extLst>
            <c:ext xmlns:c16="http://schemas.microsoft.com/office/drawing/2014/chart" uri="{C3380CC4-5D6E-409C-BE32-E72D297353CC}">
              <c16:uniqueId val="{00000001-414E-40AB-8B37-295157575F87}"/>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1"/>
        </c:scaling>
        <c:delete val="0"/>
        <c:axPos val="l"/>
        <c:majorGridlines>
          <c:spPr>
            <a:ln w="9525" cap="flat" cmpd="sng" algn="ctr">
              <a:solidFill>
                <a:schemeClr val="bg2">
                  <a:lumMod val="9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2024</c:v>
                </c:pt>
              </c:strCache>
            </c:strRef>
          </c:tx>
          <c:spPr>
            <a:solidFill>
              <a:srgbClr val="F09453"/>
            </a:solidFill>
            <a:ln>
              <a:noFill/>
            </a:ln>
            <a:effectLst/>
          </c:spPr>
          <c:invertIfNegative val="0"/>
          <c:dLbls>
            <c:spPr>
              <a:noFill/>
              <a:ln>
                <a:noFill/>
              </a:ln>
              <a:effectLst/>
            </c:spPr>
            <c:txPr>
              <a:bodyPr rot="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c:f>
              <c:strCache>
                <c:ptCount val="1"/>
                <c:pt idx="0">
                  <c:v>Pernoctaciones</c:v>
                </c:pt>
              </c:strCache>
            </c:strRef>
          </c:cat>
          <c:val>
            <c:numRef>
              <c:f>Hoja1!$B$2</c:f>
              <c:numCache>
                <c:formatCode>_-* #,##0_-;\-* #,##0_-;_-* "-"??_-;_-@_-</c:formatCode>
                <c:ptCount val="1"/>
                <c:pt idx="0">
                  <c:v>1056657</c:v>
                </c:pt>
              </c:numCache>
            </c:numRef>
          </c:val>
          <c:extLst>
            <c:ext xmlns:c16="http://schemas.microsoft.com/office/drawing/2014/chart" uri="{C3380CC4-5D6E-409C-BE32-E72D297353CC}">
              <c16:uniqueId val="{00000000-568F-45BF-95E9-FFD39041EAB5}"/>
            </c:ext>
          </c:extLst>
        </c:ser>
        <c:ser>
          <c:idx val="1"/>
          <c:order val="1"/>
          <c:tx>
            <c:strRef>
              <c:f>Hoja1!$C$1</c:f>
              <c:strCache>
                <c:ptCount val="1"/>
                <c:pt idx="0">
                  <c:v>2025</c:v>
                </c:pt>
              </c:strCache>
            </c:strRef>
          </c:tx>
          <c:spPr>
            <a:solidFill>
              <a:srgbClr val="81060A"/>
            </a:solidFill>
            <a:ln>
              <a:noFill/>
            </a:ln>
            <a:effectLst/>
          </c:spPr>
          <c:invertIfNegative val="0"/>
          <c:dLbls>
            <c:spPr>
              <a:noFill/>
              <a:ln>
                <a:noFill/>
              </a:ln>
              <a:effectLst/>
            </c:spPr>
            <c:txPr>
              <a:bodyPr rot="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c:f>
              <c:strCache>
                <c:ptCount val="1"/>
                <c:pt idx="0">
                  <c:v>Pernoctaciones</c:v>
                </c:pt>
              </c:strCache>
            </c:strRef>
          </c:cat>
          <c:val>
            <c:numRef>
              <c:f>Hoja1!$C$2</c:f>
              <c:numCache>
                <c:formatCode>_-* #,##0_-;\-* #,##0_-;_-* "-"??_-;_-@_-</c:formatCode>
                <c:ptCount val="1"/>
                <c:pt idx="0">
                  <c:v>1060927</c:v>
                </c:pt>
              </c:numCache>
            </c:numRef>
          </c:val>
          <c:extLst>
            <c:ext xmlns:c16="http://schemas.microsoft.com/office/drawing/2014/chart" uri="{C3380CC4-5D6E-409C-BE32-E72D297353CC}">
              <c16:uniqueId val="{00000000-EB35-4533-8CED-155AC3772BC9}"/>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752508384"/>
        <c:crosses val="autoZero"/>
        <c:auto val="1"/>
        <c:lblAlgn val="ctr"/>
        <c:lblOffset val="100"/>
        <c:noMultiLvlLbl val="0"/>
      </c:catAx>
      <c:valAx>
        <c:axId val="1752508384"/>
        <c:scaling>
          <c:orientation val="minMax"/>
          <c:max val="1065000"/>
          <c:min val="1024000"/>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2024</c:v>
                </c:pt>
              </c:strCache>
            </c:strRef>
          </c:tx>
          <c:spPr>
            <a:solidFill>
              <a:srgbClr val="F0C147"/>
            </a:solidFill>
            <a:ln>
              <a:noFill/>
            </a:ln>
            <a:effectLst/>
          </c:spPr>
          <c:invertIfNegative val="0"/>
          <c:dLbls>
            <c:spPr>
              <a:noFill/>
              <a:ln>
                <a:noFill/>
              </a:ln>
              <a:effectLst/>
            </c:spPr>
            <c:txPr>
              <a:bodyPr rot="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c:f>
              <c:strCache>
                <c:ptCount val="1"/>
                <c:pt idx="0">
                  <c:v>Pernoctaciones</c:v>
                </c:pt>
              </c:strCache>
            </c:strRef>
          </c:cat>
          <c:val>
            <c:numRef>
              <c:f>Hoja1!$B$2</c:f>
              <c:numCache>
                <c:formatCode>_-* #,##0_-;\-* #,##0_-;_-* "-"??_-;_-@_-</c:formatCode>
                <c:ptCount val="1"/>
                <c:pt idx="0">
                  <c:v>18551215</c:v>
                </c:pt>
              </c:numCache>
            </c:numRef>
          </c:val>
          <c:extLst>
            <c:ext xmlns:c16="http://schemas.microsoft.com/office/drawing/2014/chart" uri="{C3380CC4-5D6E-409C-BE32-E72D297353CC}">
              <c16:uniqueId val="{00000000-568F-45BF-95E9-FFD39041EAB5}"/>
            </c:ext>
          </c:extLst>
        </c:ser>
        <c:ser>
          <c:idx val="1"/>
          <c:order val="1"/>
          <c:tx>
            <c:strRef>
              <c:f>Hoja1!$C$1</c:f>
              <c:strCache>
                <c:ptCount val="1"/>
                <c:pt idx="0">
                  <c:v>2025</c:v>
                </c:pt>
              </c:strCache>
            </c:strRef>
          </c:tx>
          <c:spPr>
            <a:solidFill>
              <a:srgbClr val="F09453"/>
            </a:solidFill>
            <a:ln>
              <a:noFill/>
            </a:ln>
            <a:effectLst/>
          </c:spPr>
          <c:invertIfNegative val="0"/>
          <c:dLbls>
            <c:spPr>
              <a:noFill/>
              <a:ln>
                <a:noFill/>
              </a:ln>
              <a:effectLst/>
            </c:spPr>
            <c:txPr>
              <a:bodyPr rot="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c:f>
              <c:strCache>
                <c:ptCount val="1"/>
                <c:pt idx="0">
                  <c:v>Pernoctaciones</c:v>
                </c:pt>
              </c:strCache>
            </c:strRef>
          </c:cat>
          <c:val>
            <c:numRef>
              <c:f>Hoja1!$C$2</c:f>
              <c:numCache>
                <c:formatCode>_-* #,##0_-;\-* #,##0_-;_-* "-"??_-;_-@_-</c:formatCode>
                <c:ptCount val="1"/>
                <c:pt idx="0">
                  <c:v>18941321</c:v>
                </c:pt>
              </c:numCache>
            </c:numRef>
          </c:val>
          <c:extLst>
            <c:ext xmlns:c16="http://schemas.microsoft.com/office/drawing/2014/chart" uri="{C3380CC4-5D6E-409C-BE32-E72D297353CC}">
              <c16:uniqueId val="{00000000-EB35-4533-8CED-155AC3772BC9}"/>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752508384"/>
        <c:crosses val="autoZero"/>
        <c:auto val="1"/>
        <c:lblAlgn val="ctr"/>
        <c:lblOffset val="100"/>
        <c:noMultiLvlLbl val="0"/>
      </c:catAx>
      <c:valAx>
        <c:axId val="1752508384"/>
        <c:scaling>
          <c:orientation val="minMax"/>
          <c:min val="17100000.000000004"/>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2024</c:v>
                </c:pt>
              </c:strCache>
            </c:strRef>
          </c:tx>
          <c:spPr>
            <a:solidFill>
              <a:srgbClr val="F0945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Hoja1!$A$2:$A$3</c:f>
              <c:strCache>
                <c:ptCount val="2"/>
                <c:pt idx="0">
                  <c:v>Residentes en España</c:v>
                </c:pt>
                <c:pt idx="1">
                  <c:v>Residentes en el Extranjero</c:v>
                </c:pt>
              </c:strCache>
            </c:strRef>
          </c:cat>
          <c:val>
            <c:numRef>
              <c:f>Hoja1!$B$2:$B$3</c:f>
              <c:numCache>
                <c:formatCode>_-* #,##0_-;\-* #,##0_-;_-* "-"??_-;_-@_-</c:formatCode>
                <c:ptCount val="2"/>
                <c:pt idx="0">
                  <c:v>177701</c:v>
                </c:pt>
                <c:pt idx="1">
                  <c:v>103235</c:v>
                </c:pt>
              </c:numCache>
            </c:numRef>
          </c:val>
          <c:extLst>
            <c:ext xmlns:c16="http://schemas.microsoft.com/office/drawing/2014/chart" uri="{C3380CC4-5D6E-409C-BE32-E72D297353CC}">
              <c16:uniqueId val="{00000000-568F-45BF-95E9-FFD39041EAB5}"/>
            </c:ext>
          </c:extLst>
        </c:ser>
        <c:ser>
          <c:idx val="1"/>
          <c:order val="1"/>
          <c:tx>
            <c:strRef>
              <c:f>Hoja1!$C$1</c:f>
              <c:strCache>
                <c:ptCount val="1"/>
                <c:pt idx="0">
                  <c:v>2025</c:v>
                </c:pt>
              </c:strCache>
            </c:strRef>
          </c:tx>
          <c:spPr>
            <a:solidFill>
              <a:srgbClr val="81060A"/>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Hoja1!$A$2:$A$3</c:f>
              <c:strCache>
                <c:ptCount val="2"/>
                <c:pt idx="0">
                  <c:v>Residentes en España</c:v>
                </c:pt>
                <c:pt idx="1">
                  <c:v>Residentes en el Extranjero</c:v>
                </c:pt>
              </c:strCache>
            </c:strRef>
          </c:cat>
          <c:val>
            <c:numRef>
              <c:f>Hoja1!$C$2:$C$3</c:f>
              <c:numCache>
                <c:formatCode>_-* #,##0_-;\-* #,##0_-;_-* "-"??_-;_-@_-</c:formatCode>
                <c:ptCount val="2"/>
                <c:pt idx="0">
                  <c:v>202221</c:v>
                </c:pt>
                <c:pt idx="1">
                  <c:v>104559</c:v>
                </c:pt>
              </c:numCache>
            </c:numRef>
          </c:val>
          <c:extLst>
            <c:ext xmlns:c16="http://schemas.microsoft.com/office/drawing/2014/chart" uri="{C3380CC4-5D6E-409C-BE32-E72D297353CC}">
              <c16:uniqueId val="{00000000-EB35-4533-8CED-155AC3772BC9}"/>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#,##0_-;\-* #,##0_-;_-* "-"??_-;_-@_-</c:formatCode>
                <c:ptCount val="12"/>
                <c:pt idx="0">
                  <c:v>6895</c:v>
                </c:pt>
                <c:pt idx="1">
                  <c:v>7153</c:v>
                </c:pt>
                <c:pt idx="2">
                  <c:v>8524</c:v>
                </c:pt>
                <c:pt idx="3">
                  <c:v>9369</c:v>
                </c:pt>
                <c:pt idx="4">
                  <c:v>15062</c:v>
                </c:pt>
                <c:pt idx="5">
                  <c:v>18588</c:v>
                </c:pt>
                <c:pt idx="6">
                  <c:v>26428</c:v>
                </c:pt>
                <c:pt idx="7">
                  <c:v>31309</c:v>
                </c:pt>
                <c:pt idx="8">
                  <c:v>18046</c:v>
                </c:pt>
                <c:pt idx="9">
                  <c:v>13124</c:v>
                </c:pt>
                <c:pt idx="10">
                  <c:v>9865</c:v>
                </c:pt>
                <c:pt idx="11">
                  <c:v>7866</c:v>
                </c:pt>
              </c:numCache>
            </c:numRef>
          </c:val>
          <c:smooth val="0"/>
          <c:extLst>
            <c:ext xmlns:c16="http://schemas.microsoft.com/office/drawing/2014/chart" uri="{C3380CC4-5D6E-409C-BE32-E72D297353CC}">
              <c16:uniqueId val="{00000000-F62D-4BCF-A6E7-76F186866BA6}"/>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7890</c:v>
                </c:pt>
                <c:pt idx="1">
                  <c:v>7654</c:v>
                </c:pt>
                <c:pt idx="2">
                  <c:v>9256</c:v>
                </c:pt>
                <c:pt idx="3">
                  <c:v>21558</c:v>
                </c:pt>
                <c:pt idx="4">
                  <c:v>17351</c:v>
                </c:pt>
                <c:pt idx="5">
                  <c:v>26428</c:v>
                </c:pt>
                <c:pt idx="6">
                  <c:v>43108</c:v>
                </c:pt>
                <c:pt idx="7">
                  <c:v>59838</c:v>
                </c:pt>
                <c:pt idx="8">
                  <c:v>33938</c:v>
                </c:pt>
                <c:pt idx="9">
                  <c:v>18154</c:v>
                </c:pt>
                <c:pt idx="10">
                  <c:v>11562</c:v>
                </c:pt>
                <c:pt idx="11">
                  <c:v>8254</c:v>
                </c:pt>
              </c:numCache>
            </c:numRef>
          </c:val>
          <c:smooth val="0"/>
          <c:extLst>
            <c:ext xmlns:c16="http://schemas.microsoft.com/office/drawing/2014/chart" uri="{C3380CC4-5D6E-409C-BE32-E72D297353CC}">
              <c16:uniqueId val="{00000001-F62D-4BCF-A6E7-76F186866BA6}"/>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scaling>
        <c:delete val="0"/>
        <c:axPos val="l"/>
        <c:majorGridlines>
          <c:spPr>
            <a:ln w="9525" cap="flat" cmpd="sng" algn="ctr">
              <a:solidFill>
                <a:schemeClr val="bg2">
                  <a:lumMod val="90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2024</c:v>
                </c:pt>
              </c:strCache>
            </c:strRef>
          </c:tx>
          <c:spPr>
            <a:solidFill>
              <a:srgbClr val="F0945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Hoja1!$A$2:$A$3</c:f>
              <c:strCache>
                <c:ptCount val="2"/>
                <c:pt idx="0">
                  <c:v>Residentes en España</c:v>
                </c:pt>
                <c:pt idx="1">
                  <c:v>Residentes en el Extranjero</c:v>
                </c:pt>
              </c:strCache>
            </c:strRef>
          </c:cat>
          <c:val>
            <c:numRef>
              <c:f>Hoja1!$B$2:$B$3</c:f>
              <c:numCache>
                <c:formatCode>_-* #,##0_-;\-* #,##0_-;_-* "-"??_-;_-@_-</c:formatCode>
                <c:ptCount val="2"/>
                <c:pt idx="0">
                  <c:v>358849</c:v>
                </c:pt>
                <c:pt idx="1">
                  <c:v>416872</c:v>
                </c:pt>
              </c:numCache>
            </c:numRef>
          </c:val>
          <c:extLst>
            <c:ext xmlns:c16="http://schemas.microsoft.com/office/drawing/2014/chart" uri="{C3380CC4-5D6E-409C-BE32-E72D297353CC}">
              <c16:uniqueId val="{00000000-568F-45BF-95E9-FFD39041EAB5}"/>
            </c:ext>
          </c:extLst>
        </c:ser>
        <c:ser>
          <c:idx val="1"/>
          <c:order val="1"/>
          <c:tx>
            <c:strRef>
              <c:f>Hoja1!$C$1</c:f>
              <c:strCache>
                <c:ptCount val="1"/>
                <c:pt idx="0">
                  <c:v>2025</c:v>
                </c:pt>
              </c:strCache>
            </c:strRef>
          </c:tx>
          <c:spPr>
            <a:solidFill>
              <a:srgbClr val="81060A"/>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ontserrat Medium" pitchFamily="2" charset="0"/>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Hoja1!$A$2:$A$3</c:f>
              <c:strCache>
                <c:ptCount val="2"/>
                <c:pt idx="0">
                  <c:v>Residentes en España</c:v>
                </c:pt>
                <c:pt idx="1">
                  <c:v>Residentes en el Extranjero</c:v>
                </c:pt>
              </c:strCache>
            </c:strRef>
          </c:cat>
          <c:val>
            <c:numRef>
              <c:f>Hoja1!$C$2:$C$3</c:f>
              <c:numCache>
                <c:formatCode>_-* #,##0_-;\-* #,##0_-;_-* "-"??_-;_-@_-</c:formatCode>
                <c:ptCount val="2"/>
                <c:pt idx="0">
                  <c:v>526342</c:v>
                </c:pt>
                <c:pt idx="1">
                  <c:v>227805</c:v>
                </c:pt>
              </c:numCache>
            </c:numRef>
          </c:val>
          <c:extLst>
            <c:ext xmlns:c16="http://schemas.microsoft.com/office/drawing/2014/chart" uri="{C3380CC4-5D6E-409C-BE32-E72D297353CC}">
              <c16:uniqueId val="{00000000-EB35-4533-8CED-155AC3772BC9}"/>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1"/>
        <c:lblAlgn val="ctr"/>
        <c:lblOffset val="100"/>
        <c:noMultiLvlLbl val="0"/>
      </c:catAx>
      <c:valAx>
        <c:axId val="1752508384"/>
        <c:scaling>
          <c:orientation val="minMax"/>
          <c:max val="620000"/>
        </c:scaling>
        <c:delete val="1"/>
        <c:axPos val="l"/>
        <c:numFmt formatCode="_-* #,##0_-;\-* #,##0_-;_-* &quot;-&quot;??_-;_-@_-" sourceLinked="1"/>
        <c:majorTickMark val="out"/>
        <c:minorTickMark val="none"/>
        <c:tickLblPos val="nextTo"/>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0870354200028"/>
          <c:y val="0.1381218703141768"/>
          <c:w val="0.86015704773579915"/>
          <c:h val="0.79649697538779163"/>
        </c:manualLayout>
      </c:layout>
      <c:lineChart>
        <c:grouping val="standard"/>
        <c:varyColors val="0"/>
        <c:ser>
          <c:idx val="0"/>
          <c:order val="0"/>
          <c:tx>
            <c:strRef>
              <c:f>Hoja1!$B$1</c:f>
              <c:strCache>
                <c:ptCount val="1"/>
                <c:pt idx="0">
                  <c:v>2024</c:v>
                </c:pt>
              </c:strCache>
            </c:strRef>
          </c:tx>
          <c:spPr>
            <a:ln w="25400" cap="rnd">
              <a:solidFill>
                <a:srgbClr val="F5272D"/>
              </a:solidFill>
              <a:prstDash val="sysDot"/>
              <a:round/>
            </a:ln>
            <a:effectLst/>
          </c:spPr>
          <c:marker>
            <c:symbol val="circle"/>
            <c:size val="5"/>
            <c:spPr>
              <a:solidFill>
                <a:srgbClr val="F5272D"/>
              </a:solidFill>
              <a:ln w="9525">
                <a:solidFill>
                  <a:srgbClr val="F5272D"/>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#,##0_-;\-* #,##0_-;_-* "-"??_-;_-@_-</c:formatCode>
                <c:ptCount val="12"/>
                <c:pt idx="0">
                  <c:v>8029</c:v>
                </c:pt>
                <c:pt idx="1">
                  <c:v>8724</c:v>
                </c:pt>
                <c:pt idx="2">
                  <c:v>22280</c:v>
                </c:pt>
                <c:pt idx="3">
                  <c:v>12132</c:v>
                </c:pt>
                <c:pt idx="4">
                  <c:v>21190</c:v>
                </c:pt>
                <c:pt idx="5">
                  <c:v>26781</c:v>
                </c:pt>
                <c:pt idx="6">
                  <c:v>84904</c:v>
                </c:pt>
                <c:pt idx="7">
                  <c:v>135816</c:v>
                </c:pt>
                <c:pt idx="8">
                  <c:v>38161</c:v>
                </c:pt>
                <c:pt idx="9">
                  <c:v>15170</c:v>
                </c:pt>
                <c:pt idx="10">
                  <c:v>5923</c:v>
                </c:pt>
                <c:pt idx="11">
                  <c:v>8752</c:v>
                </c:pt>
              </c:numCache>
            </c:numRef>
          </c:val>
          <c:smooth val="0"/>
          <c:extLst>
            <c:ext xmlns:c16="http://schemas.microsoft.com/office/drawing/2014/chart" uri="{C3380CC4-5D6E-409C-BE32-E72D297353CC}">
              <c16:uniqueId val="{00000000-F62D-4BCF-A6E7-76F186866BA6}"/>
            </c:ext>
          </c:extLst>
        </c:ser>
        <c:ser>
          <c:idx val="1"/>
          <c:order val="1"/>
          <c:tx>
            <c:strRef>
              <c:f>Hoja1!$C$1</c:f>
              <c:strCache>
                <c:ptCount val="1"/>
                <c:pt idx="0">
                  <c:v>2025</c:v>
                </c:pt>
              </c:strCache>
            </c:strRef>
          </c:tx>
          <c:spPr>
            <a:ln w="25400" cap="rnd">
              <a:solidFill>
                <a:srgbClr val="009AA7"/>
              </a:solidFill>
              <a:prstDash val="sysDot"/>
              <a:round/>
            </a:ln>
            <a:effectLst/>
          </c:spPr>
          <c:marker>
            <c:symbol val="circle"/>
            <c:size val="5"/>
            <c:spPr>
              <a:solidFill>
                <a:srgbClr val="009AA7"/>
              </a:solidFill>
              <a:ln w="9525">
                <a:solidFill>
                  <a:srgbClr val="009AA7"/>
                </a:solidFill>
              </a:ln>
              <a:effectLst/>
            </c:spPr>
          </c:marker>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General</c:formatCode>
                <c:ptCount val="12"/>
                <c:pt idx="0">
                  <c:v>3291</c:v>
                </c:pt>
                <c:pt idx="1">
                  <c:v>21884</c:v>
                </c:pt>
                <c:pt idx="2">
                  <c:v>39436</c:v>
                </c:pt>
                <c:pt idx="3">
                  <c:v>33914</c:v>
                </c:pt>
                <c:pt idx="4">
                  <c:v>48058</c:v>
                </c:pt>
                <c:pt idx="5">
                  <c:v>32326</c:v>
                </c:pt>
                <c:pt idx="6">
                  <c:v>97193</c:v>
                </c:pt>
                <c:pt idx="7">
                  <c:v>145510</c:v>
                </c:pt>
                <c:pt idx="8">
                  <c:v>74395</c:v>
                </c:pt>
                <c:pt idx="9">
                  <c:v>10898</c:v>
                </c:pt>
                <c:pt idx="10">
                  <c:v>8287</c:v>
                </c:pt>
                <c:pt idx="11">
                  <c:v>9256</c:v>
                </c:pt>
              </c:numCache>
            </c:numRef>
          </c:val>
          <c:smooth val="0"/>
          <c:extLst>
            <c:ext xmlns:c16="http://schemas.microsoft.com/office/drawing/2014/chart" uri="{C3380CC4-5D6E-409C-BE32-E72D297353CC}">
              <c16:uniqueId val="{00000001-F62D-4BCF-A6E7-76F186866BA6}"/>
            </c:ext>
          </c:extLst>
        </c:ser>
        <c:dLbls>
          <c:showLegendKey val="0"/>
          <c:showVal val="0"/>
          <c:showCatName val="0"/>
          <c:showSerName val="0"/>
          <c:showPercent val="0"/>
          <c:showBubbleSize val="0"/>
        </c:dLbls>
        <c:marker val="1"/>
        <c:smooth val="0"/>
        <c:axId val="1752506752"/>
        <c:axId val="1752508384"/>
      </c:lineChart>
      <c:catAx>
        <c:axId val="1752506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75000"/>
                    <a:lumOff val="25000"/>
                  </a:schemeClr>
                </a:solidFill>
                <a:latin typeface="Montserrat SemiBold" pitchFamily="2" charset="77"/>
                <a:ea typeface="+mn-ea"/>
                <a:cs typeface="+mn-cs"/>
              </a:defRPr>
            </a:pPr>
            <a:endParaRPr lang="es-ES"/>
          </a:p>
        </c:txPr>
        <c:crossAx val="1752508384"/>
        <c:crosses val="autoZero"/>
        <c:auto val="1"/>
        <c:lblAlgn val="ctr"/>
        <c:lblOffset val="100"/>
        <c:noMultiLvlLbl val="0"/>
      </c:catAx>
      <c:valAx>
        <c:axId val="1752508384"/>
        <c:scaling>
          <c:orientation val="minMax"/>
          <c:min val="0"/>
        </c:scaling>
        <c:delete val="0"/>
        <c:axPos val="l"/>
        <c:majorGridlines>
          <c:spPr>
            <a:ln w="9525" cap="flat" cmpd="sng" algn="ctr">
              <a:solidFill>
                <a:schemeClr val="bg2">
                  <a:lumMod val="90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2">
                    <a:lumMod val="75000"/>
                  </a:schemeClr>
                </a:solidFill>
                <a:latin typeface="Montserrat Medium" pitchFamily="2" charset="77"/>
                <a:ea typeface="+mn-ea"/>
                <a:cs typeface="+mn-cs"/>
              </a:defRPr>
            </a:pPr>
            <a:endParaRPr lang="es-ES"/>
          </a:p>
        </c:txPr>
        <c:crossAx val="17525067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ontserrat Medium" pitchFamily="2" charset="0"/>
              <a:ea typeface="+mn-ea"/>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2023</c:v>
                </c:pt>
              </c:strCache>
            </c:strRef>
          </c:tx>
          <c:spPr>
            <a:solidFill>
              <a:schemeClr val="tx1">
                <a:lumMod val="85000"/>
                <a:lumOff val="15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85000"/>
                        <a:lumOff val="1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#,##0.00_);_(* \(#,##0.00\);_(* "-"??_);_(@_)</c:formatCode>
                <c:ptCount val="12"/>
                <c:pt idx="0">
                  <c:v>12.55</c:v>
                </c:pt>
                <c:pt idx="1">
                  <c:v>8.9</c:v>
                </c:pt>
                <c:pt idx="2">
                  <c:v>7.87</c:v>
                </c:pt>
                <c:pt idx="3">
                  <c:v>3.49</c:v>
                </c:pt>
                <c:pt idx="4">
                  <c:v>4.5199999999999996</c:v>
                </c:pt>
                <c:pt idx="5">
                  <c:v>5.19</c:v>
                </c:pt>
                <c:pt idx="6">
                  <c:v>6.49</c:v>
                </c:pt>
                <c:pt idx="7">
                  <c:v>7.06</c:v>
                </c:pt>
                <c:pt idx="8">
                  <c:v>5.64</c:v>
                </c:pt>
                <c:pt idx="9">
                  <c:v>5.61</c:v>
                </c:pt>
                <c:pt idx="10">
                  <c:v>8.14</c:v>
                </c:pt>
                <c:pt idx="11">
                  <c:v>5.28</c:v>
                </c:pt>
              </c:numCache>
            </c:numRef>
          </c:val>
          <c:extLst>
            <c:ext xmlns:c16="http://schemas.microsoft.com/office/drawing/2014/chart" uri="{C3380CC4-5D6E-409C-BE32-E72D297353CC}">
              <c16:uniqueId val="{00000000-555C-40D6-8D50-DF0AD45B1A09}"/>
            </c:ext>
          </c:extLst>
        </c:ser>
        <c:ser>
          <c:idx val="1"/>
          <c:order val="1"/>
          <c:tx>
            <c:strRef>
              <c:f>Hoja1!$C$1</c:f>
              <c:strCache>
                <c:ptCount val="1"/>
                <c:pt idx="0">
                  <c:v>2024</c:v>
                </c:pt>
              </c:strCache>
            </c:strRef>
          </c:tx>
          <c:spPr>
            <a:solidFill>
              <a:srgbClr val="AD0407"/>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AD0407"/>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_(* #,##0.00_);_(* \(#,##0.00\);_(* "-"??_);_(@_)</c:formatCode>
                <c:ptCount val="12"/>
                <c:pt idx="0">
                  <c:v>13.83</c:v>
                </c:pt>
                <c:pt idx="1">
                  <c:v>9.14</c:v>
                </c:pt>
                <c:pt idx="2">
                  <c:v>4.9800000000000004</c:v>
                </c:pt>
                <c:pt idx="3">
                  <c:v>5.04</c:v>
                </c:pt>
                <c:pt idx="4">
                  <c:v>5.22</c:v>
                </c:pt>
                <c:pt idx="5">
                  <c:v>4.6500000000000004</c:v>
                </c:pt>
                <c:pt idx="6">
                  <c:v>7.19</c:v>
                </c:pt>
                <c:pt idx="7">
                  <c:v>7.63</c:v>
                </c:pt>
                <c:pt idx="8">
                  <c:v>6.66</c:v>
                </c:pt>
                <c:pt idx="9">
                  <c:v>6.23</c:v>
                </c:pt>
                <c:pt idx="10">
                  <c:v>6.27</c:v>
                </c:pt>
                <c:pt idx="11">
                  <c:v>5.58</c:v>
                </c:pt>
              </c:numCache>
            </c:numRef>
          </c:val>
          <c:extLst>
            <c:ext xmlns:c16="http://schemas.microsoft.com/office/drawing/2014/chart" uri="{C3380CC4-5D6E-409C-BE32-E72D297353CC}">
              <c16:uniqueId val="{00000001-555C-40D6-8D50-DF0AD45B1A09}"/>
            </c:ext>
          </c:extLst>
        </c:ser>
        <c:ser>
          <c:idx val="2"/>
          <c:order val="2"/>
          <c:tx>
            <c:strRef>
              <c:f>Hoja1!$D$1</c:f>
              <c:strCache>
                <c:ptCount val="1"/>
                <c:pt idx="0">
                  <c:v>2025</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4.24</c:v>
                </c:pt>
                <c:pt idx="1">
                  <c:v>8.5</c:v>
                </c:pt>
                <c:pt idx="2">
                  <c:v>7.23</c:v>
                </c:pt>
                <c:pt idx="3">
                  <c:v>7.36</c:v>
                </c:pt>
                <c:pt idx="4">
                  <c:v>5.42</c:v>
                </c:pt>
                <c:pt idx="5">
                  <c:v>4.24</c:v>
                </c:pt>
                <c:pt idx="6">
                  <c:v>5.0999999999999996</c:v>
                </c:pt>
                <c:pt idx="7">
                  <c:v>7.71</c:v>
                </c:pt>
                <c:pt idx="8">
                  <c:v>5.2</c:v>
                </c:pt>
                <c:pt idx="9">
                  <c:v>8.07</c:v>
                </c:pt>
                <c:pt idx="10">
                  <c:v>3.73</c:v>
                </c:pt>
                <c:pt idx="11">
                  <c:v>5.0999999999999996</c:v>
                </c:pt>
              </c:numCache>
            </c:numRef>
          </c:val>
          <c:extLst>
            <c:ext xmlns:c16="http://schemas.microsoft.com/office/drawing/2014/chart" uri="{C3380CC4-5D6E-409C-BE32-E72D297353CC}">
              <c16:uniqueId val="{00000000-C093-4CD5-94AC-A0D5E698A63B}"/>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minorGridlines>
          <c:spPr>
            <a:ln>
              <a:solidFill>
                <a:schemeClr val="tx1">
                  <a:lumMod val="5000"/>
                  <a:lumOff val="95000"/>
                </a:schemeClr>
              </a:solidFill>
            </a:ln>
            <a:effectLst/>
          </c:spPr>
        </c:minorGridlines>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0"/>
        <c:lblAlgn val="ctr"/>
        <c:lblOffset val="100"/>
        <c:tickMarkSkip val="4"/>
        <c:noMultiLvlLbl val="0"/>
      </c:catAx>
      <c:valAx>
        <c:axId val="1752508384"/>
        <c:scaling>
          <c:orientation val="minMax"/>
        </c:scaling>
        <c:delete val="1"/>
        <c:axPos val="l"/>
        <c:numFmt formatCode="_(* #,##0.00_);_(* \(#,##0.00\);_(* &quot;-&quot;??_);_(@_)"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2023</c:v>
                </c:pt>
              </c:strCache>
            </c:strRef>
          </c:tx>
          <c:spPr>
            <a:solidFill>
              <a:schemeClr val="tx1">
                <a:lumMod val="85000"/>
                <a:lumOff val="15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85000"/>
                        <a:lumOff val="15000"/>
                      </a:schemeClr>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Hoja1!$B$2:$B$13</c:f>
              <c:numCache>
                <c:formatCode>_(* #,##0.00_);_(* \(#,##0.00\);_(* "-"??_);_(@_)</c:formatCode>
                <c:ptCount val="12"/>
                <c:pt idx="0">
                  <c:v>3.02</c:v>
                </c:pt>
                <c:pt idx="1">
                  <c:v>2.68</c:v>
                </c:pt>
                <c:pt idx="2">
                  <c:v>2.59</c:v>
                </c:pt>
                <c:pt idx="3">
                  <c:v>2.42</c:v>
                </c:pt>
                <c:pt idx="4">
                  <c:v>2.25</c:v>
                </c:pt>
                <c:pt idx="5">
                  <c:v>2.14</c:v>
                </c:pt>
                <c:pt idx="6">
                  <c:v>2.52</c:v>
                </c:pt>
                <c:pt idx="7">
                  <c:v>2.91</c:v>
                </c:pt>
                <c:pt idx="8">
                  <c:v>2.42</c:v>
                </c:pt>
                <c:pt idx="9">
                  <c:v>2.36</c:v>
                </c:pt>
                <c:pt idx="10">
                  <c:v>2.5099999999999998</c:v>
                </c:pt>
                <c:pt idx="11">
                  <c:v>2.86</c:v>
                </c:pt>
              </c:numCache>
            </c:numRef>
          </c:val>
          <c:extLst>
            <c:ext xmlns:c16="http://schemas.microsoft.com/office/drawing/2014/chart" uri="{C3380CC4-5D6E-409C-BE32-E72D297353CC}">
              <c16:uniqueId val="{00000000-65C3-4919-9178-CB23C8754413}"/>
            </c:ext>
          </c:extLst>
        </c:ser>
        <c:ser>
          <c:idx val="1"/>
          <c:order val="1"/>
          <c:tx>
            <c:strRef>
              <c:f>Hoja1!$C$1</c:f>
              <c:strCache>
                <c:ptCount val="1"/>
                <c:pt idx="0">
                  <c:v>2024</c:v>
                </c:pt>
              </c:strCache>
            </c:strRef>
          </c:tx>
          <c:spPr>
            <a:solidFill>
              <a:srgbClr val="AD0407"/>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rgbClr val="AD0407"/>
                    </a:solidFill>
                    <a:latin typeface="Montserrat Medium" pitchFamily="2" charset="77"/>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Hoja1!$C$2:$C$13</c:f>
              <c:numCache>
                <c:formatCode>_(* #,##0.00_);_(* \(#,##0.00\);_(* "-"??_);_(@_)</c:formatCode>
                <c:ptCount val="12"/>
                <c:pt idx="0">
                  <c:v>3.12</c:v>
                </c:pt>
                <c:pt idx="1">
                  <c:v>2.74</c:v>
                </c:pt>
                <c:pt idx="2">
                  <c:v>2.99</c:v>
                </c:pt>
                <c:pt idx="3">
                  <c:v>2.67</c:v>
                </c:pt>
                <c:pt idx="4">
                  <c:v>2.2599999999999998</c:v>
                </c:pt>
                <c:pt idx="5">
                  <c:v>2.3199999999999998</c:v>
                </c:pt>
                <c:pt idx="6">
                  <c:v>2.62</c:v>
                </c:pt>
                <c:pt idx="7">
                  <c:v>2.87</c:v>
                </c:pt>
                <c:pt idx="8">
                  <c:v>2.35</c:v>
                </c:pt>
                <c:pt idx="9">
                  <c:v>2.5099999999999998</c:v>
                </c:pt>
                <c:pt idx="10">
                  <c:v>2.59</c:v>
                </c:pt>
                <c:pt idx="11">
                  <c:v>2.78</c:v>
                </c:pt>
              </c:numCache>
            </c:numRef>
          </c:val>
          <c:extLst>
            <c:ext xmlns:c16="http://schemas.microsoft.com/office/drawing/2014/chart" uri="{C3380CC4-5D6E-409C-BE32-E72D297353CC}">
              <c16:uniqueId val="{00000001-65C3-4919-9178-CB23C8754413}"/>
            </c:ext>
          </c:extLst>
        </c:ser>
        <c:ser>
          <c:idx val="2"/>
          <c:order val="2"/>
          <c:tx>
            <c:strRef>
              <c:f>Hoja1!$D$1</c:f>
              <c:strCache>
                <c:ptCount val="1"/>
                <c:pt idx="0">
                  <c:v>2025</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tx1">
                        <a:lumMod val="50000"/>
                        <a:lumOff val="50000"/>
                      </a:schemeClr>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Hoja1!$A$2:$A$13</c:f>
              <c:strCache>
                <c:ptCount val="12"/>
                <c:pt idx="0">
                  <c:v>ENE</c:v>
                </c:pt>
                <c:pt idx="1">
                  <c:v>FEB</c:v>
                </c:pt>
                <c:pt idx="2">
                  <c:v>MAR</c:v>
                </c:pt>
                <c:pt idx="3">
                  <c:v>ABR</c:v>
                </c:pt>
                <c:pt idx="4">
                  <c:v>MAY</c:v>
                </c:pt>
                <c:pt idx="5">
                  <c:v>JUN</c:v>
                </c:pt>
                <c:pt idx="6">
                  <c:v>JUL</c:v>
                </c:pt>
                <c:pt idx="7">
                  <c:v>AGO</c:v>
                </c:pt>
                <c:pt idx="8">
                  <c:v>SEP</c:v>
                </c:pt>
                <c:pt idx="9">
                  <c:v>OCT</c:v>
                </c:pt>
                <c:pt idx="10">
                  <c:v>NOV</c:v>
                </c:pt>
                <c:pt idx="11">
                  <c:v>DIC</c:v>
                </c:pt>
              </c:strCache>
            </c:strRef>
          </c:cat>
          <c:val>
            <c:numRef>
              <c:f>Hoja1!$D$2:$D$13</c:f>
              <c:numCache>
                <c:formatCode>General</c:formatCode>
                <c:ptCount val="12"/>
                <c:pt idx="0">
                  <c:v>3.1</c:v>
                </c:pt>
                <c:pt idx="1">
                  <c:v>2.72</c:v>
                </c:pt>
                <c:pt idx="2">
                  <c:v>2.74</c:v>
                </c:pt>
                <c:pt idx="3">
                  <c:v>2.57</c:v>
                </c:pt>
                <c:pt idx="4">
                  <c:v>2.13</c:v>
                </c:pt>
                <c:pt idx="5">
                  <c:v>2.44</c:v>
                </c:pt>
                <c:pt idx="6">
                  <c:v>2.64</c:v>
                </c:pt>
                <c:pt idx="7">
                  <c:v>2.63</c:v>
                </c:pt>
                <c:pt idx="8">
                  <c:v>2.42</c:v>
                </c:pt>
                <c:pt idx="9">
                  <c:v>2.4500000000000002</c:v>
                </c:pt>
                <c:pt idx="10">
                  <c:v>2.56</c:v>
                </c:pt>
                <c:pt idx="11">
                  <c:v>2.9</c:v>
                </c:pt>
              </c:numCache>
            </c:numRef>
          </c:val>
          <c:extLst>
            <c:ext xmlns:c16="http://schemas.microsoft.com/office/drawing/2014/chart" uri="{C3380CC4-5D6E-409C-BE32-E72D297353CC}">
              <c16:uniqueId val="{00000000-4FAD-4B94-84E7-263C56B11258}"/>
            </c:ext>
          </c:extLst>
        </c:ser>
        <c:dLbls>
          <c:dLblPos val="outEnd"/>
          <c:showLegendKey val="0"/>
          <c:showVal val="1"/>
          <c:showCatName val="0"/>
          <c:showSerName val="0"/>
          <c:showPercent val="0"/>
          <c:showBubbleSize val="0"/>
        </c:dLbls>
        <c:gapWidth val="206"/>
        <c:overlap val="-90"/>
        <c:axId val="1752506752"/>
        <c:axId val="1752508384"/>
      </c:barChart>
      <c:catAx>
        <c:axId val="1752506752"/>
        <c:scaling>
          <c:orientation val="minMax"/>
        </c:scaling>
        <c:delete val="0"/>
        <c:axPos val="b"/>
        <c:majorGridlines>
          <c:spPr>
            <a:ln w="9525" cap="flat" cmpd="sng" algn="ctr">
              <a:solidFill>
                <a:schemeClr val="tx1">
                  <a:lumMod val="15000"/>
                  <a:lumOff val="85000"/>
                </a:schemeClr>
              </a:solidFill>
              <a:round/>
            </a:ln>
            <a:effectLst/>
          </c:spPr>
        </c:majorGridlines>
        <c:minorGridlines>
          <c:spPr>
            <a:ln>
              <a:solidFill>
                <a:schemeClr val="tx1">
                  <a:lumMod val="5000"/>
                  <a:lumOff val="95000"/>
                </a:schemeClr>
              </a:solidFill>
            </a:ln>
            <a:effectLst/>
          </c:spPr>
        </c:minorGridlines>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cap="all" spc="120" normalizeH="0" baseline="0">
                <a:solidFill>
                  <a:schemeClr val="bg1"/>
                </a:solidFill>
                <a:latin typeface="Montserrat" pitchFamily="2" charset="77"/>
                <a:ea typeface="+mn-ea"/>
                <a:cs typeface="+mn-cs"/>
              </a:defRPr>
            </a:pPr>
            <a:endParaRPr lang="es-ES"/>
          </a:p>
        </c:txPr>
        <c:crossAx val="1752508384"/>
        <c:crosses val="autoZero"/>
        <c:auto val="0"/>
        <c:lblAlgn val="ctr"/>
        <c:lblOffset val="100"/>
        <c:tickMarkSkip val="4"/>
        <c:noMultiLvlLbl val="0"/>
      </c:catAx>
      <c:valAx>
        <c:axId val="1752508384"/>
        <c:scaling>
          <c:orientation val="minMax"/>
        </c:scaling>
        <c:delete val="1"/>
        <c:axPos val="l"/>
        <c:numFmt formatCode="_(* #,##0.00_);_(* \(#,##0.00\);_(* &quot;-&quot;??_);_(@_)" sourceLinked="1"/>
        <c:majorTickMark val="none"/>
        <c:minorTickMark val="none"/>
        <c:tickLblPos val="nextTo"/>
        <c:crossAx val="17525067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9.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0.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7A26F-784E-7F42-834D-0E6D7273BEEA}" type="datetimeFigureOut">
              <a:rPr lang="es-ES" smtClean="0"/>
              <a:t>15/03/2026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A88507-070F-6E43-B3F5-F34F7AEA0891}" type="slidenum">
              <a:rPr lang="es-ES" smtClean="0"/>
              <a:t>‹Nº›</a:t>
            </a:fld>
            <a:endParaRPr lang="es-ES"/>
          </a:p>
        </p:txBody>
      </p:sp>
    </p:spTree>
    <p:extLst>
      <p:ext uri="{BB962C8B-B14F-4D97-AF65-F5344CB8AC3E}">
        <p14:creationId xmlns:p14="http://schemas.microsoft.com/office/powerpoint/2010/main" val="1955556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1</a:t>
            </a:fld>
            <a:endParaRPr lang="es-ES"/>
          </a:p>
        </p:txBody>
      </p:sp>
    </p:spTree>
    <p:extLst>
      <p:ext uri="{BB962C8B-B14F-4D97-AF65-F5344CB8AC3E}">
        <p14:creationId xmlns:p14="http://schemas.microsoft.com/office/powerpoint/2010/main" val="1398487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3A88507-070F-6E43-B3F5-F34F7AEA0891}" type="slidenum">
              <a:rPr lang="es-ES" smtClean="0"/>
              <a:t>11</a:t>
            </a:fld>
            <a:endParaRPr lang="es-ES"/>
          </a:p>
        </p:txBody>
      </p:sp>
    </p:spTree>
    <p:extLst>
      <p:ext uri="{BB962C8B-B14F-4D97-AF65-F5344CB8AC3E}">
        <p14:creationId xmlns:p14="http://schemas.microsoft.com/office/powerpoint/2010/main" val="2060756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591E9-51CB-450D-03CF-4685BB6EA1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BAAFAB-DCA6-3871-2D0C-9EFB82A0FE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405C66-0892-4A6A-2FB9-58659A44445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2AE5EDF-8A13-AC74-F471-11F07C5183F5}"/>
              </a:ext>
            </a:extLst>
          </p:cNvPr>
          <p:cNvSpPr>
            <a:spLocks noGrp="1"/>
          </p:cNvSpPr>
          <p:nvPr>
            <p:ph type="sldNum" sz="quarter" idx="5"/>
          </p:nvPr>
        </p:nvSpPr>
        <p:spPr/>
        <p:txBody>
          <a:bodyPr/>
          <a:lstStyle/>
          <a:p>
            <a:fld id="{63A88507-070F-6E43-B3F5-F34F7AEA0891}" type="slidenum">
              <a:rPr lang="es-ES" smtClean="0"/>
              <a:t>36</a:t>
            </a:fld>
            <a:endParaRPr lang="es-ES"/>
          </a:p>
        </p:txBody>
      </p:sp>
    </p:spTree>
    <p:extLst>
      <p:ext uri="{BB962C8B-B14F-4D97-AF65-F5344CB8AC3E}">
        <p14:creationId xmlns:p14="http://schemas.microsoft.com/office/powerpoint/2010/main" val="4043903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7D334-C948-0148-1238-2925CB9193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1B0D48-BFC1-AEAC-BA9C-193C65FDF5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A8B670-0E7F-C497-E0C9-66BEB247A18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7F8B8A6-5A46-6D8E-F237-3887097C8484}"/>
              </a:ext>
            </a:extLst>
          </p:cNvPr>
          <p:cNvSpPr>
            <a:spLocks noGrp="1"/>
          </p:cNvSpPr>
          <p:nvPr>
            <p:ph type="sldNum" sz="quarter" idx="5"/>
          </p:nvPr>
        </p:nvSpPr>
        <p:spPr/>
        <p:txBody>
          <a:bodyPr/>
          <a:lstStyle/>
          <a:p>
            <a:fld id="{63A88507-070F-6E43-B3F5-F34F7AEA0891}" type="slidenum">
              <a:rPr lang="es-ES" smtClean="0"/>
              <a:t>37</a:t>
            </a:fld>
            <a:endParaRPr lang="es-ES"/>
          </a:p>
        </p:txBody>
      </p:sp>
    </p:spTree>
    <p:extLst>
      <p:ext uri="{BB962C8B-B14F-4D97-AF65-F5344CB8AC3E}">
        <p14:creationId xmlns:p14="http://schemas.microsoft.com/office/powerpoint/2010/main" val="424895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4C8F5-3997-66FB-8589-5E11931B2CB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F49CA7-B3F9-856F-6D1E-ACE3636C2A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AD6DD1-25E8-AC2B-4EB3-2C375C40198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9F1FC60-FABA-6507-53F0-CA1A0DE8DE18}"/>
              </a:ext>
            </a:extLst>
          </p:cNvPr>
          <p:cNvSpPr>
            <a:spLocks noGrp="1"/>
          </p:cNvSpPr>
          <p:nvPr>
            <p:ph type="sldNum" sz="quarter" idx="5"/>
          </p:nvPr>
        </p:nvSpPr>
        <p:spPr/>
        <p:txBody>
          <a:bodyPr/>
          <a:lstStyle/>
          <a:p>
            <a:fld id="{63A88507-070F-6E43-B3F5-F34F7AEA0891}" type="slidenum">
              <a:rPr lang="es-ES" smtClean="0"/>
              <a:t>38</a:t>
            </a:fld>
            <a:endParaRPr lang="es-ES"/>
          </a:p>
        </p:txBody>
      </p:sp>
    </p:spTree>
    <p:extLst>
      <p:ext uri="{BB962C8B-B14F-4D97-AF65-F5344CB8AC3E}">
        <p14:creationId xmlns:p14="http://schemas.microsoft.com/office/powerpoint/2010/main" val="833537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1F6A-61DE-64FF-BF3F-23E98EB58E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B87799-A8E3-1228-900A-C0FB60D104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C9C0F0-C814-1664-CBF8-D77B993293D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F9F7603-4E46-6455-CAD5-DB347D623876}"/>
              </a:ext>
            </a:extLst>
          </p:cNvPr>
          <p:cNvSpPr>
            <a:spLocks noGrp="1"/>
          </p:cNvSpPr>
          <p:nvPr>
            <p:ph type="sldNum" sz="quarter" idx="5"/>
          </p:nvPr>
        </p:nvSpPr>
        <p:spPr/>
        <p:txBody>
          <a:bodyPr/>
          <a:lstStyle/>
          <a:p>
            <a:fld id="{63A88507-070F-6E43-B3F5-F34F7AEA0891}" type="slidenum">
              <a:rPr lang="es-ES" smtClean="0"/>
              <a:t>39</a:t>
            </a:fld>
            <a:endParaRPr lang="es-ES"/>
          </a:p>
        </p:txBody>
      </p:sp>
    </p:spTree>
    <p:extLst>
      <p:ext uri="{BB962C8B-B14F-4D97-AF65-F5344CB8AC3E}">
        <p14:creationId xmlns:p14="http://schemas.microsoft.com/office/powerpoint/2010/main" val="700760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3545F-B913-41E5-F330-9CDBB39CC0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7E18CA-7515-BF9B-CC35-9DBAA715F9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9311D8-D533-E932-4F45-6BA19683A01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58C5429-56CB-51C2-055B-08597DB8BEC4}"/>
              </a:ext>
            </a:extLst>
          </p:cNvPr>
          <p:cNvSpPr>
            <a:spLocks noGrp="1"/>
          </p:cNvSpPr>
          <p:nvPr>
            <p:ph type="sldNum" sz="quarter" idx="5"/>
          </p:nvPr>
        </p:nvSpPr>
        <p:spPr/>
        <p:txBody>
          <a:bodyPr/>
          <a:lstStyle/>
          <a:p>
            <a:fld id="{63A88507-070F-6E43-B3F5-F34F7AEA0891}" type="slidenum">
              <a:rPr lang="es-ES" smtClean="0"/>
              <a:t>40</a:t>
            </a:fld>
            <a:endParaRPr lang="es-ES"/>
          </a:p>
        </p:txBody>
      </p:sp>
    </p:spTree>
    <p:extLst>
      <p:ext uri="{BB962C8B-B14F-4D97-AF65-F5344CB8AC3E}">
        <p14:creationId xmlns:p14="http://schemas.microsoft.com/office/powerpoint/2010/main" val="4105497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8E523-F4D0-7883-1DF9-AE528D40E7C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B4E004-84D3-F161-A593-5EC7B686201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C58937-0783-622C-30E8-08F972FB4DC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06A713C-F944-33D2-85EF-4831B9570507}"/>
              </a:ext>
            </a:extLst>
          </p:cNvPr>
          <p:cNvSpPr>
            <a:spLocks noGrp="1"/>
          </p:cNvSpPr>
          <p:nvPr>
            <p:ph type="sldNum" sz="quarter" idx="5"/>
          </p:nvPr>
        </p:nvSpPr>
        <p:spPr/>
        <p:txBody>
          <a:bodyPr/>
          <a:lstStyle/>
          <a:p>
            <a:fld id="{63A88507-070F-6E43-B3F5-F34F7AEA0891}" type="slidenum">
              <a:rPr lang="es-ES" smtClean="0"/>
              <a:t>41</a:t>
            </a:fld>
            <a:endParaRPr lang="es-ES"/>
          </a:p>
        </p:txBody>
      </p:sp>
    </p:spTree>
    <p:extLst>
      <p:ext uri="{BB962C8B-B14F-4D97-AF65-F5344CB8AC3E}">
        <p14:creationId xmlns:p14="http://schemas.microsoft.com/office/powerpoint/2010/main" val="2073915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47BE-9C44-38E4-AAB9-A4517581EB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0EBE27-7BAA-044A-F21E-CC988F4064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BF4258-0828-A6A8-2F61-A85FEDEC6F4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71F14DA-71A0-E1EC-F83E-CD508ED5BAE3}"/>
              </a:ext>
            </a:extLst>
          </p:cNvPr>
          <p:cNvSpPr>
            <a:spLocks noGrp="1"/>
          </p:cNvSpPr>
          <p:nvPr>
            <p:ph type="sldNum" sz="quarter" idx="5"/>
          </p:nvPr>
        </p:nvSpPr>
        <p:spPr/>
        <p:txBody>
          <a:bodyPr/>
          <a:lstStyle/>
          <a:p>
            <a:fld id="{63A88507-070F-6E43-B3F5-F34F7AEA0891}" type="slidenum">
              <a:rPr lang="es-ES" smtClean="0"/>
              <a:t>42</a:t>
            </a:fld>
            <a:endParaRPr lang="es-ES"/>
          </a:p>
        </p:txBody>
      </p:sp>
    </p:spTree>
    <p:extLst>
      <p:ext uri="{BB962C8B-B14F-4D97-AF65-F5344CB8AC3E}">
        <p14:creationId xmlns:p14="http://schemas.microsoft.com/office/powerpoint/2010/main" val="785338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D02D-1AE7-F2AE-0606-AA5B006C0C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81B030-650A-3F8E-1274-020F4D0C51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09734E-A650-1B09-4E7C-526C6FAB5AB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B52ABCB-3666-B51E-955B-C286E0F369C8}"/>
              </a:ext>
            </a:extLst>
          </p:cNvPr>
          <p:cNvSpPr>
            <a:spLocks noGrp="1"/>
          </p:cNvSpPr>
          <p:nvPr>
            <p:ph type="sldNum" sz="quarter" idx="5"/>
          </p:nvPr>
        </p:nvSpPr>
        <p:spPr/>
        <p:txBody>
          <a:bodyPr/>
          <a:lstStyle/>
          <a:p>
            <a:fld id="{63A88507-070F-6E43-B3F5-F34F7AEA0891}" type="slidenum">
              <a:rPr lang="es-ES" smtClean="0"/>
              <a:t>43</a:t>
            </a:fld>
            <a:endParaRPr lang="es-ES"/>
          </a:p>
        </p:txBody>
      </p:sp>
    </p:spTree>
    <p:extLst>
      <p:ext uri="{BB962C8B-B14F-4D97-AF65-F5344CB8AC3E}">
        <p14:creationId xmlns:p14="http://schemas.microsoft.com/office/powerpoint/2010/main" val="1393237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3609C-24B5-C27E-D126-46AF42D5EF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FC2C93-927B-5432-D280-0E9E397380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5A1FB3-909C-CD55-A58D-171F6FEC4D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87D6330-F05C-44B0-A55C-EC5093485928}"/>
              </a:ext>
            </a:extLst>
          </p:cNvPr>
          <p:cNvSpPr>
            <a:spLocks noGrp="1"/>
          </p:cNvSpPr>
          <p:nvPr>
            <p:ph type="sldNum" sz="quarter" idx="5"/>
          </p:nvPr>
        </p:nvSpPr>
        <p:spPr/>
        <p:txBody>
          <a:bodyPr/>
          <a:lstStyle/>
          <a:p>
            <a:fld id="{63A88507-070F-6E43-B3F5-F34F7AEA0891}" type="slidenum">
              <a:rPr lang="es-ES" smtClean="0"/>
              <a:t>44</a:t>
            </a:fld>
            <a:endParaRPr lang="es-ES"/>
          </a:p>
        </p:txBody>
      </p:sp>
    </p:spTree>
    <p:extLst>
      <p:ext uri="{BB962C8B-B14F-4D97-AF65-F5344CB8AC3E}">
        <p14:creationId xmlns:p14="http://schemas.microsoft.com/office/powerpoint/2010/main" val="3780888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8E622-CE10-B7DE-8DB4-0AFFB994C6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2DB7F6-8B9F-CA75-521F-66767CC59C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F6849B-017B-47B2-F960-072D71B0898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1A80620-9AC1-1E59-B285-1B40F7EC21EC}"/>
              </a:ext>
            </a:extLst>
          </p:cNvPr>
          <p:cNvSpPr>
            <a:spLocks noGrp="1"/>
          </p:cNvSpPr>
          <p:nvPr>
            <p:ph type="sldNum" sz="quarter" idx="5"/>
          </p:nvPr>
        </p:nvSpPr>
        <p:spPr/>
        <p:txBody>
          <a:bodyPr/>
          <a:lstStyle/>
          <a:p>
            <a:fld id="{63A88507-070F-6E43-B3F5-F34F7AEA0891}" type="slidenum">
              <a:rPr lang="es-ES" smtClean="0"/>
              <a:t>45</a:t>
            </a:fld>
            <a:endParaRPr lang="es-ES"/>
          </a:p>
        </p:txBody>
      </p:sp>
    </p:spTree>
    <p:extLst>
      <p:ext uri="{BB962C8B-B14F-4D97-AF65-F5344CB8AC3E}">
        <p14:creationId xmlns:p14="http://schemas.microsoft.com/office/powerpoint/2010/main" val="2770907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AA07-6295-F8F4-8B03-147B7C124CC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11360C-9760-D554-46EB-FE514CF301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543436-2E9B-742D-5121-BBF8CF14DD1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A77E69E-D634-403C-D77A-E02F0D6C52BA}"/>
              </a:ext>
            </a:extLst>
          </p:cNvPr>
          <p:cNvSpPr>
            <a:spLocks noGrp="1"/>
          </p:cNvSpPr>
          <p:nvPr>
            <p:ph type="sldNum" sz="quarter" idx="5"/>
          </p:nvPr>
        </p:nvSpPr>
        <p:spPr/>
        <p:txBody>
          <a:bodyPr/>
          <a:lstStyle/>
          <a:p>
            <a:fld id="{63A88507-070F-6E43-B3F5-F34F7AEA0891}" type="slidenum">
              <a:rPr lang="es-ES" smtClean="0"/>
              <a:t>46</a:t>
            </a:fld>
            <a:endParaRPr lang="es-ES"/>
          </a:p>
        </p:txBody>
      </p:sp>
    </p:spTree>
    <p:extLst>
      <p:ext uri="{BB962C8B-B14F-4D97-AF65-F5344CB8AC3E}">
        <p14:creationId xmlns:p14="http://schemas.microsoft.com/office/powerpoint/2010/main" val="24056949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cxnSp>
        <p:nvCxnSpPr>
          <p:cNvPr id="11" name="Conector recto 10">
            <a:extLst>
              <a:ext uri="{FF2B5EF4-FFF2-40B4-BE49-F238E27FC236}">
                <a16:creationId xmlns:a16="http://schemas.microsoft.com/office/drawing/2014/main" id="{EBDE6EFE-52B0-754B-91B2-51909E58AE8D}"/>
              </a:ext>
            </a:extLst>
          </p:cNvPr>
          <p:cNvCxnSpPr>
            <a:cxnSpLocks/>
            <a:endCxn id="12" idx="1"/>
          </p:cNvCxnSpPr>
          <p:nvPr userDrawn="1"/>
        </p:nvCxnSpPr>
        <p:spPr>
          <a:xfrm>
            <a:off x="717632" y="520861"/>
            <a:ext cx="5895726" cy="3262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883F979F-F063-A34C-8307-6B7B894805C3}"/>
              </a:ext>
            </a:extLst>
          </p:cNvPr>
          <p:cNvSpPr/>
          <p:nvPr userDrawn="1"/>
        </p:nvSpPr>
        <p:spPr>
          <a:xfrm>
            <a:off x="6613358" y="430374"/>
            <a:ext cx="4951998" cy="246221"/>
          </a:xfrm>
          <a:prstGeom prst="rect">
            <a:avLst/>
          </a:prstGeom>
        </p:spPr>
        <p:txBody>
          <a:bodyPr wrap="none">
            <a:spAutoFit/>
          </a:bodyPr>
          <a:lstStyle/>
          <a:p>
            <a:pPr algn="r"/>
            <a:r>
              <a:rPr lang="es-ES" sz="1000" b="1">
                <a:solidFill>
                  <a:schemeClr val="bg2">
                    <a:lumMod val="90000"/>
                  </a:schemeClr>
                </a:solidFill>
                <a:latin typeface="Montserrat SemiBold" pitchFamily="2" charset="77"/>
              </a:rPr>
              <a:t>INFORME DE ANÁLISIS DE DATOS | SMART OFFICE DENIA | ENE – DIC 25</a:t>
            </a:r>
          </a:p>
        </p:txBody>
      </p:sp>
      <p:pic>
        <p:nvPicPr>
          <p:cNvPr id="13" name="Imagen 12">
            <a:extLst>
              <a:ext uri="{FF2B5EF4-FFF2-40B4-BE49-F238E27FC236}">
                <a16:creationId xmlns:a16="http://schemas.microsoft.com/office/drawing/2014/main" id="{B0D4B3FB-9805-704E-9AB7-1D22202FF542}"/>
              </a:ext>
            </a:extLst>
          </p:cNvPr>
          <p:cNvPicPr>
            <a:picLocks noChangeAspect="1"/>
          </p:cNvPicPr>
          <p:nvPr userDrawn="1"/>
        </p:nvPicPr>
        <p:blipFill>
          <a:blip r:embed="rId2"/>
          <a:srcRect/>
          <a:stretch/>
        </p:blipFill>
        <p:spPr>
          <a:xfrm>
            <a:off x="-116114" y="5740400"/>
            <a:ext cx="12424228" cy="1179585"/>
          </a:xfrm>
          <a:prstGeom prst="rect">
            <a:avLst/>
          </a:prstGeom>
        </p:spPr>
      </p:pic>
      <p:grpSp>
        <p:nvGrpSpPr>
          <p:cNvPr id="6" name="Grupo 5">
            <a:extLst>
              <a:ext uri="{FF2B5EF4-FFF2-40B4-BE49-F238E27FC236}">
                <a16:creationId xmlns:a16="http://schemas.microsoft.com/office/drawing/2014/main" id="{2E1A5D72-2646-6B11-0C0E-9DCE8EA108E9}"/>
              </a:ext>
            </a:extLst>
          </p:cNvPr>
          <p:cNvGrpSpPr/>
          <p:nvPr userDrawn="1"/>
        </p:nvGrpSpPr>
        <p:grpSpPr>
          <a:xfrm>
            <a:off x="717632" y="6099014"/>
            <a:ext cx="3903956" cy="476250"/>
            <a:chOff x="643469" y="6033429"/>
            <a:chExt cx="3903956" cy="476250"/>
          </a:xfrm>
        </p:grpSpPr>
        <p:pic>
          <p:nvPicPr>
            <p:cNvPr id="7" name="Imagen 6">
              <a:extLst>
                <a:ext uri="{FF2B5EF4-FFF2-40B4-BE49-F238E27FC236}">
                  <a16:creationId xmlns:a16="http://schemas.microsoft.com/office/drawing/2014/main" id="{AA869F40-3C75-C30E-F4F5-D412F2892951}"/>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8" name="Imagen 7">
              <a:extLst>
                <a:ext uri="{FF2B5EF4-FFF2-40B4-BE49-F238E27FC236}">
                  <a16:creationId xmlns:a16="http://schemas.microsoft.com/office/drawing/2014/main" id="{F71031FD-D8ED-61A9-9DC7-18A76BAAE9AD}"/>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9" name="Imagen 8" descr="Imagen que contiene Logotipo&#10;&#10;Descripción generada automáticamente">
            <a:extLst>
              <a:ext uri="{FF2B5EF4-FFF2-40B4-BE49-F238E27FC236}">
                <a16:creationId xmlns:a16="http://schemas.microsoft.com/office/drawing/2014/main" id="{2FFAF4B8-D0D3-1DE8-D75D-08DE709F0E7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735474" y="6159421"/>
            <a:ext cx="1466810" cy="355436"/>
          </a:xfrm>
          <a:prstGeom prst="rect">
            <a:avLst/>
          </a:prstGeom>
        </p:spPr>
      </p:pic>
    </p:spTree>
    <p:extLst>
      <p:ext uri="{BB962C8B-B14F-4D97-AF65-F5344CB8AC3E}">
        <p14:creationId xmlns:p14="http://schemas.microsoft.com/office/powerpoint/2010/main" val="278141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A4009D-55AC-B04F-9264-A019342A231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D87AC5E-2E29-DF42-B82D-A5E364F607C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1AAC5C1-AA3E-6B4E-8579-E0D14EEDF53A}"/>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5" name="Marcador de pie de página 4">
            <a:extLst>
              <a:ext uri="{FF2B5EF4-FFF2-40B4-BE49-F238E27FC236}">
                <a16:creationId xmlns:a16="http://schemas.microsoft.com/office/drawing/2014/main" id="{973D80DF-3ED3-DD4C-866B-F07896E78CD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3E4D02F-E2E7-8E4B-99BC-70F13D51BF74}"/>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3175631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1B0B03-3A96-AA47-96A5-367F5A9FE11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E4153541-B962-8049-9C9A-20835E89D8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55D430-5020-9F46-A754-F18E0D8450D5}"/>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5" name="Marcador de pie de página 4">
            <a:extLst>
              <a:ext uri="{FF2B5EF4-FFF2-40B4-BE49-F238E27FC236}">
                <a16:creationId xmlns:a16="http://schemas.microsoft.com/office/drawing/2014/main" id="{072960E7-5107-4C49-ADA5-CD8E30B4150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DB5BDB9-793F-6149-8D38-40881A8A9DF7}"/>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563137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02E80-DC37-6B46-958B-5536BCE8952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E5089E4-58B4-7E4D-A389-499D103027A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7473EEF9-E661-CE4F-B898-BFF4B0F7C26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DC9FD7B-E7BC-024E-8E4C-97E35A43E58E}"/>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6" name="Marcador de pie de página 5">
            <a:extLst>
              <a:ext uri="{FF2B5EF4-FFF2-40B4-BE49-F238E27FC236}">
                <a16:creationId xmlns:a16="http://schemas.microsoft.com/office/drawing/2014/main" id="{2018E8A4-F883-FE46-BB08-B7FADDBEA26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D6F053D-D9CF-4C4B-90BA-FE303C544133}"/>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32538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EB26C-9185-D844-A60E-E8C8741A613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8E8FC9-A795-0A48-8FC5-DA012865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B8DCBDF-DFD5-A647-8BB5-28EFE9C8471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BBDB481-BE36-CF4F-A261-C6214ECA74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06CE9F1-8E87-2F43-9ACC-F3E29C74837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9D359626-EB36-DD41-8F9D-A94C2F0E3851}"/>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8" name="Marcador de pie de página 7">
            <a:extLst>
              <a:ext uri="{FF2B5EF4-FFF2-40B4-BE49-F238E27FC236}">
                <a16:creationId xmlns:a16="http://schemas.microsoft.com/office/drawing/2014/main" id="{A8EBD3DC-8F7C-1B4A-9E96-954C94505208}"/>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9639BFEA-7E1A-5A45-ABC9-B29F559DD790}"/>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956888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198808-6418-A64B-B456-048963DC551B}"/>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A48FC616-58C0-BE4A-8A6E-52A233FB87F0}"/>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4" name="Marcador de pie de página 3">
            <a:extLst>
              <a:ext uri="{FF2B5EF4-FFF2-40B4-BE49-F238E27FC236}">
                <a16:creationId xmlns:a16="http://schemas.microsoft.com/office/drawing/2014/main" id="{855D42DC-0930-9B48-8220-DA083C26391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ED36BC8-DF8D-6F46-BA2B-D7FC39E5A535}"/>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359338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9CD30FE-B598-4F43-9F49-D9887D3D8814}"/>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3" name="Marcador de pie de página 2">
            <a:extLst>
              <a:ext uri="{FF2B5EF4-FFF2-40B4-BE49-F238E27FC236}">
                <a16:creationId xmlns:a16="http://schemas.microsoft.com/office/drawing/2014/main" id="{CF7803AC-ACB0-3740-A0CE-DB432E41AEF0}"/>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3D7ECD6-9EAE-E540-A12C-724331C0D0F8}"/>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1580253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B91668-213C-BE4F-B83F-2AF6E3BA0AB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4D8A542-AF38-1E4A-96DD-39BB46F34C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D98054C6-7BE0-4941-A80F-AE934AFFFC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9E9BE9-8613-FD42-B5EC-0FB5D2D9211B}"/>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6" name="Marcador de pie de página 5">
            <a:extLst>
              <a:ext uri="{FF2B5EF4-FFF2-40B4-BE49-F238E27FC236}">
                <a16:creationId xmlns:a16="http://schemas.microsoft.com/office/drawing/2014/main" id="{7D809AA1-D8C7-674B-82ED-332E39E175E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4E5BE6F-375C-EA4B-B4AE-7ED1D0F0F022}"/>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901728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ABAC5B-59F2-E94A-9E98-618CBB0FA0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275C564-3375-784F-953B-C043A16049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67E6B11-4EF3-FB49-A277-3CCDF1783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48D4422-9A64-C84C-ADA2-80E875A3BA42}"/>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6" name="Marcador de pie de página 5">
            <a:extLst>
              <a:ext uri="{FF2B5EF4-FFF2-40B4-BE49-F238E27FC236}">
                <a16:creationId xmlns:a16="http://schemas.microsoft.com/office/drawing/2014/main" id="{64253235-4A3C-DC45-BEF3-388A4DAD764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7ED6E7E-393C-3C49-808D-CC4F7AAEBA20}"/>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2624139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E164D2-DE86-9B47-922A-0961D6C98F7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F4AA528-67AB-594F-8F49-6D7F282CD7D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224EE8E-17CC-744E-8AB2-427171929088}"/>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5" name="Marcador de pie de página 4">
            <a:extLst>
              <a:ext uri="{FF2B5EF4-FFF2-40B4-BE49-F238E27FC236}">
                <a16:creationId xmlns:a16="http://schemas.microsoft.com/office/drawing/2014/main" id="{7EEF750D-A8EF-B740-8975-5E85BB3F8C4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9C788B9-20C3-BF45-88E6-7D8D1BB608D6}"/>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1167525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DDBCDB-A05F-3745-9388-85749F6DFC7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E7C68E1-8A15-E343-B37F-03713632CA0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EA0C50C-973E-D84F-AE7B-CEDAC8D6FC19}"/>
              </a:ext>
            </a:extLst>
          </p:cNvPr>
          <p:cNvSpPr>
            <a:spLocks noGrp="1"/>
          </p:cNvSpPr>
          <p:nvPr>
            <p:ph type="dt" sz="half" idx="10"/>
          </p:nvPr>
        </p:nvSpPr>
        <p:spPr/>
        <p:txBody>
          <a:bodyPr/>
          <a:lstStyle/>
          <a:p>
            <a:fld id="{62A4BB93-E753-1B47-980C-5C2927CF4423}" type="datetimeFigureOut">
              <a:rPr lang="es-ES" smtClean="0"/>
              <a:t>15/03/2026</a:t>
            </a:fld>
            <a:endParaRPr lang="es-ES"/>
          </a:p>
        </p:txBody>
      </p:sp>
      <p:sp>
        <p:nvSpPr>
          <p:cNvPr id="5" name="Marcador de pie de página 4">
            <a:extLst>
              <a:ext uri="{FF2B5EF4-FFF2-40B4-BE49-F238E27FC236}">
                <a16:creationId xmlns:a16="http://schemas.microsoft.com/office/drawing/2014/main" id="{1F4EFFF4-07DB-4C43-9D59-F865EDD821D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CD5D0D-CAFA-B545-9330-E56BCFF0EF7E}"/>
              </a:ext>
            </a:extLst>
          </p:cNvPr>
          <p:cNvSpPr>
            <a:spLocks noGrp="1"/>
          </p:cNvSpPr>
          <p:nvPr>
            <p:ph type="sldNum" sz="quarter" idx="12"/>
          </p:nvPr>
        </p:nvSpPr>
        <p:spPr/>
        <p:txBody>
          <a:bodyPr/>
          <a:lstStyle/>
          <a:p>
            <a:fld id="{B54F0C0E-6B36-FE41-995F-17DD5FD4E3CF}" type="slidenum">
              <a:rPr lang="es-ES" smtClean="0"/>
              <a:t>‹Nº›</a:t>
            </a:fld>
            <a:endParaRPr lang="es-ES"/>
          </a:p>
        </p:txBody>
      </p:sp>
    </p:spTree>
    <p:extLst>
      <p:ext uri="{BB962C8B-B14F-4D97-AF65-F5344CB8AC3E}">
        <p14:creationId xmlns:p14="http://schemas.microsoft.com/office/powerpoint/2010/main" val="3190913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96904-3761-164A-CB13-E49930F53FB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176C1A17-0F07-3F1D-E7FE-8DBAE8AF23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31EAFB1-E85E-B2E9-48C5-6F6DCF8C190A}"/>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5" name="Marcador de pie de página 4">
            <a:extLst>
              <a:ext uri="{FF2B5EF4-FFF2-40B4-BE49-F238E27FC236}">
                <a16:creationId xmlns:a16="http://schemas.microsoft.com/office/drawing/2014/main" id="{4F16C656-E288-C7E1-E7AF-7CD8FBE7646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E53D6F6-0299-3894-747C-6CB3AC842F1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029541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467A90-90EA-24A6-83E8-A0E436BA4D6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E51677F-484A-7C57-8910-1FC78EB9756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DBEDC19-1263-D133-19F9-879E9FBF1223}"/>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5" name="Marcador de pie de página 4">
            <a:extLst>
              <a:ext uri="{FF2B5EF4-FFF2-40B4-BE49-F238E27FC236}">
                <a16:creationId xmlns:a16="http://schemas.microsoft.com/office/drawing/2014/main" id="{08B0D96B-2DCB-5E16-310E-2750DF078C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62A6306-863C-DCE3-B012-B047CA0FA99A}"/>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558183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2EF9DB-C3DD-0B2C-9B6D-4EB8D2963B2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242A52-D0E5-B1EB-3505-392574AB88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0014CDF-75DC-98D8-E368-BF79BD7DEB60}"/>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5" name="Marcador de pie de página 4">
            <a:extLst>
              <a:ext uri="{FF2B5EF4-FFF2-40B4-BE49-F238E27FC236}">
                <a16:creationId xmlns:a16="http://schemas.microsoft.com/office/drawing/2014/main" id="{289FC60F-A664-AE9F-9EE4-C65044FF391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863CAD1-7C2F-8EE5-BB93-73159C029080}"/>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252565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FB51E8-0335-7484-8784-D28233A5630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E22E319-D3B2-CE31-72AC-4947E041CBB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A9E43DE-29C2-E6D1-8321-14BE7EB0670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A68CED10-D4A4-D862-862B-8A0102C0ECDF}"/>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6" name="Marcador de pie de página 5">
            <a:extLst>
              <a:ext uri="{FF2B5EF4-FFF2-40B4-BE49-F238E27FC236}">
                <a16:creationId xmlns:a16="http://schemas.microsoft.com/office/drawing/2014/main" id="{60173BBF-74C0-1475-879A-40A31E5582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B543645-5C62-1ADF-35C4-24B8CACA21E5}"/>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850551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1CB4CD-DB36-38F5-551B-B24B15CEB4F9}"/>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061DAFF-061A-2768-5084-26148A6712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40AE0E2-32CE-6CED-3CA7-B5A61202B9E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236FC0C-DE3E-7F48-9A63-32EDECA007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BE2E3D2-DB3E-E48D-E819-4C38BD2B8EF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E970E9DC-6207-AB08-6196-8AA7C0E48617}"/>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8" name="Marcador de pie de página 7">
            <a:extLst>
              <a:ext uri="{FF2B5EF4-FFF2-40B4-BE49-F238E27FC236}">
                <a16:creationId xmlns:a16="http://schemas.microsoft.com/office/drawing/2014/main" id="{AEE47B46-A906-039D-DD97-2CDA017A56B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A2E3AE35-4E9D-97F5-80BF-29172F592650}"/>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7706814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ABF35-F0CC-783D-4B10-6F3ADCC4CF3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61AEAA89-7378-E606-690D-84282CD4EA3C}"/>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4" name="Marcador de pie de página 3">
            <a:extLst>
              <a:ext uri="{FF2B5EF4-FFF2-40B4-BE49-F238E27FC236}">
                <a16:creationId xmlns:a16="http://schemas.microsoft.com/office/drawing/2014/main" id="{6FC9EB78-B4C8-C921-7E98-06A2449DDF1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04956437-53FC-04A1-9CA4-CCBAC1407721}"/>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3458122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A9CFF1C-FB7F-499B-CEF7-BE26FFBE90B9}"/>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3" name="Marcador de pie de página 2">
            <a:extLst>
              <a:ext uri="{FF2B5EF4-FFF2-40B4-BE49-F238E27FC236}">
                <a16:creationId xmlns:a16="http://schemas.microsoft.com/office/drawing/2014/main" id="{4C3ED19F-53EE-6AC8-8F87-6EB4A6A5AD9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CAD167E-80D1-E542-3FF0-7A6158BDA6E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908178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3F72A4-8530-EA3C-21EE-50DA297AB1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950BE9D-DAFF-1BA7-D48B-346E26FA7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79CEC10-9821-0301-F36C-5C6CE37523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F739328-245C-8696-F875-85EC1CCD9B99}"/>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6" name="Marcador de pie de página 5">
            <a:extLst>
              <a:ext uri="{FF2B5EF4-FFF2-40B4-BE49-F238E27FC236}">
                <a16:creationId xmlns:a16="http://schemas.microsoft.com/office/drawing/2014/main" id="{262D4AB1-76F6-731A-D181-264166D35F7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95EE67A-A795-1653-0CC1-D5039BAAE365}"/>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239269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12DB89-EFCE-193F-C879-1989DBA530E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D562A323-0968-5A9B-4678-4D53F93B60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030E1E5E-2979-5ABE-4A1C-B3947936EB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F553CE0-7E1C-24CB-5426-9C3F86D9ED2C}"/>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6" name="Marcador de pie de página 5">
            <a:extLst>
              <a:ext uri="{FF2B5EF4-FFF2-40B4-BE49-F238E27FC236}">
                <a16:creationId xmlns:a16="http://schemas.microsoft.com/office/drawing/2014/main" id="{F68E5EC3-B336-1B0B-8A1F-D0E269341D6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DA69C6F-217E-3704-7092-7987EEBD629B}"/>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1119028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978135-C256-8BD3-DE47-1A588730B810}"/>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8B77F9A-62AA-1500-BF40-FEE290BA22F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C611238-6756-6397-1B32-D9F19606E840}"/>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5" name="Marcador de pie de página 4">
            <a:extLst>
              <a:ext uri="{FF2B5EF4-FFF2-40B4-BE49-F238E27FC236}">
                <a16:creationId xmlns:a16="http://schemas.microsoft.com/office/drawing/2014/main" id="{7154FB5A-4D94-A104-3A51-29C3B94D67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9D9EAB8-31CB-4D56-365C-ECC477C73F9D}"/>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052535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532C61C-8238-2E16-8AC3-02E38D919BB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B4BB3E2-6358-E995-7A18-DC02B715D45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A216D6F-C9D2-780B-FBC3-B4E87009E9BF}"/>
              </a:ext>
            </a:extLst>
          </p:cNvPr>
          <p:cNvSpPr>
            <a:spLocks noGrp="1"/>
          </p:cNvSpPr>
          <p:nvPr>
            <p:ph type="dt" sz="half" idx="10"/>
          </p:nvPr>
        </p:nvSpPr>
        <p:spPr/>
        <p:txBody>
          <a:bodyPr/>
          <a:lstStyle/>
          <a:p>
            <a:fld id="{ED0C3AB5-09D1-44F9-A73B-901079EB8B73}" type="datetimeFigureOut">
              <a:rPr lang="es-ES" smtClean="0"/>
              <a:t>15/03/2026</a:t>
            </a:fld>
            <a:endParaRPr lang="es-ES"/>
          </a:p>
        </p:txBody>
      </p:sp>
      <p:sp>
        <p:nvSpPr>
          <p:cNvPr id="5" name="Marcador de pie de página 4">
            <a:extLst>
              <a:ext uri="{FF2B5EF4-FFF2-40B4-BE49-F238E27FC236}">
                <a16:creationId xmlns:a16="http://schemas.microsoft.com/office/drawing/2014/main" id="{6870DE7B-522C-B215-A4CE-442DB880700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13E1EF3-FB6C-DD87-A9A9-97E44B032128}"/>
              </a:ext>
            </a:extLst>
          </p:cNvPr>
          <p:cNvSpPr>
            <a:spLocks noGrp="1"/>
          </p:cNvSpPr>
          <p:nvPr>
            <p:ph type="sldNum" sz="quarter" idx="12"/>
          </p:nvPr>
        </p:nvSpPr>
        <p:spPr/>
        <p:txBody>
          <a:bodyPr/>
          <a:lstStyle/>
          <a:p>
            <a:fld id="{778C7DF3-F41E-46B6-99FF-B8924323D118}" type="slidenum">
              <a:rPr lang="es-ES" smtClean="0"/>
              <a:t>‹Nº›</a:t>
            </a:fld>
            <a:endParaRPr lang="es-ES"/>
          </a:p>
        </p:txBody>
      </p:sp>
    </p:spTree>
    <p:extLst>
      <p:ext uri="{BB962C8B-B14F-4D97-AF65-F5344CB8AC3E}">
        <p14:creationId xmlns:p14="http://schemas.microsoft.com/office/powerpoint/2010/main" val="4144397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2774093-B221-A849-AB39-C6711070C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DB75B39-C2EE-7D4B-A2E7-210EA53565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5AF8A87-1D60-284E-97D8-C4C0E3044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4BB93-E753-1B47-980C-5C2927CF4423}" type="datetimeFigureOut">
              <a:rPr lang="es-ES" smtClean="0"/>
              <a:t>15/03/2026</a:t>
            </a:fld>
            <a:endParaRPr lang="es-ES"/>
          </a:p>
        </p:txBody>
      </p:sp>
      <p:sp>
        <p:nvSpPr>
          <p:cNvPr id="5" name="Marcador de pie de página 4">
            <a:extLst>
              <a:ext uri="{FF2B5EF4-FFF2-40B4-BE49-F238E27FC236}">
                <a16:creationId xmlns:a16="http://schemas.microsoft.com/office/drawing/2014/main" id="{D9EEB2B9-7607-1242-99FD-176D0D2678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CD35ECEB-679F-A343-BE65-D72E4D46B5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4F0C0E-6B36-FE41-995F-17DD5FD4E3CF}" type="slidenum">
              <a:rPr lang="es-ES" smtClean="0"/>
              <a:t>‹Nº›</a:t>
            </a:fld>
            <a:endParaRPr lang="es-ES"/>
          </a:p>
        </p:txBody>
      </p:sp>
    </p:spTree>
    <p:extLst>
      <p:ext uri="{BB962C8B-B14F-4D97-AF65-F5344CB8AC3E}">
        <p14:creationId xmlns:p14="http://schemas.microsoft.com/office/powerpoint/2010/main" val="2281390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2B9769-6CA2-F143-40A3-97BBE1490C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603E919-B5BD-F587-D7A3-97F3289E2B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0DA5140-DFE3-6577-B958-E8AFCEA6D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0C3AB5-09D1-44F9-A73B-901079EB8B73}" type="datetimeFigureOut">
              <a:rPr lang="es-ES" smtClean="0"/>
              <a:t>15/03/2026</a:t>
            </a:fld>
            <a:endParaRPr lang="es-ES"/>
          </a:p>
        </p:txBody>
      </p:sp>
      <p:sp>
        <p:nvSpPr>
          <p:cNvPr id="5" name="Marcador de pie de página 4">
            <a:extLst>
              <a:ext uri="{FF2B5EF4-FFF2-40B4-BE49-F238E27FC236}">
                <a16:creationId xmlns:a16="http://schemas.microsoft.com/office/drawing/2014/main" id="{D28F6DB3-1D9C-73D9-C8F3-375AFCEBB3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DA1E8CEE-A073-F425-0719-C9D4F7081C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8C7DF3-F41E-46B6-99FF-B8924323D118}" type="slidenum">
              <a:rPr lang="es-ES" smtClean="0"/>
              <a:t>‹Nº›</a:t>
            </a:fld>
            <a:endParaRPr lang="es-ES"/>
          </a:p>
        </p:txBody>
      </p:sp>
    </p:spTree>
    <p:extLst>
      <p:ext uri="{BB962C8B-B14F-4D97-AF65-F5344CB8AC3E}">
        <p14:creationId xmlns:p14="http://schemas.microsoft.com/office/powerpoint/2010/main" val="41188812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jpe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Forma, Rectángulo&#10;&#10;El contenido generado por IA puede ser incorrecto.">
            <a:extLst>
              <a:ext uri="{FF2B5EF4-FFF2-40B4-BE49-F238E27FC236}">
                <a16:creationId xmlns:a16="http://schemas.microsoft.com/office/drawing/2014/main" id="{698B0CB3-AA93-2D21-13CD-BC6E569C475C}"/>
              </a:ext>
            </a:extLst>
          </p:cNvPr>
          <p:cNvPicPr>
            <a:picLocks noChangeAspect="1"/>
          </p:cNvPicPr>
          <p:nvPr/>
        </p:nvPicPr>
        <p:blipFill>
          <a:blip r:embed="rId3"/>
          <a:stretch>
            <a:fillRect/>
          </a:stretch>
        </p:blipFill>
        <p:spPr>
          <a:xfrm>
            <a:off x="-167149" y="3400426"/>
            <a:ext cx="12467303" cy="3609974"/>
          </a:xfrm>
          <a:prstGeom prst="rect">
            <a:avLst/>
          </a:prstGeom>
        </p:spPr>
      </p:pic>
      <p:sp>
        <p:nvSpPr>
          <p:cNvPr id="10" name="CuadroTexto 9">
            <a:extLst>
              <a:ext uri="{FF2B5EF4-FFF2-40B4-BE49-F238E27FC236}">
                <a16:creationId xmlns:a16="http://schemas.microsoft.com/office/drawing/2014/main" id="{0A0CD324-6DCD-BA49-A073-078E28E36644}"/>
              </a:ext>
            </a:extLst>
          </p:cNvPr>
          <p:cNvSpPr txBox="1"/>
          <p:nvPr/>
        </p:nvSpPr>
        <p:spPr>
          <a:xfrm>
            <a:off x="5406190" y="1427748"/>
            <a:ext cx="6336632" cy="1709379"/>
          </a:xfrm>
          <a:prstGeom prst="rect">
            <a:avLst/>
          </a:prstGeom>
          <a:noFill/>
        </p:spPr>
        <p:txBody>
          <a:bodyPr wrap="square" rtlCol="0">
            <a:spAutoFit/>
          </a:bodyPr>
          <a:lstStyle/>
          <a:p>
            <a:pPr>
              <a:lnSpc>
                <a:spcPts val="6200"/>
              </a:lnSpc>
            </a:pPr>
            <a:r>
              <a:rPr lang="es-ES" sz="6000">
                <a:solidFill>
                  <a:schemeClr val="tx1">
                    <a:lumMod val="85000"/>
                    <a:lumOff val="15000"/>
                  </a:schemeClr>
                </a:solidFill>
                <a:latin typeface="DM Serif Display" pitchFamily="2" charset="0"/>
              </a:rPr>
              <a:t>Informe de análisis de datos </a:t>
            </a:r>
          </a:p>
        </p:txBody>
      </p:sp>
      <p:sp>
        <p:nvSpPr>
          <p:cNvPr id="11" name="Rectángulo 10">
            <a:extLst>
              <a:ext uri="{FF2B5EF4-FFF2-40B4-BE49-F238E27FC236}">
                <a16:creationId xmlns:a16="http://schemas.microsoft.com/office/drawing/2014/main" id="{B4095491-979B-8B42-8429-26E7A11D640F}"/>
              </a:ext>
            </a:extLst>
          </p:cNvPr>
          <p:cNvSpPr/>
          <p:nvPr/>
        </p:nvSpPr>
        <p:spPr>
          <a:xfrm>
            <a:off x="5406190" y="3713150"/>
            <a:ext cx="3812262" cy="477054"/>
          </a:xfrm>
          <a:prstGeom prst="rect">
            <a:avLst/>
          </a:prstGeom>
        </p:spPr>
        <p:txBody>
          <a:bodyPr wrap="none">
            <a:spAutoFit/>
          </a:bodyPr>
          <a:lstStyle/>
          <a:p>
            <a:r>
              <a:rPr lang="es-ES" sz="2500">
                <a:solidFill>
                  <a:schemeClr val="bg1"/>
                </a:solidFill>
                <a:latin typeface="Montserrat Medium" pitchFamily="2" charset="77"/>
              </a:rPr>
              <a:t>SMART OFFICE DÉNIA</a:t>
            </a:r>
          </a:p>
        </p:txBody>
      </p:sp>
      <p:pic>
        <p:nvPicPr>
          <p:cNvPr id="12" name="Imagen 11">
            <a:extLst>
              <a:ext uri="{FF2B5EF4-FFF2-40B4-BE49-F238E27FC236}">
                <a16:creationId xmlns:a16="http://schemas.microsoft.com/office/drawing/2014/main" id="{186F85B8-CDF7-364E-B53F-7E0AA455358B}"/>
              </a:ext>
            </a:extLst>
          </p:cNvPr>
          <p:cNvPicPr>
            <a:picLocks noChangeAspect="1"/>
          </p:cNvPicPr>
          <p:nvPr/>
        </p:nvPicPr>
        <p:blipFill>
          <a:blip r:embed="rId4"/>
          <a:stretch>
            <a:fillRect/>
          </a:stretch>
        </p:blipFill>
        <p:spPr>
          <a:xfrm>
            <a:off x="5390147" y="5695819"/>
            <a:ext cx="1422400" cy="438150"/>
          </a:xfrm>
          <a:prstGeom prst="rect">
            <a:avLst/>
          </a:prstGeom>
        </p:spPr>
      </p:pic>
      <p:sp>
        <p:nvSpPr>
          <p:cNvPr id="15" name="Rectángulo 14">
            <a:extLst>
              <a:ext uri="{FF2B5EF4-FFF2-40B4-BE49-F238E27FC236}">
                <a16:creationId xmlns:a16="http://schemas.microsoft.com/office/drawing/2014/main" id="{B8E12F29-AEFF-1648-82DB-A98A3FE6A988}"/>
              </a:ext>
            </a:extLst>
          </p:cNvPr>
          <p:cNvSpPr/>
          <p:nvPr/>
        </p:nvSpPr>
        <p:spPr>
          <a:xfrm>
            <a:off x="10426791" y="476672"/>
            <a:ext cx="1143262" cy="276999"/>
          </a:xfrm>
          <a:prstGeom prst="rect">
            <a:avLst/>
          </a:prstGeom>
        </p:spPr>
        <p:txBody>
          <a:bodyPr wrap="none">
            <a:spAutoFit/>
          </a:bodyPr>
          <a:lstStyle/>
          <a:p>
            <a:pPr algn="r"/>
            <a:r>
              <a:rPr lang="es-ES" sz="1200" b="1">
                <a:solidFill>
                  <a:schemeClr val="tx1">
                    <a:lumMod val="85000"/>
                    <a:lumOff val="15000"/>
                  </a:schemeClr>
                </a:solidFill>
                <a:latin typeface="Montserrat SemiBold" pitchFamily="2" charset="77"/>
              </a:rPr>
              <a:t>ENE– DIC 25</a:t>
            </a:r>
          </a:p>
        </p:txBody>
      </p:sp>
      <p:pic>
        <p:nvPicPr>
          <p:cNvPr id="4" name="Imagen 3">
            <a:extLst>
              <a:ext uri="{FF2B5EF4-FFF2-40B4-BE49-F238E27FC236}">
                <a16:creationId xmlns:a16="http://schemas.microsoft.com/office/drawing/2014/main" id="{D4DA2667-B5D6-3D43-88BC-17D509DE4B87}"/>
              </a:ext>
            </a:extLst>
          </p:cNvPr>
          <p:cNvPicPr>
            <a:picLocks noChangeAspect="1"/>
          </p:cNvPicPr>
          <p:nvPr/>
        </p:nvPicPr>
        <p:blipFill>
          <a:blip r:embed="rId5"/>
          <a:stretch>
            <a:fillRect/>
          </a:stretch>
        </p:blipFill>
        <p:spPr>
          <a:xfrm>
            <a:off x="9739219" y="5445384"/>
            <a:ext cx="1898099" cy="752348"/>
          </a:xfrm>
          <a:prstGeom prst="rect">
            <a:avLst/>
          </a:prstGeom>
        </p:spPr>
      </p:pic>
      <p:pic>
        <p:nvPicPr>
          <p:cNvPr id="13" name="Gráfico 12">
            <a:extLst>
              <a:ext uri="{FF2B5EF4-FFF2-40B4-BE49-F238E27FC236}">
                <a16:creationId xmlns:a16="http://schemas.microsoft.com/office/drawing/2014/main" id="{BDA59D0A-043D-7745-83DC-3201A960CBB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3064" y="1581878"/>
            <a:ext cx="3767269" cy="3767269"/>
          </a:xfrm>
          <a:prstGeom prst="rect">
            <a:avLst/>
          </a:prstGeom>
        </p:spPr>
      </p:pic>
      <p:pic>
        <p:nvPicPr>
          <p:cNvPr id="2" name="Imagen 1" descr="Imagen que contiene Logotipo&#10;&#10;Descripción generada automáticamente">
            <a:extLst>
              <a:ext uri="{FF2B5EF4-FFF2-40B4-BE49-F238E27FC236}">
                <a16:creationId xmlns:a16="http://schemas.microsoft.com/office/drawing/2014/main" id="{4B4CA286-5CBF-FAF4-1470-807C39E656D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60786" y="5551348"/>
            <a:ext cx="2230194" cy="540419"/>
          </a:xfrm>
          <a:prstGeom prst="rect">
            <a:avLst/>
          </a:prstGeom>
        </p:spPr>
      </p:pic>
    </p:spTree>
    <p:extLst>
      <p:ext uri="{BB962C8B-B14F-4D97-AF65-F5344CB8AC3E}">
        <p14:creationId xmlns:p14="http://schemas.microsoft.com/office/powerpoint/2010/main" val="800913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descr="Forma, Rectángulo&#10;&#10;El contenido generado por IA puede ser incorrecto.">
            <a:extLst>
              <a:ext uri="{FF2B5EF4-FFF2-40B4-BE49-F238E27FC236}">
                <a16:creationId xmlns:a16="http://schemas.microsoft.com/office/drawing/2014/main" id="{62FB4CB5-E489-621F-C3BB-A5B981FF9D24}"/>
              </a:ext>
            </a:extLst>
          </p:cNvPr>
          <p:cNvPicPr>
            <a:picLocks noChangeAspect="1"/>
          </p:cNvPicPr>
          <p:nvPr/>
        </p:nvPicPr>
        <p:blipFill>
          <a:blip r:embed="rId2"/>
          <a:stretch>
            <a:fillRect/>
          </a:stretch>
        </p:blipFill>
        <p:spPr>
          <a:xfrm>
            <a:off x="-68825" y="-117748"/>
            <a:ext cx="12330675" cy="3648346"/>
          </a:xfrm>
          <a:prstGeom prst="rect">
            <a:avLst/>
          </a:prstGeom>
        </p:spPr>
      </p:pic>
      <p:sp>
        <p:nvSpPr>
          <p:cNvPr id="3" name="CuadroTexto 2">
            <a:extLst>
              <a:ext uri="{FF2B5EF4-FFF2-40B4-BE49-F238E27FC236}">
                <a16:creationId xmlns:a16="http://schemas.microsoft.com/office/drawing/2014/main" id="{774207D7-0887-9E41-83A9-E3CE80D740FD}"/>
              </a:ext>
            </a:extLst>
          </p:cNvPr>
          <p:cNvSpPr txBox="1"/>
          <p:nvPr/>
        </p:nvSpPr>
        <p:spPr>
          <a:xfrm>
            <a:off x="731838" y="2254013"/>
            <a:ext cx="5364162" cy="914289"/>
          </a:xfrm>
          <a:prstGeom prst="rect">
            <a:avLst/>
          </a:prstGeom>
          <a:noFill/>
        </p:spPr>
        <p:txBody>
          <a:bodyPr wrap="square" rtlCol="0">
            <a:spAutoFit/>
          </a:bodyPr>
          <a:lstStyle/>
          <a:p>
            <a:pPr>
              <a:lnSpc>
                <a:spcPts val="6200"/>
              </a:lnSpc>
            </a:pPr>
            <a:r>
              <a:rPr lang="es-ES" sz="6000">
                <a:solidFill>
                  <a:schemeClr val="bg1"/>
                </a:solidFill>
                <a:latin typeface="DM Serif Display" pitchFamily="2" charset="0"/>
              </a:rPr>
              <a:t>Índice</a:t>
            </a:r>
          </a:p>
        </p:txBody>
      </p:sp>
      <p:sp>
        <p:nvSpPr>
          <p:cNvPr id="4" name="Rectángulo 3">
            <a:extLst>
              <a:ext uri="{FF2B5EF4-FFF2-40B4-BE49-F238E27FC236}">
                <a16:creationId xmlns:a16="http://schemas.microsoft.com/office/drawing/2014/main" id="{EAE3194D-BA72-7946-B686-0B4FF8284B2D}"/>
              </a:ext>
            </a:extLst>
          </p:cNvPr>
          <p:cNvSpPr/>
          <p:nvPr/>
        </p:nvSpPr>
        <p:spPr>
          <a:xfrm>
            <a:off x="731838" y="4501978"/>
            <a:ext cx="2276201" cy="1400383"/>
          </a:xfrm>
          <a:prstGeom prst="rect">
            <a:avLst/>
          </a:prstGeom>
        </p:spPr>
        <p:txBody>
          <a:bodyPr wrap="square">
            <a:spAutoFit/>
          </a:bodyPr>
          <a:lstStyle/>
          <a:p>
            <a:pPr algn="ctr">
              <a:lnSpc>
                <a:spcPts val="4200"/>
              </a:lnSpc>
            </a:pPr>
            <a:r>
              <a:rPr lang="es-ES" sz="8200">
                <a:solidFill>
                  <a:schemeClr val="bg2"/>
                </a:solidFill>
                <a:latin typeface="DM Serif Display" pitchFamily="2" charset="0"/>
                <a:ea typeface="Times New Roman" panose="02020603050405020304" pitchFamily="18" charset="0"/>
                <a:cs typeface="Times New Roman" panose="02020603050405020304" pitchFamily="18" charset="0"/>
              </a:rPr>
              <a:t>01</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Afluencia</a:t>
            </a:r>
            <a:br>
              <a:rPr lang="es-ES" sz="2400">
                <a:solidFill>
                  <a:schemeClr val="tx1">
                    <a:lumMod val="85000"/>
                    <a:lumOff val="15000"/>
                  </a:schemeClr>
                </a:solidFill>
                <a:latin typeface="Montserrat Medium" pitchFamily="2" charset="77"/>
                <a:cs typeface="Times New Roman" panose="02020603050405020304" pitchFamily="18" charset="0"/>
              </a:rPr>
            </a:br>
            <a:r>
              <a:rPr lang="es-ES" sz="2400">
                <a:solidFill>
                  <a:schemeClr val="tx1">
                    <a:lumMod val="85000"/>
                    <a:lumOff val="15000"/>
                  </a:schemeClr>
                </a:solidFill>
                <a:latin typeface="Montserrat Medium" pitchFamily="2" charset="77"/>
                <a:cs typeface="Times New Roman" panose="02020603050405020304" pitchFamily="18" charset="0"/>
              </a:rPr>
              <a:t>turística</a:t>
            </a:r>
            <a:endParaRPr lang="es-ES" sz="2400">
              <a:solidFill>
                <a:schemeClr val="tx1">
                  <a:lumMod val="85000"/>
                  <a:lumOff val="15000"/>
                </a:schemeClr>
              </a:solidFill>
              <a:latin typeface="Montserrat Medium" pitchFamily="2" charset="77"/>
            </a:endParaRPr>
          </a:p>
        </p:txBody>
      </p:sp>
      <p:sp>
        <p:nvSpPr>
          <p:cNvPr id="5" name="Rectángulo 4">
            <a:extLst>
              <a:ext uri="{FF2B5EF4-FFF2-40B4-BE49-F238E27FC236}">
                <a16:creationId xmlns:a16="http://schemas.microsoft.com/office/drawing/2014/main" id="{A209F9F7-B8EE-9C46-95BA-913323E8363B}"/>
              </a:ext>
            </a:extLst>
          </p:cNvPr>
          <p:cNvSpPr/>
          <p:nvPr/>
        </p:nvSpPr>
        <p:spPr>
          <a:xfrm>
            <a:off x="3084554" y="4501977"/>
            <a:ext cx="2003948" cy="1400383"/>
          </a:xfrm>
          <a:prstGeom prst="rect">
            <a:avLst/>
          </a:prstGeom>
        </p:spPr>
        <p:txBody>
          <a:bodyPr wrap="square">
            <a:spAutoFit/>
          </a:bodyPr>
          <a:lstStyle/>
          <a:p>
            <a:pPr algn="ctr">
              <a:lnSpc>
                <a:spcPts val="4200"/>
              </a:lnSpc>
            </a:pPr>
            <a:r>
              <a:rPr lang="es-ES" sz="8200">
                <a:solidFill>
                  <a:schemeClr val="bg2"/>
                </a:solidFill>
                <a:latin typeface="DM Serif Display" pitchFamily="2" charset="0"/>
                <a:cs typeface="Times New Roman" panose="02020603050405020304" pitchFamily="18" charset="0"/>
              </a:rPr>
              <a:t>02</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Gasto</a:t>
            </a:r>
            <a:br>
              <a:rPr lang="es-ES" sz="2400">
                <a:solidFill>
                  <a:schemeClr val="tx1">
                    <a:lumMod val="85000"/>
                    <a:lumOff val="15000"/>
                  </a:schemeClr>
                </a:solidFill>
                <a:latin typeface="Montserrat Medium" pitchFamily="2" charset="77"/>
                <a:cs typeface="Times New Roman" panose="02020603050405020304" pitchFamily="18" charset="0"/>
              </a:rPr>
            </a:br>
            <a:r>
              <a:rPr lang="es-ES" sz="2400">
                <a:solidFill>
                  <a:schemeClr val="tx1">
                    <a:lumMod val="85000"/>
                    <a:lumOff val="15000"/>
                  </a:schemeClr>
                </a:solidFill>
                <a:latin typeface="Montserrat Medium" pitchFamily="2" charset="77"/>
                <a:cs typeface="Times New Roman" panose="02020603050405020304" pitchFamily="18" charset="0"/>
              </a:rPr>
              <a:t>turístico</a:t>
            </a:r>
          </a:p>
        </p:txBody>
      </p:sp>
      <p:sp>
        <p:nvSpPr>
          <p:cNvPr id="6" name="Rectángulo 5">
            <a:extLst>
              <a:ext uri="{FF2B5EF4-FFF2-40B4-BE49-F238E27FC236}">
                <a16:creationId xmlns:a16="http://schemas.microsoft.com/office/drawing/2014/main" id="{1D00B25A-E893-D340-9FC2-AFDE28AAAA50}"/>
              </a:ext>
            </a:extLst>
          </p:cNvPr>
          <p:cNvSpPr/>
          <p:nvPr/>
        </p:nvSpPr>
        <p:spPr>
          <a:xfrm>
            <a:off x="5094026" y="4501977"/>
            <a:ext cx="2003948" cy="1066959"/>
          </a:xfrm>
          <a:prstGeom prst="rect">
            <a:avLst/>
          </a:prstGeom>
        </p:spPr>
        <p:txBody>
          <a:bodyPr wrap="square">
            <a:spAutoFit/>
          </a:bodyPr>
          <a:lstStyle/>
          <a:p>
            <a:pPr algn="ctr">
              <a:lnSpc>
                <a:spcPts val="4200"/>
              </a:lnSpc>
            </a:pPr>
            <a:r>
              <a:rPr lang="es-ES" sz="8200">
                <a:solidFill>
                  <a:schemeClr val="bg2"/>
                </a:solidFill>
                <a:latin typeface="DM Serif Display" pitchFamily="2" charset="0"/>
                <a:cs typeface="Times New Roman" panose="02020603050405020304" pitchFamily="18" charset="0"/>
              </a:rPr>
              <a:t>03</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Oferta</a:t>
            </a:r>
          </a:p>
        </p:txBody>
      </p:sp>
      <p:pic>
        <p:nvPicPr>
          <p:cNvPr id="9" name="Imagen 8">
            <a:extLst>
              <a:ext uri="{FF2B5EF4-FFF2-40B4-BE49-F238E27FC236}">
                <a16:creationId xmlns:a16="http://schemas.microsoft.com/office/drawing/2014/main" id="{B1B520B9-2453-A34F-8700-13E02A6F930F}"/>
              </a:ext>
            </a:extLst>
          </p:cNvPr>
          <p:cNvPicPr>
            <a:picLocks noChangeAspect="1"/>
          </p:cNvPicPr>
          <p:nvPr/>
        </p:nvPicPr>
        <p:blipFill>
          <a:blip r:embed="rId3"/>
          <a:stretch>
            <a:fillRect/>
          </a:stretch>
        </p:blipFill>
        <p:spPr>
          <a:xfrm>
            <a:off x="6909559" y="994422"/>
            <a:ext cx="1023455" cy="315260"/>
          </a:xfrm>
          <a:prstGeom prst="rect">
            <a:avLst/>
          </a:prstGeom>
        </p:spPr>
      </p:pic>
      <p:sp>
        <p:nvSpPr>
          <p:cNvPr id="2" name="Rectángulo 1">
            <a:extLst>
              <a:ext uri="{FF2B5EF4-FFF2-40B4-BE49-F238E27FC236}">
                <a16:creationId xmlns:a16="http://schemas.microsoft.com/office/drawing/2014/main" id="{70AC8B80-2FA6-0EFB-03B8-45D522513162}"/>
              </a:ext>
            </a:extLst>
          </p:cNvPr>
          <p:cNvSpPr/>
          <p:nvPr/>
        </p:nvSpPr>
        <p:spPr>
          <a:xfrm>
            <a:off x="9249428" y="4491588"/>
            <a:ext cx="2003948" cy="1400383"/>
          </a:xfrm>
          <a:prstGeom prst="rect">
            <a:avLst/>
          </a:prstGeom>
        </p:spPr>
        <p:txBody>
          <a:bodyPr wrap="square">
            <a:spAutoFit/>
          </a:bodyPr>
          <a:lstStyle/>
          <a:p>
            <a:pPr algn="ctr">
              <a:lnSpc>
                <a:spcPts val="4200"/>
              </a:lnSpc>
            </a:pPr>
            <a:r>
              <a:rPr lang="es-ES" sz="8200">
                <a:solidFill>
                  <a:schemeClr val="bg2"/>
                </a:solidFill>
                <a:latin typeface="DM Serif Display" pitchFamily="2" charset="0"/>
                <a:cs typeface="Times New Roman" panose="02020603050405020304" pitchFamily="18" charset="0"/>
              </a:rPr>
              <a:t>05</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Glosario de términos</a:t>
            </a:r>
          </a:p>
        </p:txBody>
      </p:sp>
      <p:pic>
        <p:nvPicPr>
          <p:cNvPr id="14" name="Imagen 13">
            <a:extLst>
              <a:ext uri="{FF2B5EF4-FFF2-40B4-BE49-F238E27FC236}">
                <a16:creationId xmlns:a16="http://schemas.microsoft.com/office/drawing/2014/main" id="{9CF8A7E2-41BD-A146-8E27-50F37802F26F}"/>
              </a:ext>
            </a:extLst>
          </p:cNvPr>
          <p:cNvPicPr>
            <a:picLocks noChangeAspect="1"/>
          </p:cNvPicPr>
          <p:nvPr/>
        </p:nvPicPr>
        <p:blipFill>
          <a:blip r:embed="rId4"/>
          <a:stretch>
            <a:fillRect/>
          </a:stretch>
        </p:blipFill>
        <p:spPr>
          <a:xfrm>
            <a:off x="10222739" y="789178"/>
            <a:ext cx="1517454" cy="601472"/>
          </a:xfrm>
          <a:prstGeom prst="rect">
            <a:avLst/>
          </a:prstGeom>
        </p:spPr>
      </p:pic>
      <p:sp>
        <p:nvSpPr>
          <p:cNvPr id="7" name="Rectángulo 6">
            <a:extLst>
              <a:ext uri="{FF2B5EF4-FFF2-40B4-BE49-F238E27FC236}">
                <a16:creationId xmlns:a16="http://schemas.microsoft.com/office/drawing/2014/main" id="{5BFCC2A8-0C0A-DE7E-EAD5-F94DF0EE047D}"/>
              </a:ext>
            </a:extLst>
          </p:cNvPr>
          <p:cNvSpPr/>
          <p:nvPr/>
        </p:nvSpPr>
        <p:spPr>
          <a:xfrm>
            <a:off x="7168965" y="4491588"/>
            <a:ext cx="2003948" cy="1066959"/>
          </a:xfrm>
          <a:prstGeom prst="rect">
            <a:avLst/>
          </a:prstGeom>
        </p:spPr>
        <p:txBody>
          <a:bodyPr wrap="square">
            <a:spAutoFit/>
          </a:bodyPr>
          <a:lstStyle/>
          <a:p>
            <a:pPr algn="ctr">
              <a:lnSpc>
                <a:spcPts val="4200"/>
              </a:lnSpc>
            </a:pPr>
            <a:r>
              <a:rPr lang="es-ES" sz="8200">
                <a:solidFill>
                  <a:schemeClr val="bg2"/>
                </a:solidFill>
                <a:latin typeface="DM Serif Display" pitchFamily="2" charset="0"/>
                <a:cs typeface="Times New Roman" panose="02020603050405020304" pitchFamily="18" charset="0"/>
              </a:rPr>
              <a:t>04</a:t>
            </a:r>
          </a:p>
          <a:p>
            <a:pPr algn="ctr">
              <a:lnSpc>
                <a:spcPts val="2600"/>
              </a:lnSpc>
              <a:spcBef>
                <a:spcPts val="800"/>
              </a:spcBef>
            </a:pPr>
            <a:r>
              <a:rPr lang="es-ES" sz="2400">
                <a:solidFill>
                  <a:schemeClr val="tx1">
                    <a:lumMod val="85000"/>
                    <a:lumOff val="15000"/>
                  </a:schemeClr>
                </a:solidFill>
                <a:latin typeface="Montserrat Medium" pitchFamily="2" charset="77"/>
                <a:cs typeface="Times New Roman" panose="02020603050405020304" pitchFamily="18" charset="0"/>
              </a:rPr>
              <a:t>Ocupación</a:t>
            </a:r>
          </a:p>
        </p:txBody>
      </p:sp>
      <p:pic>
        <p:nvPicPr>
          <p:cNvPr id="8" name="Imagen 7" descr="Imagen que contiene Logotipo&#10;&#10;Descripción generada automáticamente">
            <a:extLst>
              <a:ext uri="{FF2B5EF4-FFF2-40B4-BE49-F238E27FC236}">
                <a16:creationId xmlns:a16="http://schemas.microsoft.com/office/drawing/2014/main" id="{164BC3DB-AF6F-0BC0-ADB0-11713CDEA8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70939" y="870145"/>
            <a:ext cx="1813875" cy="439537"/>
          </a:xfrm>
          <a:prstGeom prst="rect">
            <a:avLst/>
          </a:prstGeom>
        </p:spPr>
      </p:pic>
    </p:spTree>
    <p:extLst>
      <p:ext uri="{BB962C8B-B14F-4D97-AF65-F5344CB8AC3E}">
        <p14:creationId xmlns:p14="http://schemas.microsoft.com/office/powerpoint/2010/main" val="200689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BCF689F-2CE8-BE49-9F6A-A5E2C1489191}"/>
              </a:ext>
            </a:extLst>
          </p:cNvPr>
          <p:cNvSpPr/>
          <p:nvPr/>
        </p:nvSpPr>
        <p:spPr>
          <a:xfrm>
            <a:off x="7447402"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01</a:t>
            </a:r>
            <a:endParaRPr lang="es-ES" sz="30000">
              <a:solidFill>
                <a:schemeClr val="bg2"/>
              </a:solidFill>
              <a:latin typeface="DM Serif Display" pitchFamily="2" charset="0"/>
            </a:endParaRPr>
          </a:p>
        </p:txBody>
      </p:sp>
      <p:pic>
        <p:nvPicPr>
          <p:cNvPr id="11" name="Imagen 10">
            <a:extLst>
              <a:ext uri="{FF2B5EF4-FFF2-40B4-BE49-F238E27FC236}">
                <a16:creationId xmlns:a16="http://schemas.microsoft.com/office/drawing/2014/main" id="{660AFC03-8C57-1B44-8E6C-2B69D8DE05D7}"/>
              </a:ext>
            </a:extLst>
          </p:cNvPr>
          <p:cNvPicPr>
            <a:picLocks noChangeAspect="1"/>
          </p:cNvPicPr>
          <p:nvPr/>
        </p:nvPicPr>
        <p:blipFill>
          <a:blip r:embed="rId2"/>
          <a:srcRect/>
          <a:stretch/>
        </p:blipFill>
        <p:spPr>
          <a:xfrm>
            <a:off x="-101600" y="3457815"/>
            <a:ext cx="12369800" cy="3534880"/>
          </a:xfrm>
          <a:prstGeom prst="rect">
            <a:avLst/>
          </a:prstGeom>
        </p:spPr>
      </p:pic>
      <p:sp>
        <p:nvSpPr>
          <p:cNvPr id="2" name="Rectángulo 1">
            <a:extLst>
              <a:ext uri="{FF2B5EF4-FFF2-40B4-BE49-F238E27FC236}">
                <a16:creationId xmlns:a16="http://schemas.microsoft.com/office/drawing/2014/main" id="{E1AAF08B-AB44-6547-891C-337A413BF743}"/>
              </a:ext>
            </a:extLst>
          </p:cNvPr>
          <p:cNvSpPr/>
          <p:nvPr/>
        </p:nvSpPr>
        <p:spPr>
          <a:xfrm>
            <a:off x="629084" y="1390653"/>
            <a:ext cx="3157104" cy="1185324"/>
          </a:xfrm>
          <a:prstGeom prst="rect">
            <a:avLst/>
          </a:prstGeom>
        </p:spPr>
        <p:txBody>
          <a:bodyPr wrap="square">
            <a:spAutoFit/>
          </a:bodyPr>
          <a:lstStyle/>
          <a:p>
            <a:pPr>
              <a:lnSpc>
                <a:spcPts val="40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Afluencia </a:t>
            </a:r>
            <a:b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b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turística</a:t>
            </a:r>
            <a:endParaRPr lang="es-ES" sz="4000">
              <a:solidFill>
                <a:schemeClr val="tx1">
                  <a:lumMod val="85000"/>
                  <a:lumOff val="15000"/>
                </a:schemeClr>
              </a:solidFill>
              <a:latin typeface="DM Serif Display" pitchFamily="2" charset="0"/>
            </a:endParaRPr>
          </a:p>
        </p:txBody>
      </p:sp>
      <p:grpSp>
        <p:nvGrpSpPr>
          <p:cNvPr id="4" name="Grupo 3">
            <a:extLst>
              <a:ext uri="{FF2B5EF4-FFF2-40B4-BE49-F238E27FC236}">
                <a16:creationId xmlns:a16="http://schemas.microsoft.com/office/drawing/2014/main" id="{7CE4A820-79C4-9149-8CC2-694DBF6C0873}"/>
              </a:ext>
            </a:extLst>
          </p:cNvPr>
          <p:cNvGrpSpPr/>
          <p:nvPr/>
        </p:nvGrpSpPr>
        <p:grpSpPr>
          <a:xfrm>
            <a:off x="766736" y="5994100"/>
            <a:ext cx="3903956" cy="476250"/>
            <a:chOff x="643469" y="6033429"/>
            <a:chExt cx="3903956" cy="476250"/>
          </a:xfrm>
        </p:grpSpPr>
        <p:pic>
          <p:nvPicPr>
            <p:cNvPr id="15" name="Imagen 14">
              <a:extLst>
                <a:ext uri="{FF2B5EF4-FFF2-40B4-BE49-F238E27FC236}">
                  <a16:creationId xmlns:a16="http://schemas.microsoft.com/office/drawing/2014/main" id="{5C4191B5-931B-0446-8062-4A4449910331}"/>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17" name="Imagen 16">
              <a:extLst>
                <a:ext uri="{FF2B5EF4-FFF2-40B4-BE49-F238E27FC236}">
                  <a16:creationId xmlns:a16="http://schemas.microsoft.com/office/drawing/2014/main" id="{36BDDE82-9849-094B-A972-2D5D6B519EEC}"/>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3" name="Imagen 2" descr="Imagen que contiene Logotipo&#10;&#10;Descripción generada automáticamente">
            <a:extLst>
              <a:ext uri="{FF2B5EF4-FFF2-40B4-BE49-F238E27FC236}">
                <a16:creationId xmlns:a16="http://schemas.microsoft.com/office/drawing/2014/main" id="{4AF4EFA5-D27F-FE94-DE19-C04388324E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1206379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3" name="Rectángulo 2">
            <a:extLst>
              <a:ext uri="{FF2B5EF4-FFF2-40B4-BE49-F238E27FC236}">
                <a16:creationId xmlns:a16="http://schemas.microsoft.com/office/drawing/2014/main" id="{8DD2AECB-45C2-0640-A3FA-D58E7388DAD4}"/>
              </a:ext>
            </a:extLst>
          </p:cNvPr>
          <p:cNvSpPr/>
          <p:nvPr/>
        </p:nvSpPr>
        <p:spPr>
          <a:xfrm>
            <a:off x="6096001" y="1090770"/>
            <a:ext cx="5372099" cy="273152"/>
          </a:xfrm>
          <a:prstGeom prst="rect">
            <a:avLst/>
          </a:prstGeom>
          <a:noFill/>
        </p:spPr>
        <p:txBody>
          <a:bodyPr wrap="square">
            <a:spAutoFit/>
          </a:bodyPr>
          <a:lstStyle/>
          <a:p>
            <a:pPr marL="15875" algn="ctr">
              <a:lnSpc>
                <a:spcPct val="115000"/>
              </a:lnSpc>
              <a:spcAft>
                <a:spcPts val="0"/>
              </a:spcAft>
              <a:buClr>
                <a:srgbClr val="00325C"/>
              </a:buClr>
              <a:buSzPct val="100000"/>
            </a:pPr>
            <a:r>
              <a:rPr lang="es-ES" sz="1100" b="1" kern="0">
                <a:solidFill>
                  <a:schemeClr val="bg1"/>
                </a:solidFill>
                <a:highlight>
                  <a:srgbClr val="000000"/>
                </a:highlight>
                <a:latin typeface="Montserrat SemiBold" pitchFamily="2" charset="77"/>
                <a:cs typeface="Times New Roman" panose="02020603050405020304" pitchFamily="18" charset="0"/>
              </a:rPr>
              <a:t> Turismo nacional</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AD0407"/>
                </a:highlight>
                <a:latin typeface="Montserrat SemiBold" pitchFamily="2" charset="77"/>
                <a:cs typeface="Times New Roman" panose="02020603050405020304" pitchFamily="18" charset="0"/>
              </a:rPr>
              <a:t>Turismo internacional</a:t>
            </a:r>
            <a:r>
              <a:rPr lang="es-ES" sz="1100" b="1" kern="0">
                <a:solidFill>
                  <a:schemeClr val="bg1"/>
                </a:solidFill>
                <a:latin typeface="Montserrat SemiBold" pitchFamily="2" charset="77"/>
                <a:cs typeface="Times New Roman" panose="02020603050405020304" pitchFamily="18" charset="0"/>
              </a:rPr>
              <a:t> </a:t>
            </a:r>
            <a:r>
              <a:rPr lang="es-ES" sz="1100" b="1" kern="0">
                <a:solidFill>
                  <a:srgbClr val="009AA7"/>
                </a:solidFill>
                <a:latin typeface="Montserrat SemiBold" pitchFamily="2" charset="77"/>
                <a:cs typeface="Times New Roman" panose="02020603050405020304" pitchFamily="18" charset="0"/>
              </a:rPr>
              <a:t>   </a:t>
            </a:r>
            <a:r>
              <a:rPr lang="es-ES" sz="1100" b="1" kern="0">
                <a:solidFill>
                  <a:schemeClr val="bg1"/>
                </a:solidFill>
                <a:highlight>
                  <a:srgbClr val="F5272D"/>
                </a:highlight>
                <a:latin typeface="Montserrat SemiBold" pitchFamily="2" charset="77"/>
                <a:cs typeface="Times New Roman" panose="02020603050405020304" pitchFamily="18" charset="0"/>
              </a:rPr>
              <a:t>Afluencia total </a:t>
            </a:r>
            <a:r>
              <a:rPr lang="es-ES" sz="1100" b="1" kern="0">
                <a:solidFill>
                  <a:srgbClr val="76B463"/>
                </a:solidFill>
                <a:highlight>
                  <a:srgbClr val="F5272D"/>
                </a:highlight>
                <a:latin typeface="Montserrat SemiBold" pitchFamily="2" charset="77"/>
                <a:cs typeface="Times New Roman" panose="02020603050405020304" pitchFamily="18" charset="0"/>
              </a:rPr>
              <a:t>.</a:t>
            </a:r>
            <a:endParaRPr lang="es-ES" sz="1100" b="1" kern="0">
              <a:solidFill>
                <a:srgbClr val="76B463"/>
              </a:solidFill>
              <a:highlight>
                <a:srgbClr val="F5272D"/>
              </a:highlight>
              <a:latin typeface="Montserrat" pitchFamily="2" charset="77"/>
              <a:cs typeface="Times New Roman" panose="02020603050405020304" pitchFamily="18" charset="0"/>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Principales resultados del periodo </a:t>
            </a:r>
          </a:p>
        </p:txBody>
      </p:sp>
      <p:graphicFrame>
        <p:nvGraphicFramePr>
          <p:cNvPr id="10" name="Gráfico 9">
            <a:extLst>
              <a:ext uri="{FF2B5EF4-FFF2-40B4-BE49-F238E27FC236}">
                <a16:creationId xmlns:a16="http://schemas.microsoft.com/office/drawing/2014/main" id="{F74133B5-2272-C949-8236-34938F6BE29C}"/>
              </a:ext>
            </a:extLst>
          </p:cNvPr>
          <p:cNvGraphicFramePr/>
          <p:nvPr>
            <p:extLst>
              <p:ext uri="{D42A27DB-BD31-4B8C-83A1-F6EECF244321}">
                <p14:modId xmlns:p14="http://schemas.microsoft.com/office/powerpoint/2010/main" val="220142610"/>
              </p:ext>
            </p:extLst>
          </p:nvPr>
        </p:nvGraphicFramePr>
        <p:xfrm>
          <a:off x="5633884" y="1389608"/>
          <a:ext cx="5963950" cy="4853876"/>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ángulo 6">
            <a:extLst>
              <a:ext uri="{FF2B5EF4-FFF2-40B4-BE49-F238E27FC236}">
                <a16:creationId xmlns:a16="http://schemas.microsoft.com/office/drawing/2014/main" id="{1ABC18B7-90A7-615A-9E60-74C35E1FDF80}"/>
              </a:ext>
            </a:extLst>
          </p:cNvPr>
          <p:cNvSpPr/>
          <p:nvPr/>
        </p:nvSpPr>
        <p:spPr>
          <a:xfrm>
            <a:off x="638668" y="2515157"/>
            <a:ext cx="4660919" cy="3074688"/>
          </a:xfrm>
          <a:prstGeom prst="rect">
            <a:avLst/>
          </a:prstGeom>
        </p:spPr>
        <p:txBody>
          <a:bodyPr wrap="square">
            <a:spAutoFit/>
          </a:bodyPr>
          <a:lstStyle/>
          <a:p>
            <a:pPr marL="15875">
              <a:lnSpc>
                <a:spcPct val="115000"/>
              </a:lnSpc>
              <a:spcBef>
                <a:spcPts val="600"/>
              </a:spcBef>
              <a:buClr>
                <a:srgbClr val="00325C"/>
              </a:buClr>
              <a:buSzPct val="100000"/>
            </a:pPr>
            <a:r>
              <a:rPr lang="es-ES" sz="1200" b="1" kern="0">
                <a:solidFill>
                  <a:srgbClr val="F5272D"/>
                </a:solidFill>
                <a:latin typeface="Montserrat SemiBold" pitchFamily="2" charset="77"/>
                <a:cs typeface="Times New Roman" panose="02020603050405020304" pitchFamily="18" charset="0"/>
              </a:rPr>
              <a:t>Afluencia total</a:t>
            </a:r>
          </a:p>
          <a:p>
            <a:r>
              <a:rPr lang="es-ES" sz="1200" kern="0">
                <a:solidFill>
                  <a:schemeClr val="tx1">
                    <a:lumMod val="75000"/>
                    <a:lumOff val="25000"/>
                  </a:schemeClr>
                </a:solidFill>
                <a:latin typeface="Montserrat" pitchFamily="2" charset="77"/>
                <a:cs typeface="Times New Roman" panose="02020603050405020304" pitchFamily="18" charset="0"/>
              </a:rPr>
              <a:t>La evolución del periodo 2019–2025 refleja una tendencia de crecimiento sostenido de la afluencia turística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impulsada tanto por el mercado nacional como por el internacional. Tras el máximo alcanzado en 2024 (1.099.783 turistas), </a:t>
            </a:r>
            <a:r>
              <a:rPr lang="es-ES" sz="1200" b="1" kern="0">
                <a:solidFill>
                  <a:schemeClr val="tx1">
                    <a:lumMod val="75000"/>
                    <a:lumOff val="25000"/>
                  </a:schemeClr>
                </a:solidFill>
                <a:latin typeface="Montserrat" pitchFamily="2" charset="77"/>
                <a:cs typeface="Times New Roman" panose="02020603050405020304" pitchFamily="18" charset="0"/>
              </a:rPr>
              <a:t>el ejercicio 2025 registra un nuevo incremento.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2025 se contabilizaron </a:t>
            </a:r>
            <a:r>
              <a:rPr lang="es-ES" sz="1200" b="1" kern="0">
                <a:solidFill>
                  <a:schemeClr val="tx1">
                    <a:lumMod val="75000"/>
                    <a:lumOff val="25000"/>
                  </a:schemeClr>
                </a:solidFill>
                <a:latin typeface="Montserrat" pitchFamily="2" charset="77"/>
                <a:cs typeface="Times New Roman" panose="02020603050405020304" pitchFamily="18" charset="0"/>
              </a:rPr>
              <a:t>1.129.636 turistas</a:t>
            </a:r>
            <a:r>
              <a:rPr lang="es-ES" sz="1200" kern="0">
                <a:solidFill>
                  <a:schemeClr val="tx1">
                    <a:lumMod val="75000"/>
                    <a:lumOff val="25000"/>
                  </a:schemeClr>
                </a:solidFill>
                <a:latin typeface="Montserrat" pitchFamily="2" charset="77"/>
                <a:cs typeface="Times New Roman" panose="02020603050405020304" pitchFamily="18" charset="0"/>
              </a:rPr>
              <a:t>, lo que supone un nuevo máximo de la serie y confirma la consolidación del destino en niveles elevados de demanda. El avance interanual evidencia una dinámica expansiva y refuerza la posición de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como uno de los destinos con mayor capacidad de atracción dentro de su entorno competitivo.</a:t>
            </a:r>
          </a:p>
          <a:p>
            <a:endParaRPr lang="es-ES" sz="1200" kern="0">
              <a:solidFill>
                <a:schemeClr val="tx1">
                  <a:lumMod val="75000"/>
                  <a:lumOff val="25000"/>
                </a:schemeClr>
              </a:solidFill>
              <a:latin typeface="Montserrat" pitchFamily="2" charset="77"/>
              <a:cs typeface="Times New Roman" panose="02020603050405020304" pitchFamily="18" charset="0"/>
            </a:endParaRP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449852FB-42CB-59AF-2E7C-43E6F1029108}"/>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1725812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Principales resultados del periodo </a:t>
            </a:r>
          </a:p>
        </p:txBody>
      </p:sp>
      <p:sp>
        <p:nvSpPr>
          <p:cNvPr id="12" name="Rectángulo 11">
            <a:extLst>
              <a:ext uri="{FF2B5EF4-FFF2-40B4-BE49-F238E27FC236}">
                <a16:creationId xmlns:a16="http://schemas.microsoft.com/office/drawing/2014/main" id="{51C9942B-0A87-DD42-BC8A-4FE73ECEC448}"/>
              </a:ext>
            </a:extLst>
          </p:cNvPr>
          <p:cNvSpPr/>
          <p:nvPr/>
        </p:nvSpPr>
        <p:spPr>
          <a:xfrm>
            <a:off x="675648" y="2316261"/>
            <a:ext cx="5333870" cy="3696718"/>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chemeClr val="tx1">
                    <a:lumMod val="85000"/>
                    <a:lumOff val="15000"/>
                  </a:schemeClr>
                </a:solidFill>
                <a:latin typeface="Montserrat SemiBold" pitchFamily="2" charset="77"/>
                <a:cs typeface="Times New Roman" panose="02020603050405020304" pitchFamily="18" charset="0"/>
              </a:rPr>
              <a:t>Turismo nacional  </a:t>
            </a:r>
          </a:p>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se contabilizaron </a:t>
            </a:r>
            <a:r>
              <a:rPr lang="es-ES" sz="1200" b="1" kern="0">
                <a:solidFill>
                  <a:schemeClr val="tx1">
                    <a:lumMod val="75000"/>
                    <a:lumOff val="25000"/>
                  </a:schemeClr>
                </a:solidFill>
                <a:latin typeface="Montserrat" pitchFamily="2" charset="77"/>
                <a:cs typeface="Times New Roman" panose="02020603050405020304" pitchFamily="18" charset="0"/>
              </a:rPr>
              <a:t>516.892 turistas </a:t>
            </a:r>
            <a:r>
              <a:rPr lang="es-ES" sz="1200" kern="0">
                <a:solidFill>
                  <a:schemeClr val="tx1">
                    <a:lumMod val="75000"/>
                    <a:lumOff val="25000"/>
                  </a:schemeClr>
                </a:solidFill>
                <a:latin typeface="Montserrat" pitchFamily="2" charset="77"/>
                <a:cs typeface="Times New Roman" panose="02020603050405020304" pitchFamily="18" charset="0"/>
              </a:rPr>
              <a:t>nacionales, frente a los 599.018 registrados en 2024, lo que supone una reducción de 82.126 turistas, equivalente a un </a:t>
            </a:r>
            <a:r>
              <a:rPr lang="es-ES" sz="1200" b="1" kern="0">
                <a:solidFill>
                  <a:schemeClr val="tx1">
                    <a:lumMod val="75000"/>
                    <a:lumOff val="25000"/>
                  </a:schemeClr>
                </a:solidFill>
                <a:latin typeface="Montserrat" pitchFamily="2" charset="77"/>
                <a:cs typeface="Times New Roman" panose="02020603050405020304" pitchFamily="18" charset="0"/>
              </a:rPr>
              <a:t>descenso del -13,7% interanual.</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La evolución de la serie 2019–2024 muestra una trayectoria creciente, con un máximo histórico en 2024. El ejercicio 2025 introduce una corrección significativa respecto a ese pico, situándose en niveles similares a los registrados en 2021–2022 (535.354 y 530.872, respectivamente), aunque claramente por encima de los valores de 2019 (340.897) y 2020 (431.879).</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términos de tendencia, 2025 marca una fase de ajuste tras el máximo del año anterior, manteniéndose, no obstante, en un rango elevado dentro de la serie reciente.</a:t>
            </a: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14" name="Gráfico 13">
            <a:extLst>
              <a:ext uri="{FF2B5EF4-FFF2-40B4-BE49-F238E27FC236}">
                <a16:creationId xmlns:a16="http://schemas.microsoft.com/office/drawing/2014/main" id="{E4DD25C5-9885-1642-9115-ECDE11E0F937}"/>
              </a:ext>
            </a:extLst>
          </p:cNvPr>
          <p:cNvGraphicFramePr/>
          <p:nvPr>
            <p:extLst>
              <p:ext uri="{D42A27DB-BD31-4B8C-83A1-F6EECF244321}">
                <p14:modId xmlns:p14="http://schemas.microsoft.com/office/powerpoint/2010/main" val="208032014"/>
              </p:ext>
            </p:extLst>
          </p:nvPr>
        </p:nvGraphicFramePr>
        <p:xfrm>
          <a:off x="5972538" y="1389608"/>
          <a:ext cx="5625296" cy="4737796"/>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349B0A7A-2DC9-C001-8830-DE031EB3E6A3}"/>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687214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98A67-7552-C427-4D25-BE91656B5634}"/>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6E7D6D5-CE4C-8A2D-83C5-D59890F36CEF}"/>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CD369D98-32A2-4A42-FA9C-02E8E0C6F605}"/>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Llegada de turistas a la provincia de Alicante</a:t>
            </a:r>
          </a:p>
        </p:txBody>
      </p:sp>
      <p:sp>
        <p:nvSpPr>
          <p:cNvPr id="12" name="Rectángulo 11">
            <a:extLst>
              <a:ext uri="{FF2B5EF4-FFF2-40B4-BE49-F238E27FC236}">
                <a16:creationId xmlns:a16="http://schemas.microsoft.com/office/drawing/2014/main" id="{8148E188-9CAA-AD80-519E-4CD7AD5614BC}"/>
              </a:ext>
            </a:extLst>
          </p:cNvPr>
          <p:cNvSpPr/>
          <p:nvPr/>
        </p:nvSpPr>
        <p:spPr>
          <a:xfrm>
            <a:off x="638668" y="2491125"/>
            <a:ext cx="5526158" cy="3512052"/>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chemeClr val="tx1">
                    <a:lumMod val="85000"/>
                    <a:lumOff val="15000"/>
                  </a:schemeClr>
                </a:solidFill>
                <a:latin typeface="Montserrat SemiBold" pitchFamily="2" charset="77"/>
                <a:cs typeface="Times New Roman" panose="02020603050405020304" pitchFamily="18" charset="0"/>
              </a:rPr>
              <a:t>Turismo nacional  </a:t>
            </a:r>
          </a:p>
          <a:p>
            <a:r>
              <a:rPr lang="es-ES" sz="1200" kern="0">
                <a:solidFill>
                  <a:schemeClr val="tx1">
                    <a:lumMod val="75000"/>
                    <a:lumOff val="25000"/>
                  </a:schemeClr>
                </a:solidFill>
                <a:latin typeface="Montserrat" pitchFamily="2" charset="77"/>
                <a:cs typeface="Times New Roman" panose="02020603050405020304" pitchFamily="18" charset="0"/>
              </a:rPr>
              <a:t>En 2025, la provincia de Alicante registra 7.161.234 turistas nacionales, frente a los 8.423.646 de 2024, lo que supone una disminución de 1.262.412 turistas, equivalente a una </a:t>
            </a:r>
            <a:r>
              <a:rPr lang="es-ES" sz="1200" b="1" kern="0">
                <a:solidFill>
                  <a:schemeClr val="tx1">
                    <a:lumMod val="75000"/>
                    <a:lumOff val="25000"/>
                  </a:schemeClr>
                </a:solidFill>
                <a:latin typeface="Montserrat" pitchFamily="2" charset="77"/>
                <a:cs typeface="Times New Roman" panose="02020603050405020304" pitchFamily="18" charset="0"/>
              </a:rPr>
              <a:t>caída del -15,0% interanual.</a:t>
            </a:r>
          </a:p>
          <a:p>
            <a:endParaRPr lang="es-ES" sz="1200" b="1"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Tras el máximo alcanzado en 2024, la serie muestra en 2025 un ajuste significativo que interrumpe la trayectoria ascendente iniciada en 2022 (7.573.043) y consolidada en 2023 (8.354.522). El descenso de 2025 devuelve el volumen de llegadas a niveles similares a los de 2022, alejándose del pico histórico del año anterior.</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términos de tendencia, el comportamiento refleja una moderación del turismo nacional en el ámbito provincial tras dos ejercicios de fuerte crecimiento, situando el ejercicio 2025 en una fase de corrección respecto al máximo reciente.</a:t>
            </a: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14" name="Gráfico 13">
            <a:extLst>
              <a:ext uri="{FF2B5EF4-FFF2-40B4-BE49-F238E27FC236}">
                <a16:creationId xmlns:a16="http://schemas.microsoft.com/office/drawing/2014/main" id="{ED53F36B-9C46-9944-BD3F-818297401B4C}"/>
              </a:ext>
            </a:extLst>
          </p:cNvPr>
          <p:cNvGraphicFramePr/>
          <p:nvPr>
            <p:extLst>
              <p:ext uri="{D42A27DB-BD31-4B8C-83A1-F6EECF244321}">
                <p14:modId xmlns:p14="http://schemas.microsoft.com/office/powerpoint/2010/main" val="2762647321"/>
              </p:ext>
            </p:extLst>
          </p:nvPr>
        </p:nvGraphicFramePr>
        <p:xfrm>
          <a:off x="5972538" y="1389608"/>
          <a:ext cx="5625296" cy="4737796"/>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D92B2999-64A0-33AB-2C2D-D9DC8D50E2C1}"/>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988376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F2E6-E272-53E4-496F-F8C656150B4F}"/>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F07F697-5F85-5FCC-3F1C-04E85677AF7D}"/>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DEE17C05-CF27-DC6C-0D80-BDA3661D4C3E}"/>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Llegada de turistas a la Comunidad Valenciana</a:t>
            </a:r>
          </a:p>
        </p:txBody>
      </p:sp>
      <p:sp>
        <p:nvSpPr>
          <p:cNvPr id="12" name="Rectángulo 11">
            <a:extLst>
              <a:ext uri="{FF2B5EF4-FFF2-40B4-BE49-F238E27FC236}">
                <a16:creationId xmlns:a16="http://schemas.microsoft.com/office/drawing/2014/main" id="{022AFA93-74A3-B618-DC90-00A1E53E6503}"/>
              </a:ext>
            </a:extLst>
          </p:cNvPr>
          <p:cNvSpPr/>
          <p:nvPr/>
        </p:nvSpPr>
        <p:spPr>
          <a:xfrm>
            <a:off x="675648" y="2403785"/>
            <a:ext cx="5625296" cy="3512052"/>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chemeClr val="tx1">
                    <a:lumMod val="85000"/>
                    <a:lumOff val="15000"/>
                  </a:schemeClr>
                </a:solidFill>
                <a:latin typeface="Montserrat SemiBold" pitchFamily="2" charset="77"/>
                <a:cs typeface="Times New Roman" panose="02020603050405020304" pitchFamily="18" charset="0"/>
              </a:rPr>
              <a:t>Turismo nacional  </a:t>
            </a:r>
          </a:p>
          <a:p>
            <a:r>
              <a:rPr lang="es-ES" sz="1200" kern="0">
                <a:solidFill>
                  <a:schemeClr val="tx1">
                    <a:lumMod val="75000"/>
                    <a:lumOff val="25000"/>
                  </a:schemeClr>
                </a:solidFill>
                <a:latin typeface="Montserrat" pitchFamily="2" charset="77"/>
                <a:cs typeface="Times New Roman" panose="02020603050405020304" pitchFamily="18" charset="0"/>
              </a:rPr>
              <a:t>En 2025, la </a:t>
            </a:r>
            <a:r>
              <a:rPr lang="es-ES" sz="1200" kern="0" err="1">
                <a:solidFill>
                  <a:schemeClr val="tx1">
                    <a:lumMod val="75000"/>
                    <a:lumOff val="25000"/>
                  </a:schemeClr>
                </a:solidFill>
                <a:latin typeface="Montserrat" pitchFamily="2" charset="77"/>
                <a:cs typeface="Times New Roman" panose="02020603050405020304" pitchFamily="18" charset="0"/>
              </a:rPr>
              <a:t>Comunitat</a:t>
            </a:r>
            <a:r>
              <a:rPr lang="es-ES" sz="1200" kern="0">
                <a:solidFill>
                  <a:schemeClr val="tx1">
                    <a:lumMod val="75000"/>
                    <a:lumOff val="25000"/>
                  </a:schemeClr>
                </a:solidFill>
                <a:latin typeface="Montserrat" pitchFamily="2" charset="77"/>
                <a:cs typeface="Times New Roman" panose="02020603050405020304" pitchFamily="18" charset="0"/>
              </a:rPr>
              <a:t> Valenciana registra 17.088.622 turistas nacionales, frente a los 18.935.982 de 2024, lo que supone una disminución de 1.847.360 turistas, equivalente a una caída del </a:t>
            </a:r>
            <a:r>
              <a:rPr lang="es-ES" sz="1200" b="1" kern="0">
                <a:solidFill>
                  <a:schemeClr val="tx1">
                    <a:lumMod val="75000"/>
                    <a:lumOff val="25000"/>
                  </a:schemeClr>
                </a:solidFill>
                <a:latin typeface="Montserrat" pitchFamily="2" charset="77"/>
                <a:cs typeface="Times New Roman" panose="02020603050405020304" pitchFamily="18" charset="0"/>
              </a:rPr>
              <a:t>-9,8% interanual.</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Tras el máximo alcanzado en 2023 (19.382.714), la serie muestra una moderación en 2024 y un descenso más acusado en 2025, alejándose de los niveles máximos del periodo reciente.</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términos de tendencia, el comportamiento de 2025 confirma una fase de ajuste del turismo nacional a escala autonómica, situando el volumen de llegadas en niveles próximos a los registrados en 2022 (16.227.308), aunque claramente por debajo de los picos alcanzados en 2023 y 2024.</a:t>
            </a: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14" name="Gráfico 13">
            <a:extLst>
              <a:ext uri="{FF2B5EF4-FFF2-40B4-BE49-F238E27FC236}">
                <a16:creationId xmlns:a16="http://schemas.microsoft.com/office/drawing/2014/main" id="{EF25DDF3-65B8-AB53-3E29-87B8CAD2E397}"/>
              </a:ext>
            </a:extLst>
          </p:cNvPr>
          <p:cNvGraphicFramePr/>
          <p:nvPr>
            <p:extLst>
              <p:ext uri="{D42A27DB-BD31-4B8C-83A1-F6EECF244321}">
                <p14:modId xmlns:p14="http://schemas.microsoft.com/office/powerpoint/2010/main" val="499708604"/>
              </p:ext>
            </p:extLst>
          </p:nvPr>
        </p:nvGraphicFramePr>
        <p:xfrm>
          <a:off x="5972538" y="1389608"/>
          <a:ext cx="5625296" cy="4737796"/>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F7CC0E9A-FFD2-ACC9-3242-96377EEC78C9}"/>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3652056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AA7DE-A4F5-C4DF-D482-9F33CD1B56D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CB342963-06AC-5AD5-2562-C16B542EF76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DC270C08-7E81-7E85-FB7D-553BCDE11BB8}"/>
              </a:ext>
            </a:extLst>
          </p:cNvPr>
          <p:cNvSpPr/>
          <p:nvPr/>
        </p:nvSpPr>
        <p:spPr>
          <a:xfrm>
            <a:off x="638668" y="1392995"/>
            <a:ext cx="5333870"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Tasa de crecimiento de turistas nacionales 2024-2025</a:t>
            </a:r>
          </a:p>
        </p:txBody>
      </p:sp>
      <p:sp>
        <p:nvSpPr>
          <p:cNvPr id="12" name="Rectángulo 11">
            <a:extLst>
              <a:ext uri="{FF2B5EF4-FFF2-40B4-BE49-F238E27FC236}">
                <a16:creationId xmlns:a16="http://schemas.microsoft.com/office/drawing/2014/main" id="{1B3BA7AC-7421-8295-4739-E4BB841CA563}"/>
              </a:ext>
            </a:extLst>
          </p:cNvPr>
          <p:cNvSpPr/>
          <p:nvPr/>
        </p:nvSpPr>
        <p:spPr>
          <a:xfrm>
            <a:off x="675648" y="2403785"/>
            <a:ext cx="5333870" cy="2862322"/>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2024 y 2025,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registra una variación del -13,7% en la llegada de turistas nacionales, tras los máximos alcanzados en los ejercicios anteriores.</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La comparativa con otros destinos turísticos de características similares muestra que </a:t>
            </a:r>
            <a:r>
              <a:rPr lang="es-ES" sz="1200" b="1" kern="0">
                <a:solidFill>
                  <a:schemeClr val="tx1">
                    <a:lumMod val="75000"/>
                    <a:lumOff val="25000"/>
                  </a:schemeClr>
                </a:solidFill>
                <a:latin typeface="Montserrat" pitchFamily="2" charset="77"/>
                <a:cs typeface="Times New Roman" panose="02020603050405020304" pitchFamily="18" charset="0"/>
              </a:rPr>
              <a:t>esta moderación no es un fenómeno aislado</a:t>
            </a:r>
            <a:r>
              <a:rPr lang="es-ES" sz="1200" kern="0">
                <a:solidFill>
                  <a:schemeClr val="tx1">
                    <a:lumMod val="75000"/>
                    <a:lumOff val="25000"/>
                  </a:schemeClr>
                </a:solidFill>
                <a:latin typeface="Montserrat" pitchFamily="2" charset="77"/>
                <a:cs typeface="Times New Roman" panose="02020603050405020304" pitchFamily="18" charset="0"/>
              </a:rPr>
              <a:t>. Municipios como Sitges (-37%), Cambrils (-28,3%), Oropesa del Mar (-21,3%), Calpe (-16,2%) o Lloret de Mar (-9,5%) también presentan descensos significativos en 2025.</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Este comportamiento conjunto pone de manifiesto que </a:t>
            </a:r>
            <a:r>
              <a:rPr lang="es-ES" sz="1200" b="1" kern="0">
                <a:solidFill>
                  <a:schemeClr val="tx1">
                    <a:lumMod val="75000"/>
                    <a:lumOff val="25000"/>
                  </a:schemeClr>
                </a:solidFill>
                <a:latin typeface="Montserrat" pitchFamily="2" charset="77"/>
                <a:cs typeface="Times New Roman" panose="02020603050405020304" pitchFamily="18" charset="0"/>
              </a:rPr>
              <a:t>el descenso registrado responde a una dinámica general del mercado nacional</a:t>
            </a:r>
            <a:r>
              <a:rPr lang="es-ES" sz="1200" kern="0">
                <a:solidFill>
                  <a:schemeClr val="tx1">
                    <a:lumMod val="75000"/>
                    <a:lumOff val="25000"/>
                  </a:schemeClr>
                </a:solidFill>
                <a:latin typeface="Montserrat" pitchFamily="2" charset="77"/>
                <a:cs typeface="Times New Roman" panose="02020603050405020304" pitchFamily="18" charset="0"/>
              </a:rPr>
              <a:t>, vinculada a factores coyunturales del turismo interno, y no a una pérdida estructural de competitividad del destino. </a:t>
            </a:r>
          </a:p>
        </p:txBody>
      </p:sp>
      <p:sp>
        <p:nvSpPr>
          <p:cNvPr id="3" name="Rectángulo 2">
            <a:extLst>
              <a:ext uri="{FF2B5EF4-FFF2-40B4-BE49-F238E27FC236}">
                <a16:creationId xmlns:a16="http://schemas.microsoft.com/office/drawing/2014/main" id="{3676CC30-6C17-58ED-4A0C-578017EDB056}"/>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
        <p:nvSpPr>
          <p:cNvPr id="8" name="Rectángulo redondeado 3">
            <a:extLst>
              <a:ext uri="{FF2B5EF4-FFF2-40B4-BE49-F238E27FC236}">
                <a16:creationId xmlns:a16="http://schemas.microsoft.com/office/drawing/2014/main" id="{A90DD366-D19E-6990-B8AF-71A0EDD4D11F}"/>
              </a:ext>
            </a:extLst>
          </p:cNvPr>
          <p:cNvSpPr/>
          <p:nvPr/>
        </p:nvSpPr>
        <p:spPr>
          <a:xfrm>
            <a:off x="9223199" y="1561459"/>
            <a:ext cx="2408904" cy="1013026"/>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D834053C-AAB8-66E8-74B2-E5140F037468}"/>
              </a:ext>
            </a:extLst>
          </p:cNvPr>
          <p:cNvSpPr/>
          <p:nvPr/>
        </p:nvSpPr>
        <p:spPr>
          <a:xfrm>
            <a:off x="8764810" y="1664496"/>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-16,2%</a:t>
            </a:r>
          </a:p>
          <a:p>
            <a:pPr algn="ctr"/>
            <a:r>
              <a:rPr lang="es-ES" sz="1100">
                <a:solidFill>
                  <a:srgbClr val="04145E"/>
                </a:solidFill>
                <a:latin typeface="Montserrat Medium" pitchFamily="2" charset="77"/>
                <a:cs typeface="Times New Roman" panose="02020603050405020304" pitchFamily="18" charset="0"/>
              </a:rPr>
              <a:t>CALPE</a:t>
            </a:r>
          </a:p>
        </p:txBody>
      </p:sp>
      <p:sp>
        <p:nvSpPr>
          <p:cNvPr id="10" name="Rectángulo redondeado 3">
            <a:extLst>
              <a:ext uri="{FF2B5EF4-FFF2-40B4-BE49-F238E27FC236}">
                <a16:creationId xmlns:a16="http://schemas.microsoft.com/office/drawing/2014/main" id="{3FA667BA-049C-EE30-5842-884DF4925BD9}"/>
              </a:ext>
            </a:extLst>
          </p:cNvPr>
          <p:cNvSpPr/>
          <p:nvPr/>
        </p:nvSpPr>
        <p:spPr>
          <a:xfrm>
            <a:off x="6554390" y="2804483"/>
            <a:ext cx="2408904" cy="1013026"/>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DFDEF160-9CD8-AADB-B971-289D79D29F61}"/>
              </a:ext>
            </a:extLst>
          </p:cNvPr>
          <p:cNvSpPr/>
          <p:nvPr/>
        </p:nvSpPr>
        <p:spPr>
          <a:xfrm>
            <a:off x="6096000" y="2903091"/>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-28,3%</a:t>
            </a:r>
          </a:p>
          <a:p>
            <a:pPr algn="ctr"/>
            <a:r>
              <a:rPr lang="es-ES" sz="1100">
                <a:solidFill>
                  <a:srgbClr val="04145E"/>
                </a:solidFill>
                <a:latin typeface="Montserrat Medium" pitchFamily="2" charset="77"/>
                <a:cs typeface="Times New Roman" panose="02020603050405020304" pitchFamily="18" charset="0"/>
              </a:rPr>
              <a:t>CAMBRILS</a:t>
            </a:r>
          </a:p>
        </p:txBody>
      </p:sp>
      <p:sp>
        <p:nvSpPr>
          <p:cNvPr id="13" name="Rectángulo redondeado 3">
            <a:extLst>
              <a:ext uri="{FF2B5EF4-FFF2-40B4-BE49-F238E27FC236}">
                <a16:creationId xmlns:a16="http://schemas.microsoft.com/office/drawing/2014/main" id="{1752BD36-B052-4A5D-CCD3-54645C613B09}"/>
              </a:ext>
            </a:extLst>
          </p:cNvPr>
          <p:cNvSpPr/>
          <p:nvPr/>
        </p:nvSpPr>
        <p:spPr>
          <a:xfrm>
            <a:off x="9223199" y="2804483"/>
            <a:ext cx="2408904" cy="1013026"/>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7F573169-7BD1-AB43-3136-C83709A13F22}"/>
              </a:ext>
            </a:extLst>
          </p:cNvPr>
          <p:cNvSpPr/>
          <p:nvPr/>
        </p:nvSpPr>
        <p:spPr>
          <a:xfrm>
            <a:off x="8764810" y="2903091"/>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-9,5%</a:t>
            </a:r>
          </a:p>
          <a:p>
            <a:pPr algn="ctr"/>
            <a:r>
              <a:rPr lang="es-ES" sz="1100">
                <a:solidFill>
                  <a:srgbClr val="04145E"/>
                </a:solidFill>
                <a:latin typeface="Montserrat Medium" pitchFamily="2" charset="77"/>
                <a:cs typeface="Times New Roman" panose="02020603050405020304" pitchFamily="18" charset="0"/>
              </a:rPr>
              <a:t>LLORET DE MAR</a:t>
            </a:r>
          </a:p>
        </p:txBody>
      </p:sp>
      <p:sp>
        <p:nvSpPr>
          <p:cNvPr id="16" name="Rectángulo redondeado 3">
            <a:extLst>
              <a:ext uri="{FF2B5EF4-FFF2-40B4-BE49-F238E27FC236}">
                <a16:creationId xmlns:a16="http://schemas.microsoft.com/office/drawing/2014/main" id="{4DC920F6-C7BB-F211-268E-9A5D1BFDB16B}"/>
              </a:ext>
            </a:extLst>
          </p:cNvPr>
          <p:cNvSpPr/>
          <p:nvPr/>
        </p:nvSpPr>
        <p:spPr>
          <a:xfrm>
            <a:off x="6554390" y="4068415"/>
            <a:ext cx="2408904" cy="1013026"/>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E97C5194-4699-6E8B-D6CB-B912DD7D1702}"/>
              </a:ext>
            </a:extLst>
          </p:cNvPr>
          <p:cNvSpPr/>
          <p:nvPr/>
        </p:nvSpPr>
        <p:spPr>
          <a:xfrm>
            <a:off x="6096001" y="4167023"/>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-21,3%</a:t>
            </a:r>
          </a:p>
          <a:p>
            <a:pPr algn="ctr"/>
            <a:r>
              <a:rPr lang="es-ES" sz="1100">
                <a:solidFill>
                  <a:srgbClr val="04145E"/>
                </a:solidFill>
                <a:latin typeface="Montserrat Medium" pitchFamily="2" charset="77"/>
                <a:cs typeface="Times New Roman" panose="02020603050405020304" pitchFamily="18" charset="0"/>
              </a:rPr>
              <a:t>OROPESA DEL MAR</a:t>
            </a:r>
          </a:p>
        </p:txBody>
      </p:sp>
      <p:sp>
        <p:nvSpPr>
          <p:cNvPr id="18" name="Rectángulo redondeado 3">
            <a:extLst>
              <a:ext uri="{FF2B5EF4-FFF2-40B4-BE49-F238E27FC236}">
                <a16:creationId xmlns:a16="http://schemas.microsoft.com/office/drawing/2014/main" id="{032C76FB-7921-4800-E73C-B9533BDDC415}"/>
              </a:ext>
            </a:extLst>
          </p:cNvPr>
          <p:cNvSpPr/>
          <p:nvPr/>
        </p:nvSpPr>
        <p:spPr>
          <a:xfrm>
            <a:off x="9223199" y="4068415"/>
            <a:ext cx="2408904" cy="1013026"/>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0647EE8F-4C8C-8119-A457-032EF448A1AA}"/>
              </a:ext>
            </a:extLst>
          </p:cNvPr>
          <p:cNvSpPr/>
          <p:nvPr/>
        </p:nvSpPr>
        <p:spPr>
          <a:xfrm>
            <a:off x="8764810" y="4167023"/>
            <a:ext cx="3323285" cy="815608"/>
          </a:xfrm>
          <a:prstGeom prst="rect">
            <a:avLst/>
          </a:prstGeom>
        </p:spPr>
        <p:txBody>
          <a:bodyPr wrap="square">
            <a:spAutoFit/>
          </a:bodyPr>
          <a:lstStyle/>
          <a:p>
            <a:pPr algn="ctr"/>
            <a:r>
              <a:rPr lang="es-ES" sz="3600">
                <a:solidFill>
                  <a:srgbClr val="04145E"/>
                </a:solidFill>
                <a:latin typeface="DM Serif Display" pitchFamily="2" charset="0"/>
                <a:cs typeface="Times New Roman" panose="02020603050405020304" pitchFamily="18" charset="0"/>
              </a:rPr>
              <a:t>-37%</a:t>
            </a:r>
          </a:p>
          <a:p>
            <a:pPr algn="ctr"/>
            <a:r>
              <a:rPr lang="es-ES" sz="1100">
                <a:solidFill>
                  <a:srgbClr val="04145E"/>
                </a:solidFill>
                <a:latin typeface="Montserrat Medium" pitchFamily="2" charset="77"/>
                <a:cs typeface="Times New Roman" panose="02020603050405020304" pitchFamily="18" charset="0"/>
              </a:rPr>
              <a:t>SITGES</a:t>
            </a:r>
          </a:p>
        </p:txBody>
      </p:sp>
      <p:sp>
        <p:nvSpPr>
          <p:cNvPr id="21" name="Rectángulo redondeado 3">
            <a:extLst>
              <a:ext uri="{FF2B5EF4-FFF2-40B4-BE49-F238E27FC236}">
                <a16:creationId xmlns:a16="http://schemas.microsoft.com/office/drawing/2014/main" id="{C5E03C75-D333-6C23-59E8-DD09B25DFF3D}"/>
              </a:ext>
            </a:extLst>
          </p:cNvPr>
          <p:cNvSpPr/>
          <p:nvPr/>
        </p:nvSpPr>
        <p:spPr>
          <a:xfrm>
            <a:off x="6554390" y="1561459"/>
            <a:ext cx="2408904" cy="1013026"/>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ángulo 21">
            <a:extLst>
              <a:ext uri="{FF2B5EF4-FFF2-40B4-BE49-F238E27FC236}">
                <a16:creationId xmlns:a16="http://schemas.microsoft.com/office/drawing/2014/main" id="{0B02F16A-9D77-E878-9E5C-DA4D361AD2C1}"/>
              </a:ext>
            </a:extLst>
          </p:cNvPr>
          <p:cNvSpPr/>
          <p:nvPr/>
        </p:nvSpPr>
        <p:spPr>
          <a:xfrm>
            <a:off x="6096001" y="1664496"/>
            <a:ext cx="3323285" cy="815608"/>
          </a:xfrm>
          <a:prstGeom prst="rect">
            <a:avLst/>
          </a:prstGeom>
        </p:spPr>
        <p:txBody>
          <a:bodyPr wrap="square">
            <a:spAutoFit/>
          </a:bodyPr>
          <a:lstStyle/>
          <a:p>
            <a:pPr algn="ctr"/>
            <a:r>
              <a:rPr lang="es-ES" sz="3600">
                <a:solidFill>
                  <a:srgbClr val="EB704A"/>
                </a:solidFill>
                <a:latin typeface="DM Serif Display" pitchFamily="2" charset="0"/>
                <a:cs typeface="Times New Roman" panose="02020603050405020304" pitchFamily="18" charset="0"/>
              </a:rPr>
              <a:t>-13,7%</a:t>
            </a:r>
          </a:p>
          <a:p>
            <a:pPr algn="ctr"/>
            <a:r>
              <a:rPr lang="es-ES" sz="1100">
                <a:solidFill>
                  <a:srgbClr val="EB704A"/>
                </a:solidFill>
                <a:latin typeface="Montserrat Medium" pitchFamily="2" charset="77"/>
                <a:cs typeface="Times New Roman" panose="02020603050405020304" pitchFamily="18" charset="0"/>
              </a:rPr>
              <a:t>DÉNIA</a:t>
            </a:r>
          </a:p>
        </p:txBody>
      </p:sp>
    </p:spTree>
    <p:extLst>
      <p:ext uri="{BB962C8B-B14F-4D97-AF65-F5344CB8AC3E}">
        <p14:creationId xmlns:p14="http://schemas.microsoft.com/office/powerpoint/2010/main" val="410907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Principales resultados del periodo </a:t>
            </a:r>
          </a:p>
        </p:txBody>
      </p:sp>
      <p:sp>
        <p:nvSpPr>
          <p:cNvPr id="12" name="Rectángulo 11">
            <a:extLst>
              <a:ext uri="{FF2B5EF4-FFF2-40B4-BE49-F238E27FC236}">
                <a16:creationId xmlns:a16="http://schemas.microsoft.com/office/drawing/2014/main" id="{51C9942B-0A87-DD42-BC8A-4FE73ECEC448}"/>
              </a:ext>
            </a:extLst>
          </p:cNvPr>
          <p:cNvSpPr/>
          <p:nvPr/>
        </p:nvSpPr>
        <p:spPr>
          <a:xfrm>
            <a:off x="638669" y="2705898"/>
            <a:ext cx="5182028" cy="2520690"/>
          </a:xfrm>
          <a:prstGeom prst="rect">
            <a:avLst/>
          </a:prstGeom>
        </p:spPr>
        <p:txBody>
          <a:bodyPr wrap="square">
            <a:spAutoFit/>
          </a:bodyPr>
          <a:lstStyle/>
          <a:p>
            <a:pPr marL="15875">
              <a:lnSpc>
                <a:spcPct val="115000"/>
              </a:lnSpc>
              <a:spcBef>
                <a:spcPts val="600"/>
              </a:spcBef>
              <a:buClr>
                <a:srgbClr val="00325C"/>
              </a:buClr>
              <a:buSzPct val="100000"/>
            </a:pPr>
            <a:r>
              <a:rPr lang="es-ES" sz="1200" b="1" kern="0">
                <a:solidFill>
                  <a:srgbClr val="AD0407"/>
                </a:solidFill>
                <a:latin typeface="Montserrat SemiBold" pitchFamily="2" charset="77"/>
                <a:cs typeface="Times New Roman" panose="02020603050405020304" pitchFamily="18" charset="0"/>
              </a:rPr>
              <a:t>Turismo internacional</a:t>
            </a:r>
          </a:p>
          <a:p>
            <a:r>
              <a:rPr lang="es-ES" sz="1200" kern="0">
                <a:solidFill>
                  <a:schemeClr val="tx1">
                    <a:lumMod val="75000"/>
                    <a:lumOff val="25000"/>
                  </a:schemeClr>
                </a:solidFill>
                <a:latin typeface="Montserrat" pitchFamily="2" charset="77"/>
                <a:cs typeface="Times New Roman" panose="02020603050405020304" pitchFamily="18" charset="0"/>
              </a:rPr>
              <a:t>En contraposición al turismo nacional, en 2025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registró </a:t>
            </a:r>
            <a:r>
              <a:rPr lang="es-ES" sz="1200" b="1" kern="0">
                <a:solidFill>
                  <a:schemeClr val="tx1">
                    <a:lumMod val="75000"/>
                    <a:lumOff val="25000"/>
                  </a:schemeClr>
                </a:solidFill>
                <a:latin typeface="Montserrat" pitchFamily="2" charset="77"/>
                <a:cs typeface="Times New Roman" panose="02020603050405020304" pitchFamily="18" charset="0"/>
              </a:rPr>
              <a:t>612.744 turistas </a:t>
            </a:r>
            <a:r>
              <a:rPr lang="es-ES" sz="1200" kern="0">
                <a:solidFill>
                  <a:schemeClr val="tx1">
                    <a:lumMod val="75000"/>
                    <a:lumOff val="25000"/>
                  </a:schemeClr>
                </a:solidFill>
                <a:latin typeface="Montserrat" pitchFamily="2" charset="77"/>
                <a:cs typeface="Times New Roman" panose="02020603050405020304" pitchFamily="18" charset="0"/>
              </a:rPr>
              <a:t>internacionales, lo que supone un incremento significativo respecto a 2024 (491.765) y consolida la trayectoria ascendente del mercado receptor.</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La evolución de la serie 2019–2025 muestra un crecimiento sostenido, con una aceleración clara a partir de 2022 y un máximo histórico en 2025. Este comportamiento confirma el refuerzo de la proyección internacional del destino y la creciente capacidad de atracción de visitantes extranjeros, que ganan peso dentro de la estructura global de la demanda.</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10" name="Gráfico 9">
            <a:extLst>
              <a:ext uri="{FF2B5EF4-FFF2-40B4-BE49-F238E27FC236}">
                <a16:creationId xmlns:a16="http://schemas.microsoft.com/office/drawing/2014/main" id="{6F61A61C-7683-E044-968E-0170AB8C4823}"/>
              </a:ext>
            </a:extLst>
          </p:cNvPr>
          <p:cNvGraphicFramePr/>
          <p:nvPr>
            <p:extLst>
              <p:ext uri="{D42A27DB-BD31-4B8C-83A1-F6EECF244321}">
                <p14:modId xmlns:p14="http://schemas.microsoft.com/office/powerpoint/2010/main" val="1390540437"/>
              </p:ext>
            </p:extLst>
          </p:nvPr>
        </p:nvGraphicFramePr>
        <p:xfrm>
          <a:off x="5820697" y="1389608"/>
          <a:ext cx="5777137" cy="4737796"/>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22E4C9FF-5497-8315-0D96-3F0907D8F2A4}"/>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1398941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a:lnSpc>
                <a:spcPts val="3200"/>
              </a:lnSpc>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reciente y lectura de tendencias</a:t>
            </a:r>
          </a:p>
        </p:txBody>
      </p:sp>
      <p:sp>
        <p:nvSpPr>
          <p:cNvPr id="4" name="Rectángulo 3">
            <a:extLst>
              <a:ext uri="{FF2B5EF4-FFF2-40B4-BE49-F238E27FC236}">
                <a16:creationId xmlns:a16="http://schemas.microsoft.com/office/drawing/2014/main" id="{7DC2298C-96FD-6522-3052-6D5CDFC35DD9}"/>
              </a:ext>
            </a:extLst>
          </p:cNvPr>
          <p:cNvSpPr/>
          <p:nvPr/>
        </p:nvSpPr>
        <p:spPr>
          <a:xfrm>
            <a:off x="638668" y="2316261"/>
            <a:ext cx="4965719" cy="3087320"/>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chemeClr val="tx1">
                    <a:lumMod val="85000"/>
                    <a:lumOff val="15000"/>
                  </a:schemeClr>
                </a:solidFill>
                <a:latin typeface="Montserrat SemiBold" pitchFamily="2" charset="77"/>
                <a:cs typeface="Times New Roman" panose="02020603050405020304" pitchFamily="18" charset="0"/>
              </a:rPr>
              <a:t>Turismo nacional  </a:t>
            </a:r>
          </a:p>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evolución mensual del turismo nacional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mantiene un patrón estacional claramente definido. Tras un inicio de año en niveles moderados, la demanda comienza a intensificarse en primavera y registra un primer pico relevante en mayo, superior al observado en abril.</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Este comportamiento responde previsiblemente a una combinación de factores de calendario. En 2025, Semana Santa se celebró en la segunda quincena de abril, lo que impulsó la demanda en ese mes y pudo generar un efecto arrastre hacia comienzos de mayo. A ello se suma el impacto del puente del 1 de mayo y la consolidación de escapadas de corta duración en primavera.</a:t>
            </a:r>
          </a:p>
          <a:p>
            <a:pPr marL="1587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EDEF8E67-00B1-9C11-6D7D-5B4CDD7862A7}"/>
              </a:ext>
            </a:extLst>
          </p:cNvPr>
          <p:cNvGraphicFramePr>
            <a:graphicFrameLocks/>
          </p:cNvGraphicFramePr>
          <p:nvPr>
            <p:extLst>
              <p:ext uri="{D42A27DB-BD31-4B8C-83A1-F6EECF244321}">
                <p14:modId xmlns:p14="http://schemas.microsoft.com/office/powerpoint/2010/main" val="805814977"/>
              </p:ext>
            </p:extLst>
          </p:nvPr>
        </p:nvGraphicFramePr>
        <p:xfrm>
          <a:off x="5734050" y="1077951"/>
          <a:ext cx="5819282" cy="2904114"/>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F8A56F5A-61DF-EDAB-57FA-518DB4703D3E}"/>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
        <p:nvSpPr>
          <p:cNvPr id="9" name="Rectángulo 8">
            <a:extLst>
              <a:ext uri="{FF2B5EF4-FFF2-40B4-BE49-F238E27FC236}">
                <a16:creationId xmlns:a16="http://schemas.microsoft.com/office/drawing/2014/main" id="{F5B39E2B-7056-82D7-B2F4-4D00EF29E4B1}"/>
              </a:ext>
            </a:extLst>
          </p:cNvPr>
          <p:cNvSpPr/>
          <p:nvPr/>
        </p:nvSpPr>
        <p:spPr>
          <a:xfrm>
            <a:off x="5812708" y="4204946"/>
            <a:ext cx="5740624" cy="1384995"/>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El pico principal del año se mantiene en julio y, especialmente, en agosto, cuando se alcanzan los valores más elevados de la serie mensual, en línea con el comportamiento estructural del mercado nacional. </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A partir de septiembre, la afluencia desciende de forma gradual hasta estabilizarse en otoño e invierno en niveles similares a los ejercicios anteriores. </a:t>
            </a:r>
          </a:p>
        </p:txBody>
      </p:sp>
    </p:spTree>
    <p:extLst>
      <p:ext uri="{BB962C8B-B14F-4D97-AF65-F5344CB8AC3E}">
        <p14:creationId xmlns:p14="http://schemas.microsoft.com/office/powerpoint/2010/main" val="1781501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a:lnSpc>
                <a:spcPts val="3200"/>
              </a:lnSpc>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reciente y lectura de tendencias</a:t>
            </a:r>
          </a:p>
        </p:txBody>
      </p:sp>
      <p:sp>
        <p:nvSpPr>
          <p:cNvPr id="10" name="Rectángulo 9">
            <a:extLst>
              <a:ext uri="{FF2B5EF4-FFF2-40B4-BE49-F238E27FC236}">
                <a16:creationId xmlns:a16="http://schemas.microsoft.com/office/drawing/2014/main" id="{C4D97246-5657-D40B-70C9-62AA89B34AEB}"/>
              </a:ext>
            </a:extLst>
          </p:cNvPr>
          <p:cNvSpPr/>
          <p:nvPr/>
        </p:nvSpPr>
        <p:spPr>
          <a:xfrm>
            <a:off x="675647" y="2330169"/>
            <a:ext cx="4564946" cy="3420936"/>
          </a:xfrm>
          <a:prstGeom prst="rect">
            <a:avLst/>
          </a:prstGeom>
        </p:spPr>
        <p:txBody>
          <a:bodyPr wrap="square">
            <a:spAutoFit/>
          </a:bodyPr>
          <a:lstStyle/>
          <a:p>
            <a:pPr marL="15875">
              <a:lnSpc>
                <a:spcPct val="115000"/>
              </a:lnSpc>
              <a:spcBef>
                <a:spcPts val="600"/>
              </a:spcBef>
              <a:buClr>
                <a:srgbClr val="00325C"/>
              </a:buClr>
              <a:buSzPct val="100000"/>
            </a:pPr>
            <a:r>
              <a:rPr lang="es-ES" sz="1200" b="1" kern="0">
                <a:solidFill>
                  <a:srgbClr val="AD0407"/>
                </a:solidFill>
                <a:latin typeface="Montserrat SemiBold" pitchFamily="2" charset="77"/>
                <a:cs typeface="Times New Roman" panose="02020603050405020304" pitchFamily="18" charset="0"/>
              </a:rPr>
              <a:t>Turismo internacional</a:t>
            </a:r>
          </a:p>
          <a:p>
            <a:r>
              <a:rPr lang="es-ES" sz="1050" kern="0">
                <a:solidFill>
                  <a:schemeClr val="tx1">
                    <a:lumMod val="75000"/>
                    <a:lumOff val="25000"/>
                  </a:schemeClr>
                </a:solidFill>
                <a:latin typeface="Montserrat" pitchFamily="2" charset="77"/>
                <a:cs typeface="Times New Roman" panose="02020603050405020304" pitchFamily="18" charset="0"/>
              </a:rPr>
              <a:t>Entre enero y octubre de 2025, la afluencia de turistas internacionales en </a:t>
            </a:r>
            <a:r>
              <a:rPr lang="es-ES" sz="1050" kern="0" err="1">
                <a:solidFill>
                  <a:schemeClr val="tx1">
                    <a:lumMod val="75000"/>
                    <a:lumOff val="25000"/>
                  </a:schemeClr>
                </a:solidFill>
                <a:latin typeface="Montserrat" pitchFamily="2" charset="77"/>
                <a:cs typeface="Times New Roman" panose="02020603050405020304" pitchFamily="18" charset="0"/>
              </a:rPr>
              <a:t>Dénia</a:t>
            </a:r>
            <a:r>
              <a:rPr lang="es-ES" sz="1050" kern="0">
                <a:solidFill>
                  <a:schemeClr val="tx1">
                    <a:lumMod val="75000"/>
                    <a:lumOff val="25000"/>
                  </a:schemeClr>
                </a:solidFill>
                <a:latin typeface="Montserrat" pitchFamily="2" charset="77"/>
                <a:cs typeface="Times New Roman" panose="02020603050405020304" pitchFamily="18" charset="0"/>
              </a:rPr>
              <a:t> presenta un patrón estacional definido, con un elemento especialmente significativo: el notable pico registrado en enero, claramente superior al del mismo mes en 2024. Este comportamiento puede explicarse por varios factores coyunturales propios del mercado internacional.</a:t>
            </a:r>
          </a:p>
          <a:p>
            <a:endParaRPr lang="es-ES" sz="1050" kern="0">
              <a:solidFill>
                <a:schemeClr val="tx1">
                  <a:lumMod val="75000"/>
                  <a:lumOff val="25000"/>
                </a:schemeClr>
              </a:solidFill>
              <a:latin typeface="Montserrat" pitchFamily="2" charset="77"/>
              <a:cs typeface="Times New Roman" panose="02020603050405020304" pitchFamily="18" charset="0"/>
            </a:endParaRPr>
          </a:p>
          <a:p>
            <a:r>
              <a:rPr lang="es-ES" sz="1050" kern="0">
                <a:solidFill>
                  <a:schemeClr val="tx1">
                    <a:lumMod val="75000"/>
                    <a:lumOff val="25000"/>
                  </a:schemeClr>
                </a:solidFill>
                <a:latin typeface="Montserrat" pitchFamily="2" charset="77"/>
                <a:cs typeface="Times New Roman" panose="02020603050405020304" pitchFamily="18" charset="0"/>
              </a:rPr>
              <a:t>En primer lugar, enero concentra en numerosos países europeos vacaciones escolares de invierno y periodos asociados a la “semana blanca”, especialmente en mercados emisores del centro y norte de Europa. A ello se suman los desplazamientos vinculados a las fiestas navideñas prolongadas (Reyes, Año Nuevo ortodoxo en algunos países) y una mayor propensión a realizar estancias largas en destinos de clima templado durante el invierno. </a:t>
            </a:r>
            <a:r>
              <a:rPr lang="es-ES" sz="1050" kern="0" err="1">
                <a:solidFill>
                  <a:schemeClr val="tx1">
                    <a:lumMod val="75000"/>
                    <a:lumOff val="25000"/>
                  </a:schemeClr>
                </a:solidFill>
                <a:latin typeface="Montserrat" pitchFamily="2" charset="77"/>
                <a:cs typeface="Times New Roman" panose="02020603050405020304" pitchFamily="18" charset="0"/>
              </a:rPr>
              <a:t>Dénia</a:t>
            </a:r>
            <a:r>
              <a:rPr lang="es-ES" sz="1050" kern="0">
                <a:solidFill>
                  <a:schemeClr val="tx1">
                    <a:lumMod val="75000"/>
                    <a:lumOff val="25000"/>
                  </a:schemeClr>
                </a:solidFill>
                <a:latin typeface="Montserrat" pitchFamily="2" charset="77"/>
                <a:cs typeface="Times New Roman" panose="02020603050405020304" pitchFamily="18" charset="0"/>
              </a:rPr>
              <a:t>, como destino mediterráneo consolidado, se beneficia de esta búsqueda de temperaturas más suaves frente al invierno continental.</a:t>
            </a:r>
          </a:p>
          <a:p>
            <a:r>
              <a:rPr lang="es-ES" sz="1200" kern="0">
                <a:solidFill>
                  <a:schemeClr val="tx1">
                    <a:lumMod val="75000"/>
                    <a:lumOff val="25000"/>
                  </a:schemeClr>
                </a:solidFill>
                <a:latin typeface="Montserrat" pitchFamily="2" charset="77"/>
                <a:cs typeface="Times New Roman" panose="02020603050405020304" pitchFamily="18" charset="0"/>
              </a:rPr>
              <a:t>.</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3" name="Rectángulo 2">
            <a:extLst>
              <a:ext uri="{FF2B5EF4-FFF2-40B4-BE49-F238E27FC236}">
                <a16:creationId xmlns:a16="http://schemas.microsoft.com/office/drawing/2014/main" id="{BB75ADC1-A1F4-1DE3-D69C-8689C0E0B00F}"/>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
        <p:nvSpPr>
          <p:cNvPr id="7" name="Rectángulo 6">
            <a:extLst>
              <a:ext uri="{FF2B5EF4-FFF2-40B4-BE49-F238E27FC236}">
                <a16:creationId xmlns:a16="http://schemas.microsoft.com/office/drawing/2014/main" id="{1C7EED6C-05AD-8D6D-27E0-8C759A02C2AD}"/>
              </a:ext>
            </a:extLst>
          </p:cNvPr>
          <p:cNvSpPr/>
          <p:nvPr/>
        </p:nvSpPr>
        <p:spPr>
          <a:xfrm>
            <a:off x="5319252" y="4326163"/>
            <a:ext cx="6197100" cy="738664"/>
          </a:xfrm>
          <a:prstGeom prst="rect">
            <a:avLst/>
          </a:prstGeom>
        </p:spPr>
        <p:txBody>
          <a:bodyPr wrap="square">
            <a:spAutoFit/>
          </a:bodyPr>
          <a:lstStyle/>
          <a:p>
            <a:r>
              <a:rPr lang="es-ES" sz="1050" kern="0">
                <a:solidFill>
                  <a:schemeClr val="tx1">
                    <a:lumMod val="75000"/>
                    <a:lumOff val="25000"/>
                  </a:schemeClr>
                </a:solidFill>
                <a:latin typeface="Montserrat" pitchFamily="2" charset="77"/>
                <a:cs typeface="Times New Roman" panose="02020603050405020304" pitchFamily="18" charset="0"/>
              </a:rPr>
              <a:t>Tras este pico inicial, febrero muestra un ajuste, seguido de una recuperación progresiva desde marzo y un crecimiento sostenido en primavera. El máximo anual vuelve a concentrarse en julio y agosto, en línea con el patrón estructural del mercado internacional</a:t>
            </a:r>
          </a:p>
        </p:txBody>
      </p:sp>
      <p:graphicFrame>
        <p:nvGraphicFramePr>
          <p:cNvPr id="9" name="Gráfico 8">
            <a:extLst>
              <a:ext uri="{FF2B5EF4-FFF2-40B4-BE49-F238E27FC236}">
                <a16:creationId xmlns:a16="http://schemas.microsoft.com/office/drawing/2014/main" id="{AA9928B8-1600-2555-440B-A237F3C424B2}"/>
              </a:ext>
            </a:extLst>
          </p:cNvPr>
          <p:cNvGraphicFramePr/>
          <p:nvPr>
            <p:extLst>
              <p:ext uri="{D42A27DB-BD31-4B8C-83A1-F6EECF244321}">
                <p14:modId xmlns:p14="http://schemas.microsoft.com/office/powerpoint/2010/main" val="4061523651"/>
              </p:ext>
            </p:extLst>
          </p:nvPr>
        </p:nvGraphicFramePr>
        <p:xfrm>
          <a:off x="5319252" y="933680"/>
          <a:ext cx="6070488" cy="32057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56230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Principales mercados emisores (Ene - Dic 2025) </a:t>
            </a:r>
          </a:p>
        </p:txBody>
      </p:sp>
      <p:graphicFrame>
        <p:nvGraphicFramePr>
          <p:cNvPr id="16" name="Gráfico 15">
            <a:extLst>
              <a:ext uri="{FF2B5EF4-FFF2-40B4-BE49-F238E27FC236}">
                <a16:creationId xmlns:a16="http://schemas.microsoft.com/office/drawing/2014/main" id="{F595B925-7A91-2042-812D-F8F24F9995F4}"/>
              </a:ext>
            </a:extLst>
          </p:cNvPr>
          <p:cNvGraphicFramePr/>
          <p:nvPr>
            <p:extLst>
              <p:ext uri="{D42A27DB-BD31-4B8C-83A1-F6EECF244321}">
                <p14:modId xmlns:p14="http://schemas.microsoft.com/office/powerpoint/2010/main" val="3374719759"/>
              </p:ext>
            </p:extLst>
          </p:nvPr>
        </p:nvGraphicFramePr>
        <p:xfrm>
          <a:off x="5978012" y="1411642"/>
          <a:ext cx="5619821" cy="4658652"/>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ángulo 16">
            <a:extLst>
              <a:ext uri="{FF2B5EF4-FFF2-40B4-BE49-F238E27FC236}">
                <a16:creationId xmlns:a16="http://schemas.microsoft.com/office/drawing/2014/main" id="{A583CC13-A63A-834C-81D1-EA4D0AE3D6CE}"/>
              </a:ext>
            </a:extLst>
          </p:cNvPr>
          <p:cNvSpPr/>
          <p:nvPr/>
        </p:nvSpPr>
        <p:spPr>
          <a:xfrm>
            <a:off x="6103345" y="6035709"/>
            <a:ext cx="1344057"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-20,3%</a:t>
            </a:r>
          </a:p>
        </p:txBody>
      </p:sp>
      <p:sp>
        <p:nvSpPr>
          <p:cNvPr id="18" name="Rectángulo 17">
            <a:extLst>
              <a:ext uri="{FF2B5EF4-FFF2-40B4-BE49-F238E27FC236}">
                <a16:creationId xmlns:a16="http://schemas.microsoft.com/office/drawing/2014/main" id="{E9A91112-FB8F-9B44-9BDE-BC6ABAC9EE43}"/>
              </a:ext>
            </a:extLst>
          </p:cNvPr>
          <p:cNvSpPr/>
          <p:nvPr/>
        </p:nvSpPr>
        <p:spPr>
          <a:xfrm>
            <a:off x="7442118" y="6035709"/>
            <a:ext cx="1344057"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-31,69%</a:t>
            </a:r>
          </a:p>
        </p:txBody>
      </p:sp>
      <p:sp>
        <p:nvSpPr>
          <p:cNvPr id="19" name="Rectángulo 18">
            <a:extLst>
              <a:ext uri="{FF2B5EF4-FFF2-40B4-BE49-F238E27FC236}">
                <a16:creationId xmlns:a16="http://schemas.microsoft.com/office/drawing/2014/main" id="{28A23CF7-0E10-844B-A06F-9C09F64AC3F0}"/>
              </a:ext>
            </a:extLst>
          </p:cNvPr>
          <p:cNvSpPr/>
          <p:nvPr/>
        </p:nvSpPr>
        <p:spPr>
          <a:xfrm>
            <a:off x="10119663" y="6052480"/>
            <a:ext cx="1344057"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-22,8%</a:t>
            </a:r>
          </a:p>
        </p:txBody>
      </p:sp>
      <p:sp>
        <p:nvSpPr>
          <p:cNvPr id="20" name="Rectángulo 19">
            <a:extLst>
              <a:ext uri="{FF2B5EF4-FFF2-40B4-BE49-F238E27FC236}">
                <a16:creationId xmlns:a16="http://schemas.microsoft.com/office/drawing/2014/main" id="{B5476D65-B459-0E4A-A63A-6040B2692715}"/>
              </a:ext>
            </a:extLst>
          </p:cNvPr>
          <p:cNvSpPr/>
          <p:nvPr/>
        </p:nvSpPr>
        <p:spPr>
          <a:xfrm>
            <a:off x="8780890" y="6035709"/>
            <a:ext cx="1344057"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-3,29%</a:t>
            </a:r>
          </a:p>
        </p:txBody>
      </p:sp>
      <p:sp>
        <p:nvSpPr>
          <p:cNvPr id="21" name="Rectángulo 20">
            <a:extLst>
              <a:ext uri="{FF2B5EF4-FFF2-40B4-BE49-F238E27FC236}">
                <a16:creationId xmlns:a16="http://schemas.microsoft.com/office/drawing/2014/main" id="{BF1829FD-469B-8940-9621-950EDFEFD776}"/>
              </a:ext>
            </a:extLst>
          </p:cNvPr>
          <p:cNvSpPr/>
          <p:nvPr/>
        </p:nvSpPr>
        <p:spPr>
          <a:xfrm>
            <a:off x="638668" y="2409393"/>
            <a:ext cx="5339344" cy="3087320"/>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chemeClr val="tx1">
                    <a:lumMod val="85000"/>
                    <a:lumOff val="15000"/>
                  </a:schemeClr>
                </a:solidFill>
                <a:latin typeface="Montserrat SemiBold" pitchFamily="2" charset="77"/>
                <a:cs typeface="Times New Roman" panose="02020603050405020304" pitchFamily="18" charset="0"/>
              </a:rPr>
              <a:t>Turismo nacional</a:t>
            </a:r>
          </a:p>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Comunidad Valenciana se consolida como principal mercado emisor nacional hacia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con 241.917 turistas, seguida por la Comunidad de Madrid, con 140.749 visitantes. Ambos territorios continúan concentrando la mayor parte de la demanda interna, confirmando el peso estructural del turismo de proximidad y de los grandes núcleos emisores dentro del mercado nacional.</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No obstante, los principales mercados registran una variación interanual negativa respecto a 2024 (Valencia -20,3% y Madrid -31,7%), al igual que emisores como Albacete (9.409) y Murcia (7.102). En conjunto, los datos reflejan una ligera contracción del mercado nacional, aunque manteniendo una estructura territorial estable y claramente concentrada en áreas próximas al destino.</a:t>
            </a:r>
          </a:p>
          <a:p>
            <a:pPr marL="15875">
              <a:lnSpc>
                <a:spcPct val="115000"/>
              </a:lnSpc>
              <a:spcAft>
                <a:spcPts val="0"/>
              </a:spcAft>
              <a:buClr>
                <a:srgbClr val="00325C"/>
              </a:buClr>
              <a:buSzPct val="100000"/>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3" name="Rectángulo 2">
            <a:extLst>
              <a:ext uri="{FF2B5EF4-FFF2-40B4-BE49-F238E27FC236}">
                <a16:creationId xmlns:a16="http://schemas.microsoft.com/office/drawing/2014/main" id="{24258572-D5A9-1494-2965-E0663D81074A}"/>
              </a:ext>
            </a:extLst>
          </p:cNvPr>
          <p:cNvSpPr/>
          <p:nvPr/>
        </p:nvSpPr>
        <p:spPr>
          <a:xfrm>
            <a:off x="7941706" y="6421812"/>
            <a:ext cx="1683654" cy="297133"/>
          </a:xfrm>
          <a:prstGeom prst="rect">
            <a:avLst/>
          </a:prstGeom>
        </p:spPr>
        <p:txBody>
          <a:bodyPr wrap="square">
            <a:spAutoFit/>
          </a:bodyPr>
          <a:lstStyle/>
          <a:p>
            <a:pPr algn="ctr">
              <a:lnSpc>
                <a:spcPts val="1800"/>
              </a:lnSpc>
            </a:pPr>
            <a:r>
              <a:rPr lang="es-ES" sz="1000">
                <a:solidFill>
                  <a:schemeClr val="bg1"/>
                </a:solidFill>
                <a:latin typeface="Montserrat Medium" pitchFamily="2" charset="77"/>
                <a:ea typeface="Times New Roman" panose="02020603050405020304" pitchFamily="18" charset="0"/>
                <a:cs typeface="Times New Roman" panose="02020603050405020304" pitchFamily="18" charset="0"/>
              </a:rPr>
              <a:t>CRECIMIENTO 24-25</a:t>
            </a:r>
            <a:endParaRPr lang="es-ES" sz="1000">
              <a:solidFill>
                <a:schemeClr val="bg1"/>
              </a:solidFill>
              <a:latin typeface="Montserrat Medium" pitchFamily="2" charset="77"/>
            </a:endParaRPr>
          </a:p>
        </p:txBody>
      </p:sp>
      <p:sp>
        <p:nvSpPr>
          <p:cNvPr id="4" name="Rectángulo 3">
            <a:extLst>
              <a:ext uri="{FF2B5EF4-FFF2-40B4-BE49-F238E27FC236}">
                <a16:creationId xmlns:a16="http://schemas.microsoft.com/office/drawing/2014/main" id="{259EA09B-4743-2776-82E5-E19DF0152E42}"/>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1155395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C0E28-951A-BC74-5E16-D2A0F0CBAEB0}"/>
            </a:ext>
          </a:extLst>
        </p:cNvPr>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8040D874-9E6E-F088-D0A0-D502845A6F47}"/>
              </a:ext>
            </a:extLst>
          </p:cNvPr>
          <p:cNvGraphicFramePr/>
          <p:nvPr>
            <p:extLst>
              <p:ext uri="{D42A27DB-BD31-4B8C-83A1-F6EECF244321}">
                <p14:modId xmlns:p14="http://schemas.microsoft.com/office/powerpoint/2010/main" val="1465760814"/>
              </p:ext>
            </p:extLst>
          </p:nvPr>
        </p:nvGraphicFramePr>
        <p:xfrm>
          <a:off x="3920723" y="1379087"/>
          <a:ext cx="6657683" cy="4327904"/>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ángulo 1">
            <a:extLst>
              <a:ext uri="{FF2B5EF4-FFF2-40B4-BE49-F238E27FC236}">
                <a16:creationId xmlns:a16="http://schemas.microsoft.com/office/drawing/2014/main" id="{F00B528A-A691-092A-1FCE-6879C7DE819D}"/>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99D08004-0B11-4538-E75F-F0262B4D3B92}"/>
              </a:ext>
            </a:extLst>
          </p:cNvPr>
          <p:cNvSpPr/>
          <p:nvPr/>
        </p:nvSpPr>
        <p:spPr>
          <a:xfrm>
            <a:off x="638668" y="1392995"/>
            <a:ext cx="489797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Principales mercados emisores</a:t>
            </a:r>
          </a:p>
        </p:txBody>
      </p:sp>
      <p:sp>
        <p:nvSpPr>
          <p:cNvPr id="10" name="Rectángulo 9">
            <a:extLst>
              <a:ext uri="{FF2B5EF4-FFF2-40B4-BE49-F238E27FC236}">
                <a16:creationId xmlns:a16="http://schemas.microsoft.com/office/drawing/2014/main" id="{10ADCAD0-E0F6-8DF7-ED26-4E29A552ADEB}"/>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
        <p:nvSpPr>
          <p:cNvPr id="6" name="Rectángulo 5">
            <a:extLst>
              <a:ext uri="{FF2B5EF4-FFF2-40B4-BE49-F238E27FC236}">
                <a16:creationId xmlns:a16="http://schemas.microsoft.com/office/drawing/2014/main" id="{1B0F704C-EF98-94C9-1306-D715DA7E69DF}"/>
              </a:ext>
            </a:extLst>
          </p:cNvPr>
          <p:cNvSpPr/>
          <p:nvPr/>
        </p:nvSpPr>
        <p:spPr>
          <a:xfrm>
            <a:off x="638668" y="2409393"/>
            <a:ext cx="5034545" cy="501997"/>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chemeClr val="tx1">
                    <a:lumMod val="85000"/>
                    <a:lumOff val="15000"/>
                  </a:schemeClr>
                </a:solidFill>
                <a:latin typeface="Montserrat SemiBold" pitchFamily="2" charset="77"/>
                <a:cs typeface="Times New Roman" panose="02020603050405020304" pitchFamily="18" charset="0"/>
              </a:rPr>
              <a:t>Turismo nacional</a:t>
            </a:r>
          </a:p>
          <a:p>
            <a:pPr marL="15875">
              <a:lnSpc>
                <a:spcPct val="115000"/>
              </a:lnSpc>
              <a:spcAft>
                <a:spcPts val="0"/>
              </a:spcAft>
              <a:buClr>
                <a:srgbClr val="00325C"/>
              </a:buClr>
              <a:buSzPct val="100000"/>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654680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graphicFrame>
        <p:nvGraphicFramePr>
          <p:cNvPr id="10" name="Gráfico 9">
            <a:extLst>
              <a:ext uri="{FF2B5EF4-FFF2-40B4-BE49-F238E27FC236}">
                <a16:creationId xmlns:a16="http://schemas.microsoft.com/office/drawing/2014/main" id="{F5E3CE4B-B3D8-054C-8027-DEF65ADFCD5C}"/>
              </a:ext>
            </a:extLst>
          </p:cNvPr>
          <p:cNvGraphicFramePr/>
          <p:nvPr>
            <p:extLst>
              <p:ext uri="{D42A27DB-BD31-4B8C-83A1-F6EECF244321}">
                <p14:modId xmlns:p14="http://schemas.microsoft.com/office/powerpoint/2010/main" val="2467620485"/>
              </p:ext>
            </p:extLst>
          </p:nvPr>
        </p:nvGraphicFramePr>
        <p:xfrm>
          <a:off x="5972538" y="1378591"/>
          <a:ext cx="5625296" cy="4856956"/>
        </p:xfrm>
        <a:graphic>
          <a:graphicData uri="http://schemas.openxmlformats.org/drawingml/2006/chart">
            <c:chart xmlns:c="http://schemas.openxmlformats.org/drawingml/2006/chart" xmlns:r="http://schemas.openxmlformats.org/officeDocument/2006/relationships" r:id="rId2"/>
          </a:graphicData>
        </a:graphic>
      </p:graphicFrame>
      <p:sp>
        <p:nvSpPr>
          <p:cNvPr id="14" name="Rectángulo 13">
            <a:extLst>
              <a:ext uri="{FF2B5EF4-FFF2-40B4-BE49-F238E27FC236}">
                <a16:creationId xmlns:a16="http://schemas.microsoft.com/office/drawing/2014/main" id="{1CFD58CA-A813-5743-AE57-515A8E494B64}"/>
              </a:ext>
            </a:extLst>
          </p:cNvPr>
          <p:cNvSpPr/>
          <p:nvPr/>
        </p:nvSpPr>
        <p:spPr>
          <a:xfrm>
            <a:off x="7171155" y="615529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-15,21%</a:t>
            </a:r>
          </a:p>
        </p:txBody>
      </p:sp>
      <p:sp>
        <p:nvSpPr>
          <p:cNvPr id="16" name="Rectángulo 15">
            <a:extLst>
              <a:ext uri="{FF2B5EF4-FFF2-40B4-BE49-F238E27FC236}">
                <a16:creationId xmlns:a16="http://schemas.microsoft.com/office/drawing/2014/main" id="{D9D198FE-6AF2-4B4A-8407-877BA76CF8A3}"/>
              </a:ext>
            </a:extLst>
          </p:cNvPr>
          <p:cNvSpPr/>
          <p:nvPr/>
        </p:nvSpPr>
        <p:spPr>
          <a:xfrm>
            <a:off x="8246310" y="615529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+0,96%</a:t>
            </a:r>
          </a:p>
        </p:txBody>
      </p:sp>
      <p:sp>
        <p:nvSpPr>
          <p:cNvPr id="17" name="Rectángulo 16">
            <a:extLst>
              <a:ext uri="{FF2B5EF4-FFF2-40B4-BE49-F238E27FC236}">
                <a16:creationId xmlns:a16="http://schemas.microsoft.com/office/drawing/2014/main" id="{A5A65D30-A786-7747-A20C-130A06E7D9C2}"/>
              </a:ext>
            </a:extLst>
          </p:cNvPr>
          <p:cNvSpPr/>
          <p:nvPr/>
        </p:nvSpPr>
        <p:spPr>
          <a:xfrm>
            <a:off x="6096000" y="6155292"/>
            <a:ext cx="1042656"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+6,55%</a:t>
            </a:r>
          </a:p>
        </p:txBody>
      </p:sp>
      <p:sp>
        <p:nvSpPr>
          <p:cNvPr id="18" name="Rectángulo 17">
            <a:extLst>
              <a:ext uri="{FF2B5EF4-FFF2-40B4-BE49-F238E27FC236}">
                <a16:creationId xmlns:a16="http://schemas.microsoft.com/office/drawing/2014/main" id="{48CEF3A8-2335-AE4C-8DF9-204EC23126AD}"/>
              </a:ext>
            </a:extLst>
          </p:cNvPr>
          <p:cNvSpPr/>
          <p:nvPr/>
        </p:nvSpPr>
        <p:spPr>
          <a:xfrm>
            <a:off x="9321465" y="6155292"/>
            <a:ext cx="1064322"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+5,26%</a:t>
            </a:r>
          </a:p>
        </p:txBody>
      </p:sp>
      <p:sp>
        <p:nvSpPr>
          <p:cNvPr id="19" name="Rectángulo 18">
            <a:extLst>
              <a:ext uri="{FF2B5EF4-FFF2-40B4-BE49-F238E27FC236}">
                <a16:creationId xmlns:a16="http://schemas.microsoft.com/office/drawing/2014/main" id="{423F2A2D-5431-224E-9571-6438E5207F6E}"/>
              </a:ext>
            </a:extLst>
          </p:cNvPr>
          <p:cNvSpPr/>
          <p:nvPr/>
        </p:nvSpPr>
        <p:spPr>
          <a:xfrm>
            <a:off x="645601" y="2402166"/>
            <a:ext cx="5108989" cy="3271986"/>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AD0407"/>
                </a:solidFill>
                <a:latin typeface="Montserrat SemiBold" pitchFamily="2" charset="77"/>
                <a:cs typeface="Times New Roman" panose="02020603050405020304" pitchFamily="18" charset="0"/>
              </a:rPr>
              <a:t>Turismo internacional </a:t>
            </a:r>
          </a:p>
          <a:p>
            <a:r>
              <a:rPr lang="es-ES" sz="1200" kern="0">
                <a:solidFill>
                  <a:schemeClr val="tx1">
                    <a:lumMod val="75000"/>
                    <a:lumOff val="25000"/>
                  </a:schemeClr>
                </a:solidFill>
                <a:latin typeface="Montserrat" pitchFamily="2" charset="77"/>
                <a:cs typeface="Times New Roman" panose="02020603050405020304" pitchFamily="18" charset="0"/>
              </a:rPr>
              <a:t>Entre enero y octubre de 2025, el Reino Unido se mantiene como el principal mercado emisor internacional hacia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concentrando el mayor volumen de visitantes y confirmando su papel estructural dentro de la demanda turística internacional.</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Le siguen Francia y Alemania, que continúan aportando flujos relevantes de turistas, consolidándose como mercados maduros y estables, con una presencia sostenida a lo largo del año y un comportamiento especialmente significativo en los meses de mayor demanda.</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Por su parte, Países Bajos y Suiza presentan volúmenes más moderados, ampliando el abanico de mercados emisores y contribuyendo a una estructura de demanda menos concentrada.</a:t>
            </a:r>
          </a:p>
          <a:p>
            <a:pPr marL="15875">
              <a:lnSpc>
                <a:spcPct val="115000"/>
              </a:lnSpc>
              <a:spcAft>
                <a:spcPts val="0"/>
              </a:spcAft>
              <a:buClr>
                <a:srgbClr val="00325C"/>
              </a:buClr>
              <a:buSzPct val="100000"/>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20" name="Rectángulo 19">
            <a:extLst>
              <a:ext uri="{FF2B5EF4-FFF2-40B4-BE49-F238E27FC236}">
                <a16:creationId xmlns:a16="http://schemas.microsoft.com/office/drawing/2014/main" id="{74596BFC-4EB9-354B-A45B-EF069F822914}"/>
              </a:ext>
            </a:extLst>
          </p:cNvPr>
          <p:cNvSpPr/>
          <p:nvPr/>
        </p:nvSpPr>
        <p:spPr>
          <a:xfrm>
            <a:off x="638668" y="1392995"/>
            <a:ext cx="489797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Principales mercados emisores (Ene - Dic 2025) </a:t>
            </a:r>
          </a:p>
        </p:txBody>
      </p:sp>
      <p:sp>
        <p:nvSpPr>
          <p:cNvPr id="21" name="Rectángulo 20">
            <a:extLst>
              <a:ext uri="{FF2B5EF4-FFF2-40B4-BE49-F238E27FC236}">
                <a16:creationId xmlns:a16="http://schemas.microsoft.com/office/drawing/2014/main" id="{05645939-0905-3F47-A48F-7FD0998411E4}"/>
              </a:ext>
            </a:extLst>
          </p:cNvPr>
          <p:cNvSpPr/>
          <p:nvPr/>
        </p:nvSpPr>
        <p:spPr>
          <a:xfrm>
            <a:off x="10342455" y="6155292"/>
            <a:ext cx="1064322" cy="369332"/>
          </a:xfrm>
          <a:prstGeom prst="rect">
            <a:avLst/>
          </a:prstGeom>
        </p:spPr>
        <p:txBody>
          <a:bodyPr wrap="square">
            <a:spAutoFit/>
          </a:bodyPr>
          <a:lstStyle/>
          <a:p>
            <a:pPr algn="ctr"/>
            <a:r>
              <a:rPr lang="es-ES">
                <a:solidFill>
                  <a:schemeClr val="bg1"/>
                </a:solidFill>
                <a:latin typeface="DM Serif Display" pitchFamily="2" charset="0"/>
                <a:cs typeface="Times New Roman" panose="02020603050405020304" pitchFamily="18" charset="0"/>
              </a:rPr>
              <a:t>+7,59%</a:t>
            </a:r>
          </a:p>
        </p:txBody>
      </p:sp>
      <p:sp>
        <p:nvSpPr>
          <p:cNvPr id="3" name="Rectángulo 2">
            <a:extLst>
              <a:ext uri="{FF2B5EF4-FFF2-40B4-BE49-F238E27FC236}">
                <a16:creationId xmlns:a16="http://schemas.microsoft.com/office/drawing/2014/main" id="{E23BD8F2-9C17-7B16-3FA5-530F801D270E}"/>
              </a:ext>
            </a:extLst>
          </p:cNvPr>
          <p:cNvSpPr/>
          <p:nvPr/>
        </p:nvSpPr>
        <p:spPr>
          <a:xfrm>
            <a:off x="7925811" y="6524624"/>
            <a:ext cx="1683654" cy="297133"/>
          </a:xfrm>
          <a:prstGeom prst="rect">
            <a:avLst/>
          </a:prstGeom>
        </p:spPr>
        <p:txBody>
          <a:bodyPr wrap="square">
            <a:spAutoFit/>
          </a:bodyPr>
          <a:lstStyle/>
          <a:p>
            <a:pPr algn="ctr">
              <a:lnSpc>
                <a:spcPts val="1800"/>
              </a:lnSpc>
            </a:pPr>
            <a:r>
              <a:rPr lang="es-ES" sz="1000">
                <a:solidFill>
                  <a:schemeClr val="bg1"/>
                </a:solidFill>
                <a:latin typeface="Montserrat Medium" pitchFamily="2" charset="77"/>
                <a:ea typeface="Times New Roman" panose="02020603050405020304" pitchFamily="18" charset="0"/>
                <a:cs typeface="Times New Roman" panose="02020603050405020304" pitchFamily="18" charset="0"/>
              </a:rPr>
              <a:t>CRECIMIENTO 24-25</a:t>
            </a:r>
            <a:endParaRPr lang="es-ES" sz="1000">
              <a:solidFill>
                <a:schemeClr val="bg1"/>
              </a:solidFill>
              <a:latin typeface="Montserrat Medium" pitchFamily="2" charset="77"/>
            </a:endParaRPr>
          </a:p>
        </p:txBody>
      </p:sp>
      <p:sp>
        <p:nvSpPr>
          <p:cNvPr id="5" name="Rectángulo 4">
            <a:extLst>
              <a:ext uri="{FF2B5EF4-FFF2-40B4-BE49-F238E27FC236}">
                <a16:creationId xmlns:a16="http://schemas.microsoft.com/office/drawing/2014/main" id="{F8A0C2C6-FE3C-726D-C9EE-E3B09A71D1A6}"/>
              </a:ext>
            </a:extLst>
          </p:cNvPr>
          <p:cNvSpPr/>
          <p:nvPr/>
        </p:nvSpPr>
        <p:spPr>
          <a:xfrm>
            <a:off x="8352759" y="1089514"/>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1121903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1240-B700-D1AD-918C-4FD241B09BCA}"/>
            </a:ext>
          </a:extLst>
        </p:cNvPr>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FF43A926-926B-905B-0BD7-A674A530C059}"/>
              </a:ext>
            </a:extLst>
          </p:cNvPr>
          <p:cNvGraphicFramePr/>
          <p:nvPr>
            <p:extLst>
              <p:ext uri="{D42A27DB-BD31-4B8C-83A1-F6EECF244321}">
                <p14:modId xmlns:p14="http://schemas.microsoft.com/office/powerpoint/2010/main" val="2018903886"/>
              </p:ext>
            </p:extLst>
          </p:nvPr>
        </p:nvGraphicFramePr>
        <p:xfrm>
          <a:off x="3573836" y="1392995"/>
          <a:ext cx="7008367" cy="4078784"/>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ángulo 5">
            <a:extLst>
              <a:ext uri="{FF2B5EF4-FFF2-40B4-BE49-F238E27FC236}">
                <a16:creationId xmlns:a16="http://schemas.microsoft.com/office/drawing/2014/main" id="{730F7F68-D7B7-C4B0-8222-56E1987C440B}"/>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sp>
        <p:nvSpPr>
          <p:cNvPr id="7" name="Rectángulo 6">
            <a:extLst>
              <a:ext uri="{FF2B5EF4-FFF2-40B4-BE49-F238E27FC236}">
                <a16:creationId xmlns:a16="http://schemas.microsoft.com/office/drawing/2014/main" id="{5E1AF723-3738-7C6F-19DD-D94149FAD9A2}"/>
              </a:ext>
            </a:extLst>
          </p:cNvPr>
          <p:cNvSpPr/>
          <p:nvPr/>
        </p:nvSpPr>
        <p:spPr>
          <a:xfrm>
            <a:off x="638668" y="1392995"/>
            <a:ext cx="447531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Principales mercados emisores</a:t>
            </a:r>
          </a:p>
        </p:txBody>
      </p:sp>
      <p:sp>
        <p:nvSpPr>
          <p:cNvPr id="9" name="Rectángulo 8">
            <a:extLst>
              <a:ext uri="{FF2B5EF4-FFF2-40B4-BE49-F238E27FC236}">
                <a16:creationId xmlns:a16="http://schemas.microsoft.com/office/drawing/2014/main" id="{2F840203-C752-3D0F-093C-7E34E9AA2613}"/>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
        <p:nvSpPr>
          <p:cNvPr id="4" name="Rectángulo 3">
            <a:extLst>
              <a:ext uri="{FF2B5EF4-FFF2-40B4-BE49-F238E27FC236}">
                <a16:creationId xmlns:a16="http://schemas.microsoft.com/office/drawing/2014/main" id="{AAEB8A45-20FF-D0F2-84D6-40FB14682C11}"/>
              </a:ext>
            </a:extLst>
          </p:cNvPr>
          <p:cNvSpPr/>
          <p:nvPr/>
        </p:nvSpPr>
        <p:spPr>
          <a:xfrm>
            <a:off x="638668" y="2373529"/>
            <a:ext cx="5108989" cy="501997"/>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AD0407"/>
                </a:solidFill>
                <a:latin typeface="Montserrat SemiBold" pitchFamily="2" charset="77"/>
                <a:cs typeface="Times New Roman" panose="02020603050405020304" pitchFamily="18" charset="0"/>
              </a:rPr>
              <a:t>Turismo internacional </a:t>
            </a:r>
          </a:p>
          <a:p>
            <a:pPr marL="15875">
              <a:lnSpc>
                <a:spcPct val="115000"/>
              </a:lnSpc>
              <a:spcAft>
                <a:spcPts val="0"/>
              </a:spcAft>
              <a:buClr>
                <a:srgbClr val="00325C"/>
              </a:buClr>
              <a:buSzPct val="100000"/>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4030501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CCDAD-BF63-CB2B-312E-54841D9549D1}"/>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C69E9591-CD5D-4BD8-C4D0-B5C765A8B104}"/>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tx1">
                  <a:lumMod val="75000"/>
                  <a:lumOff val="25000"/>
                </a:schemeClr>
              </a:solidFill>
              <a:latin typeface="Montserrat Medium" pitchFamily="2" charset="77"/>
            </a:endParaRPr>
          </a:p>
        </p:txBody>
      </p:sp>
      <p:graphicFrame>
        <p:nvGraphicFramePr>
          <p:cNvPr id="10" name="Gráfico 9">
            <a:extLst>
              <a:ext uri="{FF2B5EF4-FFF2-40B4-BE49-F238E27FC236}">
                <a16:creationId xmlns:a16="http://schemas.microsoft.com/office/drawing/2014/main" id="{D92B5DCD-C71A-DEBC-E793-48819857ACBE}"/>
              </a:ext>
            </a:extLst>
          </p:cNvPr>
          <p:cNvGraphicFramePr/>
          <p:nvPr>
            <p:extLst>
              <p:ext uri="{D42A27DB-BD31-4B8C-83A1-F6EECF244321}">
                <p14:modId xmlns:p14="http://schemas.microsoft.com/office/powerpoint/2010/main" val="962252651"/>
              </p:ext>
            </p:extLst>
          </p:nvPr>
        </p:nvGraphicFramePr>
        <p:xfrm>
          <a:off x="5972538" y="1378592"/>
          <a:ext cx="5625296" cy="4732648"/>
        </p:xfrm>
        <a:graphic>
          <a:graphicData uri="http://schemas.openxmlformats.org/drawingml/2006/chart">
            <c:chart xmlns:c="http://schemas.openxmlformats.org/drawingml/2006/chart" xmlns:r="http://schemas.openxmlformats.org/officeDocument/2006/relationships" r:id="rId2"/>
          </a:graphicData>
        </a:graphic>
      </p:graphicFrame>
      <p:sp>
        <p:nvSpPr>
          <p:cNvPr id="19" name="Rectángulo 18">
            <a:extLst>
              <a:ext uri="{FF2B5EF4-FFF2-40B4-BE49-F238E27FC236}">
                <a16:creationId xmlns:a16="http://schemas.microsoft.com/office/drawing/2014/main" id="{728D42DC-1BE0-385E-6331-9AD2ED4DE7DA}"/>
              </a:ext>
            </a:extLst>
          </p:cNvPr>
          <p:cNvSpPr/>
          <p:nvPr/>
        </p:nvSpPr>
        <p:spPr>
          <a:xfrm>
            <a:off x="675648" y="2464374"/>
            <a:ext cx="4928755" cy="3244286"/>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población flotante media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se sitúa en </a:t>
            </a:r>
            <a:r>
              <a:rPr lang="es-ES" sz="1200" b="1" kern="0">
                <a:solidFill>
                  <a:schemeClr val="tx1">
                    <a:lumMod val="75000"/>
                    <a:lumOff val="25000"/>
                  </a:schemeClr>
                </a:solidFill>
                <a:latin typeface="Montserrat" pitchFamily="2" charset="77"/>
                <a:cs typeface="Times New Roman" panose="02020603050405020304" pitchFamily="18" charset="0"/>
              </a:rPr>
              <a:t>134.387 personas</a:t>
            </a:r>
            <a:r>
              <a:rPr lang="es-ES" sz="1200" kern="0">
                <a:solidFill>
                  <a:schemeClr val="tx1">
                    <a:lumMod val="75000"/>
                    <a:lumOff val="25000"/>
                  </a:schemeClr>
                </a:solidFill>
                <a:latin typeface="Montserrat" pitchFamily="2" charset="77"/>
                <a:cs typeface="Times New Roman" panose="02020603050405020304" pitchFamily="18" charset="0"/>
              </a:rPr>
              <a:t>, el valor más elevado de la serie analizada y claramente por encima de los registros de 2024 (117.366) y 2023 (111.667). La evolución confirma una tendencia creciente en la presencia de población no residente, asociada al aumento de la actividad turística y a una mayor intensidad de uso del destino.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Este incremento también se observa en la población residente, que en 2025 alcanza una media de 80.509 personas, frente a las 77.330 de 2024 y las 77.945 de 2023. En conjunto, los datos reflejan una mayor presión demográfica estacional y estructural, lo que refuerza la necesidad de planificar la gestión de servicios, infraestructuras y capacidad de carga del municipio.</a:t>
            </a:r>
          </a:p>
          <a:p>
            <a:endParaRPr lang="es-ES" sz="1200" kern="0">
              <a:solidFill>
                <a:schemeClr val="tx1">
                  <a:lumMod val="75000"/>
                  <a:lumOff val="25000"/>
                </a:schemeClr>
              </a:solidFill>
              <a:latin typeface="Montserrat" pitchFamily="2" charset="77"/>
              <a:cs typeface="Times New Roman" panose="02020603050405020304" pitchFamily="18" charset="0"/>
            </a:endParaRPr>
          </a:p>
          <a:p>
            <a:pPr marL="15875">
              <a:lnSpc>
                <a:spcPct val="115000"/>
              </a:lnSpc>
              <a:spcAft>
                <a:spcPts val="0"/>
              </a:spcAft>
              <a:buClr>
                <a:srgbClr val="00325C"/>
              </a:buClr>
              <a:buSzPct val="100000"/>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20" name="Rectángulo 19">
            <a:extLst>
              <a:ext uri="{FF2B5EF4-FFF2-40B4-BE49-F238E27FC236}">
                <a16:creationId xmlns:a16="http://schemas.microsoft.com/office/drawing/2014/main" id="{40CF4FEF-ECC3-3B9A-9D9A-6609BA771B6C}"/>
              </a:ext>
            </a:extLst>
          </p:cNvPr>
          <p:cNvSpPr/>
          <p:nvPr/>
        </p:nvSpPr>
        <p:spPr>
          <a:xfrm>
            <a:off x="638668" y="1392995"/>
            <a:ext cx="4475314" cy="923266"/>
          </a:xfrm>
          <a:prstGeom prst="rect">
            <a:avLst/>
          </a:prstGeom>
        </p:spPr>
        <p:txBody>
          <a:bodyPr wrap="square">
            <a:spAutoFit/>
          </a:bodyPr>
          <a:lstStyle/>
          <a:p>
            <a:pPr>
              <a:lnSpc>
                <a:spcPts val="3200"/>
              </a:lnSpc>
            </a:pPr>
            <a:r>
              <a:rPr lang="es-ES" sz="3000">
                <a:solidFill>
                  <a:schemeClr val="tx1">
                    <a:lumMod val="85000"/>
                    <a:lumOff val="15000"/>
                  </a:schemeClr>
                </a:solidFill>
                <a:latin typeface="DM Serif Display" pitchFamily="2" charset="0"/>
                <a:cs typeface="Times New Roman" panose="02020603050405020304" pitchFamily="18" charset="0"/>
              </a:rPr>
              <a:t>Evolución de la población flotante</a:t>
            </a:r>
          </a:p>
        </p:txBody>
      </p:sp>
      <p:sp>
        <p:nvSpPr>
          <p:cNvPr id="3" name="Rectángulo 2">
            <a:extLst>
              <a:ext uri="{FF2B5EF4-FFF2-40B4-BE49-F238E27FC236}">
                <a16:creationId xmlns:a16="http://schemas.microsoft.com/office/drawing/2014/main" id="{3391ACBB-3498-44BF-657F-B20E1383D02C}"/>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
        <p:nvSpPr>
          <p:cNvPr id="4" name="Rectángulo 3">
            <a:extLst>
              <a:ext uri="{FF2B5EF4-FFF2-40B4-BE49-F238E27FC236}">
                <a16:creationId xmlns:a16="http://schemas.microsoft.com/office/drawing/2014/main" id="{A9324BEC-818B-77DE-1069-B450FBBD9BC9}"/>
              </a:ext>
            </a:extLst>
          </p:cNvPr>
          <p:cNvSpPr/>
          <p:nvPr/>
        </p:nvSpPr>
        <p:spPr>
          <a:xfrm>
            <a:off x="6096001" y="1090770"/>
            <a:ext cx="5372099" cy="273152"/>
          </a:xfrm>
          <a:prstGeom prst="rect">
            <a:avLst/>
          </a:prstGeom>
          <a:noFill/>
        </p:spPr>
        <p:txBody>
          <a:bodyPr wrap="square">
            <a:spAutoFit/>
          </a:bodyPr>
          <a:lstStyle/>
          <a:p>
            <a:pPr marL="15875" algn="ctr">
              <a:lnSpc>
                <a:spcPct val="115000"/>
              </a:lnSpc>
              <a:spcAft>
                <a:spcPts val="0"/>
              </a:spcAft>
              <a:buClr>
                <a:srgbClr val="00325C"/>
              </a:buClr>
              <a:buSzPct val="100000"/>
            </a:pPr>
            <a:r>
              <a:rPr lang="es-ES" sz="1100" b="1" kern="0">
                <a:solidFill>
                  <a:schemeClr val="bg1"/>
                </a:solidFill>
                <a:highlight>
                  <a:srgbClr val="000000"/>
                </a:highlight>
                <a:latin typeface="Montserrat SemiBold" pitchFamily="2" charset="77"/>
                <a:cs typeface="Times New Roman" panose="02020603050405020304" pitchFamily="18" charset="0"/>
              </a:rPr>
              <a:t> Población residente</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AD0407"/>
                </a:highlight>
                <a:latin typeface="Montserrat SemiBold" pitchFamily="2" charset="77"/>
                <a:cs typeface="Times New Roman" panose="02020603050405020304" pitchFamily="18" charset="0"/>
              </a:rPr>
              <a:t>Población flotante</a:t>
            </a:r>
            <a:endParaRPr lang="es-ES" sz="1100" b="1" kern="0">
              <a:solidFill>
                <a:srgbClr val="76B463"/>
              </a:solidFill>
              <a:highlight>
                <a:srgbClr val="F5272D"/>
              </a:highlight>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712549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2F00E-1DA3-74B4-25B6-1AA98F83AD6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2C29E7D-2061-A76F-E646-013E9DAD3EE8}"/>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POBLACIÓN FLOTANTE</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88082E48-AC1B-567A-44C4-E68CB64CC134}"/>
              </a:ext>
            </a:extLst>
          </p:cNvPr>
          <p:cNvSpPr/>
          <p:nvPr/>
        </p:nvSpPr>
        <p:spPr>
          <a:xfrm>
            <a:off x="638668" y="1392995"/>
            <a:ext cx="4475314" cy="923266"/>
          </a:xfrm>
          <a:prstGeom prst="rect">
            <a:avLst/>
          </a:prstGeom>
        </p:spPr>
        <p:txBody>
          <a:bodyPr wrap="square">
            <a:spAutoFit/>
          </a:bodyPr>
          <a:lstStyle/>
          <a:p>
            <a:pPr>
              <a:lnSpc>
                <a:spcPts val="3200"/>
              </a:lnSpc>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de la población flotante</a:t>
            </a:r>
          </a:p>
        </p:txBody>
      </p:sp>
      <p:sp>
        <p:nvSpPr>
          <p:cNvPr id="12" name="Rectángulo 11">
            <a:extLst>
              <a:ext uri="{FF2B5EF4-FFF2-40B4-BE49-F238E27FC236}">
                <a16:creationId xmlns:a16="http://schemas.microsoft.com/office/drawing/2014/main" id="{4C1F1B97-CAEA-2851-6A28-F69D8D82C4D5}"/>
              </a:ext>
            </a:extLst>
          </p:cNvPr>
          <p:cNvSpPr/>
          <p:nvPr/>
        </p:nvSpPr>
        <p:spPr>
          <a:xfrm>
            <a:off x="638668" y="2436674"/>
            <a:ext cx="5093537" cy="3271986"/>
          </a:xfrm>
          <a:prstGeom prst="rect">
            <a:avLst/>
          </a:prstGeom>
        </p:spPr>
        <p:txBody>
          <a:bodyPr wrap="square">
            <a:spAutoFit/>
          </a:bodyPr>
          <a:lstStyle/>
          <a:p>
            <a:pPr marL="15875">
              <a:lnSpc>
                <a:spcPct val="115000"/>
              </a:lnSpc>
              <a:spcAft>
                <a:spcPts val="0"/>
              </a:spcAft>
              <a:buClr>
                <a:srgbClr val="00325C"/>
              </a:buClr>
              <a:buSzPct val="100000"/>
            </a:pPr>
            <a:r>
              <a:rPr lang="es-ES" sz="1200" b="1" kern="0">
                <a:solidFill>
                  <a:srgbClr val="AD0407"/>
                </a:solidFill>
                <a:latin typeface="Montserrat SemiBold" pitchFamily="2" charset="77"/>
                <a:cs typeface="Times New Roman" panose="02020603050405020304" pitchFamily="18" charset="0"/>
              </a:rPr>
              <a:t>Desglose mensual</a:t>
            </a:r>
          </a:p>
          <a:p>
            <a:r>
              <a:rPr lang="es-ES" sz="1200" kern="0">
                <a:solidFill>
                  <a:schemeClr val="tx1">
                    <a:lumMod val="75000"/>
                    <a:lumOff val="25000"/>
                  </a:schemeClr>
                </a:solidFill>
                <a:latin typeface="Montserrat" pitchFamily="2" charset="77"/>
                <a:cs typeface="Times New Roman" panose="02020603050405020304" pitchFamily="18" charset="0"/>
              </a:rPr>
              <a:t>En 2025, la población flotante de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presenta un patrón estacional muy marcado, con un crecimiento progresivo desde los primeros meses del año, partiendo de valores en torno a 90.000–100.000 personas, hasta alcanzar su máximo en agosto, cuando se superan ampliamente las 230.000 personas en el municipio. </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A partir de septiembre, la población flotante desciende de forma gradual, situándose nuevamente en el entorno de las 100.000 personas en otoño, aunque manteniéndose claramente por encima de la población residente durante gran parte del año. Esta dinámica confirma la fuerte presión estacional del destino y la relevancia estructural del turismo en la configuración demográfica del municipio.</a:t>
            </a:r>
          </a:p>
          <a:p>
            <a:endParaRPr lang="es-ES" sz="1200" kern="0">
              <a:solidFill>
                <a:schemeClr val="tx1">
                  <a:lumMod val="75000"/>
                  <a:lumOff val="25000"/>
                </a:schemeClr>
              </a:solidFill>
              <a:latin typeface="Montserrat" pitchFamily="2" charset="77"/>
              <a:cs typeface="Times New Roman" panose="02020603050405020304" pitchFamily="18" charset="0"/>
            </a:endParaRPr>
          </a:p>
          <a:p>
            <a:pPr marL="9525">
              <a:lnSpc>
                <a:spcPct val="115000"/>
              </a:lnSpc>
              <a:spcAft>
                <a:spcPts val="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2E8A8356-D2F1-A62D-31B7-4D61DB349CC2}"/>
              </a:ext>
            </a:extLst>
          </p:cNvPr>
          <p:cNvGraphicFramePr>
            <a:graphicFrameLocks/>
          </p:cNvGraphicFramePr>
          <p:nvPr>
            <p:extLst>
              <p:ext uri="{D42A27DB-BD31-4B8C-83A1-F6EECF244321}">
                <p14:modId xmlns:p14="http://schemas.microsoft.com/office/powerpoint/2010/main" val="663301553"/>
              </p:ext>
            </p:extLst>
          </p:nvPr>
        </p:nvGraphicFramePr>
        <p:xfrm>
          <a:off x="5839767" y="1392995"/>
          <a:ext cx="5906756" cy="3942680"/>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257C1A0E-C69C-718D-5869-ECA5AD502D1E}"/>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2948662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6695B7C1-D16D-134C-8ECC-B557C112AF41}"/>
              </a:ext>
            </a:extLst>
          </p:cNvPr>
          <p:cNvPicPr>
            <a:picLocks noChangeAspect="1"/>
          </p:cNvPicPr>
          <p:nvPr/>
        </p:nvPicPr>
        <p:blipFill>
          <a:blip r:embed="rId2"/>
          <a:srcRect/>
          <a:stretch/>
        </p:blipFill>
        <p:spPr>
          <a:xfrm>
            <a:off x="-221103" y="-232229"/>
            <a:ext cx="12616303" cy="7352225"/>
          </a:xfrm>
          <a:prstGeom prst="rect">
            <a:avLst/>
          </a:prstGeom>
        </p:spPr>
      </p:pic>
      <p:sp>
        <p:nvSpPr>
          <p:cNvPr id="19" name="Rectángulo 18">
            <a:extLst>
              <a:ext uri="{FF2B5EF4-FFF2-40B4-BE49-F238E27FC236}">
                <a16:creationId xmlns:a16="http://schemas.microsoft.com/office/drawing/2014/main" id="{5955D038-14DA-DF4A-8A3A-E7413977177B}"/>
              </a:ext>
            </a:extLst>
          </p:cNvPr>
          <p:cNvSpPr/>
          <p:nvPr/>
        </p:nvSpPr>
        <p:spPr>
          <a:xfrm>
            <a:off x="-88899" y="-232229"/>
            <a:ext cx="12484099" cy="7141029"/>
          </a:xfrm>
          <a:prstGeom prst="rect">
            <a:avLst/>
          </a:prstGeom>
          <a:solidFill>
            <a:srgbClr val="81060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270CDAAA-E423-4241-B0DB-04E6C5AC5E0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bg1"/>
                </a:solidFill>
                <a:latin typeface="Montserrat Medium" pitchFamily="2" charset="77"/>
                <a:ea typeface="Times New Roman" panose="02020603050405020304" pitchFamily="18" charset="0"/>
                <a:cs typeface="Times New Roman" panose="02020603050405020304" pitchFamily="18" charset="0"/>
              </a:rPr>
              <a:t>AFLUENCIA TURÍSTICA</a:t>
            </a:r>
            <a:endParaRPr lang="es-ES" sz="120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69982C3D-B931-114F-A527-E7F3B6610129}"/>
              </a:ext>
            </a:extLst>
          </p:cNvPr>
          <p:cNvSpPr/>
          <p:nvPr/>
        </p:nvSpPr>
        <p:spPr>
          <a:xfrm>
            <a:off x="638668" y="1392995"/>
            <a:ext cx="7139240" cy="512897"/>
          </a:xfrm>
          <a:prstGeom prst="rect">
            <a:avLst/>
          </a:prstGeom>
        </p:spPr>
        <p:txBody>
          <a:bodyPr wrap="square">
            <a:spAutoFit/>
          </a:bodyPr>
          <a:lstStyle/>
          <a:p>
            <a:pPr>
              <a:lnSpc>
                <a:spcPts val="3200"/>
              </a:lnSpc>
            </a:pPr>
            <a:r>
              <a:rPr lang="es-ES" sz="300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E5585DDF-1162-364C-93D6-09AB71A7B6BE}"/>
              </a:ext>
            </a:extLst>
          </p:cNvPr>
          <p:cNvSpPr/>
          <p:nvPr/>
        </p:nvSpPr>
        <p:spPr>
          <a:xfrm>
            <a:off x="638669" y="2020610"/>
            <a:ext cx="5123034" cy="265495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Afluencia creciente de turistas</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Entre enero y diciembre de 2025, </a:t>
            </a:r>
            <a:r>
              <a:rPr lang="es-ES" sz="1400" kern="0" err="1">
                <a:solidFill>
                  <a:schemeClr val="bg1"/>
                </a:solidFill>
                <a:latin typeface="Montserrat" pitchFamily="2" charset="77"/>
                <a:cs typeface="Times New Roman" panose="02020603050405020304" pitchFamily="18" charset="0"/>
              </a:rPr>
              <a:t>Dénia</a:t>
            </a:r>
            <a:r>
              <a:rPr lang="es-ES" sz="1400" kern="0">
                <a:solidFill>
                  <a:schemeClr val="bg1"/>
                </a:solidFill>
                <a:latin typeface="Montserrat" pitchFamily="2" charset="77"/>
                <a:cs typeface="Times New Roman" panose="02020603050405020304" pitchFamily="18" charset="0"/>
              </a:rPr>
              <a:t> registró 1.129.636 turistas, alcanzando el valor más alto de la serie y superando el máximo de 2024 (1.099.783).</a:t>
            </a:r>
          </a:p>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Reequilibrio interno de la demanda</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En 2025 se observa una moderación del mercado nacional (516.892 frente a 599.018 en 2024) y un fuerte avance del turismo internacional (612.744 frente a 491.765), ganando peso relativo en la afluencia total.</a:t>
            </a:r>
          </a:p>
        </p:txBody>
      </p:sp>
      <p:sp>
        <p:nvSpPr>
          <p:cNvPr id="11" name="Rectángulo 10">
            <a:extLst>
              <a:ext uri="{FF2B5EF4-FFF2-40B4-BE49-F238E27FC236}">
                <a16:creationId xmlns:a16="http://schemas.microsoft.com/office/drawing/2014/main" id="{0B5F7BD0-6DBF-5447-8B94-BC6D8E119919}"/>
              </a:ext>
            </a:extLst>
          </p:cNvPr>
          <p:cNvSpPr/>
          <p:nvPr/>
        </p:nvSpPr>
        <p:spPr>
          <a:xfrm>
            <a:off x="5893908" y="2020610"/>
            <a:ext cx="5659424" cy="364599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Estacionalidad marcada, con señales de extensión temporal</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La demanda continúa concentrándose en julio y agosto. No obstante, el perfil mensual de 2025 se sitúa por encima de años previos en buena parte del calendario, especialmente en el mercado internacional, lo que apunta a una mayor consistencia de la actividad fuera de los meses punta.</a:t>
            </a:r>
          </a:p>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Mayor intensidad de uso del destino</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La población flotante media alcanza en 2025 134.387 personas (máximo de la serie 2023–2025), con picos estivales superiores a 200.000, evidenciando una presión estacional elevada y la necesidad de seguir orientando la gestión a un equilibrio territorial y temporal.</a:t>
            </a:r>
          </a:p>
        </p:txBody>
      </p:sp>
      <p:cxnSp>
        <p:nvCxnSpPr>
          <p:cNvPr id="15" name="Conector recto 14">
            <a:extLst>
              <a:ext uri="{FF2B5EF4-FFF2-40B4-BE49-F238E27FC236}">
                <a16:creationId xmlns:a16="http://schemas.microsoft.com/office/drawing/2014/main" id="{D45F87A6-B39A-D240-AF6E-327E9E8BDBFA}"/>
              </a:ext>
            </a:extLst>
          </p:cNvPr>
          <p:cNvCxnSpPr>
            <a:cxnSpLocks/>
            <a:endCxn id="17" idx="1"/>
          </p:cNvCxnSpPr>
          <p:nvPr/>
        </p:nvCxnSpPr>
        <p:spPr>
          <a:xfrm>
            <a:off x="717632" y="520861"/>
            <a:ext cx="5926184" cy="3262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ángulo 16">
            <a:extLst>
              <a:ext uri="{FF2B5EF4-FFF2-40B4-BE49-F238E27FC236}">
                <a16:creationId xmlns:a16="http://schemas.microsoft.com/office/drawing/2014/main" id="{76F2074B-A6EC-3E40-B452-DD5E4D4F27F7}"/>
              </a:ext>
            </a:extLst>
          </p:cNvPr>
          <p:cNvSpPr/>
          <p:nvPr/>
        </p:nvSpPr>
        <p:spPr>
          <a:xfrm>
            <a:off x="6643816" y="430374"/>
            <a:ext cx="4921540" cy="246221"/>
          </a:xfrm>
          <a:prstGeom prst="rect">
            <a:avLst/>
          </a:prstGeom>
        </p:spPr>
        <p:txBody>
          <a:bodyPr wrap="none">
            <a:spAutoFit/>
          </a:bodyPr>
          <a:lstStyle/>
          <a:p>
            <a:pPr algn="r"/>
            <a:r>
              <a:rPr lang="es-ES" sz="1000" b="1">
                <a:solidFill>
                  <a:schemeClr val="bg1"/>
                </a:solidFill>
                <a:latin typeface="Montserrat SemiBold" pitchFamily="2" charset="77"/>
              </a:rPr>
              <a:t>INFORME DE ANÁLISIS DE DATOS | SMART OFFICE DENIA | ENE – DIC 25</a:t>
            </a:r>
          </a:p>
        </p:txBody>
      </p:sp>
      <p:grpSp>
        <p:nvGrpSpPr>
          <p:cNvPr id="2" name="Grupo 1">
            <a:extLst>
              <a:ext uri="{FF2B5EF4-FFF2-40B4-BE49-F238E27FC236}">
                <a16:creationId xmlns:a16="http://schemas.microsoft.com/office/drawing/2014/main" id="{6BDA6990-11A7-91FD-B0D8-3FF2299FF900}"/>
              </a:ext>
            </a:extLst>
          </p:cNvPr>
          <p:cNvGrpSpPr/>
          <p:nvPr/>
        </p:nvGrpSpPr>
        <p:grpSpPr>
          <a:xfrm>
            <a:off x="766736" y="5994100"/>
            <a:ext cx="3903956" cy="476250"/>
            <a:chOff x="643469" y="6033429"/>
            <a:chExt cx="3903956" cy="476250"/>
          </a:xfrm>
        </p:grpSpPr>
        <p:pic>
          <p:nvPicPr>
            <p:cNvPr id="4" name="Imagen 3">
              <a:extLst>
                <a:ext uri="{FF2B5EF4-FFF2-40B4-BE49-F238E27FC236}">
                  <a16:creationId xmlns:a16="http://schemas.microsoft.com/office/drawing/2014/main" id="{19655973-1297-1865-4F05-D1597C750BE8}"/>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5" name="Imagen 4">
              <a:extLst>
                <a:ext uri="{FF2B5EF4-FFF2-40B4-BE49-F238E27FC236}">
                  <a16:creationId xmlns:a16="http://schemas.microsoft.com/office/drawing/2014/main" id="{5FF10018-A20C-FDC2-3E84-36C45A9880FF}"/>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6" name="Imagen 5" descr="Imagen que contiene Logotipo&#10;&#10;Descripción generada automáticamente">
            <a:extLst>
              <a:ext uri="{FF2B5EF4-FFF2-40B4-BE49-F238E27FC236}">
                <a16:creationId xmlns:a16="http://schemas.microsoft.com/office/drawing/2014/main" id="{0F34A559-B96A-15DF-B888-65CDDA1511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2119977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BCF689F-2CE8-BE49-9F6A-A5E2C1489191}"/>
              </a:ext>
            </a:extLst>
          </p:cNvPr>
          <p:cNvSpPr/>
          <p:nvPr/>
        </p:nvSpPr>
        <p:spPr>
          <a:xfrm>
            <a:off x="7535538"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02</a:t>
            </a:r>
            <a:endParaRPr lang="es-ES" sz="30000">
              <a:solidFill>
                <a:schemeClr val="bg2"/>
              </a:solidFill>
              <a:latin typeface="DM Serif Display" pitchFamily="2" charset="0"/>
            </a:endParaRPr>
          </a:p>
        </p:txBody>
      </p:sp>
      <p:sp>
        <p:nvSpPr>
          <p:cNvPr id="2" name="Rectángulo 1">
            <a:extLst>
              <a:ext uri="{FF2B5EF4-FFF2-40B4-BE49-F238E27FC236}">
                <a16:creationId xmlns:a16="http://schemas.microsoft.com/office/drawing/2014/main" id="{E1AAF08B-AB44-6547-891C-337A413BF743}"/>
              </a:ext>
            </a:extLst>
          </p:cNvPr>
          <p:cNvSpPr/>
          <p:nvPr/>
        </p:nvSpPr>
        <p:spPr>
          <a:xfrm>
            <a:off x="629084" y="1390653"/>
            <a:ext cx="3157104" cy="1185324"/>
          </a:xfrm>
          <a:prstGeom prst="rect">
            <a:avLst/>
          </a:prstGeom>
        </p:spPr>
        <p:txBody>
          <a:bodyPr wrap="square">
            <a:spAutoFit/>
          </a:bodyPr>
          <a:lstStyle/>
          <a:p>
            <a:pPr>
              <a:lnSpc>
                <a:spcPts val="42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Gasto turístico</a:t>
            </a:r>
            <a:endParaRPr lang="es-ES" sz="4000">
              <a:solidFill>
                <a:schemeClr val="tx1">
                  <a:lumMod val="85000"/>
                  <a:lumOff val="15000"/>
                </a:schemeClr>
              </a:solidFill>
              <a:latin typeface="DM Serif Display" pitchFamily="2" charset="0"/>
            </a:endParaRPr>
          </a:p>
        </p:txBody>
      </p:sp>
      <p:pic>
        <p:nvPicPr>
          <p:cNvPr id="8" name="Imagen 7">
            <a:extLst>
              <a:ext uri="{FF2B5EF4-FFF2-40B4-BE49-F238E27FC236}">
                <a16:creationId xmlns:a16="http://schemas.microsoft.com/office/drawing/2014/main" id="{757D1ADE-F019-724F-853B-D93A84D1937A}"/>
              </a:ext>
            </a:extLst>
          </p:cNvPr>
          <p:cNvPicPr>
            <a:picLocks noChangeAspect="1"/>
          </p:cNvPicPr>
          <p:nvPr/>
        </p:nvPicPr>
        <p:blipFill>
          <a:blip r:embed="rId2"/>
          <a:srcRect/>
          <a:stretch/>
        </p:blipFill>
        <p:spPr>
          <a:xfrm>
            <a:off x="-101600" y="3457815"/>
            <a:ext cx="12369800" cy="3534880"/>
          </a:xfrm>
          <a:prstGeom prst="rect">
            <a:avLst/>
          </a:prstGeom>
        </p:spPr>
      </p:pic>
      <p:grpSp>
        <p:nvGrpSpPr>
          <p:cNvPr id="3" name="Grupo 2">
            <a:extLst>
              <a:ext uri="{FF2B5EF4-FFF2-40B4-BE49-F238E27FC236}">
                <a16:creationId xmlns:a16="http://schemas.microsoft.com/office/drawing/2014/main" id="{2854DBF3-F6F5-C6FF-4F38-218E2DF8E6DB}"/>
              </a:ext>
            </a:extLst>
          </p:cNvPr>
          <p:cNvGrpSpPr/>
          <p:nvPr/>
        </p:nvGrpSpPr>
        <p:grpSpPr>
          <a:xfrm>
            <a:off x="766736" y="5994100"/>
            <a:ext cx="3903956" cy="476250"/>
            <a:chOff x="643469" y="6033429"/>
            <a:chExt cx="3903956" cy="476250"/>
          </a:xfrm>
        </p:grpSpPr>
        <p:pic>
          <p:nvPicPr>
            <p:cNvPr id="4" name="Imagen 3">
              <a:extLst>
                <a:ext uri="{FF2B5EF4-FFF2-40B4-BE49-F238E27FC236}">
                  <a16:creationId xmlns:a16="http://schemas.microsoft.com/office/drawing/2014/main" id="{BBADFDED-8221-7F2C-6507-9CFAC10C3CCC}"/>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5" name="Imagen 4">
              <a:extLst>
                <a:ext uri="{FF2B5EF4-FFF2-40B4-BE49-F238E27FC236}">
                  <a16:creationId xmlns:a16="http://schemas.microsoft.com/office/drawing/2014/main" id="{20CCD141-3A21-DB4E-C165-A9587BFAAE6B}"/>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6" name="Imagen 5" descr="Imagen que contiene Logotipo&#10;&#10;Descripción generada automáticamente">
            <a:extLst>
              <a:ext uri="{FF2B5EF4-FFF2-40B4-BE49-F238E27FC236}">
                <a16:creationId xmlns:a16="http://schemas.microsoft.com/office/drawing/2014/main" id="{A6B8AC64-EEAF-3D49-FA8E-691A2C409E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492302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redondeado 3">
            <a:extLst>
              <a:ext uri="{FF2B5EF4-FFF2-40B4-BE49-F238E27FC236}">
                <a16:creationId xmlns:a16="http://schemas.microsoft.com/office/drawing/2014/main" id="{2D149263-FB8C-5B4C-8A8F-D13F40D71EB8}"/>
              </a:ext>
            </a:extLst>
          </p:cNvPr>
          <p:cNvSpPr/>
          <p:nvPr/>
        </p:nvSpPr>
        <p:spPr>
          <a:xfrm>
            <a:off x="6096000" y="1557338"/>
            <a:ext cx="5364163" cy="168316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redondeado 18">
            <a:extLst>
              <a:ext uri="{FF2B5EF4-FFF2-40B4-BE49-F238E27FC236}">
                <a16:creationId xmlns:a16="http://schemas.microsoft.com/office/drawing/2014/main" id="{BA6523F9-A172-4A4D-A9B9-774AD189D6AB}"/>
              </a:ext>
            </a:extLst>
          </p:cNvPr>
          <p:cNvSpPr/>
          <p:nvPr/>
        </p:nvSpPr>
        <p:spPr>
          <a:xfrm>
            <a:off x="6096000" y="3429000"/>
            <a:ext cx="5364163" cy="1683167"/>
          </a:xfrm>
          <a:prstGeom prst="roundRect">
            <a:avLst>
              <a:gd name="adj" fmla="val 2075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475314"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Gasto medio por ticket / Gasto medio por persona</a:t>
            </a:r>
          </a:p>
        </p:txBody>
      </p:sp>
      <p:sp>
        <p:nvSpPr>
          <p:cNvPr id="12" name="Rectángulo 11">
            <a:extLst>
              <a:ext uri="{FF2B5EF4-FFF2-40B4-BE49-F238E27FC236}">
                <a16:creationId xmlns:a16="http://schemas.microsoft.com/office/drawing/2014/main" id="{51C9942B-0A87-DD42-BC8A-4FE73ECEC448}"/>
              </a:ext>
            </a:extLst>
          </p:cNvPr>
          <p:cNvSpPr/>
          <p:nvPr/>
        </p:nvSpPr>
        <p:spPr>
          <a:xfrm>
            <a:off x="638669" y="2358828"/>
            <a:ext cx="5280350" cy="3238900"/>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a:t>
            </a:r>
            <a:r>
              <a:rPr lang="es-ES" sz="1200" b="1" kern="0">
                <a:solidFill>
                  <a:schemeClr val="tx1">
                    <a:lumMod val="75000"/>
                    <a:lumOff val="25000"/>
                  </a:schemeClr>
                </a:solidFill>
                <a:latin typeface="Montserrat" pitchFamily="2" charset="77"/>
                <a:cs typeface="Times New Roman" panose="02020603050405020304" pitchFamily="18" charset="0"/>
              </a:rPr>
              <a:t>gasto medio por ticket o compra en </a:t>
            </a:r>
            <a:r>
              <a:rPr lang="es-ES" sz="1200" b="1" kern="0" err="1">
                <a:solidFill>
                  <a:schemeClr val="tx1">
                    <a:lumMod val="75000"/>
                    <a:lumOff val="25000"/>
                  </a:schemeClr>
                </a:solidFill>
                <a:latin typeface="Montserrat" pitchFamily="2" charset="77"/>
                <a:cs typeface="Times New Roman" panose="02020603050405020304" pitchFamily="18" charset="0"/>
              </a:rPr>
              <a:t>Dénia</a:t>
            </a:r>
            <a:r>
              <a:rPr lang="es-ES" sz="1200" b="1" kern="0">
                <a:solidFill>
                  <a:schemeClr val="tx1">
                    <a:lumMod val="75000"/>
                    <a:lumOff val="25000"/>
                  </a:schemeClr>
                </a:solidFill>
                <a:latin typeface="Montserrat" pitchFamily="2" charset="77"/>
                <a:cs typeface="Times New Roman" panose="02020603050405020304" pitchFamily="18" charset="0"/>
              </a:rPr>
              <a:t> se sitúa en 39,2 €</a:t>
            </a:r>
            <a:r>
              <a:rPr lang="es-ES" sz="1200" kern="0">
                <a:solidFill>
                  <a:schemeClr val="tx1">
                    <a:lumMod val="75000"/>
                    <a:lumOff val="25000"/>
                  </a:schemeClr>
                </a:solidFill>
                <a:latin typeface="Montserrat" pitchFamily="2" charset="77"/>
                <a:cs typeface="Times New Roman" panose="02020603050405020304" pitchFamily="18" charset="0"/>
              </a:rPr>
              <a:t>, mientras que el </a:t>
            </a:r>
            <a:r>
              <a:rPr lang="es-ES" sz="1200" b="1" kern="0">
                <a:solidFill>
                  <a:schemeClr val="tx1">
                    <a:lumMod val="75000"/>
                    <a:lumOff val="25000"/>
                  </a:schemeClr>
                </a:solidFill>
                <a:latin typeface="Montserrat" pitchFamily="2" charset="77"/>
                <a:cs typeface="Times New Roman" panose="02020603050405020304" pitchFamily="18" charset="0"/>
              </a:rPr>
              <a:t>gasto medio por persona/día alcanza los 163,14 €</a:t>
            </a:r>
            <a:r>
              <a:rPr lang="es-ES" sz="1200" kern="0">
                <a:solidFill>
                  <a:schemeClr val="tx1">
                    <a:lumMod val="75000"/>
                    <a:lumOff val="25000"/>
                  </a:schemeClr>
                </a:solidFill>
                <a:latin typeface="Montserrat" pitchFamily="2" charset="77"/>
                <a:cs typeface="Times New Roman" panose="02020603050405020304" pitchFamily="18" charset="0"/>
              </a:rPr>
              <a:t>, reflejando un nivel de gasto individual relevante durante la estancia en el destino.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La diferencia entre ambos indicadores pone de manifiesto un patrón de consumo distribuido, en el que el visitante realiza múltiples transacciones a lo largo del día, generando un impacto económico diversificado en comercio, restauración y servicios turísticos.</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conjunto, los datos evidencian un perfil de visitante con capacidad de gasto media-alta, que contribuye de forma significativa a la economía local y refuerza el papel del turismo como uno de los principales motores de retorno económico para el municipio.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17" name="Rectángulo 16">
            <a:extLst>
              <a:ext uri="{FF2B5EF4-FFF2-40B4-BE49-F238E27FC236}">
                <a16:creationId xmlns:a16="http://schemas.microsoft.com/office/drawing/2014/main" id="{036F50AA-9851-7042-A390-A8165345B7C3}"/>
              </a:ext>
            </a:extLst>
          </p:cNvPr>
          <p:cNvSpPr/>
          <p:nvPr/>
        </p:nvSpPr>
        <p:spPr>
          <a:xfrm>
            <a:off x="7820372" y="3619149"/>
            <a:ext cx="3323285" cy="1231106"/>
          </a:xfrm>
          <a:prstGeom prst="rect">
            <a:avLst/>
          </a:prstGeom>
        </p:spPr>
        <p:txBody>
          <a:bodyPr wrap="square">
            <a:spAutoFit/>
          </a:bodyPr>
          <a:lstStyle/>
          <a:p>
            <a:pPr algn="ctr"/>
            <a:r>
              <a:rPr lang="es-ES" sz="6000">
                <a:solidFill>
                  <a:srgbClr val="04145E"/>
                </a:solidFill>
                <a:latin typeface="DM Serif Display" pitchFamily="2" charset="0"/>
                <a:cs typeface="Times New Roman" panose="02020603050405020304" pitchFamily="18" charset="0"/>
              </a:rPr>
              <a:t>163,14€</a:t>
            </a:r>
          </a:p>
          <a:p>
            <a:pPr algn="ctr"/>
            <a:r>
              <a:rPr lang="es-ES" sz="1400">
                <a:solidFill>
                  <a:srgbClr val="04145E"/>
                </a:solidFill>
                <a:latin typeface="Montserrat Medium" pitchFamily="2" charset="77"/>
                <a:cs typeface="Times New Roman" panose="02020603050405020304" pitchFamily="18" charset="0"/>
              </a:rPr>
              <a:t>GASTO MEDIO POR PERSONA/DÍA</a:t>
            </a:r>
          </a:p>
        </p:txBody>
      </p:sp>
      <p:sp>
        <p:nvSpPr>
          <p:cNvPr id="18" name="Rectángulo 17">
            <a:extLst>
              <a:ext uri="{FF2B5EF4-FFF2-40B4-BE49-F238E27FC236}">
                <a16:creationId xmlns:a16="http://schemas.microsoft.com/office/drawing/2014/main" id="{7C2B5E86-75A8-1D45-9967-530032F56EC0}"/>
              </a:ext>
            </a:extLst>
          </p:cNvPr>
          <p:cNvSpPr/>
          <p:nvPr/>
        </p:nvSpPr>
        <p:spPr>
          <a:xfrm>
            <a:off x="7820372" y="1740006"/>
            <a:ext cx="3323285" cy="1446550"/>
          </a:xfrm>
          <a:prstGeom prst="rect">
            <a:avLst/>
          </a:prstGeom>
        </p:spPr>
        <p:txBody>
          <a:bodyPr wrap="square">
            <a:spAutoFit/>
          </a:bodyPr>
          <a:lstStyle/>
          <a:p>
            <a:pPr algn="ctr"/>
            <a:r>
              <a:rPr lang="es-ES" sz="6000">
                <a:solidFill>
                  <a:srgbClr val="04145E"/>
                </a:solidFill>
                <a:latin typeface="DM Serif Display" pitchFamily="2" charset="0"/>
                <a:cs typeface="Times New Roman" panose="02020603050405020304" pitchFamily="18" charset="0"/>
              </a:rPr>
              <a:t>39,2€</a:t>
            </a:r>
          </a:p>
          <a:p>
            <a:pPr algn="ctr"/>
            <a:r>
              <a:rPr lang="es-ES" sz="1400">
                <a:solidFill>
                  <a:srgbClr val="04145E"/>
                </a:solidFill>
                <a:latin typeface="Montserrat Medium" pitchFamily="2" charset="77"/>
                <a:cs typeface="Times New Roman" panose="02020603050405020304" pitchFamily="18" charset="0"/>
              </a:rPr>
              <a:t>GASTO MEDIO POR TICKET/COMPRA</a:t>
            </a:r>
          </a:p>
        </p:txBody>
      </p:sp>
      <p:pic>
        <p:nvPicPr>
          <p:cNvPr id="7" name="Imagen 6">
            <a:extLst>
              <a:ext uri="{FF2B5EF4-FFF2-40B4-BE49-F238E27FC236}">
                <a16:creationId xmlns:a16="http://schemas.microsoft.com/office/drawing/2014/main" id="{FF2CBA5E-2F7E-C44B-B443-2928F07E9E49}"/>
              </a:ext>
            </a:extLst>
          </p:cNvPr>
          <p:cNvPicPr>
            <a:picLocks noChangeAspect="1"/>
          </p:cNvPicPr>
          <p:nvPr/>
        </p:nvPicPr>
        <p:blipFill>
          <a:blip r:embed="rId2"/>
          <a:stretch>
            <a:fillRect/>
          </a:stretch>
        </p:blipFill>
        <p:spPr>
          <a:xfrm>
            <a:off x="6829880" y="1942652"/>
            <a:ext cx="621921" cy="924826"/>
          </a:xfrm>
          <a:prstGeom prst="rect">
            <a:avLst/>
          </a:prstGeom>
        </p:spPr>
      </p:pic>
      <p:pic>
        <p:nvPicPr>
          <p:cNvPr id="8" name="Imagen 7">
            <a:extLst>
              <a:ext uri="{FF2B5EF4-FFF2-40B4-BE49-F238E27FC236}">
                <a16:creationId xmlns:a16="http://schemas.microsoft.com/office/drawing/2014/main" id="{BEE88C91-AC94-C249-9C48-E43666C3D292}"/>
              </a:ext>
            </a:extLst>
          </p:cNvPr>
          <p:cNvPicPr>
            <a:picLocks noChangeAspect="1"/>
          </p:cNvPicPr>
          <p:nvPr/>
        </p:nvPicPr>
        <p:blipFill>
          <a:blip r:embed="rId3"/>
          <a:stretch>
            <a:fillRect/>
          </a:stretch>
        </p:blipFill>
        <p:spPr>
          <a:xfrm>
            <a:off x="6696529" y="3782216"/>
            <a:ext cx="863600" cy="902269"/>
          </a:xfrm>
          <a:prstGeom prst="rect">
            <a:avLst/>
          </a:prstGeom>
        </p:spPr>
      </p:pic>
      <p:sp>
        <p:nvSpPr>
          <p:cNvPr id="3" name="Rectángulo 2">
            <a:extLst>
              <a:ext uri="{FF2B5EF4-FFF2-40B4-BE49-F238E27FC236}">
                <a16:creationId xmlns:a16="http://schemas.microsoft.com/office/drawing/2014/main" id="{628125D9-3B64-81D8-FAD5-0C3564585A66}"/>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892734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1AAF08B-AB44-6547-891C-337A413BF74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542C7C5-2210-1A41-9098-AAEB1E779BF3}"/>
              </a:ext>
            </a:extLst>
          </p:cNvPr>
          <p:cNvSpPr/>
          <p:nvPr/>
        </p:nvSpPr>
        <p:spPr>
          <a:xfrm>
            <a:off x="638668" y="1392995"/>
            <a:ext cx="4928755"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Ticket medio por país de origen</a:t>
            </a:r>
          </a:p>
        </p:txBody>
      </p:sp>
      <p:graphicFrame>
        <p:nvGraphicFramePr>
          <p:cNvPr id="4" name="Gráfico 3">
            <a:extLst>
              <a:ext uri="{FF2B5EF4-FFF2-40B4-BE49-F238E27FC236}">
                <a16:creationId xmlns:a16="http://schemas.microsoft.com/office/drawing/2014/main" id="{607E3B48-F3D9-9167-056B-9A5425A77B94}"/>
              </a:ext>
            </a:extLst>
          </p:cNvPr>
          <p:cNvGraphicFramePr/>
          <p:nvPr>
            <p:extLst>
              <p:ext uri="{D42A27DB-BD31-4B8C-83A1-F6EECF244321}">
                <p14:modId xmlns:p14="http://schemas.microsoft.com/office/powerpoint/2010/main" val="1762313265"/>
              </p:ext>
            </p:extLst>
          </p:nvPr>
        </p:nvGraphicFramePr>
        <p:xfrm>
          <a:off x="6223819" y="1378591"/>
          <a:ext cx="5374014" cy="4856956"/>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ángulo 6">
            <a:extLst>
              <a:ext uri="{FF2B5EF4-FFF2-40B4-BE49-F238E27FC236}">
                <a16:creationId xmlns:a16="http://schemas.microsoft.com/office/drawing/2014/main" id="{F37F8CE2-A9C4-ABE5-9EF5-86D97A5C57F2}"/>
              </a:ext>
            </a:extLst>
          </p:cNvPr>
          <p:cNvSpPr/>
          <p:nvPr/>
        </p:nvSpPr>
        <p:spPr>
          <a:xfrm>
            <a:off x="638667" y="2429815"/>
            <a:ext cx="5329515" cy="3074752"/>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ticket medio del turismo internacional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muestra diferencias claras según país de origen. Los valores más elevados se registran en Suiza (49,60 €) y Alemania (42,10 €), seguidos de Reino Unido (39,40 €) y Francia (38,40 €). En el caso de Países Bajos, el gasto medio se sitúa en 35,10 €, configurando el nivel más bajo entre los mercados analizados.</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comparación con 2024, todos los mercados presentan un incremento del ticket medio: Reino Unido pasa de 39,20 € a 39,40 €, Francia de 32,00 € a 38,40 €, Alemania de 40,90 € a 42,10 €, Países Bajos de 32,40 € a 35,10 € y Suiza de 45,00 € a 49,60 €. Estos datos reflejan una mejora generalizada en la capacidad de gasto por turista internacional durante 2025.</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3" name="Rectángulo 2">
            <a:extLst>
              <a:ext uri="{FF2B5EF4-FFF2-40B4-BE49-F238E27FC236}">
                <a16:creationId xmlns:a16="http://schemas.microsoft.com/office/drawing/2014/main" id="{F41DD53F-81E9-6B70-EFEA-24D73DCAFE84}"/>
              </a:ext>
            </a:extLst>
          </p:cNvPr>
          <p:cNvSpPr/>
          <p:nvPr/>
        </p:nvSpPr>
        <p:spPr>
          <a:xfrm>
            <a:off x="8308257" y="1075606"/>
            <a:ext cx="3245075" cy="303481"/>
          </a:xfrm>
          <a:prstGeom prst="rect">
            <a:avLst/>
          </a:prstGeom>
        </p:spPr>
        <p:txBody>
          <a:bodyPr wrap="square">
            <a:spAutoFit/>
          </a:bodyPr>
          <a:lstStyle/>
          <a:p>
            <a:pPr algn="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3094545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89E9-6744-C687-A074-8F8AB5172577}"/>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0EFF90D4-2600-B37D-11F2-AB88BE976E3E}"/>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5D8B1F8D-F8E9-5F98-2317-B39FD6692EFA}"/>
              </a:ext>
            </a:extLst>
          </p:cNvPr>
          <p:cNvSpPr/>
          <p:nvPr/>
        </p:nvSpPr>
        <p:spPr>
          <a:xfrm>
            <a:off x="638668" y="1392995"/>
            <a:ext cx="4928755"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Ticket medio por provincia de origen</a:t>
            </a:r>
          </a:p>
        </p:txBody>
      </p:sp>
      <p:graphicFrame>
        <p:nvGraphicFramePr>
          <p:cNvPr id="3" name="Gráfico 2">
            <a:extLst>
              <a:ext uri="{FF2B5EF4-FFF2-40B4-BE49-F238E27FC236}">
                <a16:creationId xmlns:a16="http://schemas.microsoft.com/office/drawing/2014/main" id="{8FF681DB-5395-E32B-16D2-E507B0DA31CA}"/>
              </a:ext>
            </a:extLst>
          </p:cNvPr>
          <p:cNvGraphicFramePr/>
          <p:nvPr>
            <p:extLst>
              <p:ext uri="{D42A27DB-BD31-4B8C-83A1-F6EECF244321}">
                <p14:modId xmlns:p14="http://schemas.microsoft.com/office/powerpoint/2010/main" val="4143787142"/>
              </p:ext>
            </p:extLst>
          </p:nvPr>
        </p:nvGraphicFramePr>
        <p:xfrm>
          <a:off x="6189784" y="1379087"/>
          <a:ext cx="5419645" cy="4817542"/>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ángulo 6">
            <a:extLst>
              <a:ext uri="{FF2B5EF4-FFF2-40B4-BE49-F238E27FC236}">
                <a16:creationId xmlns:a16="http://schemas.microsoft.com/office/drawing/2014/main" id="{A04B60DB-F56E-484A-4939-D50E85EA155D}"/>
              </a:ext>
            </a:extLst>
          </p:cNvPr>
          <p:cNvSpPr/>
          <p:nvPr/>
        </p:nvSpPr>
        <p:spPr>
          <a:xfrm>
            <a:off x="638668" y="2330169"/>
            <a:ext cx="5249666" cy="2862322"/>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ticket medio del turismo nacional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presenta diferencias relevantes según provincia de origen. Los valores más elevados corresponden a la Comunidad de Madrid (37,80 €) y Castilla-La Mancha (36,20 €), seguidas de la Comunidad Valenciana (32,80 €) y Murcia (30,10 €). En el nivel más bajo se sitúa Cataluña (24,50 €).</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comparación con 2024, el ticket medio aumenta en la mayoría de mercados: Madrid pasa de 34,30 € a 37,80 €, Castilla-La Mancha de 29,10 € a 36,20 €, Comunidad Valenciana de 32,50 € a 32,80 €, y Murcia de 29,00 € a 30,10 €. En el caso de Cataluña, el valor se reduce ligeramente de 27,80 € a 24,50 €. Estos datos evidencian una evolución desigual del gasto medio según territorio emisor.</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68250A72-B564-1479-5486-578770BD806F}"/>
              </a:ext>
            </a:extLst>
          </p:cNvPr>
          <p:cNvSpPr/>
          <p:nvPr/>
        </p:nvSpPr>
        <p:spPr>
          <a:xfrm>
            <a:off x="8308257" y="923865"/>
            <a:ext cx="3245075" cy="303481"/>
          </a:xfrm>
          <a:prstGeom prst="rect">
            <a:avLst/>
          </a:prstGeom>
        </p:spPr>
        <p:txBody>
          <a:bodyPr wrap="square">
            <a:spAutoFit/>
          </a:bodyPr>
          <a:lstStyle/>
          <a:p>
            <a:pPr algn="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11571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AEBB5-CE95-36A0-8A2C-8B7734DDF14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2149A53-1C67-1455-3814-BE2A2BF48548}"/>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B4EA4F36-FCA8-BF5A-6320-8FA2861CBBC1}"/>
              </a:ext>
            </a:extLst>
          </p:cNvPr>
          <p:cNvSpPr/>
          <p:nvPr/>
        </p:nvSpPr>
        <p:spPr>
          <a:xfrm>
            <a:off x="638668" y="1392995"/>
            <a:ext cx="3514691"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Tarifa media diaria (ADR) en hoteles</a:t>
            </a:r>
          </a:p>
        </p:txBody>
      </p:sp>
      <p:sp>
        <p:nvSpPr>
          <p:cNvPr id="10" name="Rectángulo 9">
            <a:extLst>
              <a:ext uri="{FF2B5EF4-FFF2-40B4-BE49-F238E27FC236}">
                <a16:creationId xmlns:a16="http://schemas.microsoft.com/office/drawing/2014/main" id="{CF319768-902E-05E3-1013-94B9BB31E56F}"/>
              </a:ext>
            </a:extLst>
          </p:cNvPr>
          <p:cNvSpPr/>
          <p:nvPr/>
        </p:nvSpPr>
        <p:spPr>
          <a:xfrm>
            <a:off x="638668" y="2558889"/>
            <a:ext cx="5011016"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tarifa media diaria (ADR) en hoteles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se sitúa en </a:t>
            </a:r>
            <a:r>
              <a:rPr lang="es-ES" sz="1200" b="1" kern="0">
                <a:solidFill>
                  <a:schemeClr val="tx1">
                    <a:lumMod val="75000"/>
                    <a:lumOff val="25000"/>
                  </a:schemeClr>
                </a:solidFill>
                <a:latin typeface="Montserrat" pitchFamily="2" charset="77"/>
                <a:cs typeface="Times New Roman" panose="02020603050405020304" pitchFamily="18" charset="0"/>
              </a:rPr>
              <a:t>121,29 €,</a:t>
            </a:r>
            <a:r>
              <a:rPr lang="es-ES" sz="1200" kern="0">
                <a:solidFill>
                  <a:schemeClr val="tx1">
                    <a:lumMod val="75000"/>
                    <a:lumOff val="25000"/>
                  </a:schemeClr>
                </a:solidFill>
                <a:latin typeface="Montserrat" pitchFamily="2" charset="77"/>
                <a:cs typeface="Times New Roman" panose="02020603050405020304" pitchFamily="18" charset="0"/>
              </a:rPr>
              <a:t> por debajo del máximo alcanzado en 2024 (129,35 €), pero en niveles muy próximos a los registrados en 2023 (125,66 €).</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Tras el fuerte crecimiento observado entre 2023 y 2024, el ejercicio 2025 refleja una moderación del precio medio, manteniéndose en todo caso en una franja elevada dentro de la serie reciente.</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conjunto, los datos muestran una fase de ajuste tras el pico de 2024, conservando el destino una posición sólida en términos de valor medio por habitación y capacidad de generación de ingresos en el segmento hotelero.</a:t>
            </a:r>
          </a:p>
          <a:p>
            <a:pPr>
              <a:lnSpc>
                <a:spcPts val="1600"/>
              </a:lnSpc>
              <a:spcAft>
                <a:spcPts val="60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3" name="Gráfico 2">
            <a:extLst>
              <a:ext uri="{FF2B5EF4-FFF2-40B4-BE49-F238E27FC236}">
                <a16:creationId xmlns:a16="http://schemas.microsoft.com/office/drawing/2014/main" id="{04ED1B8F-0557-68E7-7B52-C67C6EF942EE}"/>
              </a:ext>
            </a:extLst>
          </p:cNvPr>
          <p:cNvGraphicFramePr/>
          <p:nvPr>
            <p:extLst>
              <p:ext uri="{D42A27DB-BD31-4B8C-83A1-F6EECF244321}">
                <p14:modId xmlns:p14="http://schemas.microsoft.com/office/powerpoint/2010/main" val="3901909278"/>
              </p:ext>
            </p:extLst>
          </p:nvPr>
        </p:nvGraphicFramePr>
        <p:xfrm>
          <a:off x="5972538" y="1389608"/>
          <a:ext cx="5625296" cy="4737796"/>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ángulo 3">
            <a:extLst>
              <a:ext uri="{FF2B5EF4-FFF2-40B4-BE49-F238E27FC236}">
                <a16:creationId xmlns:a16="http://schemas.microsoft.com/office/drawing/2014/main" id="{A51E9C27-7CA2-1444-0CB6-5AC3BA322587}"/>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12701465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7E728-ED36-5DE2-A139-C63B6B07832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C7ED48EA-2B18-1821-5AA3-176AA6DD1AEF}"/>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7E052C9A-2CAF-9DFD-D458-4D52F72EEE07}"/>
              </a:ext>
            </a:extLst>
          </p:cNvPr>
          <p:cNvSpPr/>
          <p:nvPr/>
        </p:nvSpPr>
        <p:spPr>
          <a:xfrm>
            <a:off x="638668" y="1392995"/>
            <a:ext cx="3514691" cy="512897"/>
          </a:xfrm>
          <a:prstGeom prst="rect">
            <a:avLst/>
          </a:prstGeom>
        </p:spPr>
        <p:txBody>
          <a:bodyPr wrap="square">
            <a:spAutoFit/>
          </a:bodyPr>
          <a:lstStyle/>
          <a:p>
            <a:pPr lvl="0">
              <a:lnSpc>
                <a:spcPts val="3200"/>
              </a:lnSpc>
              <a:spcAft>
                <a:spcPts val="0"/>
              </a:spcAft>
              <a:buClr>
                <a:srgbClr val="074F6A"/>
              </a:buClr>
            </a:pPr>
            <a:r>
              <a:rPr lang="es-ES" sz="3000" err="1">
                <a:solidFill>
                  <a:schemeClr val="tx1">
                    <a:lumMod val="85000"/>
                    <a:lumOff val="15000"/>
                  </a:schemeClr>
                </a:solidFill>
                <a:latin typeface="DM Serif Display" pitchFamily="2" charset="0"/>
                <a:cs typeface="Times New Roman" panose="02020603050405020304" pitchFamily="18" charset="0"/>
              </a:rPr>
              <a:t>RevPar</a:t>
            </a:r>
            <a:r>
              <a:rPr lang="es-ES" sz="3000">
                <a:solidFill>
                  <a:schemeClr val="tx1">
                    <a:lumMod val="85000"/>
                    <a:lumOff val="15000"/>
                  </a:schemeClr>
                </a:solidFill>
                <a:latin typeface="DM Serif Display" pitchFamily="2" charset="0"/>
                <a:cs typeface="Times New Roman" panose="02020603050405020304" pitchFamily="18" charset="0"/>
              </a:rPr>
              <a:t> en hoteles</a:t>
            </a:r>
          </a:p>
        </p:txBody>
      </p:sp>
      <p:sp>
        <p:nvSpPr>
          <p:cNvPr id="10" name="Rectángulo 9">
            <a:extLst>
              <a:ext uri="{FF2B5EF4-FFF2-40B4-BE49-F238E27FC236}">
                <a16:creationId xmlns:a16="http://schemas.microsoft.com/office/drawing/2014/main" id="{89B31188-799C-83AA-A0ED-B4F797D5D7A3}"/>
              </a:ext>
            </a:extLst>
          </p:cNvPr>
          <p:cNvSpPr/>
          <p:nvPr/>
        </p:nvSpPr>
        <p:spPr>
          <a:xfrm>
            <a:off x="638668" y="2259491"/>
            <a:ext cx="5011016"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a:t>
            </a:r>
            <a:r>
              <a:rPr lang="es-ES" sz="1200" kern="0" err="1">
                <a:solidFill>
                  <a:schemeClr val="tx1">
                    <a:lumMod val="75000"/>
                    <a:lumOff val="25000"/>
                  </a:schemeClr>
                </a:solidFill>
                <a:latin typeface="Montserrat" pitchFamily="2" charset="77"/>
                <a:cs typeface="Times New Roman" panose="02020603050405020304" pitchFamily="18" charset="0"/>
              </a:rPr>
              <a:t>RevPAR</a:t>
            </a:r>
            <a:r>
              <a:rPr lang="es-ES" sz="1200" kern="0">
                <a:solidFill>
                  <a:schemeClr val="tx1">
                    <a:lumMod val="75000"/>
                    <a:lumOff val="25000"/>
                  </a:schemeClr>
                </a:solidFill>
                <a:latin typeface="Montserrat" pitchFamily="2" charset="77"/>
                <a:cs typeface="Times New Roman" panose="02020603050405020304" pitchFamily="18" charset="0"/>
              </a:rPr>
              <a:t> en hoteles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se sitúa en </a:t>
            </a:r>
            <a:r>
              <a:rPr lang="es-ES" sz="1200" b="1" kern="0">
                <a:solidFill>
                  <a:schemeClr val="tx1">
                    <a:lumMod val="75000"/>
                    <a:lumOff val="25000"/>
                  </a:schemeClr>
                </a:solidFill>
                <a:latin typeface="Montserrat" pitchFamily="2" charset="77"/>
                <a:cs typeface="Times New Roman" panose="02020603050405020304" pitchFamily="18" charset="0"/>
              </a:rPr>
              <a:t>88,89 €</a:t>
            </a:r>
            <a:r>
              <a:rPr lang="es-ES" sz="1200" kern="0">
                <a:solidFill>
                  <a:schemeClr val="tx1">
                    <a:lumMod val="75000"/>
                    <a:lumOff val="25000"/>
                  </a:schemeClr>
                </a:solidFill>
                <a:latin typeface="Montserrat" pitchFamily="2" charset="77"/>
                <a:cs typeface="Times New Roman" panose="02020603050405020304" pitchFamily="18" charset="0"/>
              </a:rPr>
              <a:t>, superando tanto el registro de 2024 (82,99 €) como el de 2023 (84,26 €) y alcanzando el valor más elevado de la serie analizada.</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Tras el ligero ajuste observado en 2024, el ejercicio 2025 muestra una mejora clara en la rentabilidad por habitación disponible, lo que indica una combinación más eficiente entre ocupación y precio medio.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conjunto, los datos reflejan un refuerzo de la capacidad del destino para generar ingresos en el segmento hotelero, consolidando un posicionamiento sólido en términos de rentabilidad operativa.</a:t>
            </a:r>
          </a:p>
          <a:p>
            <a:pPr>
              <a:lnSpc>
                <a:spcPts val="1600"/>
              </a:lnSpc>
              <a:spcAft>
                <a:spcPts val="60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3" name="Gráfico 2">
            <a:extLst>
              <a:ext uri="{FF2B5EF4-FFF2-40B4-BE49-F238E27FC236}">
                <a16:creationId xmlns:a16="http://schemas.microsoft.com/office/drawing/2014/main" id="{6E355144-17DE-E211-CD24-5B43997F2EBA}"/>
              </a:ext>
            </a:extLst>
          </p:cNvPr>
          <p:cNvGraphicFramePr/>
          <p:nvPr>
            <p:extLst>
              <p:ext uri="{D42A27DB-BD31-4B8C-83A1-F6EECF244321}">
                <p14:modId xmlns:p14="http://schemas.microsoft.com/office/powerpoint/2010/main" val="3571553370"/>
              </p:ext>
            </p:extLst>
          </p:nvPr>
        </p:nvGraphicFramePr>
        <p:xfrm>
          <a:off x="5972538" y="1389608"/>
          <a:ext cx="5625296" cy="4737796"/>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ángulo 3">
            <a:extLst>
              <a:ext uri="{FF2B5EF4-FFF2-40B4-BE49-F238E27FC236}">
                <a16:creationId xmlns:a16="http://schemas.microsoft.com/office/drawing/2014/main" id="{823B21C1-B02F-C40B-32BA-34F70622A3C6}"/>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2176709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34416-E8B8-1D2D-CE69-57FF1B6D75DD}"/>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87C8776-A969-85FB-BD62-6094D53EEF32}"/>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C0B032AB-F4B6-6FEE-FF76-22C451114074}"/>
              </a:ext>
            </a:extLst>
          </p:cNvPr>
          <p:cNvSpPr/>
          <p:nvPr/>
        </p:nvSpPr>
        <p:spPr>
          <a:xfrm>
            <a:off x="638668" y="1392995"/>
            <a:ext cx="4390532"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mensual del </a:t>
            </a:r>
            <a:r>
              <a:rPr lang="es-ES" sz="3000" err="1">
                <a:solidFill>
                  <a:schemeClr val="tx1">
                    <a:lumMod val="85000"/>
                    <a:lumOff val="15000"/>
                  </a:schemeClr>
                </a:solidFill>
                <a:latin typeface="DM Serif Display" pitchFamily="2" charset="0"/>
                <a:cs typeface="Times New Roman" panose="02020603050405020304" pitchFamily="18" charset="0"/>
              </a:rPr>
              <a:t>RevPAR</a:t>
            </a:r>
            <a:r>
              <a:rPr lang="es-ES" sz="3000">
                <a:solidFill>
                  <a:schemeClr val="tx1">
                    <a:lumMod val="85000"/>
                    <a:lumOff val="15000"/>
                  </a:schemeClr>
                </a:solidFill>
                <a:latin typeface="DM Serif Display" pitchFamily="2" charset="0"/>
                <a:cs typeface="Times New Roman" panose="02020603050405020304" pitchFamily="18" charset="0"/>
              </a:rPr>
              <a:t> en hoteles</a:t>
            </a:r>
          </a:p>
        </p:txBody>
      </p:sp>
      <p:sp>
        <p:nvSpPr>
          <p:cNvPr id="10" name="Rectángulo 9">
            <a:extLst>
              <a:ext uri="{FF2B5EF4-FFF2-40B4-BE49-F238E27FC236}">
                <a16:creationId xmlns:a16="http://schemas.microsoft.com/office/drawing/2014/main" id="{7076C0EB-A140-1771-516E-D8BDD73F35C8}"/>
              </a:ext>
            </a:extLst>
          </p:cNvPr>
          <p:cNvSpPr/>
          <p:nvPr/>
        </p:nvSpPr>
        <p:spPr>
          <a:xfrm>
            <a:off x="638668" y="2544689"/>
            <a:ext cx="4513435"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octubre de 2025, el </a:t>
            </a:r>
            <a:r>
              <a:rPr lang="es-ES" sz="1200" kern="0" err="1">
                <a:solidFill>
                  <a:schemeClr val="tx1">
                    <a:lumMod val="75000"/>
                    <a:lumOff val="25000"/>
                  </a:schemeClr>
                </a:solidFill>
                <a:latin typeface="Montserrat" pitchFamily="2" charset="77"/>
                <a:cs typeface="Times New Roman" panose="02020603050405020304" pitchFamily="18" charset="0"/>
              </a:rPr>
              <a:t>RevPAR</a:t>
            </a:r>
            <a:r>
              <a:rPr lang="es-ES" sz="1200" kern="0">
                <a:solidFill>
                  <a:schemeClr val="tx1">
                    <a:lumMod val="75000"/>
                    <a:lumOff val="25000"/>
                  </a:schemeClr>
                </a:solidFill>
                <a:latin typeface="Montserrat" pitchFamily="2" charset="77"/>
                <a:cs typeface="Times New Roman" panose="02020603050405020304" pitchFamily="18" charset="0"/>
              </a:rPr>
              <a:t>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presenta un marcado patrón estacional, con valores contenidos en los primeros meses del año (en torno a 40–50 €) y un crecimiento progresivo a partir de la primavera, intensificándose desde mayo.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Los máximos se concentran en julio y agosto, alcanzando el pico en agosto, por encima de los </a:t>
            </a:r>
            <a:r>
              <a:rPr lang="es-ES" sz="1200" b="1" kern="0">
                <a:solidFill>
                  <a:schemeClr val="tx1">
                    <a:lumMod val="75000"/>
                    <a:lumOff val="25000"/>
                  </a:schemeClr>
                </a:solidFill>
                <a:latin typeface="Montserrat" pitchFamily="2" charset="77"/>
                <a:cs typeface="Times New Roman" panose="02020603050405020304" pitchFamily="18" charset="0"/>
              </a:rPr>
              <a:t>140 €</a:t>
            </a:r>
            <a:r>
              <a:rPr lang="es-ES" sz="1200" kern="0">
                <a:solidFill>
                  <a:schemeClr val="tx1">
                    <a:lumMod val="75000"/>
                    <a:lumOff val="25000"/>
                  </a:schemeClr>
                </a:solidFill>
                <a:latin typeface="Montserrat" pitchFamily="2" charset="77"/>
                <a:cs typeface="Times New Roman" panose="02020603050405020304" pitchFamily="18" charset="0"/>
              </a:rPr>
              <a:t>, lo que refleja la elevada intensidad de la temporada alta. A partir de septiembre, el </a:t>
            </a:r>
            <a:r>
              <a:rPr lang="es-ES" sz="1200" kern="0" err="1">
                <a:solidFill>
                  <a:schemeClr val="tx1">
                    <a:lumMod val="75000"/>
                    <a:lumOff val="25000"/>
                  </a:schemeClr>
                </a:solidFill>
                <a:latin typeface="Montserrat" pitchFamily="2" charset="77"/>
                <a:cs typeface="Times New Roman" panose="02020603050405020304" pitchFamily="18" charset="0"/>
              </a:rPr>
              <a:t>RevPAR</a:t>
            </a:r>
            <a:r>
              <a:rPr lang="es-ES" sz="1200" kern="0">
                <a:solidFill>
                  <a:schemeClr val="tx1">
                    <a:lumMod val="75000"/>
                    <a:lumOff val="25000"/>
                  </a:schemeClr>
                </a:solidFill>
                <a:latin typeface="Montserrat" pitchFamily="2" charset="77"/>
                <a:cs typeface="Times New Roman" panose="02020603050405020304" pitchFamily="18" charset="0"/>
              </a:rPr>
              <a:t> desciende de forma gradual, situándose en torno a los 60–70 € en otoño, manteniéndose en niveles superiores a los de inicio de año y evidenciando una capacidad de generación de ingresos elevada durante gran parte del periodo analizado.</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23F2C233-ECCE-974E-C0D9-C5CD4E878E12}"/>
              </a:ext>
            </a:extLst>
          </p:cNvPr>
          <p:cNvGraphicFramePr/>
          <p:nvPr>
            <p:extLst>
              <p:ext uri="{D42A27DB-BD31-4B8C-83A1-F6EECF244321}">
                <p14:modId xmlns:p14="http://schemas.microsoft.com/office/powerpoint/2010/main" val="3065518267"/>
              </p:ext>
            </p:extLst>
          </p:nvPr>
        </p:nvGraphicFramePr>
        <p:xfrm>
          <a:off x="5869056" y="1392995"/>
          <a:ext cx="5625296" cy="4023067"/>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12189AA7-2565-0E2E-960B-4FA043CF3F9D}"/>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4105991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F898-E1D1-DC9E-96EE-F4FB2768307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CA11379-7CF3-6E84-D811-2052CDD61289}"/>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51427DFE-C4EA-ABDE-9E2B-BFF635CB1DB8}"/>
              </a:ext>
            </a:extLst>
          </p:cNvPr>
          <p:cNvSpPr/>
          <p:nvPr/>
        </p:nvSpPr>
        <p:spPr>
          <a:xfrm>
            <a:off x="638668" y="1392995"/>
            <a:ext cx="4673561"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mensual del </a:t>
            </a:r>
            <a:r>
              <a:rPr lang="es-ES" sz="3000" err="1">
                <a:solidFill>
                  <a:schemeClr val="tx1">
                    <a:lumMod val="85000"/>
                    <a:lumOff val="15000"/>
                  </a:schemeClr>
                </a:solidFill>
                <a:latin typeface="DM Serif Display" pitchFamily="2" charset="0"/>
                <a:cs typeface="Times New Roman" panose="02020603050405020304" pitchFamily="18" charset="0"/>
              </a:rPr>
              <a:t>Revenue</a:t>
            </a:r>
            <a:r>
              <a:rPr lang="es-ES" sz="3000">
                <a:solidFill>
                  <a:schemeClr val="tx1">
                    <a:lumMod val="85000"/>
                    <a:lumOff val="15000"/>
                  </a:schemeClr>
                </a:solidFill>
                <a:latin typeface="DM Serif Display" pitchFamily="2" charset="0"/>
                <a:cs typeface="Times New Roman" panose="02020603050405020304" pitchFamily="18" charset="0"/>
              </a:rPr>
              <a:t> en apartamentos </a:t>
            </a:r>
          </a:p>
        </p:txBody>
      </p:sp>
      <p:sp>
        <p:nvSpPr>
          <p:cNvPr id="10" name="Rectángulo 9">
            <a:extLst>
              <a:ext uri="{FF2B5EF4-FFF2-40B4-BE49-F238E27FC236}">
                <a16:creationId xmlns:a16="http://schemas.microsoft.com/office/drawing/2014/main" id="{5A460384-BBA0-E6E9-9540-88D2406B3BA0}"/>
              </a:ext>
            </a:extLst>
          </p:cNvPr>
          <p:cNvSpPr/>
          <p:nvPr/>
        </p:nvSpPr>
        <p:spPr>
          <a:xfrm>
            <a:off x="638667" y="2418032"/>
            <a:ext cx="5230389"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a:t>
            </a:r>
            <a:r>
              <a:rPr lang="es-ES" sz="1200" kern="0" err="1">
                <a:solidFill>
                  <a:schemeClr val="tx1">
                    <a:lumMod val="75000"/>
                    <a:lumOff val="25000"/>
                  </a:schemeClr>
                </a:solidFill>
                <a:latin typeface="Montserrat" pitchFamily="2" charset="77"/>
                <a:cs typeface="Times New Roman" panose="02020603050405020304" pitchFamily="18" charset="0"/>
              </a:rPr>
              <a:t>revenue</a:t>
            </a:r>
            <a:r>
              <a:rPr lang="es-ES" sz="1200" kern="0">
                <a:solidFill>
                  <a:schemeClr val="tx1">
                    <a:lumMod val="75000"/>
                    <a:lumOff val="25000"/>
                  </a:schemeClr>
                </a:solidFill>
                <a:latin typeface="Montserrat" pitchFamily="2" charset="77"/>
                <a:cs typeface="Times New Roman" panose="02020603050405020304" pitchFamily="18" charset="0"/>
              </a:rPr>
              <a:t> en apartamentos turísticos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mantiene un comportamiento claramente estacional. Los primeros meses del año se sitúan en niveles moderados, en el entorno de 5–7 millones de euros mensuales, con un crecimiento progresivo a partir de la primavera.</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Los máximos se concentran en julio y agosto, alcanzando en agosto cifras próximas a 18 millones de euros, en línea —e incluso ligeramente por encima— de los valores registrados en 2024.</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A partir de septiembre, el </a:t>
            </a:r>
            <a:r>
              <a:rPr lang="es-ES" sz="1200" kern="0" err="1">
                <a:solidFill>
                  <a:schemeClr val="tx1">
                    <a:lumMod val="75000"/>
                    <a:lumOff val="25000"/>
                  </a:schemeClr>
                </a:solidFill>
                <a:latin typeface="Montserrat" pitchFamily="2" charset="77"/>
                <a:cs typeface="Times New Roman" panose="02020603050405020304" pitchFamily="18" charset="0"/>
              </a:rPr>
              <a:t>revenue</a:t>
            </a:r>
            <a:r>
              <a:rPr lang="es-ES" sz="1200" kern="0">
                <a:solidFill>
                  <a:schemeClr val="tx1">
                    <a:lumMod val="75000"/>
                    <a:lumOff val="25000"/>
                  </a:schemeClr>
                </a:solidFill>
                <a:latin typeface="Montserrat" pitchFamily="2" charset="77"/>
                <a:cs typeface="Times New Roman" panose="02020603050405020304" pitchFamily="18" charset="0"/>
              </a:rPr>
              <a:t> desciende de forma acusada, especialmente en octubre y noviembre, situándose por debajo de los niveles del año anterior en el tramo final del ejercicio. En conjunto, 2025 confirma una fuerte concentración de ingresos en temporada alta, con una moderación más intensa en el último trimestre.</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0711EE7F-F806-DF5A-221C-0B11C5F6417C}"/>
              </a:ext>
            </a:extLst>
          </p:cNvPr>
          <p:cNvGraphicFramePr/>
          <p:nvPr>
            <p:extLst>
              <p:ext uri="{D42A27DB-BD31-4B8C-83A1-F6EECF244321}">
                <p14:modId xmlns:p14="http://schemas.microsoft.com/office/powerpoint/2010/main" val="2617532513"/>
              </p:ext>
            </p:extLst>
          </p:nvPr>
        </p:nvGraphicFramePr>
        <p:xfrm>
          <a:off x="5869056" y="1392995"/>
          <a:ext cx="5625296" cy="4023067"/>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C8E46399-4323-923E-944F-5D29DD6733A4}"/>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2877359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F767-6741-2419-612E-C66144CC69C6}"/>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87E9BA1-7321-9060-51F8-323A2AA48D7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8912DD08-C774-AF77-B374-2CD9EDBAFC0D}"/>
              </a:ext>
            </a:extLst>
          </p:cNvPr>
          <p:cNvSpPr/>
          <p:nvPr/>
        </p:nvSpPr>
        <p:spPr>
          <a:xfrm>
            <a:off x="638668" y="1392995"/>
            <a:ext cx="4673561"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mensual del </a:t>
            </a:r>
            <a:r>
              <a:rPr lang="es-ES" sz="3000" err="1">
                <a:solidFill>
                  <a:schemeClr val="tx1">
                    <a:lumMod val="85000"/>
                    <a:lumOff val="15000"/>
                  </a:schemeClr>
                </a:solidFill>
                <a:latin typeface="DM Serif Display" pitchFamily="2" charset="0"/>
                <a:cs typeface="Times New Roman" panose="02020603050405020304" pitchFamily="18" charset="0"/>
              </a:rPr>
              <a:t>RevPar</a:t>
            </a:r>
            <a:r>
              <a:rPr lang="es-ES" sz="3000">
                <a:solidFill>
                  <a:schemeClr val="tx1">
                    <a:lumMod val="85000"/>
                    <a:lumOff val="15000"/>
                  </a:schemeClr>
                </a:solidFill>
                <a:latin typeface="DM Serif Display" pitchFamily="2" charset="0"/>
                <a:cs typeface="Times New Roman" panose="02020603050405020304" pitchFamily="18" charset="0"/>
              </a:rPr>
              <a:t> en apartamentos </a:t>
            </a:r>
          </a:p>
        </p:txBody>
      </p:sp>
      <p:sp>
        <p:nvSpPr>
          <p:cNvPr id="10" name="Rectángulo 9">
            <a:extLst>
              <a:ext uri="{FF2B5EF4-FFF2-40B4-BE49-F238E27FC236}">
                <a16:creationId xmlns:a16="http://schemas.microsoft.com/office/drawing/2014/main" id="{B1B97FF7-36B2-51AA-4E28-A6240E0C01CC}"/>
              </a:ext>
            </a:extLst>
          </p:cNvPr>
          <p:cNvSpPr/>
          <p:nvPr/>
        </p:nvSpPr>
        <p:spPr>
          <a:xfrm>
            <a:off x="638667" y="2418032"/>
            <a:ext cx="5098103"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a:t>
            </a:r>
            <a:r>
              <a:rPr lang="es-ES" sz="1200" kern="0" err="1">
                <a:solidFill>
                  <a:schemeClr val="tx1">
                    <a:lumMod val="75000"/>
                    <a:lumOff val="25000"/>
                  </a:schemeClr>
                </a:solidFill>
                <a:latin typeface="Montserrat" pitchFamily="2" charset="77"/>
                <a:cs typeface="Times New Roman" panose="02020603050405020304" pitchFamily="18" charset="0"/>
              </a:rPr>
              <a:t>RevPAR</a:t>
            </a:r>
            <a:r>
              <a:rPr lang="es-ES" sz="1200" kern="0">
                <a:solidFill>
                  <a:schemeClr val="tx1">
                    <a:lumMod val="75000"/>
                    <a:lumOff val="25000"/>
                  </a:schemeClr>
                </a:solidFill>
                <a:latin typeface="Montserrat" pitchFamily="2" charset="77"/>
                <a:cs typeface="Times New Roman" panose="02020603050405020304" pitchFamily="18" charset="0"/>
              </a:rPr>
              <a:t> en apartamentos turísticos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mantiene un patrón claramente estacional. Los primeros meses del año se sitúan en niveles moderados, en el entorno de 45–55 €, con una progresión sostenida a partir de mayo.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Los máximos se concentran en julio y agosto, alcanzando valores próximos a 140–145 €, en línea con los registros más elevados de la serie reciente.</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Desde septiembre se produce un descenso acusado, especialmente en octubre y noviembre, cuando el </a:t>
            </a:r>
            <a:r>
              <a:rPr lang="es-ES" sz="1200" kern="0" err="1">
                <a:solidFill>
                  <a:schemeClr val="tx1">
                    <a:lumMod val="75000"/>
                    <a:lumOff val="25000"/>
                  </a:schemeClr>
                </a:solidFill>
                <a:latin typeface="Montserrat" pitchFamily="2" charset="77"/>
                <a:cs typeface="Times New Roman" panose="02020603050405020304" pitchFamily="18" charset="0"/>
              </a:rPr>
              <a:t>RevPAR</a:t>
            </a:r>
            <a:r>
              <a:rPr lang="es-ES" sz="1200" kern="0">
                <a:solidFill>
                  <a:schemeClr val="tx1">
                    <a:lumMod val="75000"/>
                    <a:lumOff val="25000"/>
                  </a:schemeClr>
                </a:solidFill>
                <a:latin typeface="Montserrat" pitchFamily="2" charset="77"/>
                <a:cs typeface="Times New Roman" panose="02020603050405020304" pitchFamily="18" charset="0"/>
              </a:rPr>
              <a:t> cae a niveles sensiblemente inferiores a los del verano y por debajo de 2024 en el tramo final del año. En conjunto, la rentabilidad por plaza confirma una fuerte concentración en temporada alta y una menor intensidad económica durante el otoño.</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9CFA0DA3-C306-FB02-B595-FE3755697747}"/>
              </a:ext>
            </a:extLst>
          </p:cNvPr>
          <p:cNvGraphicFramePr/>
          <p:nvPr>
            <p:extLst>
              <p:ext uri="{D42A27DB-BD31-4B8C-83A1-F6EECF244321}">
                <p14:modId xmlns:p14="http://schemas.microsoft.com/office/powerpoint/2010/main" val="531450299"/>
              </p:ext>
            </p:extLst>
          </p:nvPr>
        </p:nvGraphicFramePr>
        <p:xfrm>
          <a:off x="5869056" y="1392995"/>
          <a:ext cx="5625296" cy="4023067"/>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FAA287A9-206D-B839-8F70-CCE383E29901}"/>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2912899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098F2-F379-3879-F13C-00AC89D152EF}"/>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0DD442D-304D-89DA-0669-AE088213B8D8}"/>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23C7AF30-7D7B-A317-E496-05D1EEFB3F9D}"/>
              </a:ext>
            </a:extLst>
          </p:cNvPr>
          <p:cNvSpPr/>
          <p:nvPr/>
        </p:nvSpPr>
        <p:spPr>
          <a:xfrm>
            <a:off x="638668" y="1392995"/>
            <a:ext cx="4673561"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mensual del ADR en apartamentos </a:t>
            </a:r>
          </a:p>
        </p:txBody>
      </p:sp>
      <p:sp>
        <p:nvSpPr>
          <p:cNvPr id="10" name="Rectángulo 9">
            <a:extLst>
              <a:ext uri="{FF2B5EF4-FFF2-40B4-BE49-F238E27FC236}">
                <a16:creationId xmlns:a16="http://schemas.microsoft.com/office/drawing/2014/main" id="{F8653520-727C-CC45-CA11-A5A390FCD008}"/>
              </a:ext>
            </a:extLst>
          </p:cNvPr>
          <p:cNvSpPr/>
          <p:nvPr/>
        </p:nvSpPr>
        <p:spPr>
          <a:xfrm>
            <a:off x="638668" y="2418032"/>
            <a:ext cx="4956590"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ADR en apartamentos muestra un patrón estacional bien definido. Los primeros meses del año se sitúan en el entorno de 130–150 €, con una evolución moderada hasta mayo y un crecimiento más intenso a partir de junio.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El máximo se alcanza en </a:t>
            </a:r>
            <a:r>
              <a:rPr lang="es-ES" sz="1200" b="1" kern="0">
                <a:solidFill>
                  <a:schemeClr val="tx1">
                    <a:lumMod val="75000"/>
                    <a:lumOff val="25000"/>
                  </a:schemeClr>
                </a:solidFill>
                <a:latin typeface="Montserrat" pitchFamily="2" charset="77"/>
                <a:cs typeface="Times New Roman" panose="02020603050405020304" pitchFamily="18" charset="0"/>
              </a:rPr>
              <a:t>julio y agosto</a:t>
            </a:r>
            <a:r>
              <a:rPr lang="es-ES" sz="1200" kern="0">
                <a:solidFill>
                  <a:schemeClr val="tx1">
                    <a:lumMod val="75000"/>
                    <a:lumOff val="25000"/>
                  </a:schemeClr>
                </a:solidFill>
                <a:latin typeface="Montserrat" pitchFamily="2" charset="77"/>
                <a:cs typeface="Times New Roman" panose="02020603050405020304" pitchFamily="18" charset="0"/>
              </a:rPr>
              <a:t>, con valores próximos a 210–220 €, superando los registros de 2024 en el pico estival.</a:t>
            </a:r>
          </a:p>
          <a:p>
            <a:r>
              <a:rPr lang="es-ES" sz="1200" kern="0">
                <a:solidFill>
                  <a:schemeClr val="tx1">
                    <a:lumMod val="75000"/>
                    <a:lumOff val="25000"/>
                  </a:schemeClr>
                </a:solidFill>
                <a:latin typeface="Montserrat" pitchFamily="2" charset="77"/>
                <a:cs typeface="Times New Roman" panose="02020603050405020304" pitchFamily="18" charset="0"/>
              </a:rPr>
              <a:t>Desde septiembre, el ADR desciende de forma progresiva, aunque en 2025 se mantiene en niveles generalmente superiores a los de 2024 durante el otoño, cerrando el año en torno a 160 € en diciembre. En conjunto, los datos reflejan una mejora del precio medio en temporada alta y una mayor fortaleza relativa en el tramo final del ejercicio.</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B053747F-6DC2-382E-13BA-40B402E36D9E}"/>
              </a:ext>
            </a:extLst>
          </p:cNvPr>
          <p:cNvGraphicFramePr/>
          <p:nvPr>
            <p:extLst>
              <p:ext uri="{D42A27DB-BD31-4B8C-83A1-F6EECF244321}">
                <p14:modId xmlns:p14="http://schemas.microsoft.com/office/powerpoint/2010/main" val="3807117215"/>
              </p:ext>
            </p:extLst>
          </p:nvPr>
        </p:nvGraphicFramePr>
        <p:xfrm>
          <a:off x="5869056" y="1392995"/>
          <a:ext cx="5625296" cy="4023067"/>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6ECC75C7-43FE-B0FA-EAC8-C29997C265FE}"/>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729914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CC38B-F23B-1416-AA3F-8795EA7D06B1}"/>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C69697C7-82B2-2D40-9748-282D38524C29}"/>
              </a:ext>
            </a:extLst>
          </p:cNvPr>
          <p:cNvPicPr>
            <a:picLocks noChangeAspect="1"/>
          </p:cNvPicPr>
          <p:nvPr/>
        </p:nvPicPr>
        <p:blipFill>
          <a:blip r:embed="rId2"/>
          <a:srcRect/>
          <a:stretch/>
        </p:blipFill>
        <p:spPr>
          <a:xfrm>
            <a:off x="-101600" y="-203200"/>
            <a:ext cx="12439490" cy="7249186"/>
          </a:xfrm>
          <a:prstGeom prst="rect">
            <a:avLst/>
          </a:prstGeom>
        </p:spPr>
      </p:pic>
      <p:sp>
        <p:nvSpPr>
          <p:cNvPr id="19" name="Rectángulo 18">
            <a:extLst>
              <a:ext uri="{FF2B5EF4-FFF2-40B4-BE49-F238E27FC236}">
                <a16:creationId xmlns:a16="http://schemas.microsoft.com/office/drawing/2014/main" id="{35B9F183-5B48-DE46-8BF6-4DA7A44FC9F1}"/>
              </a:ext>
            </a:extLst>
          </p:cNvPr>
          <p:cNvSpPr/>
          <p:nvPr/>
        </p:nvSpPr>
        <p:spPr>
          <a:xfrm>
            <a:off x="-89614" y="-337457"/>
            <a:ext cx="12542871" cy="7383443"/>
          </a:xfrm>
          <a:prstGeom prst="rect">
            <a:avLst/>
          </a:prstGeom>
          <a:solidFill>
            <a:srgbClr val="81060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CA9ABAD9-D234-7294-BD38-0B3B920A43EA}"/>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bg1"/>
                </a:solidFill>
                <a:latin typeface="Montserrat Medium" pitchFamily="2" charset="77"/>
                <a:ea typeface="Times New Roman" panose="02020603050405020304" pitchFamily="18" charset="0"/>
                <a:cs typeface="Times New Roman" panose="02020603050405020304" pitchFamily="18" charset="0"/>
              </a:rPr>
              <a:t>GASTO TURÍSTICO</a:t>
            </a:r>
            <a:endParaRPr lang="es-ES" sz="120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77B02B84-32A0-0B91-0F23-F48F3A76340B}"/>
              </a:ext>
            </a:extLst>
          </p:cNvPr>
          <p:cNvSpPr/>
          <p:nvPr/>
        </p:nvSpPr>
        <p:spPr>
          <a:xfrm>
            <a:off x="638668" y="1392995"/>
            <a:ext cx="7139240" cy="512897"/>
          </a:xfrm>
          <a:prstGeom prst="rect">
            <a:avLst/>
          </a:prstGeom>
        </p:spPr>
        <p:txBody>
          <a:bodyPr wrap="square">
            <a:spAutoFit/>
          </a:bodyPr>
          <a:lstStyle/>
          <a:p>
            <a:pPr>
              <a:lnSpc>
                <a:spcPts val="3200"/>
              </a:lnSpc>
            </a:pPr>
            <a:r>
              <a:rPr lang="es-ES" sz="300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7318337E-25DE-5BF2-AA5F-6892A58DDC13}"/>
              </a:ext>
            </a:extLst>
          </p:cNvPr>
          <p:cNvSpPr/>
          <p:nvPr/>
        </p:nvSpPr>
        <p:spPr>
          <a:xfrm>
            <a:off x="638668" y="2136261"/>
            <a:ext cx="5544417" cy="364599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Nivel elevado de gasto turístico y aportación económica relevante</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Entre enero y diciembre de 2025, el gasto turístico en </a:t>
            </a:r>
            <a:r>
              <a:rPr lang="es-ES" sz="1400" kern="0" err="1">
                <a:solidFill>
                  <a:schemeClr val="bg1"/>
                </a:solidFill>
                <a:latin typeface="Montserrat" pitchFamily="2" charset="77"/>
                <a:cs typeface="Times New Roman" panose="02020603050405020304" pitchFamily="18" charset="0"/>
              </a:rPr>
              <a:t>Dénia</a:t>
            </a:r>
            <a:r>
              <a:rPr lang="es-ES" sz="1400" kern="0">
                <a:solidFill>
                  <a:schemeClr val="bg1"/>
                </a:solidFill>
                <a:latin typeface="Montserrat" pitchFamily="2" charset="77"/>
                <a:cs typeface="Times New Roman" panose="02020603050405020304" pitchFamily="18" charset="0"/>
              </a:rPr>
              <a:t> mantiene niveles elevados. El ticket medio internacional alcanza valores de hasta 49,60 € (Suiza) y el nacional 37,80 € (Comunidad de Madrid), evidenciando una capacidad de gasto significativa por mercado emisor.</a:t>
            </a:r>
          </a:p>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Reequilibrio entre precio y rentabilidad hotelera</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Aunque el ADR hotelero modera su valor respecto al máximo de 2024 (129,35 € → 121,29 €), el </a:t>
            </a:r>
            <a:r>
              <a:rPr lang="es-ES" sz="1400" kern="0" err="1">
                <a:solidFill>
                  <a:schemeClr val="bg1"/>
                </a:solidFill>
                <a:latin typeface="Montserrat" pitchFamily="2" charset="77"/>
                <a:cs typeface="Times New Roman" panose="02020603050405020304" pitchFamily="18" charset="0"/>
              </a:rPr>
              <a:t>RevPAR</a:t>
            </a:r>
            <a:r>
              <a:rPr lang="es-ES" sz="1400" kern="0">
                <a:solidFill>
                  <a:schemeClr val="bg1"/>
                </a:solidFill>
                <a:latin typeface="Montserrat" pitchFamily="2" charset="77"/>
                <a:cs typeface="Times New Roman" panose="02020603050405020304" pitchFamily="18" charset="0"/>
              </a:rPr>
              <a:t> alcanza su nivel más alto de la serie (88,89 €), lo que indica una combinación más eficiente entre ocupación y precio medio y una mejora de la rentabilidad operativa en el segmento hotelero.</a:t>
            </a:r>
          </a:p>
        </p:txBody>
      </p:sp>
      <p:sp>
        <p:nvSpPr>
          <p:cNvPr id="11" name="Rectángulo 10">
            <a:extLst>
              <a:ext uri="{FF2B5EF4-FFF2-40B4-BE49-F238E27FC236}">
                <a16:creationId xmlns:a16="http://schemas.microsoft.com/office/drawing/2014/main" id="{2FFF3CF5-1AD4-1325-088F-D2FA1B0A30C2}"/>
              </a:ext>
            </a:extLst>
          </p:cNvPr>
          <p:cNvSpPr/>
          <p:nvPr/>
        </p:nvSpPr>
        <p:spPr>
          <a:xfrm>
            <a:off x="6400858" y="2136261"/>
            <a:ext cx="5791142" cy="4389279"/>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Comportamiento estacional acusado en apartamentos</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En apartamentos turísticos, tanto el </a:t>
            </a:r>
            <a:r>
              <a:rPr lang="es-ES" sz="1400" kern="0" err="1">
                <a:solidFill>
                  <a:schemeClr val="bg1"/>
                </a:solidFill>
                <a:latin typeface="Montserrat" pitchFamily="2" charset="77"/>
                <a:cs typeface="Times New Roman" panose="02020603050405020304" pitchFamily="18" charset="0"/>
              </a:rPr>
              <a:t>revenue</a:t>
            </a:r>
            <a:r>
              <a:rPr lang="es-ES" sz="1400" kern="0">
                <a:solidFill>
                  <a:schemeClr val="bg1"/>
                </a:solidFill>
                <a:latin typeface="Montserrat" pitchFamily="2" charset="77"/>
                <a:cs typeface="Times New Roman" panose="02020603050405020304" pitchFamily="18" charset="0"/>
              </a:rPr>
              <a:t> como el </a:t>
            </a:r>
            <a:r>
              <a:rPr lang="es-ES" sz="1400" kern="0" err="1">
                <a:solidFill>
                  <a:schemeClr val="bg1"/>
                </a:solidFill>
                <a:latin typeface="Montserrat" pitchFamily="2" charset="77"/>
                <a:cs typeface="Times New Roman" panose="02020603050405020304" pitchFamily="18" charset="0"/>
              </a:rPr>
              <a:t>RevPAR</a:t>
            </a:r>
            <a:r>
              <a:rPr lang="es-ES" sz="1400" kern="0">
                <a:solidFill>
                  <a:schemeClr val="bg1"/>
                </a:solidFill>
                <a:latin typeface="Montserrat" pitchFamily="2" charset="77"/>
                <a:cs typeface="Times New Roman" panose="02020603050405020304" pitchFamily="18" charset="0"/>
              </a:rPr>
              <a:t> y el ADR concentran sus máximos en julio y agosto, con picos incluso superiores a 2024 en el caso del ADR. Sin embargo, el tramo final del año muestra una moderación más intensa que en el segmento hotelero, reflejando una mayor sensibilidad estacional de esta tipología.</a:t>
            </a:r>
          </a:p>
          <a:p>
            <a:pPr marL="185738"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Impacto económico global en crecimiento</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El conjunto de indicadores muestra un escenario de consolidación: aumenta la afluencia total, mejora el ticket medio y se refuerza la rentabilidad hotelera, mientras que en apartamentos se observa una mayor concentración del ingreso en temporada alta y una moderación posterior. En términos agregados, el impacto económico del turismo en 2025 no se debilita, sino que se reconfigura, combinando mayor volumen de demanda con ajustes puntuales en determinados indicadores de precio.</a:t>
            </a:r>
          </a:p>
        </p:txBody>
      </p:sp>
      <p:cxnSp>
        <p:nvCxnSpPr>
          <p:cNvPr id="15" name="Conector recto 14">
            <a:extLst>
              <a:ext uri="{FF2B5EF4-FFF2-40B4-BE49-F238E27FC236}">
                <a16:creationId xmlns:a16="http://schemas.microsoft.com/office/drawing/2014/main" id="{C76A1A8F-2791-9E44-99D3-614214EFCD11}"/>
              </a:ext>
            </a:extLst>
          </p:cNvPr>
          <p:cNvCxnSpPr>
            <a:cxnSpLocks/>
            <a:endCxn id="17" idx="1"/>
          </p:cNvCxnSpPr>
          <p:nvPr/>
        </p:nvCxnSpPr>
        <p:spPr>
          <a:xfrm>
            <a:off x="717632" y="520861"/>
            <a:ext cx="5926184" cy="3262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ángulo 16">
            <a:extLst>
              <a:ext uri="{FF2B5EF4-FFF2-40B4-BE49-F238E27FC236}">
                <a16:creationId xmlns:a16="http://schemas.microsoft.com/office/drawing/2014/main" id="{72DC713C-9136-0E4F-9E1D-29A1C10B9B3C}"/>
              </a:ext>
            </a:extLst>
          </p:cNvPr>
          <p:cNvSpPr/>
          <p:nvPr/>
        </p:nvSpPr>
        <p:spPr>
          <a:xfrm>
            <a:off x="6643816" y="430374"/>
            <a:ext cx="4921540" cy="246221"/>
          </a:xfrm>
          <a:prstGeom prst="rect">
            <a:avLst/>
          </a:prstGeom>
        </p:spPr>
        <p:txBody>
          <a:bodyPr wrap="none">
            <a:spAutoFit/>
          </a:bodyPr>
          <a:lstStyle/>
          <a:p>
            <a:pPr algn="r"/>
            <a:r>
              <a:rPr lang="es-ES" sz="1000" b="1">
                <a:solidFill>
                  <a:schemeClr val="bg1"/>
                </a:solidFill>
                <a:latin typeface="Montserrat SemiBold" pitchFamily="2" charset="77"/>
              </a:rPr>
              <a:t>INFORME DE ANÁLISIS DE DATOS | SMART OFFICE DENIA | ENE – DIC 25</a:t>
            </a:r>
          </a:p>
        </p:txBody>
      </p:sp>
      <p:grpSp>
        <p:nvGrpSpPr>
          <p:cNvPr id="2" name="Grupo 1">
            <a:extLst>
              <a:ext uri="{FF2B5EF4-FFF2-40B4-BE49-F238E27FC236}">
                <a16:creationId xmlns:a16="http://schemas.microsoft.com/office/drawing/2014/main" id="{AC5ED6CB-5F3C-3E5B-29FE-F80210435FBE}"/>
              </a:ext>
            </a:extLst>
          </p:cNvPr>
          <p:cNvGrpSpPr/>
          <p:nvPr/>
        </p:nvGrpSpPr>
        <p:grpSpPr>
          <a:xfrm>
            <a:off x="766736" y="5994100"/>
            <a:ext cx="3903956" cy="476250"/>
            <a:chOff x="643469" y="6033429"/>
            <a:chExt cx="3903956" cy="476250"/>
          </a:xfrm>
        </p:grpSpPr>
        <p:pic>
          <p:nvPicPr>
            <p:cNvPr id="4" name="Imagen 3">
              <a:extLst>
                <a:ext uri="{FF2B5EF4-FFF2-40B4-BE49-F238E27FC236}">
                  <a16:creationId xmlns:a16="http://schemas.microsoft.com/office/drawing/2014/main" id="{A0701461-398D-A1FC-5C4A-6BD2BBF1EF84}"/>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5" name="Imagen 4">
              <a:extLst>
                <a:ext uri="{FF2B5EF4-FFF2-40B4-BE49-F238E27FC236}">
                  <a16:creationId xmlns:a16="http://schemas.microsoft.com/office/drawing/2014/main" id="{376F9A52-F1A0-0A46-0B03-084540D76118}"/>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6" name="Imagen 5" descr="Imagen que contiene Logotipo&#10;&#10;Descripción generada automáticamente">
            <a:extLst>
              <a:ext uri="{FF2B5EF4-FFF2-40B4-BE49-F238E27FC236}">
                <a16:creationId xmlns:a16="http://schemas.microsoft.com/office/drawing/2014/main" id="{878864FC-DDB3-6584-9427-D3A0ED8292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2641551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2BCF689F-2CE8-BE49-9F6A-A5E2C1489191}"/>
              </a:ext>
            </a:extLst>
          </p:cNvPr>
          <p:cNvSpPr/>
          <p:nvPr/>
        </p:nvSpPr>
        <p:spPr>
          <a:xfrm>
            <a:off x="7535538"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03</a:t>
            </a:r>
            <a:endParaRPr lang="es-ES" sz="30000">
              <a:solidFill>
                <a:schemeClr val="bg2"/>
              </a:solidFill>
              <a:latin typeface="DM Serif Display" pitchFamily="2" charset="0"/>
            </a:endParaRPr>
          </a:p>
        </p:txBody>
      </p:sp>
      <p:sp>
        <p:nvSpPr>
          <p:cNvPr id="2" name="Rectángulo 1">
            <a:extLst>
              <a:ext uri="{FF2B5EF4-FFF2-40B4-BE49-F238E27FC236}">
                <a16:creationId xmlns:a16="http://schemas.microsoft.com/office/drawing/2014/main" id="{E1AAF08B-AB44-6547-891C-337A413BF743}"/>
              </a:ext>
            </a:extLst>
          </p:cNvPr>
          <p:cNvSpPr/>
          <p:nvPr/>
        </p:nvSpPr>
        <p:spPr>
          <a:xfrm>
            <a:off x="629084" y="1390653"/>
            <a:ext cx="3157104" cy="646716"/>
          </a:xfrm>
          <a:prstGeom prst="rect">
            <a:avLst/>
          </a:prstGeom>
        </p:spPr>
        <p:txBody>
          <a:bodyPr wrap="square">
            <a:spAutoFit/>
          </a:bodyPr>
          <a:lstStyle/>
          <a:p>
            <a:pPr>
              <a:lnSpc>
                <a:spcPts val="42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Oferta</a:t>
            </a:r>
            <a:endParaRPr lang="es-ES" sz="4000">
              <a:solidFill>
                <a:schemeClr val="tx1">
                  <a:lumMod val="85000"/>
                  <a:lumOff val="15000"/>
                </a:schemeClr>
              </a:solidFill>
              <a:latin typeface="DM Serif Display" pitchFamily="2" charset="0"/>
            </a:endParaRPr>
          </a:p>
        </p:txBody>
      </p:sp>
      <p:pic>
        <p:nvPicPr>
          <p:cNvPr id="13" name="Imagen 12">
            <a:extLst>
              <a:ext uri="{FF2B5EF4-FFF2-40B4-BE49-F238E27FC236}">
                <a16:creationId xmlns:a16="http://schemas.microsoft.com/office/drawing/2014/main" id="{F42456BE-0E3B-954D-A20F-AE299D64531E}"/>
              </a:ext>
            </a:extLst>
          </p:cNvPr>
          <p:cNvPicPr>
            <a:picLocks noChangeAspect="1"/>
          </p:cNvPicPr>
          <p:nvPr/>
        </p:nvPicPr>
        <p:blipFill>
          <a:blip r:embed="rId2"/>
          <a:srcRect/>
          <a:stretch/>
        </p:blipFill>
        <p:spPr>
          <a:xfrm>
            <a:off x="-101600" y="3457815"/>
            <a:ext cx="12369800" cy="3534880"/>
          </a:xfrm>
          <a:prstGeom prst="rect">
            <a:avLst/>
          </a:prstGeom>
        </p:spPr>
      </p:pic>
      <p:grpSp>
        <p:nvGrpSpPr>
          <p:cNvPr id="3" name="Grupo 2">
            <a:extLst>
              <a:ext uri="{FF2B5EF4-FFF2-40B4-BE49-F238E27FC236}">
                <a16:creationId xmlns:a16="http://schemas.microsoft.com/office/drawing/2014/main" id="{13D46D76-E4BD-13D4-E756-D73BA00900C3}"/>
              </a:ext>
            </a:extLst>
          </p:cNvPr>
          <p:cNvGrpSpPr/>
          <p:nvPr/>
        </p:nvGrpSpPr>
        <p:grpSpPr>
          <a:xfrm>
            <a:off x="766736" y="5994100"/>
            <a:ext cx="3903956" cy="476250"/>
            <a:chOff x="643469" y="6033429"/>
            <a:chExt cx="3903956" cy="476250"/>
          </a:xfrm>
        </p:grpSpPr>
        <p:pic>
          <p:nvPicPr>
            <p:cNvPr id="4" name="Imagen 3">
              <a:extLst>
                <a:ext uri="{FF2B5EF4-FFF2-40B4-BE49-F238E27FC236}">
                  <a16:creationId xmlns:a16="http://schemas.microsoft.com/office/drawing/2014/main" id="{E5A0D046-C3AB-86D8-1B09-2F1FEC517F5C}"/>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5" name="Imagen 4">
              <a:extLst>
                <a:ext uri="{FF2B5EF4-FFF2-40B4-BE49-F238E27FC236}">
                  <a16:creationId xmlns:a16="http://schemas.microsoft.com/office/drawing/2014/main" id="{81BE8798-9402-D5BF-4226-090EC7AFBF60}"/>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6" name="Imagen 5" descr="Imagen que contiene Logotipo&#10;&#10;Descripción generada automáticamente">
            <a:extLst>
              <a:ext uri="{FF2B5EF4-FFF2-40B4-BE49-F238E27FC236}">
                <a16:creationId xmlns:a16="http://schemas.microsoft.com/office/drawing/2014/main" id="{D053C35D-C8EA-267C-9370-8EC1DE288B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2195567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AC9C7-9F42-06B3-0037-BF4AB0816AA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3FE4562-E6E6-65CC-1AC1-74BA56B4E3A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OFERTA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06A26403-A145-36B9-C7B7-4DB6D6EF5E9D}"/>
              </a:ext>
            </a:extLst>
          </p:cNvPr>
          <p:cNvSpPr/>
          <p:nvPr/>
        </p:nvSpPr>
        <p:spPr>
          <a:xfrm>
            <a:off x="638668" y="1392995"/>
            <a:ext cx="4998457"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Distribución de los anuncios por plataforma</a:t>
            </a:r>
          </a:p>
        </p:txBody>
      </p:sp>
      <p:sp>
        <p:nvSpPr>
          <p:cNvPr id="10" name="Rectángulo 9">
            <a:extLst>
              <a:ext uri="{FF2B5EF4-FFF2-40B4-BE49-F238E27FC236}">
                <a16:creationId xmlns:a16="http://schemas.microsoft.com/office/drawing/2014/main" id="{7723BCC3-9317-5EE7-153B-6338887CB4C7}"/>
              </a:ext>
            </a:extLst>
          </p:cNvPr>
          <p:cNvSpPr/>
          <p:nvPr/>
        </p:nvSpPr>
        <p:spPr>
          <a:xfrm>
            <a:off x="638668" y="2466975"/>
            <a:ext cx="5457332"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oferta de alojamientos turísticos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se concentra mayoritariamente en </a:t>
            </a:r>
            <a:r>
              <a:rPr lang="es-ES" sz="1200" b="1" kern="0">
                <a:solidFill>
                  <a:schemeClr val="tx1">
                    <a:lumMod val="75000"/>
                    <a:lumOff val="25000"/>
                  </a:schemeClr>
                </a:solidFill>
                <a:latin typeface="Montserrat" pitchFamily="2" charset="77"/>
                <a:cs typeface="Times New Roman" panose="02020603050405020304" pitchFamily="18" charset="0"/>
              </a:rPr>
              <a:t>Airbnb</a:t>
            </a:r>
            <a:r>
              <a:rPr lang="es-ES" sz="1200" kern="0">
                <a:solidFill>
                  <a:schemeClr val="tx1">
                    <a:lumMod val="75000"/>
                    <a:lumOff val="25000"/>
                  </a:schemeClr>
                </a:solidFill>
                <a:latin typeface="Montserrat" pitchFamily="2" charset="77"/>
                <a:cs typeface="Times New Roman" panose="02020603050405020304" pitchFamily="18" charset="0"/>
              </a:rPr>
              <a:t>, que agrupa en torno al </a:t>
            </a:r>
            <a:r>
              <a:rPr lang="es-ES" sz="1200" b="1" kern="0">
                <a:solidFill>
                  <a:schemeClr val="tx1">
                    <a:lumMod val="75000"/>
                    <a:lumOff val="25000"/>
                  </a:schemeClr>
                </a:solidFill>
                <a:latin typeface="Montserrat" pitchFamily="2" charset="77"/>
                <a:cs typeface="Times New Roman" panose="02020603050405020304" pitchFamily="18" charset="0"/>
              </a:rPr>
              <a:t>48% </a:t>
            </a:r>
            <a:r>
              <a:rPr lang="es-ES" sz="1200" kern="0">
                <a:solidFill>
                  <a:schemeClr val="tx1">
                    <a:lumMod val="75000"/>
                    <a:lumOff val="25000"/>
                  </a:schemeClr>
                </a:solidFill>
                <a:latin typeface="Montserrat" pitchFamily="2" charset="77"/>
                <a:cs typeface="Times New Roman" panose="02020603050405020304" pitchFamily="18" charset="0"/>
              </a:rPr>
              <a:t>de los anuncios activos, manteniéndose como la plataforma dominante en la comercialización del alojamiento turístico del destino.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b="1" kern="0" err="1">
                <a:solidFill>
                  <a:schemeClr val="tx1">
                    <a:lumMod val="75000"/>
                    <a:lumOff val="25000"/>
                  </a:schemeClr>
                </a:solidFill>
                <a:latin typeface="Montserrat" pitchFamily="2" charset="77"/>
                <a:cs typeface="Times New Roman" panose="02020603050405020304" pitchFamily="18" charset="0"/>
              </a:rPr>
              <a:t>Booking</a:t>
            </a:r>
            <a:r>
              <a:rPr lang="es-ES" sz="1200" kern="0">
                <a:solidFill>
                  <a:schemeClr val="tx1">
                    <a:lumMod val="75000"/>
                    <a:lumOff val="25000"/>
                  </a:schemeClr>
                </a:solidFill>
                <a:latin typeface="Montserrat" pitchFamily="2" charset="77"/>
                <a:cs typeface="Times New Roman" panose="02020603050405020304" pitchFamily="18" charset="0"/>
              </a:rPr>
              <a:t> representa aproximadamente el </a:t>
            </a:r>
            <a:r>
              <a:rPr lang="es-ES" sz="1200" b="1" kern="0">
                <a:solidFill>
                  <a:schemeClr val="tx1">
                    <a:lumMod val="75000"/>
                    <a:lumOff val="25000"/>
                  </a:schemeClr>
                </a:solidFill>
                <a:latin typeface="Montserrat" pitchFamily="2" charset="77"/>
                <a:cs typeface="Times New Roman" panose="02020603050405020304" pitchFamily="18" charset="0"/>
              </a:rPr>
              <a:t>28% </a:t>
            </a:r>
            <a:r>
              <a:rPr lang="es-ES" sz="1200" kern="0">
                <a:solidFill>
                  <a:schemeClr val="tx1">
                    <a:lumMod val="75000"/>
                    <a:lumOff val="25000"/>
                  </a:schemeClr>
                </a:solidFill>
                <a:latin typeface="Montserrat" pitchFamily="2" charset="77"/>
                <a:cs typeface="Times New Roman" panose="02020603050405020304" pitchFamily="18" charset="0"/>
              </a:rPr>
              <a:t>del total, con una presencia relevante en segmentos de alojamiento más profesionalizados, mientras que </a:t>
            </a:r>
            <a:r>
              <a:rPr lang="es-ES" sz="1200" b="1" kern="0">
                <a:solidFill>
                  <a:schemeClr val="tx1">
                    <a:lumMod val="75000"/>
                    <a:lumOff val="25000"/>
                  </a:schemeClr>
                </a:solidFill>
                <a:latin typeface="Montserrat" pitchFamily="2" charset="77"/>
                <a:cs typeface="Times New Roman" panose="02020603050405020304" pitchFamily="18" charset="0"/>
              </a:rPr>
              <a:t>VRBO</a:t>
            </a:r>
            <a:r>
              <a:rPr lang="es-ES" sz="1200" kern="0">
                <a:solidFill>
                  <a:schemeClr val="tx1">
                    <a:lumMod val="75000"/>
                    <a:lumOff val="25000"/>
                  </a:schemeClr>
                </a:solidFill>
                <a:latin typeface="Montserrat" pitchFamily="2" charset="77"/>
                <a:cs typeface="Times New Roman" panose="02020603050405020304" pitchFamily="18" charset="0"/>
              </a:rPr>
              <a:t> concentra en torno al </a:t>
            </a:r>
            <a:r>
              <a:rPr lang="es-ES" sz="1200" b="1" kern="0">
                <a:solidFill>
                  <a:schemeClr val="tx1">
                    <a:lumMod val="75000"/>
                    <a:lumOff val="25000"/>
                  </a:schemeClr>
                </a:solidFill>
                <a:latin typeface="Montserrat" pitchFamily="2" charset="77"/>
                <a:cs typeface="Times New Roman" panose="02020603050405020304" pitchFamily="18" charset="0"/>
              </a:rPr>
              <a:t>24%</a:t>
            </a:r>
            <a:r>
              <a:rPr lang="es-ES" sz="1200" kern="0">
                <a:solidFill>
                  <a:schemeClr val="tx1">
                    <a:lumMod val="75000"/>
                    <a:lumOff val="25000"/>
                  </a:schemeClr>
                </a:solidFill>
                <a:latin typeface="Montserrat" pitchFamily="2" charset="77"/>
                <a:cs typeface="Times New Roman" panose="02020603050405020304" pitchFamily="18" charset="0"/>
              </a:rPr>
              <a:t>, orientada principalmente a propiedades de mayor capacidad y perfil familiar.</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La distribución de los anuncios refleja un ecosistema de oferta diversificado, en el que, pese al liderazgo de Airbnb en volumen, coexisten distintos modelos de comercialización que amplían la visibilidad del destino y facilitan el acceso a diferentes perfiles de demanda.</a:t>
            </a:r>
          </a:p>
        </p:txBody>
      </p:sp>
      <p:graphicFrame>
        <p:nvGraphicFramePr>
          <p:cNvPr id="3" name="Gráfico 2">
            <a:extLst>
              <a:ext uri="{FF2B5EF4-FFF2-40B4-BE49-F238E27FC236}">
                <a16:creationId xmlns:a16="http://schemas.microsoft.com/office/drawing/2014/main" id="{571FD5EA-DEC3-6AFB-F578-2E63A7C30A75}"/>
              </a:ext>
            </a:extLst>
          </p:cNvPr>
          <p:cNvGraphicFramePr/>
          <p:nvPr/>
        </p:nvGraphicFramePr>
        <p:xfrm>
          <a:off x="6096000" y="1265048"/>
          <a:ext cx="5625296" cy="4327904"/>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ángulo 3">
            <a:extLst>
              <a:ext uri="{FF2B5EF4-FFF2-40B4-BE49-F238E27FC236}">
                <a16:creationId xmlns:a16="http://schemas.microsoft.com/office/drawing/2014/main" id="{D800F4CE-1D53-EEE9-7206-6535AC68EC56}"/>
              </a:ext>
            </a:extLst>
          </p:cNvPr>
          <p:cNvSpPr/>
          <p:nvPr/>
        </p:nvSpPr>
        <p:spPr>
          <a:xfrm>
            <a:off x="8476221" y="5313264"/>
            <a:ext cx="3245075" cy="303481"/>
          </a:xfrm>
          <a:prstGeom prst="rect">
            <a:avLst/>
          </a:prstGeom>
        </p:spPr>
        <p:txBody>
          <a:bodyPr wrap="square">
            <a:spAutoFit/>
          </a:bodyPr>
          <a:lstStyle/>
          <a:p>
            <a:pPr algn="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933270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87EF3-1ADF-FF3F-7FCA-416F98B6A9E1}"/>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1C1EF53-F5E2-36AD-6345-CF38FAEE35BC}"/>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OFERTA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8A2A68B-A75B-DA02-26C4-EF5DFEB0CF94}"/>
              </a:ext>
            </a:extLst>
          </p:cNvPr>
          <p:cNvSpPr/>
          <p:nvPr/>
        </p:nvSpPr>
        <p:spPr>
          <a:xfrm>
            <a:off x="638668" y="1392995"/>
            <a:ext cx="4616620"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de la cantidad de anuncios</a:t>
            </a:r>
          </a:p>
        </p:txBody>
      </p:sp>
      <p:sp>
        <p:nvSpPr>
          <p:cNvPr id="10" name="Rectángulo 9">
            <a:extLst>
              <a:ext uri="{FF2B5EF4-FFF2-40B4-BE49-F238E27FC236}">
                <a16:creationId xmlns:a16="http://schemas.microsoft.com/office/drawing/2014/main" id="{D261F76A-FBD5-14F4-04B5-821EABA7F959}"/>
              </a:ext>
            </a:extLst>
          </p:cNvPr>
          <p:cNvSpPr/>
          <p:nvPr/>
        </p:nvSpPr>
        <p:spPr>
          <a:xfrm>
            <a:off x="638668" y="2361705"/>
            <a:ext cx="5340593" cy="2998030"/>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oferta de alojamientos turísticos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muestra una tendencia de ajuste progresivo, con un descenso paulatino en el número de anuncios activos a lo largo del año, especialmente a partir del periodo estival.</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Durante los primeros meses de 2025, la oferta se sitúa en niveles elevados, en torno a las 7.500–8.200 unidades, alcanzando sus valores máximos en primavera y comienzos del verano. A partir de julio, se observa una reducción continuada del número de anuncios, que desciende hasta situarse en el entorno de las 6.200–6.500 unidades en los meses de otoño.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Este comportamiento apunta a una fase de normalización de la oferta, tras los elevados volúmenes registrados en ejercicios anteriores, configurando un escenario de mayor estabilidad y ajuste del mercado de alojamiento turístico en el destino.</a:t>
            </a:r>
          </a:p>
          <a:p>
            <a:pPr>
              <a:spcAft>
                <a:spcPts val="600"/>
              </a:spcAft>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spcAft>
                <a:spcPts val="60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54338C8E-4086-DD15-B1A6-C0390A6166E9}"/>
              </a:ext>
            </a:extLst>
          </p:cNvPr>
          <p:cNvGraphicFramePr/>
          <p:nvPr>
            <p:extLst>
              <p:ext uri="{D42A27DB-BD31-4B8C-83A1-F6EECF244321}">
                <p14:modId xmlns:p14="http://schemas.microsoft.com/office/powerpoint/2010/main" val="1523819453"/>
              </p:ext>
            </p:extLst>
          </p:nvPr>
        </p:nvGraphicFramePr>
        <p:xfrm>
          <a:off x="6380702" y="1279441"/>
          <a:ext cx="5340593" cy="4149724"/>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7AFBB5B9-DA85-5BE1-04EF-3EDCAD015C45}"/>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4291154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976B1-6C89-E00B-9AC9-E2270AB3A43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0763BF29-4F80-437B-E67F-80DED664FBF9}"/>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OFERTA</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CBF2BF87-2018-C5D4-3A03-A263F8AD38B2}"/>
              </a:ext>
            </a:extLst>
          </p:cNvPr>
          <p:cNvSpPr/>
          <p:nvPr/>
        </p:nvSpPr>
        <p:spPr>
          <a:xfrm>
            <a:off x="638668" y="1392995"/>
            <a:ext cx="5088892" cy="1333635"/>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Evolución de la cantidad de apartamentos turísticos anunciados</a:t>
            </a:r>
          </a:p>
        </p:txBody>
      </p:sp>
      <p:sp>
        <p:nvSpPr>
          <p:cNvPr id="10" name="Rectángulo 9">
            <a:extLst>
              <a:ext uri="{FF2B5EF4-FFF2-40B4-BE49-F238E27FC236}">
                <a16:creationId xmlns:a16="http://schemas.microsoft.com/office/drawing/2014/main" id="{AAFFE96A-45F2-CA02-C2C0-A9CC31E2B1CD}"/>
              </a:ext>
            </a:extLst>
          </p:cNvPr>
          <p:cNvSpPr/>
          <p:nvPr/>
        </p:nvSpPr>
        <p:spPr>
          <a:xfrm>
            <a:off x="638668" y="2853294"/>
            <a:ext cx="5088892" cy="2763439"/>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oferta de apartamentos turísticos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presenta un comportamiento estacional muy definido, con un incremento progresivo del número de anuncios desde comienzos de año hasta alcanzar su máximo en los meses de junio y julio.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Durante este periodo, el volumen de apartamentos anunciados se sitúa en torno a las 4.400–4.700 unidades, reflejando la incorporación gradual de viviendas al mercado de cara a la temporada alta. A partir de agosto, se observa un descenso continuado del número de anuncios, que se intensifica en otoño, hasta situarse en niveles próximos a las 3.700–3.800 unidades.</a:t>
            </a:r>
          </a:p>
          <a:p>
            <a:endParaRPr lang="es-ES" sz="1200" kern="0">
              <a:solidFill>
                <a:schemeClr val="tx1">
                  <a:lumMod val="75000"/>
                  <a:lumOff val="25000"/>
                </a:schemeClr>
              </a:solidFill>
              <a:latin typeface="Montserrat" pitchFamily="2" charset="77"/>
              <a:cs typeface="Times New Roman" panose="02020603050405020304" pitchFamily="18" charset="0"/>
            </a:endParaRPr>
          </a:p>
          <a:p>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spcAft>
                <a:spcPts val="600"/>
              </a:spcAft>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A86B3875-BF63-3662-7212-AD998852098F}"/>
              </a:ext>
            </a:extLst>
          </p:cNvPr>
          <p:cNvGraphicFramePr/>
          <p:nvPr>
            <p:extLst>
              <p:ext uri="{D42A27DB-BD31-4B8C-83A1-F6EECF244321}">
                <p14:modId xmlns:p14="http://schemas.microsoft.com/office/powerpoint/2010/main" val="3264629039"/>
              </p:ext>
            </p:extLst>
          </p:nvPr>
        </p:nvGraphicFramePr>
        <p:xfrm>
          <a:off x="6213987" y="1227346"/>
          <a:ext cx="5507308" cy="4149724"/>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ángulo 2">
            <a:extLst>
              <a:ext uri="{FF2B5EF4-FFF2-40B4-BE49-F238E27FC236}">
                <a16:creationId xmlns:a16="http://schemas.microsoft.com/office/drawing/2014/main" id="{1A7A1E88-B933-36FA-5352-714BB26D3238}"/>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Smart </a:t>
            </a:r>
            <a:r>
              <a:rPr lang="es-ES" sz="1000" i="1" err="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Tourism</a:t>
            </a: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 CV</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3808919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628B8-5050-E58B-F77B-62DBCD4C4432}"/>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0B4896DD-7D71-E7C2-ABC4-AD3BECE22871}"/>
              </a:ext>
            </a:extLst>
          </p:cNvPr>
          <p:cNvPicPr>
            <a:picLocks noChangeAspect="1"/>
          </p:cNvPicPr>
          <p:nvPr/>
        </p:nvPicPr>
        <p:blipFill>
          <a:blip r:embed="rId2"/>
          <a:srcRect/>
          <a:stretch/>
        </p:blipFill>
        <p:spPr>
          <a:xfrm>
            <a:off x="-101600" y="-162588"/>
            <a:ext cx="12369800" cy="7208574"/>
          </a:xfrm>
          <a:prstGeom prst="rect">
            <a:avLst/>
          </a:prstGeom>
        </p:spPr>
      </p:pic>
      <p:sp>
        <p:nvSpPr>
          <p:cNvPr id="19" name="Rectángulo 18">
            <a:extLst>
              <a:ext uri="{FF2B5EF4-FFF2-40B4-BE49-F238E27FC236}">
                <a16:creationId xmlns:a16="http://schemas.microsoft.com/office/drawing/2014/main" id="{EDDD5417-A9AB-F28D-C8F1-AE80AB211EBD}"/>
              </a:ext>
            </a:extLst>
          </p:cNvPr>
          <p:cNvSpPr/>
          <p:nvPr/>
        </p:nvSpPr>
        <p:spPr>
          <a:xfrm>
            <a:off x="-16669" y="-88900"/>
            <a:ext cx="12225338" cy="6946900"/>
          </a:xfrm>
          <a:prstGeom prst="rect">
            <a:avLst/>
          </a:prstGeom>
          <a:solidFill>
            <a:srgbClr val="81060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DC695AFB-0FC8-DE2A-3D6F-BEBC40D3250E}"/>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bg1"/>
                </a:solidFill>
                <a:latin typeface="Montserrat Medium" pitchFamily="2" charset="77"/>
                <a:ea typeface="Times New Roman" panose="02020603050405020304" pitchFamily="18" charset="0"/>
                <a:cs typeface="Times New Roman" panose="02020603050405020304" pitchFamily="18" charset="0"/>
              </a:rPr>
              <a:t>OFERTA</a:t>
            </a:r>
            <a:endParaRPr lang="es-ES" sz="120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59CA277B-DC7F-E14A-3BC2-DF1DEA78B702}"/>
              </a:ext>
            </a:extLst>
          </p:cNvPr>
          <p:cNvSpPr/>
          <p:nvPr/>
        </p:nvSpPr>
        <p:spPr>
          <a:xfrm>
            <a:off x="638668" y="1392995"/>
            <a:ext cx="7139240" cy="512897"/>
          </a:xfrm>
          <a:prstGeom prst="rect">
            <a:avLst/>
          </a:prstGeom>
        </p:spPr>
        <p:txBody>
          <a:bodyPr wrap="square">
            <a:spAutoFit/>
          </a:bodyPr>
          <a:lstStyle/>
          <a:p>
            <a:pPr>
              <a:lnSpc>
                <a:spcPts val="3200"/>
              </a:lnSpc>
            </a:pPr>
            <a:r>
              <a:rPr lang="es-ES" sz="300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F2E31710-960D-621F-5F8C-6D93DBB81F57}"/>
              </a:ext>
            </a:extLst>
          </p:cNvPr>
          <p:cNvSpPr/>
          <p:nvPr/>
        </p:nvSpPr>
        <p:spPr>
          <a:xfrm>
            <a:off x="638668" y="2136261"/>
            <a:ext cx="5182029" cy="339823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Ecosistema de comercialización diversificado</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En 2025, la oferta de alojamiento turístico en </a:t>
            </a:r>
            <a:r>
              <a:rPr lang="es-ES" sz="1400" kern="0" err="1">
                <a:solidFill>
                  <a:schemeClr val="bg1"/>
                </a:solidFill>
                <a:latin typeface="Montserrat" pitchFamily="2" charset="77"/>
                <a:cs typeface="Times New Roman" panose="02020603050405020304" pitchFamily="18" charset="0"/>
              </a:rPr>
              <a:t>Dénia</a:t>
            </a:r>
            <a:r>
              <a:rPr lang="es-ES" sz="1400" kern="0">
                <a:solidFill>
                  <a:schemeClr val="bg1"/>
                </a:solidFill>
                <a:latin typeface="Montserrat" pitchFamily="2" charset="77"/>
                <a:cs typeface="Times New Roman" panose="02020603050405020304" pitchFamily="18" charset="0"/>
              </a:rPr>
              <a:t> se mantuvo amplia y diversificada, con Airbnb concentrando el 48% de los anuncios, seguida de </a:t>
            </a:r>
            <a:r>
              <a:rPr lang="es-ES" sz="1400" kern="0" err="1">
                <a:solidFill>
                  <a:schemeClr val="bg1"/>
                </a:solidFill>
                <a:latin typeface="Montserrat" pitchFamily="2" charset="77"/>
                <a:cs typeface="Times New Roman" panose="02020603050405020304" pitchFamily="18" charset="0"/>
              </a:rPr>
              <a:t>Booking</a:t>
            </a:r>
            <a:r>
              <a:rPr lang="es-ES" sz="1400" kern="0">
                <a:solidFill>
                  <a:schemeClr val="bg1"/>
                </a:solidFill>
                <a:latin typeface="Montserrat" pitchFamily="2" charset="77"/>
                <a:cs typeface="Times New Roman" panose="02020603050405020304" pitchFamily="18" charset="0"/>
              </a:rPr>
              <a:t> (28%) y VRBO (24%).</a:t>
            </a:r>
          </a:p>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Ajuste progresivo del volumen de oferta</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La oferta total de alojamientos muestra en 2025 una tendencia de normalización, con niveles elevados durante el primer semestre y un descenso gradual a partir de verano, situándose en otoño en rangos más contenidos. Este comportamiento apunta a un ajuste del mercado tras los máximos registrados en ejercicios anteriores.</a:t>
            </a:r>
          </a:p>
        </p:txBody>
      </p:sp>
      <p:sp>
        <p:nvSpPr>
          <p:cNvPr id="11" name="Rectángulo 10">
            <a:extLst>
              <a:ext uri="{FF2B5EF4-FFF2-40B4-BE49-F238E27FC236}">
                <a16:creationId xmlns:a16="http://schemas.microsoft.com/office/drawing/2014/main" id="{5ECFE772-A51E-DD8B-C617-BD1A7C49204C}"/>
              </a:ext>
            </a:extLst>
          </p:cNvPr>
          <p:cNvSpPr/>
          <p:nvPr/>
        </p:nvSpPr>
        <p:spPr>
          <a:xfrm>
            <a:off x="6291522" y="2136261"/>
            <a:ext cx="5273834" cy="2056845"/>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Marcada estacionalidad en la activación de los anuncios</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Tanto la oferta total como la de apartamentos turísticos presenta un patrón claramente estacional, con un incremento progresivo de anuncios entre enero y junio-julio, coincidiendo con la preparación de la temporada alta, y una retirada gradual a partir de agosto, tras el periodo de máxima demanda.</a:t>
            </a:r>
          </a:p>
        </p:txBody>
      </p:sp>
      <p:cxnSp>
        <p:nvCxnSpPr>
          <p:cNvPr id="15" name="Conector recto 14">
            <a:extLst>
              <a:ext uri="{FF2B5EF4-FFF2-40B4-BE49-F238E27FC236}">
                <a16:creationId xmlns:a16="http://schemas.microsoft.com/office/drawing/2014/main" id="{12D51F5B-6AEB-4F4E-4ABE-E84AC1499F21}"/>
              </a:ext>
            </a:extLst>
          </p:cNvPr>
          <p:cNvCxnSpPr>
            <a:cxnSpLocks/>
            <a:endCxn id="17" idx="1"/>
          </p:cNvCxnSpPr>
          <p:nvPr/>
        </p:nvCxnSpPr>
        <p:spPr>
          <a:xfrm>
            <a:off x="717632" y="520861"/>
            <a:ext cx="5926184" cy="3262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ángulo 16">
            <a:extLst>
              <a:ext uri="{FF2B5EF4-FFF2-40B4-BE49-F238E27FC236}">
                <a16:creationId xmlns:a16="http://schemas.microsoft.com/office/drawing/2014/main" id="{46F8DE3F-54B1-56A0-9468-D9378096B7B7}"/>
              </a:ext>
            </a:extLst>
          </p:cNvPr>
          <p:cNvSpPr/>
          <p:nvPr/>
        </p:nvSpPr>
        <p:spPr>
          <a:xfrm>
            <a:off x="6643816" y="430374"/>
            <a:ext cx="4921540" cy="246221"/>
          </a:xfrm>
          <a:prstGeom prst="rect">
            <a:avLst/>
          </a:prstGeom>
        </p:spPr>
        <p:txBody>
          <a:bodyPr wrap="none">
            <a:spAutoFit/>
          </a:bodyPr>
          <a:lstStyle/>
          <a:p>
            <a:pPr algn="r"/>
            <a:r>
              <a:rPr lang="es-ES" sz="1000" b="1">
                <a:solidFill>
                  <a:schemeClr val="bg1"/>
                </a:solidFill>
                <a:latin typeface="Montserrat SemiBold" pitchFamily="2" charset="77"/>
              </a:rPr>
              <a:t>INFORME DE ANÁLISIS DE DATOS | SMART OFFICE DENIA | ENE – DIC 25</a:t>
            </a:r>
          </a:p>
        </p:txBody>
      </p:sp>
      <p:grpSp>
        <p:nvGrpSpPr>
          <p:cNvPr id="2" name="Grupo 1">
            <a:extLst>
              <a:ext uri="{FF2B5EF4-FFF2-40B4-BE49-F238E27FC236}">
                <a16:creationId xmlns:a16="http://schemas.microsoft.com/office/drawing/2014/main" id="{AC4058DE-DE27-BB3A-34E2-DF51F4FD5394}"/>
              </a:ext>
            </a:extLst>
          </p:cNvPr>
          <p:cNvGrpSpPr/>
          <p:nvPr/>
        </p:nvGrpSpPr>
        <p:grpSpPr>
          <a:xfrm>
            <a:off x="766736" y="5994100"/>
            <a:ext cx="3903956" cy="476250"/>
            <a:chOff x="643469" y="6033429"/>
            <a:chExt cx="3903956" cy="476250"/>
          </a:xfrm>
        </p:grpSpPr>
        <p:pic>
          <p:nvPicPr>
            <p:cNvPr id="4" name="Imagen 3">
              <a:extLst>
                <a:ext uri="{FF2B5EF4-FFF2-40B4-BE49-F238E27FC236}">
                  <a16:creationId xmlns:a16="http://schemas.microsoft.com/office/drawing/2014/main" id="{966CD8B5-F92A-43F0-65D5-87226DB0EF38}"/>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5" name="Imagen 4">
              <a:extLst>
                <a:ext uri="{FF2B5EF4-FFF2-40B4-BE49-F238E27FC236}">
                  <a16:creationId xmlns:a16="http://schemas.microsoft.com/office/drawing/2014/main" id="{6C516718-F7A3-B9D1-2670-9C5770B34CF7}"/>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6" name="Imagen 5" descr="Imagen que contiene Logotipo&#10;&#10;Descripción generada automáticamente">
            <a:extLst>
              <a:ext uri="{FF2B5EF4-FFF2-40B4-BE49-F238E27FC236}">
                <a16:creationId xmlns:a16="http://schemas.microsoft.com/office/drawing/2014/main" id="{69CF0E51-FD92-A7B3-5325-7003673A3C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185039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A37CA-AA40-A0E8-4E82-5E6249E8D701}"/>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3381C310-C285-C32B-E84D-B47970C3A364}"/>
              </a:ext>
            </a:extLst>
          </p:cNvPr>
          <p:cNvSpPr/>
          <p:nvPr/>
        </p:nvSpPr>
        <p:spPr>
          <a:xfrm>
            <a:off x="7535538"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04</a:t>
            </a:r>
            <a:endParaRPr lang="es-ES" sz="30000">
              <a:solidFill>
                <a:schemeClr val="bg2"/>
              </a:solidFill>
              <a:latin typeface="DM Serif Display" pitchFamily="2" charset="0"/>
            </a:endParaRPr>
          </a:p>
        </p:txBody>
      </p:sp>
      <p:sp>
        <p:nvSpPr>
          <p:cNvPr id="2" name="Rectángulo 1">
            <a:extLst>
              <a:ext uri="{FF2B5EF4-FFF2-40B4-BE49-F238E27FC236}">
                <a16:creationId xmlns:a16="http://schemas.microsoft.com/office/drawing/2014/main" id="{08D63D0F-CBB0-06A6-3C74-D0C92B8C7E1C}"/>
              </a:ext>
            </a:extLst>
          </p:cNvPr>
          <p:cNvSpPr/>
          <p:nvPr/>
        </p:nvSpPr>
        <p:spPr>
          <a:xfrm>
            <a:off x="629084" y="1390653"/>
            <a:ext cx="3157104" cy="646716"/>
          </a:xfrm>
          <a:prstGeom prst="rect">
            <a:avLst/>
          </a:prstGeom>
        </p:spPr>
        <p:txBody>
          <a:bodyPr wrap="square">
            <a:spAutoFit/>
          </a:bodyPr>
          <a:lstStyle/>
          <a:p>
            <a:pPr>
              <a:lnSpc>
                <a:spcPts val="42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Ocupación</a:t>
            </a:r>
            <a:endParaRPr lang="es-ES" sz="4000">
              <a:solidFill>
                <a:schemeClr val="tx1">
                  <a:lumMod val="85000"/>
                  <a:lumOff val="15000"/>
                </a:schemeClr>
              </a:solidFill>
              <a:latin typeface="DM Serif Display" pitchFamily="2" charset="0"/>
            </a:endParaRPr>
          </a:p>
        </p:txBody>
      </p:sp>
      <p:pic>
        <p:nvPicPr>
          <p:cNvPr id="13" name="Imagen 12">
            <a:extLst>
              <a:ext uri="{FF2B5EF4-FFF2-40B4-BE49-F238E27FC236}">
                <a16:creationId xmlns:a16="http://schemas.microsoft.com/office/drawing/2014/main" id="{2FA638E6-09BD-48D2-EFFD-72A388D7FA31}"/>
              </a:ext>
            </a:extLst>
          </p:cNvPr>
          <p:cNvPicPr>
            <a:picLocks noChangeAspect="1"/>
          </p:cNvPicPr>
          <p:nvPr/>
        </p:nvPicPr>
        <p:blipFill>
          <a:blip r:embed="rId2"/>
          <a:srcRect/>
          <a:stretch/>
        </p:blipFill>
        <p:spPr>
          <a:xfrm>
            <a:off x="-101600" y="3457815"/>
            <a:ext cx="12369800" cy="3534880"/>
          </a:xfrm>
          <a:prstGeom prst="rect">
            <a:avLst/>
          </a:prstGeom>
        </p:spPr>
      </p:pic>
      <p:grpSp>
        <p:nvGrpSpPr>
          <p:cNvPr id="3" name="Grupo 2">
            <a:extLst>
              <a:ext uri="{FF2B5EF4-FFF2-40B4-BE49-F238E27FC236}">
                <a16:creationId xmlns:a16="http://schemas.microsoft.com/office/drawing/2014/main" id="{22FFE826-C5C5-98AF-DE02-DC627FF23FE6}"/>
              </a:ext>
            </a:extLst>
          </p:cNvPr>
          <p:cNvGrpSpPr/>
          <p:nvPr/>
        </p:nvGrpSpPr>
        <p:grpSpPr>
          <a:xfrm>
            <a:off x="766736" y="5994100"/>
            <a:ext cx="3903956" cy="476250"/>
            <a:chOff x="643469" y="6033429"/>
            <a:chExt cx="3903956" cy="476250"/>
          </a:xfrm>
        </p:grpSpPr>
        <p:pic>
          <p:nvPicPr>
            <p:cNvPr id="4" name="Imagen 3">
              <a:extLst>
                <a:ext uri="{FF2B5EF4-FFF2-40B4-BE49-F238E27FC236}">
                  <a16:creationId xmlns:a16="http://schemas.microsoft.com/office/drawing/2014/main" id="{670E6AE0-3DE7-72AB-A6C5-E08C4E46B2D5}"/>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5" name="Imagen 4">
              <a:extLst>
                <a:ext uri="{FF2B5EF4-FFF2-40B4-BE49-F238E27FC236}">
                  <a16:creationId xmlns:a16="http://schemas.microsoft.com/office/drawing/2014/main" id="{40A3B5B8-BBC1-44E6-DFC5-65121260BD90}"/>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6" name="Imagen 5" descr="Imagen que contiene Logotipo&#10;&#10;Descripción generada automáticamente">
            <a:extLst>
              <a:ext uri="{FF2B5EF4-FFF2-40B4-BE49-F238E27FC236}">
                <a16:creationId xmlns:a16="http://schemas.microsoft.com/office/drawing/2014/main" id="{651840F5-053F-4925-D3DD-F3F7D18B17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684792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BF577-BF12-109D-95CC-8E12BECDB0E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B93D88AC-B1FA-EDB0-0ECD-1E73C56FF833}"/>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87CE125C-3350-7522-86FE-5A808FC0D672}"/>
              </a:ext>
            </a:extLst>
          </p:cNvPr>
          <p:cNvSpPr/>
          <p:nvPr/>
        </p:nvSpPr>
        <p:spPr>
          <a:xfrm>
            <a:off x="638668" y="1392995"/>
            <a:ext cx="5065446"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Porcentaje de ocupación en establecimientos hoteleros</a:t>
            </a:r>
          </a:p>
        </p:txBody>
      </p:sp>
      <p:sp>
        <p:nvSpPr>
          <p:cNvPr id="16" name="Rectángulo 15">
            <a:extLst>
              <a:ext uri="{FF2B5EF4-FFF2-40B4-BE49-F238E27FC236}">
                <a16:creationId xmlns:a16="http://schemas.microsoft.com/office/drawing/2014/main" id="{685EA1DA-2D34-15B2-EE6F-5AE91AC6FD99}"/>
              </a:ext>
            </a:extLst>
          </p:cNvPr>
          <p:cNvSpPr/>
          <p:nvPr/>
        </p:nvSpPr>
        <p:spPr>
          <a:xfrm>
            <a:off x="638668" y="2498486"/>
            <a:ext cx="5304932" cy="2724467"/>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ocupación hotelera por plazas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muestra un patrón estacional muy marcado, con un incremento progresivo desde los primeros meses del año y un crecimiento más intenso a partir de la primavera. En promedio, la ocupación media en hoteles ha crecido en un 1% respecto al año anterior, pasando del 58% al 59%.</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Los niveles máximos de ocupación se concentran en julio y agosto, alcanzando valores cercanos al 95% en agosto, lo que refleja la elevada intensidad de la demanda durante la temporada alta.</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A partir de septiembre, la ocupación desciende de forma gradual, situándose en torno al 65–70% en septiembre y octubre, y reduciéndose progresivamente hacia el otoño.</a:t>
            </a:r>
          </a:p>
        </p:txBody>
      </p:sp>
      <p:graphicFrame>
        <p:nvGraphicFramePr>
          <p:cNvPr id="4" name="Gráfico 3">
            <a:extLst>
              <a:ext uri="{FF2B5EF4-FFF2-40B4-BE49-F238E27FC236}">
                <a16:creationId xmlns:a16="http://schemas.microsoft.com/office/drawing/2014/main" id="{69D930BE-201A-B489-EF77-555A6A8F47A4}"/>
              </a:ext>
            </a:extLst>
          </p:cNvPr>
          <p:cNvGraphicFramePr/>
          <p:nvPr>
            <p:extLst>
              <p:ext uri="{D42A27DB-BD31-4B8C-83A1-F6EECF244321}">
                <p14:modId xmlns:p14="http://schemas.microsoft.com/office/powerpoint/2010/main" val="1534629091"/>
              </p:ext>
            </p:extLst>
          </p:nvPr>
        </p:nvGraphicFramePr>
        <p:xfrm>
          <a:off x="6096000" y="1379087"/>
          <a:ext cx="5457332" cy="4026033"/>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CC27F8D7-B33B-D5E1-7922-BD9B612D576F}"/>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3787626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C5B78-21A5-E0CB-D55D-480029E6900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48E77F87-163E-7635-C293-7AD5492A9814}"/>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8F9D9013-2DE2-2AA0-4902-F303FF7AA6B8}"/>
              </a:ext>
            </a:extLst>
          </p:cNvPr>
          <p:cNvSpPr/>
          <p:nvPr/>
        </p:nvSpPr>
        <p:spPr>
          <a:xfrm>
            <a:off x="638668" y="1392995"/>
            <a:ext cx="5065446" cy="1333635"/>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Porcentaje de ocupación en establecimientos hoteleros en fin de semana</a:t>
            </a:r>
          </a:p>
        </p:txBody>
      </p:sp>
      <p:sp>
        <p:nvSpPr>
          <p:cNvPr id="16" name="Rectángulo 15">
            <a:extLst>
              <a:ext uri="{FF2B5EF4-FFF2-40B4-BE49-F238E27FC236}">
                <a16:creationId xmlns:a16="http://schemas.microsoft.com/office/drawing/2014/main" id="{1DC5B7F5-2281-09F9-D3DE-77E8BB77C973}"/>
              </a:ext>
            </a:extLst>
          </p:cNvPr>
          <p:cNvSpPr/>
          <p:nvPr/>
        </p:nvSpPr>
        <p:spPr>
          <a:xfrm>
            <a:off x="638668" y="2816428"/>
            <a:ext cx="5206961" cy="2482415"/>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 ocupación hotelera en fines de semana muestra una evolución estacional clara, con un crecimiento progresivo desde primavera y una intensificación notable a partir de junio.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Los valores más elevados se concentran en julio y agosto, cuando la ocupación alcanza niveles próximos al 95–98%, ligeramente por encima de los registros de 2024 en los meses centrales.</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el conjunto del año, la ocupación media de fin de semana registra una ligera mejora respecto a 2024, consolidando una elevada intensidad de uso en temporada alta y un comportamiento sólido en primavera y comienzos de otoño.</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3B54795E-62FC-4929-2123-873422879094}"/>
              </a:ext>
            </a:extLst>
          </p:cNvPr>
          <p:cNvGraphicFramePr/>
          <p:nvPr>
            <p:extLst>
              <p:ext uri="{D42A27DB-BD31-4B8C-83A1-F6EECF244321}">
                <p14:modId xmlns:p14="http://schemas.microsoft.com/office/powerpoint/2010/main" val="2424582891"/>
              </p:ext>
            </p:extLst>
          </p:nvPr>
        </p:nvGraphicFramePr>
        <p:xfrm>
          <a:off x="6096000" y="1474839"/>
          <a:ext cx="5457332" cy="3380478"/>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0157A5C1-0FED-BF9B-B32D-8FA7E8CDD705}"/>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
        <p:nvSpPr>
          <p:cNvPr id="6" name="Rectángulo 5">
            <a:extLst>
              <a:ext uri="{FF2B5EF4-FFF2-40B4-BE49-F238E27FC236}">
                <a16:creationId xmlns:a16="http://schemas.microsoft.com/office/drawing/2014/main" id="{6E8D0BEA-3596-2464-7203-544860B76CB8}"/>
              </a:ext>
            </a:extLst>
          </p:cNvPr>
          <p:cNvSpPr/>
          <p:nvPr/>
        </p:nvSpPr>
        <p:spPr>
          <a:xfrm>
            <a:off x="6221185" y="4855317"/>
            <a:ext cx="5206961" cy="549862"/>
          </a:xfrm>
          <a:prstGeom prst="rect">
            <a:avLst/>
          </a:prstGeom>
        </p:spPr>
        <p:txBody>
          <a:bodyPr wrap="square" numCol="1" spcCol="432000">
            <a:noAutofit/>
          </a:bodyPr>
          <a:lstStyle/>
          <a:p>
            <a:r>
              <a:rPr lang="es-ES" sz="1050" kern="0">
                <a:solidFill>
                  <a:schemeClr val="tx1">
                    <a:lumMod val="75000"/>
                    <a:lumOff val="25000"/>
                  </a:schemeClr>
                </a:solidFill>
                <a:latin typeface="Montserrat" pitchFamily="2" charset="77"/>
                <a:cs typeface="Times New Roman" panose="02020603050405020304" pitchFamily="18" charset="0"/>
              </a:rPr>
              <a:t>Tal y como se puede observar en la gráfica, los datos proporcionados por el INE únicamente se encuentran disponibles para el periodo Marzo-Octubre.</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1082043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4694-E674-BE87-95C7-5DAC6666403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CA194E8B-04A8-D62A-705E-C9D8B5EB1C1B}"/>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6DD7265E-7C12-56AD-D3C6-B3840714297F}"/>
              </a:ext>
            </a:extLst>
          </p:cNvPr>
          <p:cNvSpPr/>
          <p:nvPr/>
        </p:nvSpPr>
        <p:spPr>
          <a:xfrm>
            <a:off x="638668" y="1392995"/>
            <a:ext cx="4607100" cy="1333635"/>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Porcentaje de ocupación por plazas en apartamentos turísticos</a:t>
            </a:r>
          </a:p>
        </p:txBody>
      </p:sp>
      <p:sp>
        <p:nvSpPr>
          <p:cNvPr id="16" name="Rectángulo 15">
            <a:extLst>
              <a:ext uri="{FF2B5EF4-FFF2-40B4-BE49-F238E27FC236}">
                <a16:creationId xmlns:a16="http://schemas.microsoft.com/office/drawing/2014/main" id="{AC8CF010-DC32-9F45-20A7-2075DC039D5F}"/>
              </a:ext>
            </a:extLst>
          </p:cNvPr>
          <p:cNvSpPr/>
          <p:nvPr/>
        </p:nvSpPr>
        <p:spPr>
          <a:xfrm>
            <a:off x="638668" y="2922022"/>
            <a:ext cx="4923932" cy="2271227"/>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los apartamentos turísticos de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muestran un patrón estacional muy definido, con un crecimiento progresivo de la ocupación desde primavera y una clara intensificación en verano.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Los máximos se concentran en julio y agosto, cuando la ocupación alcanza valores próximos al 65%, superando los registros de 2024 en los meses centrales. A partir de septiembre, la ocupación desciende de forma acusada, situándose en torno al 30% en septiembre y por debajo del 20% en otoño, lo que confirma la elevada concentración estival de esta tipología de alojamiento.</a:t>
            </a:r>
          </a:p>
          <a:p>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B7F32768-9137-AA5B-B24F-702C3C2CF575}"/>
              </a:ext>
            </a:extLst>
          </p:cNvPr>
          <p:cNvGraphicFramePr/>
          <p:nvPr>
            <p:extLst>
              <p:ext uri="{D42A27DB-BD31-4B8C-83A1-F6EECF244321}">
                <p14:modId xmlns:p14="http://schemas.microsoft.com/office/powerpoint/2010/main" val="1973017169"/>
              </p:ext>
            </p:extLst>
          </p:nvPr>
        </p:nvGraphicFramePr>
        <p:xfrm>
          <a:off x="5928036" y="1379087"/>
          <a:ext cx="5625296" cy="4026033"/>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C542D4EE-CD08-EFC1-2DF8-686B430BEDF8}"/>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40839565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4010D-5E78-155A-19D3-7664F4B68C4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88DCC78-8A1B-C3D6-A5FA-7BA80F81545E}"/>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436BAD95-7DAE-B11B-709A-F1D184ABDC63}"/>
              </a:ext>
            </a:extLst>
          </p:cNvPr>
          <p:cNvSpPr/>
          <p:nvPr/>
        </p:nvSpPr>
        <p:spPr>
          <a:xfrm>
            <a:off x="638668" y="1392995"/>
            <a:ext cx="4928755" cy="512897"/>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Pernoctaciones totales</a:t>
            </a:r>
          </a:p>
        </p:txBody>
      </p:sp>
      <p:graphicFrame>
        <p:nvGraphicFramePr>
          <p:cNvPr id="3" name="Gráfico 2">
            <a:extLst>
              <a:ext uri="{FF2B5EF4-FFF2-40B4-BE49-F238E27FC236}">
                <a16:creationId xmlns:a16="http://schemas.microsoft.com/office/drawing/2014/main" id="{35C30C6A-1966-8C17-7583-68556A262991}"/>
              </a:ext>
            </a:extLst>
          </p:cNvPr>
          <p:cNvGraphicFramePr/>
          <p:nvPr>
            <p:extLst>
              <p:ext uri="{D42A27DB-BD31-4B8C-83A1-F6EECF244321}">
                <p14:modId xmlns:p14="http://schemas.microsoft.com/office/powerpoint/2010/main" val="2181953160"/>
              </p:ext>
            </p:extLst>
          </p:nvPr>
        </p:nvGraphicFramePr>
        <p:xfrm>
          <a:off x="6220264" y="1379087"/>
          <a:ext cx="5419645" cy="4526414"/>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EC77668C-EC0B-1F0B-FA52-6DF4EE41F931}"/>
              </a:ext>
            </a:extLst>
          </p:cNvPr>
          <p:cNvSpPr/>
          <p:nvPr/>
        </p:nvSpPr>
        <p:spPr>
          <a:xfrm>
            <a:off x="638668" y="2214817"/>
            <a:ext cx="5113203" cy="2123658"/>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el total de pernoctaciones registra una evolución positiva respecto al ejercicio anterior. El volumen agregado pasa de 1.056.657 pernoctaciones en 2024 a 1.060.927 en 2025, lo que supone un incremento interanual de 4.270 pernoctaciones.</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Este crecimiento, aunque moderado, confirma una consolidación de la actividad alojativa en el conjunto del destino, manteniéndose en niveles elevados dentro de la serie reciente y reforzando la estabilidad de la demanda turística.</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B894BA2A-D6DF-B913-020C-286537E01D74}"/>
              </a:ext>
            </a:extLst>
          </p:cNvPr>
          <p:cNvSpPr/>
          <p:nvPr/>
        </p:nvSpPr>
        <p:spPr>
          <a:xfrm>
            <a:off x="8308257" y="923865"/>
            <a:ext cx="3245075" cy="297133"/>
          </a:xfrm>
          <a:prstGeom prst="rect">
            <a:avLst/>
          </a:prstGeom>
        </p:spPr>
        <p:txBody>
          <a:bodyPr wrap="square">
            <a:spAutoFit/>
          </a:bodyPr>
          <a:lstStyle/>
          <a:p>
            <a:pPr algn="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p>
        </p:txBody>
      </p:sp>
    </p:spTree>
    <p:extLst>
      <p:ext uri="{BB962C8B-B14F-4D97-AF65-F5344CB8AC3E}">
        <p14:creationId xmlns:p14="http://schemas.microsoft.com/office/powerpoint/2010/main" val="219054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95F1C-708B-8B93-9A03-FEDCD8F33C2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CE2C092-941A-D4D0-46F6-77F825A29724}"/>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D1344290-CAF9-79C9-38BC-03AD3A6C683A}"/>
              </a:ext>
            </a:extLst>
          </p:cNvPr>
          <p:cNvSpPr/>
          <p:nvPr/>
        </p:nvSpPr>
        <p:spPr>
          <a:xfrm>
            <a:off x="638668" y="1392995"/>
            <a:ext cx="4928755" cy="923266"/>
          </a:xfrm>
          <a:prstGeom prst="rect">
            <a:avLst/>
          </a:prstGeom>
        </p:spPr>
        <p:txBody>
          <a:bodyPr wrap="square">
            <a:spAutoFit/>
          </a:bodyPr>
          <a:lstStyle/>
          <a:p>
            <a:pPr lvl="0">
              <a:lnSpc>
                <a:spcPts val="3200"/>
              </a:lnSpc>
              <a:spcAft>
                <a:spcPts val="0"/>
              </a:spcAft>
              <a:buClr>
                <a:srgbClr val="074F6A"/>
              </a:buClr>
            </a:pPr>
            <a:r>
              <a:rPr lang="es-ES" sz="3000" dirty="0">
                <a:solidFill>
                  <a:schemeClr val="tx1">
                    <a:lumMod val="85000"/>
                    <a:lumOff val="15000"/>
                  </a:schemeClr>
                </a:solidFill>
                <a:latin typeface="DM Serif Display" pitchFamily="2" charset="0"/>
                <a:cs typeface="Times New Roman" panose="02020603050405020304" pitchFamily="18" charset="0"/>
              </a:rPr>
              <a:t>Pernoctaciones totales en la provincia de Alicante</a:t>
            </a:r>
          </a:p>
        </p:txBody>
      </p:sp>
      <p:graphicFrame>
        <p:nvGraphicFramePr>
          <p:cNvPr id="3" name="Gráfico 2">
            <a:extLst>
              <a:ext uri="{FF2B5EF4-FFF2-40B4-BE49-F238E27FC236}">
                <a16:creationId xmlns:a16="http://schemas.microsoft.com/office/drawing/2014/main" id="{3D875EAE-AAD7-04D7-41B5-21804A2A6CED}"/>
              </a:ext>
            </a:extLst>
          </p:cNvPr>
          <p:cNvGraphicFramePr/>
          <p:nvPr>
            <p:extLst>
              <p:ext uri="{D42A27DB-BD31-4B8C-83A1-F6EECF244321}">
                <p14:modId xmlns:p14="http://schemas.microsoft.com/office/powerpoint/2010/main" val="2634120190"/>
              </p:ext>
            </p:extLst>
          </p:nvPr>
        </p:nvGraphicFramePr>
        <p:xfrm>
          <a:off x="6220264" y="1379087"/>
          <a:ext cx="5419645" cy="4526414"/>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9F589502-9E51-6C14-E5B8-DACA726E03B6}"/>
              </a:ext>
            </a:extLst>
          </p:cNvPr>
          <p:cNvSpPr/>
          <p:nvPr/>
        </p:nvSpPr>
        <p:spPr>
          <a:xfrm>
            <a:off x="638668" y="2418082"/>
            <a:ext cx="5113203" cy="2677656"/>
          </a:xfrm>
          <a:prstGeom prst="rect">
            <a:avLst/>
          </a:prstGeom>
        </p:spPr>
        <p:txBody>
          <a:bodyPr wrap="square">
            <a:spAutoFit/>
          </a:bodyPr>
          <a:lstStyle/>
          <a:p>
            <a:r>
              <a:rPr lang="es-ES" sz="1200" kern="0" dirty="0">
                <a:solidFill>
                  <a:schemeClr val="tx1">
                    <a:lumMod val="75000"/>
                    <a:lumOff val="25000"/>
                  </a:schemeClr>
                </a:solidFill>
                <a:latin typeface="Montserrat" pitchFamily="2" charset="77"/>
                <a:cs typeface="Times New Roman" panose="02020603050405020304" pitchFamily="18" charset="0"/>
              </a:rPr>
              <a:t>Entre enero y diciembre de 2025, el número total de pernoctaciones registradas en la provincia de Alicante muestra una evolución positiva respecto al ejercicio anterior. El volumen agregado pasa de 18.551.215 pernoctaciones en 2024 a 18.941.321 en 2025, lo que supone un incremento interanual de 390.106 pernoctaciones.</a:t>
            </a:r>
          </a:p>
          <a:p>
            <a:endParaRPr lang="es-ES" sz="1200" kern="0" dirty="0">
              <a:solidFill>
                <a:schemeClr val="tx1">
                  <a:lumMod val="75000"/>
                  <a:lumOff val="25000"/>
                </a:schemeClr>
              </a:solidFill>
              <a:latin typeface="Montserrat" pitchFamily="2" charset="77"/>
              <a:cs typeface="Times New Roman" panose="02020603050405020304" pitchFamily="18" charset="0"/>
            </a:endParaRPr>
          </a:p>
          <a:p>
            <a:r>
              <a:rPr lang="es-ES" sz="1200" kern="0" dirty="0">
                <a:solidFill>
                  <a:schemeClr val="tx1">
                    <a:lumMod val="75000"/>
                    <a:lumOff val="25000"/>
                  </a:schemeClr>
                </a:solidFill>
                <a:latin typeface="Montserrat" pitchFamily="2" charset="77"/>
                <a:cs typeface="Times New Roman" panose="02020603050405020304" pitchFamily="18" charset="0"/>
              </a:rPr>
              <a:t>Este crecimiento refleja un fortalecimiento de la actividad turística en el conjunto de la provincia, consolidando una evolución favorable respecto al año anterior. La tendencia observada pone de manifiesto una demanda turística sostenida a escala provincial, con niveles de pernoctación que refuerzan la solidez del territorio dentro del contexto turístico nacional.</a:t>
            </a:r>
          </a:p>
          <a:p>
            <a:endParaRPr lang="es-ES" sz="1200" kern="0" dirty="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5A3D651D-3B8C-F257-FCA3-5EC000294568}"/>
              </a:ext>
            </a:extLst>
          </p:cNvPr>
          <p:cNvSpPr/>
          <p:nvPr/>
        </p:nvSpPr>
        <p:spPr>
          <a:xfrm>
            <a:off x="8308257" y="923865"/>
            <a:ext cx="3245075" cy="297133"/>
          </a:xfrm>
          <a:prstGeom prst="rect">
            <a:avLst/>
          </a:prstGeom>
        </p:spPr>
        <p:txBody>
          <a:bodyPr wrap="square">
            <a:spAutoFit/>
          </a:bodyPr>
          <a:lstStyle/>
          <a:p>
            <a:pPr algn="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p>
        </p:txBody>
      </p:sp>
    </p:spTree>
    <p:extLst>
      <p:ext uri="{BB962C8B-B14F-4D97-AF65-F5344CB8AC3E}">
        <p14:creationId xmlns:p14="http://schemas.microsoft.com/office/powerpoint/2010/main" val="3709576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04F7E-240B-9372-05C5-C519C9F4671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32B2EF2-4A86-FE2E-F402-2B0F38966C15}"/>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78E74231-5B00-00A3-7F4C-4C8D2F7A6AE0}"/>
              </a:ext>
            </a:extLst>
          </p:cNvPr>
          <p:cNvSpPr/>
          <p:nvPr/>
        </p:nvSpPr>
        <p:spPr>
          <a:xfrm>
            <a:off x="638669" y="1392995"/>
            <a:ext cx="4502292"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Pernoctaciones en hoteles</a:t>
            </a:r>
          </a:p>
        </p:txBody>
      </p:sp>
      <p:graphicFrame>
        <p:nvGraphicFramePr>
          <p:cNvPr id="3" name="Gráfico 2">
            <a:extLst>
              <a:ext uri="{FF2B5EF4-FFF2-40B4-BE49-F238E27FC236}">
                <a16:creationId xmlns:a16="http://schemas.microsoft.com/office/drawing/2014/main" id="{DC7BD087-6260-8AD2-2261-749744620AF0}"/>
              </a:ext>
            </a:extLst>
          </p:cNvPr>
          <p:cNvGraphicFramePr/>
          <p:nvPr>
            <p:extLst>
              <p:ext uri="{D42A27DB-BD31-4B8C-83A1-F6EECF244321}">
                <p14:modId xmlns:p14="http://schemas.microsoft.com/office/powerpoint/2010/main" val="3846673615"/>
              </p:ext>
            </p:extLst>
          </p:nvPr>
        </p:nvGraphicFramePr>
        <p:xfrm>
          <a:off x="6189784" y="1379086"/>
          <a:ext cx="5419645" cy="4676274"/>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C1295AE4-785F-9539-7910-570A131077B4}"/>
              </a:ext>
            </a:extLst>
          </p:cNvPr>
          <p:cNvSpPr/>
          <p:nvPr/>
        </p:nvSpPr>
        <p:spPr>
          <a:xfrm>
            <a:off x="638668" y="2397478"/>
            <a:ext cx="5223652" cy="3046988"/>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las pernoctaciones en establecimientos hoteleros muestran una evolución positiva respecto al ejercicio anterior. En el caso de los residentes en España, se pasa de 177.701 pernoctaciones en 2024 a 202.221 en 2025, lo que supone un incremento relevante.</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Por su parte, las pernoctaciones de residentes en el extranjero también registran un ligero crecimiento, pasando de 103.235 en 2024 a 104.559 en 2025.</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términos agregados, el total de pernoctaciones en hoteles asciende de 280.936 en 2024 a 306.780 en 2025, lo que implica un incremento global de 25.844 pernoctaciones interanual y consolida una evolución favorable de la demanda hotelera durante el último ejercicio.</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C39F091F-89CB-734D-4606-3273FEC46382}"/>
              </a:ext>
            </a:extLst>
          </p:cNvPr>
          <p:cNvSpPr/>
          <p:nvPr/>
        </p:nvSpPr>
        <p:spPr>
          <a:xfrm>
            <a:off x="8308257" y="923865"/>
            <a:ext cx="3245075" cy="297133"/>
          </a:xfrm>
          <a:prstGeom prst="rect">
            <a:avLst/>
          </a:prstGeom>
        </p:spPr>
        <p:txBody>
          <a:bodyPr wrap="square">
            <a:spAutoFit/>
          </a:bodyPr>
          <a:lstStyle/>
          <a:p>
            <a:pPr algn="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p>
        </p:txBody>
      </p:sp>
    </p:spTree>
    <p:extLst>
      <p:ext uri="{BB962C8B-B14F-4D97-AF65-F5344CB8AC3E}">
        <p14:creationId xmlns:p14="http://schemas.microsoft.com/office/powerpoint/2010/main" val="26853609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24817-9DA2-2D43-CEB2-954A3F7907F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D0C9F45-3F22-457F-EDD3-42778DB3CADE}"/>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24C994A2-1F31-29F3-918D-56A547218C2B}"/>
              </a:ext>
            </a:extLst>
          </p:cNvPr>
          <p:cNvSpPr/>
          <p:nvPr/>
        </p:nvSpPr>
        <p:spPr>
          <a:xfrm>
            <a:off x="638668" y="1392995"/>
            <a:ext cx="4583572"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Pernoctaciones en hoteles</a:t>
            </a:r>
          </a:p>
        </p:txBody>
      </p:sp>
      <p:sp>
        <p:nvSpPr>
          <p:cNvPr id="16" name="Rectángulo 15">
            <a:extLst>
              <a:ext uri="{FF2B5EF4-FFF2-40B4-BE49-F238E27FC236}">
                <a16:creationId xmlns:a16="http://schemas.microsoft.com/office/drawing/2014/main" id="{A4ABC451-5BE3-1062-D4A2-B604E6530FE0}"/>
              </a:ext>
            </a:extLst>
          </p:cNvPr>
          <p:cNvSpPr/>
          <p:nvPr/>
        </p:nvSpPr>
        <p:spPr>
          <a:xfrm>
            <a:off x="638668" y="2419351"/>
            <a:ext cx="4739577" cy="3045654"/>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octubre de 2025, las pernoctaciones hoteleras en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presentan un comportamiento claramente estacional, con un incremento progresivo desde el inicio del año y una intensificación marcada a partir de la primavera.</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Los máximos se concentran en julio y agosto, cuando se alcanzan valores cercanos a las 60.000 pernoctaciones mensuales, situándose por encima de los registros de 2023 y 2024. A partir de septiembre, las pernoctaciones descienden de forma gradual hasta situarse en torno a las 10.000–15.000 en otoño, confirmando la concentración de la demanda hotelera en los meses de verano.</a:t>
            </a:r>
          </a:p>
          <a:p>
            <a:endParaRPr lang="es-ES" sz="1200" kern="0">
              <a:solidFill>
                <a:schemeClr val="tx1">
                  <a:lumMod val="75000"/>
                  <a:lumOff val="25000"/>
                </a:schemeClr>
              </a:solidFill>
              <a:latin typeface="Montserrat" pitchFamily="2" charset="77"/>
              <a:cs typeface="Times New Roman" panose="02020603050405020304" pitchFamily="18" charset="0"/>
            </a:endParaRPr>
          </a:p>
          <a:p>
            <a:endParaRPr lang="es-ES" sz="1200" kern="0">
              <a:solidFill>
                <a:schemeClr val="tx1">
                  <a:lumMod val="75000"/>
                  <a:lumOff val="25000"/>
                </a:schemeClr>
              </a:solidFill>
              <a:latin typeface="Montserrat" pitchFamily="2" charset="77"/>
              <a:cs typeface="Times New Roman" panose="02020603050405020304" pitchFamily="18" charset="0"/>
            </a:endParaRPr>
          </a:p>
          <a:p>
            <a:endParaRPr lang="es-ES" sz="1200" kern="0">
              <a:solidFill>
                <a:schemeClr val="tx1">
                  <a:lumMod val="75000"/>
                  <a:lumOff val="25000"/>
                </a:schemeClr>
              </a:solidFill>
              <a:latin typeface="Montserrat" pitchFamily="2" charset="77"/>
              <a:cs typeface="Times New Roman" panose="02020603050405020304" pitchFamily="18" charset="0"/>
            </a:endParaRPr>
          </a:p>
          <a:p>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2317D78F-6BB3-8294-726D-C7731874E405}"/>
              </a:ext>
            </a:extLst>
          </p:cNvPr>
          <p:cNvGraphicFramePr/>
          <p:nvPr>
            <p:extLst>
              <p:ext uri="{D42A27DB-BD31-4B8C-83A1-F6EECF244321}">
                <p14:modId xmlns:p14="http://schemas.microsoft.com/office/powerpoint/2010/main" val="3849021909"/>
              </p:ext>
            </p:extLst>
          </p:nvPr>
        </p:nvGraphicFramePr>
        <p:xfrm>
          <a:off x="6002355" y="1227346"/>
          <a:ext cx="5625296" cy="4149724"/>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14A40E95-5F07-D68B-CCEA-C64C16BA83A8}"/>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9466473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25EA8-AD95-A7D7-9BC8-65B723A7810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FB9F99F-BD34-A435-90E7-A09DE236BBFC}"/>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72AE7F1C-0112-E5E7-CB7C-E758E9798197}"/>
              </a:ext>
            </a:extLst>
          </p:cNvPr>
          <p:cNvSpPr/>
          <p:nvPr/>
        </p:nvSpPr>
        <p:spPr>
          <a:xfrm>
            <a:off x="638668" y="1392995"/>
            <a:ext cx="4928755"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Pernoctaciones en apartamentos turísticos</a:t>
            </a:r>
          </a:p>
        </p:txBody>
      </p:sp>
      <p:graphicFrame>
        <p:nvGraphicFramePr>
          <p:cNvPr id="3" name="Gráfico 2">
            <a:extLst>
              <a:ext uri="{FF2B5EF4-FFF2-40B4-BE49-F238E27FC236}">
                <a16:creationId xmlns:a16="http://schemas.microsoft.com/office/drawing/2014/main" id="{1AFE4638-6263-1C5F-0C1F-E3F551F19C88}"/>
              </a:ext>
            </a:extLst>
          </p:cNvPr>
          <p:cNvGraphicFramePr/>
          <p:nvPr>
            <p:extLst>
              <p:ext uri="{D42A27DB-BD31-4B8C-83A1-F6EECF244321}">
                <p14:modId xmlns:p14="http://schemas.microsoft.com/office/powerpoint/2010/main" val="2054468648"/>
              </p:ext>
            </p:extLst>
          </p:nvPr>
        </p:nvGraphicFramePr>
        <p:xfrm>
          <a:off x="6189784" y="1379086"/>
          <a:ext cx="5419645" cy="5021714"/>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115E9837-7B5E-5098-2BB3-C153C1166AFA}"/>
              </a:ext>
            </a:extLst>
          </p:cNvPr>
          <p:cNvSpPr/>
          <p:nvPr/>
        </p:nvSpPr>
        <p:spPr>
          <a:xfrm>
            <a:off x="638668" y="2418017"/>
            <a:ext cx="5223652" cy="3046988"/>
          </a:xfrm>
          <a:prstGeom prst="rect">
            <a:avLst/>
          </a:prstGeom>
        </p:spPr>
        <p:txBody>
          <a:bodyPr wrap="square">
            <a:sp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diciembre de 2025, las pernoctaciones en apartamentos turísticos muestran una evolución diferenciada por origen. En el caso de los residentes en España, se pasa de 358.849 pernoctaciones en 2024 a 526.342 en 2025, lo que supone un incremento muy significativo. Por su parte, las pernoctaciones de residentes en el extranjero descienden de 416.872 en 2024 a 227.805 en 2025.</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En términos agregados, el total de pernoctaciones en apartamentos turísticos se sitúa en 775.721 en 2024 y 754.147 en 2025. El notable crecimiento del mercado nacional contribuye a sostener el volumen global, si bien la moderación del mercado internacional sitúa el resultado conjunto ligeramente por debajo del ejercicio anterior, manteniéndose en cualquier caso en niveles elevados dentro de la serie reciente.</a:t>
            </a:r>
          </a:p>
          <a:p>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E271B882-DC3B-E528-37BD-3FDB99B84DE2}"/>
              </a:ext>
            </a:extLst>
          </p:cNvPr>
          <p:cNvSpPr/>
          <p:nvPr/>
        </p:nvSpPr>
        <p:spPr>
          <a:xfrm>
            <a:off x="8308257" y="923865"/>
            <a:ext cx="3245075" cy="297133"/>
          </a:xfrm>
          <a:prstGeom prst="rect">
            <a:avLst/>
          </a:prstGeom>
        </p:spPr>
        <p:txBody>
          <a:bodyPr wrap="square">
            <a:spAutoFit/>
          </a:bodyPr>
          <a:lstStyle/>
          <a:p>
            <a:pPr algn="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p>
        </p:txBody>
      </p:sp>
    </p:spTree>
    <p:extLst>
      <p:ext uri="{BB962C8B-B14F-4D97-AF65-F5344CB8AC3E}">
        <p14:creationId xmlns:p14="http://schemas.microsoft.com/office/powerpoint/2010/main" val="29492322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F8084-38E7-952A-9AA9-DAFE0C1F4BA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50EFB75-64F8-B94C-A127-70E08D7F5FC1}"/>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0EFEAE4B-5CDC-60BA-D4DC-D2AB8C09FE4F}"/>
              </a:ext>
            </a:extLst>
          </p:cNvPr>
          <p:cNvSpPr/>
          <p:nvPr/>
        </p:nvSpPr>
        <p:spPr>
          <a:xfrm>
            <a:off x="638668" y="1392995"/>
            <a:ext cx="4607100"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Pernoctaciones en apartamentos turísticos</a:t>
            </a:r>
          </a:p>
        </p:txBody>
      </p:sp>
      <p:sp>
        <p:nvSpPr>
          <p:cNvPr id="16" name="Rectángulo 15">
            <a:extLst>
              <a:ext uri="{FF2B5EF4-FFF2-40B4-BE49-F238E27FC236}">
                <a16:creationId xmlns:a16="http://schemas.microsoft.com/office/drawing/2014/main" id="{EEE2F046-851B-034C-E040-F9F213018DC5}"/>
              </a:ext>
            </a:extLst>
          </p:cNvPr>
          <p:cNvSpPr/>
          <p:nvPr/>
        </p:nvSpPr>
        <p:spPr>
          <a:xfrm>
            <a:off x="638668" y="2576990"/>
            <a:ext cx="4798571" cy="2738375"/>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octubre de 2025, las pernoctaciones en apartamentos turísticos de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muestran un patrón estacional muy acusado, con niveles contenidos durante el invierno y la primavera y un crecimiento intenso a partir de mayo.</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El máximo se concentra en agosto, superando las </a:t>
            </a:r>
            <a:r>
              <a:rPr lang="es-ES" sz="1200" b="1" kern="0">
                <a:solidFill>
                  <a:schemeClr val="tx1">
                    <a:lumMod val="75000"/>
                    <a:lumOff val="25000"/>
                  </a:schemeClr>
                </a:solidFill>
                <a:latin typeface="Montserrat" pitchFamily="2" charset="77"/>
                <a:cs typeface="Times New Roman" panose="02020603050405020304" pitchFamily="18" charset="0"/>
              </a:rPr>
              <a:t>140.000 pernoctaciones</a:t>
            </a:r>
            <a:r>
              <a:rPr lang="es-ES" sz="1200" kern="0">
                <a:solidFill>
                  <a:schemeClr val="tx1">
                    <a:lumMod val="75000"/>
                    <a:lumOff val="25000"/>
                  </a:schemeClr>
                </a:solidFill>
                <a:latin typeface="Montserrat" pitchFamily="2" charset="77"/>
                <a:cs typeface="Times New Roman" panose="02020603050405020304" pitchFamily="18" charset="0"/>
              </a:rPr>
              <a:t>, seguido de julio con valores elevados. A partir de septiembre, las pernoctaciones descienden de forma abrupta, situándose por debajo de las 20.000 en otoño, lo que confirma el peso determinante del verano en la actividad alojativa de esta tipología.</a:t>
            </a:r>
          </a:p>
          <a:p>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4" name="Gráfico 3">
            <a:extLst>
              <a:ext uri="{FF2B5EF4-FFF2-40B4-BE49-F238E27FC236}">
                <a16:creationId xmlns:a16="http://schemas.microsoft.com/office/drawing/2014/main" id="{CE9421B4-4A23-FD49-AC43-A997D58C4CB8}"/>
              </a:ext>
            </a:extLst>
          </p:cNvPr>
          <p:cNvGraphicFramePr/>
          <p:nvPr>
            <p:extLst>
              <p:ext uri="{D42A27DB-BD31-4B8C-83A1-F6EECF244321}">
                <p14:modId xmlns:p14="http://schemas.microsoft.com/office/powerpoint/2010/main" val="2228717465"/>
              </p:ext>
            </p:extLst>
          </p:nvPr>
        </p:nvGraphicFramePr>
        <p:xfrm>
          <a:off x="6002355" y="1228724"/>
          <a:ext cx="5625296" cy="4148345"/>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F0775FB3-FF1A-EAE8-F6E6-B794BABEF0DE}"/>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11114749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00D14-601D-84F8-604C-DEB56427C68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CED324D-D5FB-A010-886F-748A76AC4588}"/>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A22142B0-8F6C-B7B1-F0A0-337C276B23B4}"/>
              </a:ext>
            </a:extLst>
          </p:cNvPr>
          <p:cNvSpPr/>
          <p:nvPr/>
        </p:nvSpPr>
        <p:spPr>
          <a:xfrm>
            <a:off x="638668" y="1392995"/>
            <a:ext cx="4607100" cy="923266"/>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Estancia media en Apartamentos</a:t>
            </a:r>
          </a:p>
        </p:txBody>
      </p:sp>
      <p:sp>
        <p:nvSpPr>
          <p:cNvPr id="16" name="Rectángulo 15">
            <a:extLst>
              <a:ext uri="{FF2B5EF4-FFF2-40B4-BE49-F238E27FC236}">
                <a16:creationId xmlns:a16="http://schemas.microsoft.com/office/drawing/2014/main" id="{43686D65-29E4-D754-7DB4-DF22BF9CC05E}"/>
              </a:ext>
            </a:extLst>
          </p:cNvPr>
          <p:cNvSpPr/>
          <p:nvPr/>
        </p:nvSpPr>
        <p:spPr>
          <a:xfrm>
            <a:off x="638668" y="2384058"/>
            <a:ext cx="4759242" cy="2738375"/>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octubre de 2025, la estancia media en apartamentos turísticos de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mantiene un comportamiento estable, situándose en torno a las 6 noches por reserva, en línea con los valores observados en ejercicios anteriores.</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Las estancias más largas se concentran en invierno, con valores elevados en enero y febrero, lo que apunta a un perfil de estancia de mayor duración fuera de la temporada alta. Durante la primavera y el inicio del verano, la estancia media se reduce hasta situarse entre 4 y 5 noches, coincidiendo con escapadas de corta duración. En julio y agosto, la estancia vuelve a incrementarse, alcanzando valores en torno a las 7–8 noches, reflejando el patrón vacacional propio de la temporada alta.</a:t>
            </a:r>
          </a:p>
          <a:p>
            <a:endParaRPr lang="es-ES" sz="1200" kern="0">
              <a:solidFill>
                <a:schemeClr val="tx1">
                  <a:lumMod val="75000"/>
                  <a:lumOff val="25000"/>
                </a:schemeClr>
              </a:solidFill>
              <a:latin typeface="Montserrat" pitchFamily="2" charset="77"/>
              <a:cs typeface="Times New Roman" panose="02020603050405020304" pitchFamily="18" charset="0"/>
            </a:endParaRPr>
          </a:p>
          <a:p>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EB77B861-A058-E4A3-F693-567E5E6EB84A}"/>
              </a:ext>
            </a:extLst>
          </p:cNvPr>
          <p:cNvGraphicFramePr/>
          <p:nvPr>
            <p:extLst>
              <p:ext uri="{D42A27DB-BD31-4B8C-83A1-F6EECF244321}">
                <p14:modId xmlns:p14="http://schemas.microsoft.com/office/powerpoint/2010/main" val="154783256"/>
              </p:ext>
            </p:extLst>
          </p:nvPr>
        </p:nvGraphicFramePr>
        <p:xfrm>
          <a:off x="5555974" y="1379088"/>
          <a:ext cx="6340751" cy="4748316"/>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9C22BA9E-4C97-FB66-C423-C7BEAC0F43DD}"/>
              </a:ext>
            </a:extLst>
          </p:cNvPr>
          <p:cNvSpPr/>
          <p:nvPr/>
        </p:nvSpPr>
        <p:spPr>
          <a:xfrm>
            <a:off x="6096001" y="1090770"/>
            <a:ext cx="5372099" cy="467820"/>
          </a:xfrm>
          <a:prstGeom prst="rect">
            <a:avLst/>
          </a:prstGeom>
          <a:noFill/>
        </p:spPr>
        <p:txBody>
          <a:bodyPr wrap="square">
            <a:spAutoFit/>
          </a:bodyPr>
          <a:lstStyle/>
          <a:p>
            <a:pPr marL="15875" algn="ctr">
              <a:lnSpc>
                <a:spcPct val="115000"/>
              </a:lnSpc>
              <a:buClr>
                <a:srgbClr val="00325C"/>
              </a:buClr>
              <a:buSzPct val="100000"/>
            </a:pPr>
            <a:r>
              <a:rPr lang="es-ES" sz="1100" b="1" kern="0">
                <a:solidFill>
                  <a:schemeClr val="bg1"/>
                </a:solidFill>
                <a:highlight>
                  <a:srgbClr val="000000"/>
                </a:highlight>
                <a:latin typeface="Montserrat SemiBold" pitchFamily="2" charset="77"/>
                <a:cs typeface="Times New Roman" panose="02020603050405020304" pitchFamily="18" charset="0"/>
              </a:rPr>
              <a:t>2023</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AD0407"/>
                </a:highlight>
                <a:latin typeface="Montserrat SemiBold" pitchFamily="2" charset="77"/>
                <a:cs typeface="Times New Roman" panose="02020603050405020304" pitchFamily="18" charset="0"/>
              </a:rPr>
              <a:t>2024</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808080"/>
                </a:highlight>
                <a:latin typeface="Montserrat SemiBold" pitchFamily="2" charset="77"/>
                <a:cs typeface="Times New Roman" panose="02020603050405020304" pitchFamily="18" charset="0"/>
              </a:rPr>
              <a:t>2025</a:t>
            </a:r>
            <a:endParaRPr lang="es-ES" sz="1100" b="1" kern="0">
              <a:solidFill>
                <a:srgbClr val="76B463"/>
              </a:solidFill>
              <a:highlight>
                <a:srgbClr val="808080"/>
              </a:highlight>
              <a:latin typeface="Montserrat" pitchFamily="2" charset="77"/>
              <a:cs typeface="Times New Roman" panose="02020603050405020304" pitchFamily="18" charset="0"/>
            </a:endParaRPr>
          </a:p>
          <a:p>
            <a:pPr marL="15875" algn="ctr">
              <a:lnSpc>
                <a:spcPct val="115000"/>
              </a:lnSpc>
              <a:spcAft>
                <a:spcPts val="0"/>
              </a:spcAft>
              <a:buClr>
                <a:srgbClr val="00325C"/>
              </a:buClr>
              <a:buSzPct val="100000"/>
            </a:pPr>
            <a:endParaRPr lang="es-ES" sz="1100" b="1" kern="0">
              <a:solidFill>
                <a:srgbClr val="76B463"/>
              </a:solidFill>
              <a:highlight>
                <a:srgbClr val="F5272D"/>
              </a:highlight>
              <a:latin typeface="Montserrat" pitchFamily="2" charset="77"/>
              <a:cs typeface="Times New Roman" panose="02020603050405020304" pitchFamily="18" charset="0"/>
            </a:endParaRPr>
          </a:p>
        </p:txBody>
      </p:sp>
      <p:sp>
        <p:nvSpPr>
          <p:cNvPr id="4" name="Rectángulo 3">
            <a:extLst>
              <a:ext uri="{FF2B5EF4-FFF2-40B4-BE49-F238E27FC236}">
                <a16:creationId xmlns:a16="http://schemas.microsoft.com/office/drawing/2014/main" id="{D254FAE7-10FB-666A-5F41-57EB36548924}"/>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Tree>
    <p:extLst>
      <p:ext uri="{BB962C8B-B14F-4D97-AF65-F5344CB8AC3E}">
        <p14:creationId xmlns:p14="http://schemas.microsoft.com/office/powerpoint/2010/main" val="33041066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0628-DCF5-4BC8-C1D8-5F1E604FF94D}"/>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35CF1A7-55DC-8884-040C-D9FB0B488657}"/>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tx1">
                  <a:lumMod val="75000"/>
                  <a:lumOff val="25000"/>
                </a:schemeClr>
              </a:solidFill>
              <a:latin typeface="Montserrat Medium" pitchFamily="2" charset="77"/>
            </a:endParaRPr>
          </a:p>
        </p:txBody>
      </p:sp>
      <p:sp>
        <p:nvSpPr>
          <p:cNvPr id="5" name="Rectángulo 4">
            <a:extLst>
              <a:ext uri="{FF2B5EF4-FFF2-40B4-BE49-F238E27FC236}">
                <a16:creationId xmlns:a16="http://schemas.microsoft.com/office/drawing/2014/main" id="{0F139464-DFBF-EFFC-FDC1-A6157193A08D}"/>
              </a:ext>
            </a:extLst>
          </p:cNvPr>
          <p:cNvSpPr/>
          <p:nvPr/>
        </p:nvSpPr>
        <p:spPr>
          <a:xfrm>
            <a:off x="638668" y="1392995"/>
            <a:ext cx="4607100" cy="512897"/>
          </a:xfrm>
          <a:prstGeom prst="rect">
            <a:avLst/>
          </a:prstGeom>
        </p:spPr>
        <p:txBody>
          <a:bodyPr wrap="square">
            <a:spAutoFit/>
          </a:bodyPr>
          <a:lstStyle/>
          <a:p>
            <a:pPr lvl="0">
              <a:lnSpc>
                <a:spcPts val="3200"/>
              </a:lnSpc>
              <a:spcAft>
                <a:spcPts val="0"/>
              </a:spcAft>
              <a:buClr>
                <a:srgbClr val="074F6A"/>
              </a:buClr>
            </a:pPr>
            <a:r>
              <a:rPr lang="es-ES" sz="3000">
                <a:solidFill>
                  <a:schemeClr val="tx1">
                    <a:lumMod val="85000"/>
                    <a:lumOff val="15000"/>
                  </a:schemeClr>
                </a:solidFill>
                <a:latin typeface="DM Serif Display" pitchFamily="2" charset="0"/>
                <a:cs typeface="Times New Roman" panose="02020603050405020304" pitchFamily="18" charset="0"/>
              </a:rPr>
              <a:t>Estancia media en Hoteles</a:t>
            </a:r>
          </a:p>
        </p:txBody>
      </p:sp>
      <p:sp>
        <p:nvSpPr>
          <p:cNvPr id="16" name="Rectángulo 15">
            <a:extLst>
              <a:ext uri="{FF2B5EF4-FFF2-40B4-BE49-F238E27FC236}">
                <a16:creationId xmlns:a16="http://schemas.microsoft.com/office/drawing/2014/main" id="{DD961C00-8201-7B77-074E-2EB5454C0DE7}"/>
              </a:ext>
            </a:extLst>
          </p:cNvPr>
          <p:cNvSpPr/>
          <p:nvPr/>
        </p:nvSpPr>
        <p:spPr>
          <a:xfrm>
            <a:off x="638668" y="2390775"/>
            <a:ext cx="4685807" cy="3074229"/>
          </a:xfrm>
          <a:prstGeom prst="rect">
            <a:avLst/>
          </a:prstGeom>
        </p:spPr>
        <p:txBody>
          <a:bodyPr wrap="square" numCol="1" spcCol="432000">
            <a:noAutofit/>
          </a:bodyPr>
          <a:lstStyle/>
          <a:p>
            <a:r>
              <a:rPr lang="es-ES" sz="1200" kern="0">
                <a:solidFill>
                  <a:schemeClr val="tx1">
                    <a:lumMod val="75000"/>
                    <a:lumOff val="25000"/>
                  </a:schemeClr>
                </a:solidFill>
                <a:latin typeface="Montserrat" pitchFamily="2" charset="77"/>
                <a:cs typeface="Times New Roman" panose="02020603050405020304" pitchFamily="18" charset="0"/>
              </a:rPr>
              <a:t>Entre enero y octubre de 2025, la estancia media en hoteles de </a:t>
            </a:r>
            <a:r>
              <a:rPr lang="es-ES" sz="1200" kern="0" err="1">
                <a:solidFill>
                  <a:schemeClr val="tx1">
                    <a:lumMod val="75000"/>
                    <a:lumOff val="25000"/>
                  </a:schemeClr>
                </a:solidFill>
                <a:latin typeface="Montserrat" pitchFamily="2" charset="77"/>
                <a:cs typeface="Times New Roman" panose="02020603050405020304" pitchFamily="18" charset="0"/>
              </a:rPr>
              <a:t>Dénia</a:t>
            </a:r>
            <a:r>
              <a:rPr lang="es-ES" sz="1200" kern="0">
                <a:solidFill>
                  <a:schemeClr val="tx1">
                    <a:lumMod val="75000"/>
                    <a:lumOff val="25000"/>
                  </a:schemeClr>
                </a:solidFill>
                <a:latin typeface="Montserrat" pitchFamily="2" charset="77"/>
                <a:cs typeface="Times New Roman" panose="02020603050405020304" pitchFamily="18" charset="0"/>
              </a:rPr>
              <a:t> se mantiene estable, con valores comprendidos entre 2,5 y 3 noches por viajero, en línea con el comportamiento observado en ejercicios anteriores.</a:t>
            </a:r>
          </a:p>
          <a:p>
            <a:endParaRPr lang="es-ES" sz="1200" kern="0">
              <a:solidFill>
                <a:schemeClr val="tx1">
                  <a:lumMod val="75000"/>
                  <a:lumOff val="25000"/>
                </a:schemeClr>
              </a:solidFill>
              <a:latin typeface="Montserrat" pitchFamily="2" charset="77"/>
              <a:cs typeface="Times New Roman" panose="02020603050405020304" pitchFamily="18" charset="0"/>
            </a:endParaRPr>
          </a:p>
          <a:p>
            <a:r>
              <a:rPr lang="es-ES" sz="1200" kern="0">
                <a:solidFill>
                  <a:schemeClr val="tx1">
                    <a:lumMod val="75000"/>
                    <a:lumOff val="25000"/>
                  </a:schemeClr>
                </a:solidFill>
                <a:latin typeface="Montserrat" pitchFamily="2" charset="77"/>
                <a:cs typeface="Times New Roman" panose="02020603050405020304" pitchFamily="18" charset="0"/>
              </a:rPr>
              <a:t>Las estancias más largas se concentran en invierno y comienzos de primavera, con valores próximos a las 3 noches, mientras que durante la temporada alta la estancia media se sitúa en torno a las 2,6–2,9 noches, reflejando el patrón de vacaciones de corta duración propio del mercado hotelero. En otoño, los valores se estabilizan alrededor de las 2,5 noches, confirmando un comportamiento regular y maduro de esta tipología de alojamiento.</a:t>
            </a:r>
          </a:p>
          <a:p>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A5EEF3A6-C6D8-5028-54BC-2C1EC59FD83C}"/>
              </a:ext>
            </a:extLst>
          </p:cNvPr>
          <p:cNvGraphicFramePr/>
          <p:nvPr>
            <p:extLst>
              <p:ext uri="{D42A27DB-BD31-4B8C-83A1-F6EECF244321}">
                <p14:modId xmlns:p14="http://schemas.microsoft.com/office/powerpoint/2010/main" val="3416126691"/>
              </p:ext>
            </p:extLst>
          </p:nvPr>
        </p:nvGraphicFramePr>
        <p:xfrm>
          <a:off x="5555974" y="1392996"/>
          <a:ext cx="6340751" cy="4734408"/>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ángulo 3">
            <a:extLst>
              <a:ext uri="{FF2B5EF4-FFF2-40B4-BE49-F238E27FC236}">
                <a16:creationId xmlns:a16="http://schemas.microsoft.com/office/drawing/2014/main" id="{BB88666D-1BF2-87C2-661B-0A5D8AF32A29}"/>
              </a:ext>
            </a:extLst>
          </p:cNvPr>
          <p:cNvSpPr/>
          <p:nvPr/>
        </p:nvSpPr>
        <p:spPr>
          <a:xfrm>
            <a:off x="675648" y="5405179"/>
            <a:ext cx="3245075" cy="303481"/>
          </a:xfrm>
          <a:prstGeom prst="rect">
            <a:avLst/>
          </a:prstGeom>
        </p:spPr>
        <p:txBody>
          <a:bodyPr wrap="square">
            <a:spAutoFit/>
          </a:bodyPr>
          <a:lstStyle/>
          <a:p>
            <a:pPr>
              <a:lnSpc>
                <a:spcPts val="1800"/>
              </a:lnSpc>
            </a:pPr>
            <a:r>
              <a:rPr lang="es-ES" sz="1000" i="1">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Fuente: Instituto Nacional de Estadística (INE)</a:t>
            </a:r>
            <a:endParaRPr lang="es-ES" sz="1000" i="1">
              <a:solidFill>
                <a:schemeClr val="tx1">
                  <a:lumMod val="75000"/>
                  <a:lumOff val="25000"/>
                </a:schemeClr>
              </a:solidFill>
              <a:latin typeface="Montserrat Medium" pitchFamily="2" charset="77"/>
            </a:endParaRPr>
          </a:p>
        </p:txBody>
      </p:sp>
      <p:sp>
        <p:nvSpPr>
          <p:cNvPr id="8" name="Rectángulo 7">
            <a:extLst>
              <a:ext uri="{FF2B5EF4-FFF2-40B4-BE49-F238E27FC236}">
                <a16:creationId xmlns:a16="http://schemas.microsoft.com/office/drawing/2014/main" id="{C56FE369-6D40-A376-DCC8-BB8A0504BD7D}"/>
              </a:ext>
            </a:extLst>
          </p:cNvPr>
          <p:cNvSpPr/>
          <p:nvPr/>
        </p:nvSpPr>
        <p:spPr>
          <a:xfrm>
            <a:off x="6096001" y="1090770"/>
            <a:ext cx="5372099" cy="467820"/>
          </a:xfrm>
          <a:prstGeom prst="rect">
            <a:avLst/>
          </a:prstGeom>
          <a:noFill/>
        </p:spPr>
        <p:txBody>
          <a:bodyPr wrap="square">
            <a:spAutoFit/>
          </a:bodyPr>
          <a:lstStyle/>
          <a:p>
            <a:pPr marL="15875" algn="ctr">
              <a:lnSpc>
                <a:spcPct val="115000"/>
              </a:lnSpc>
              <a:buClr>
                <a:srgbClr val="00325C"/>
              </a:buClr>
              <a:buSzPct val="100000"/>
            </a:pPr>
            <a:r>
              <a:rPr lang="es-ES" sz="1100" b="1" kern="0">
                <a:solidFill>
                  <a:schemeClr val="bg1"/>
                </a:solidFill>
                <a:highlight>
                  <a:srgbClr val="000000"/>
                </a:highlight>
                <a:latin typeface="Montserrat SemiBold" pitchFamily="2" charset="77"/>
                <a:cs typeface="Times New Roman" panose="02020603050405020304" pitchFamily="18" charset="0"/>
              </a:rPr>
              <a:t>2023</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AD0407"/>
                </a:highlight>
                <a:latin typeface="Montserrat SemiBold" pitchFamily="2" charset="77"/>
                <a:cs typeface="Times New Roman" panose="02020603050405020304" pitchFamily="18" charset="0"/>
              </a:rPr>
              <a:t>2024</a:t>
            </a:r>
            <a:r>
              <a:rPr lang="es-ES" sz="1100" b="1" kern="0">
                <a:solidFill>
                  <a:schemeClr val="bg1"/>
                </a:solidFill>
                <a:latin typeface="Montserrat SemiBold" pitchFamily="2" charset="77"/>
                <a:cs typeface="Times New Roman" panose="02020603050405020304" pitchFamily="18" charset="0"/>
              </a:rPr>
              <a:t>    </a:t>
            </a:r>
            <a:r>
              <a:rPr lang="es-ES" sz="1100" b="1" kern="0">
                <a:solidFill>
                  <a:schemeClr val="bg1"/>
                </a:solidFill>
                <a:highlight>
                  <a:srgbClr val="808080"/>
                </a:highlight>
                <a:latin typeface="Montserrat SemiBold" pitchFamily="2" charset="77"/>
                <a:cs typeface="Times New Roman" panose="02020603050405020304" pitchFamily="18" charset="0"/>
              </a:rPr>
              <a:t>2025</a:t>
            </a:r>
            <a:endParaRPr lang="es-ES" sz="1100" b="1" kern="0">
              <a:solidFill>
                <a:srgbClr val="76B463"/>
              </a:solidFill>
              <a:highlight>
                <a:srgbClr val="808080"/>
              </a:highlight>
              <a:latin typeface="Montserrat" pitchFamily="2" charset="77"/>
              <a:cs typeface="Times New Roman" panose="02020603050405020304" pitchFamily="18" charset="0"/>
            </a:endParaRPr>
          </a:p>
          <a:p>
            <a:pPr marL="15875" algn="ctr">
              <a:lnSpc>
                <a:spcPct val="115000"/>
              </a:lnSpc>
              <a:spcAft>
                <a:spcPts val="0"/>
              </a:spcAft>
              <a:buClr>
                <a:srgbClr val="00325C"/>
              </a:buClr>
              <a:buSzPct val="100000"/>
            </a:pPr>
            <a:endParaRPr lang="es-ES" sz="1100" b="1" kern="0">
              <a:solidFill>
                <a:srgbClr val="76B463"/>
              </a:solidFill>
              <a:highlight>
                <a:srgbClr val="F5272D"/>
              </a:highlight>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29104044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A48E-A992-45B2-387F-9D7784ECB330}"/>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EF741963-EECC-6B4C-9D0D-1872707FEE4A}"/>
              </a:ext>
            </a:extLst>
          </p:cNvPr>
          <p:cNvPicPr>
            <a:picLocks noChangeAspect="1"/>
          </p:cNvPicPr>
          <p:nvPr/>
        </p:nvPicPr>
        <p:blipFill>
          <a:blip r:embed="rId2"/>
          <a:srcRect/>
          <a:stretch/>
        </p:blipFill>
        <p:spPr>
          <a:xfrm>
            <a:off x="-101600" y="-162588"/>
            <a:ext cx="12369800" cy="7208574"/>
          </a:xfrm>
          <a:prstGeom prst="rect">
            <a:avLst/>
          </a:prstGeom>
        </p:spPr>
      </p:pic>
      <p:sp>
        <p:nvSpPr>
          <p:cNvPr id="2" name="Rectángulo 1">
            <a:extLst>
              <a:ext uri="{FF2B5EF4-FFF2-40B4-BE49-F238E27FC236}">
                <a16:creationId xmlns:a16="http://schemas.microsoft.com/office/drawing/2014/main" id="{215DBE24-555E-0440-8FD8-78D9665E4126}"/>
              </a:ext>
            </a:extLst>
          </p:cNvPr>
          <p:cNvSpPr/>
          <p:nvPr/>
        </p:nvSpPr>
        <p:spPr>
          <a:xfrm>
            <a:off x="-88900" y="-38100"/>
            <a:ext cx="12369800" cy="6946900"/>
          </a:xfrm>
          <a:prstGeom prst="rect">
            <a:avLst/>
          </a:prstGeom>
          <a:solidFill>
            <a:srgbClr val="81060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Rectángulo 2">
            <a:extLst>
              <a:ext uri="{FF2B5EF4-FFF2-40B4-BE49-F238E27FC236}">
                <a16:creationId xmlns:a16="http://schemas.microsoft.com/office/drawing/2014/main" id="{B517E1D7-644F-7B26-DE7F-C2E4564B42A0}"/>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bg1"/>
                </a:solidFill>
                <a:latin typeface="Montserrat Medium" pitchFamily="2" charset="77"/>
                <a:ea typeface="Times New Roman" panose="02020603050405020304" pitchFamily="18" charset="0"/>
                <a:cs typeface="Times New Roman" panose="02020603050405020304" pitchFamily="18" charset="0"/>
              </a:rPr>
              <a:t>OCUPACIÓN</a:t>
            </a:r>
            <a:endParaRPr lang="es-ES" sz="1200">
              <a:solidFill>
                <a:schemeClr val="bg1"/>
              </a:solidFill>
              <a:latin typeface="Montserrat Medium" pitchFamily="2" charset="77"/>
            </a:endParaRPr>
          </a:p>
        </p:txBody>
      </p:sp>
      <p:sp>
        <p:nvSpPr>
          <p:cNvPr id="7" name="Rectángulo 6">
            <a:extLst>
              <a:ext uri="{FF2B5EF4-FFF2-40B4-BE49-F238E27FC236}">
                <a16:creationId xmlns:a16="http://schemas.microsoft.com/office/drawing/2014/main" id="{B2E9E2F9-3215-F1DE-C19C-52189956B8C5}"/>
              </a:ext>
            </a:extLst>
          </p:cNvPr>
          <p:cNvSpPr/>
          <p:nvPr/>
        </p:nvSpPr>
        <p:spPr>
          <a:xfrm>
            <a:off x="638668" y="1392995"/>
            <a:ext cx="7139240" cy="512897"/>
          </a:xfrm>
          <a:prstGeom prst="rect">
            <a:avLst/>
          </a:prstGeom>
        </p:spPr>
        <p:txBody>
          <a:bodyPr wrap="square">
            <a:spAutoFit/>
          </a:bodyPr>
          <a:lstStyle/>
          <a:p>
            <a:pPr>
              <a:lnSpc>
                <a:spcPts val="3200"/>
              </a:lnSpc>
            </a:pPr>
            <a:r>
              <a:rPr lang="es-ES" sz="3000">
                <a:solidFill>
                  <a:schemeClr val="bg1"/>
                </a:solidFill>
                <a:latin typeface="DM Serif Display" pitchFamily="2" charset="0"/>
                <a:cs typeface="Times New Roman" panose="02020603050405020304" pitchFamily="18" charset="0"/>
              </a:rPr>
              <a:t>Conclusiones y resultados</a:t>
            </a:r>
          </a:p>
        </p:txBody>
      </p:sp>
      <p:sp>
        <p:nvSpPr>
          <p:cNvPr id="10" name="Rectángulo 9">
            <a:extLst>
              <a:ext uri="{FF2B5EF4-FFF2-40B4-BE49-F238E27FC236}">
                <a16:creationId xmlns:a16="http://schemas.microsoft.com/office/drawing/2014/main" id="{BF45F7E6-D765-5E02-B210-BCC2B286E7C2}"/>
              </a:ext>
            </a:extLst>
          </p:cNvPr>
          <p:cNvSpPr/>
          <p:nvPr/>
        </p:nvSpPr>
        <p:spPr>
          <a:xfrm>
            <a:off x="638668" y="2136261"/>
            <a:ext cx="5315092" cy="3645998"/>
          </a:xfrm>
          <a:prstGeom prst="rect">
            <a:avLst/>
          </a:prstGeom>
        </p:spPr>
        <p:txBody>
          <a:bodyPr wrap="square">
            <a:spAutoFit/>
          </a:bodyPr>
          <a:lstStyle/>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Alta concentración estacional de ocupación</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En 2025, la ocupación turística en </a:t>
            </a:r>
            <a:r>
              <a:rPr lang="es-ES" sz="1400" kern="0" err="1">
                <a:solidFill>
                  <a:schemeClr val="bg1"/>
                </a:solidFill>
                <a:latin typeface="Montserrat" pitchFamily="2" charset="77"/>
                <a:cs typeface="Times New Roman" panose="02020603050405020304" pitchFamily="18" charset="0"/>
              </a:rPr>
              <a:t>Dénia</a:t>
            </a:r>
            <a:r>
              <a:rPr lang="es-ES" sz="1400" kern="0">
                <a:solidFill>
                  <a:schemeClr val="bg1"/>
                </a:solidFill>
                <a:latin typeface="Montserrat" pitchFamily="2" charset="77"/>
                <a:cs typeface="Times New Roman" panose="02020603050405020304" pitchFamily="18" charset="0"/>
              </a:rPr>
              <a:t> mantiene una marcada concentración en los meses de verano. Los hoteles alcanzan niveles próximos al 95–98% en julio y agosto, mientras que los apartamentos turísticos registran picos en torno al 65%, confirmando el peso determinante de la temporada alta en la actividad alojativa.</a:t>
            </a:r>
          </a:p>
          <a:p>
            <a:pPr marL="185738" lvl="0"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Diferencias claras entre tipologías de alojamiento</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Los apartamentos turísticos registran una mayor intensidad estacional, con picos muy elevados en verano y descensos acusados a partir de septiembre, mientras que los hoteles presentan un comportamiento algo más estable.</a:t>
            </a:r>
          </a:p>
        </p:txBody>
      </p:sp>
      <p:sp>
        <p:nvSpPr>
          <p:cNvPr id="11" name="Rectángulo 10">
            <a:extLst>
              <a:ext uri="{FF2B5EF4-FFF2-40B4-BE49-F238E27FC236}">
                <a16:creationId xmlns:a16="http://schemas.microsoft.com/office/drawing/2014/main" id="{3D5EA613-BD06-FF33-116F-7A876550B9A5}"/>
              </a:ext>
            </a:extLst>
          </p:cNvPr>
          <p:cNvSpPr/>
          <p:nvPr/>
        </p:nvSpPr>
        <p:spPr>
          <a:xfrm>
            <a:off x="6118251" y="2136261"/>
            <a:ext cx="5435081" cy="3893758"/>
          </a:xfrm>
          <a:prstGeom prst="rect">
            <a:avLst/>
          </a:prstGeom>
        </p:spPr>
        <p:txBody>
          <a:bodyPr wrap="square">
            <a:spAutoFit/>
          </a:bodyPr>
          <a:lstStyle/>
          <a:p>
            <a:pPr marL="185738"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Evolución positiva del conjunto anual</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Tanto los viajeros como las pernoctaciones totales muestran un crecimiento interanual en 2025. El total de viajeros aumenta y las pernoctaciones superan ligeramente las del ejercicio anterior, consolidando una evolución favorable de la demanda alojativa.</a:t>
            </a:r>
          </a:p>
          <a:p>
            <a:pPr marL="185738" indent="-185738">
              <a:lnSpc>
                <a:spcPct val="115000"/>
              </a:lnSpc>
              <a:spcAft>
                <a:spcPts val="800"/>
              </a:spcAft>
              <a:buFont typeface="Symbol" pitchFamily="2" charset="2"/>
              <a:buChar char=""/>
            </a:pPr>
            <a:r>
              <a:rPr lang="es-ES" sz="1400" b="1" kern="0">
                <a:solidFill>
                  <a:schemeClr val="bg1"/>
                </a:solidFill>
                <a:latin typeface="Montserrat SemiBold" pitchFamily="2" charset="77"/>
                <a:cs typeface="Times New Roman" panose="02020603050405020304" pitchFamily="18" charset="0"/>
              </a:rPr>
              <a:t>Estancias medias diferenciadas según tipología</a:t>
            </a:r>
            <a:br>
              <a:rPr lang="es-ES" sz="1400" kern="0">
                <a:solidFill>
                  <a:schemeClr val="bg1"/>
                </a:solidFill>
                <a:latin typeface="Montserrat" pitchFamily="2" charset="77"/>
                <a:cs typeface="Times New Roman" panose="02020603050405020304" pitchFamily="18" charset="0"/>
              </a:rPr>
            </a:br>
            <a:r>
              <a:rPr lang="es-ES" sz="1400" kern="0">
                <a:solidFill>
                  <a:schemeClr val="bg1"/>
                </a:solidFill>
                <a:latin typeface="Montserrat" pitchFamily="2" charset="77"/>
                <a:cs typeface="Times New Roman" panose="02020603050405020304" pitchFamily="18" charset="0"/>
              </a:rPr>
              <a:t>La estancia media en apartamentos se sitúa en torno a las 7–8 noches en verano, frente a valores más contenidos durante el resto del año, mientras que en hoteles se mantiene estable entre 2,5 y 3 noches, reflejando perfiles de demanda distintos: estancias vacacionales más prolongadas en alojamiento </a:t>
            </a:r>
            <a:r>
              <a:rPr lang="es-ES" sz="1400" kern="0" err="1">
                <a:solidFill>
                  <a:schemeClr val="bg1"/>
                </a:solidFill>
                <a:latin typeface="Montserrat" pitchFamily="2" charset="77"/>
                <a:cs typeface="Times New Roman" panose="02020603050405020304" pitchFamily="18" charset="0"/>
              </a:rPr>
              <a:t>extrahotelero</a:t>
            </a:r>
            <a:r>
              <a:rPr lang="es-ES" sz="1400" kern="0">
                <a:solidFill>
                  <a:schemeClr val="bg1"/>
                </a:solidFill>
                <a:latin typeface="Montserrat" pitchFamily="2" charset="77"/>
                <a:cs typeface="Times New Roman" panose="02020603050405020304" pitchFamily="18" charset="0"/>
              </a:rPr>
              <a:t> y escapadas de corta duración en el hotelero.</a:t>
            </a:r>
          </a:p>
        </p:txBody>
      </p:sp>
      <p:cxnSp>
        <p:nvCxnSpPr>
          <p:cNvPr id="15" name="Conector recto 14">
            <a:extLst>
              <a:ext uri="{FF2B5EF4-FFF2-40B4-BE49-F238E27FC236}">
                <a16:creationId xmlns:a16="http://schemas.microsoft.com/office/drawing/2014/main" id="{BC4BD960-E333-9246-944B-2DA2B343357F}"/>
              </a:ext>
            </a:extLst>
          </p:cNvPr>
          <p:cNvCxnSpPr>
            <a:cxnSpLocks/>
            <a:endCxn id="17" idx="1"/>
          </p:cNvCxnSpPr>
          <p:nvPr/>
        </p:nvCxnSpPr>
        <p:spPr>
          <a:xfrm>
            <a:off x="717632" y="520861"/>
            <a:ext cx="5926184" cy="3262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ángulo 16">
            <a:extLst>
              <a:ext uri="{FF2B5EF4-FFF2-40B4-BE49-F238E27FC236}">
                <a16:creationId xmlns:a16="http://schemas.microsoft.com/office/drawing/2014/main" id="{38AD8C6D-AC5F-2746-8200-A25F39F7BCF0}"/>
              </a:ext>
            </a:extLst>
          </p:cNvPr>
          <p:cNvSpPr/>
          <p:nvPr/>
        </p:nvSpPr>
        <p:spPr>
          <a:xfrm>
            <a:off x="6643816" y="430374"/>
            <a:ext cx="4921540" cy="246221"/>
          </a:xfrm>
          <a:prstGeom prst="rect">
            <a:avLst/>
          </a:prstGeom>
        </p:spPr>
        <p:txBody>
          <a:bodyPr wrap="none">
            <a:spAutoFit/>
          </a:bodyPr>
          <a:lstStyle/>
          <a:p>
            <a:pPr algn="r"/>
            <a:r>
              <a:rPr lang="es-ES" sz="1000" b="1">
                <a:solidFill>
                  <a:schemeClr val="bg1"/>
                </a:solidFill>
                <a:latin typeface="Montserrat SemiBold" pitchFamily="2" charset="77"/>
              </a:rPr>
              <a:t>INFORME DE ANÁLISIS DE DATOS | SMART OFFICE DENIA | ENE – DIC 25</a:t>
            </a:r>
          </a:p>
        </p:txBody>
      </p:sp>
      <p:grpSp>
        <p:nvGrpSpPr>
          <p:cNvPr id="4" name="Grupo 3">
            <a:extLst>
              <a:ext uri="{FF2B5EF4-FFF2-40B4-BE49-F238E27FC236}">
                <a16:creationId xmlns:a16="http://schemas.microsoft.com/office/drawing/2014/main" id="{22E0DE38-6879-20BB-980B-5996A2549354}"/>
              </a:ext>
            </a:extLst>
          </p:cNvPr>
          <p:cNvGrpSpPr/>
          <p:nvPr/>
        </p:nvGrpSpPr>
        <p:grpSpPr>
          <a:xfrm>
            <a:off x="766736" y="5994100"/>
            <a:ext cx="3903956" cy="476250"/>
            <a:chOff x="643469" y="6033429"/>
            <a:chExt cx="3903956" cy="476250"/>
          </a:xfrm>
        </p:grpSpPr>
        <p:pic>
          <p:nvPicPr>
            <p:cNvPr id="5" name="Imagen 4">
              <a:extLst>
                <a:ext uri="{FF2B5EF4-FFF2-40B4-BE49-F238E27FC236}">
                  <a16:creationId xmlns:a16="http://schemas.microsoft.com/office/drawing/2014/main" id="{D658E213-E4A4-6610-9213-205FAE4A86CA}"/>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6" name="Imagen 5">
              <a:extLst>
                <a:ext uri="{FF2B5EF4-FFF2-40B4-BE49-F238E27FC236}">
                  <a16:creationId xmlns:a16="http://schemas.microsoft.com/office/drawing/2014/main" id="{1EA91D79-0689-1BB0-A1A9-DACF66BFCC86}"/>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8" name="Imagen 7" descr="Imagen que contiene Logotipo&#10;&#10;Descripción generada automáticamente">
            <a:extLst>
              <a:ext uri="{FF2B5EF4-FFF2-40B4-BE49-F238E27FC236}">
                <a16:creationId xmlns:a16="http://schemas.microsoft.com/office/drawing/2014/main" id="{3B3265AA-78D4-0C44-6CB1-D98AE0E731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2895215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C60A6-75E8-9030-186B-58A827EEBCEF}"/>
            </a:ext>
          </a:extLst>
        </p:cNvPr>
        <p:cNvGrpSpPr/>
        <p:nvPr/>
      </p:nvGrpSpPr>
      <p:grpSpPr>
        <a:xfrm>
          <a:off x="0" y="0"/>
          <a:ext cx="0" cy="0"/>
          <a:chOff x="0" y="0"/>
          <a:chExt cx="0" cy="0"/>
        </a:xfrm>
      </p:grpSpPr>
      <p:sp>
        <p:nvSpPr>
          <p:cNvPr id="10" name="Rectángulo 9">
            <a:extLst>
              <a:ext uri="{FF2B5EF4-FFF2-40B4-BE49-F238E27FC236}">
                <a16:creationId xmlns:a16="http://schemas.microsoft.com/office/drawing/2014/main" id="{A2C0E50B-736D-AA6E-3654-9F4749038FDC}"/>
              </a:ext>
            </a:extLst>
          </p:cNvPr>
          <p:cNvSpPr/>
          <p:nvPr/>
        </p:nvSpPr>
        <p:spPr>
          <a:xfrm>
            <a:off x="7535538" y="3305751"/>
            <a:ext cx="4160704" cy="1624355"/>
          </a:xfrm>
          <a:prstGeom prst="rect">
            <a:avLst/>
          </a:prstGeom>
        </p:spPr>
        <p:txBody>
          <a:bodyPr wrap="square">
            <a:spAutoFit/>
          </a:bodyPr>
          <a:lstStyle/>
          <a:p>
            <a:pPr algn="r">
              <a:lnSpc>
                <a:spcPts val="4200"/>
              </a:lnSpc>
            </a:pPr>
            <a:r>
              <a:rPr lang="es-ES" sz="30000">
                <a:solidFill>
                  <a:schemeClr val="bg2"/>
                </a:solidFill>
                <a:latin typeface="DM Serif Display" pitchFamily="2" charset="0"/>
                <a:ea typeface="Times New Roman" panose="02020603050405020304" pitchFamily="18" charset="0"/>
                <a:cs typeface="Times New Roman" panose="02020603050405020304" pitchFamily="18" charset="0"/>
              </a:rPr>
              <a:t>05</a:t>
            </a:r>
            <a:endParaRPr lang="es-ES" sz="30000">
              <a:solidFill>
                <a:schemeClr val="bg2"/>
              </a:solidFill>
              <a:latin typeface="DM Serif Display" pitchFamily="2" charset="0"/>
            </a:endParaRPr>
          </a:p>
        </p:txBody>
      </p:sp>
      <p:sp>
        <p:nvSpPr>
          <p:cNvPr id="2" name="Rectángulo 1">
            <a:extLst>
              <a:ext uri="{FF2B5EF4-FFF2-40B4-BE49-F238E27FC236}">
                <a16:creationId xmlns:a16="http://schemas.microsoft.com/office/drawing/2014/main" id="{C3E541AD-F1F6-C7C4-C991-A745E5AC7F15}"/>
              </a:ext>
            </a:extLst>
          </p:cNvPr>
          <p:cNvSpPr/>
          <p:nvPr/>
        </p:nvSpPr>
        <p:spPr>
          <a:xfrm>
            <a:off x="629084" y="1390653"/>
            <a:ext cx="3157104" cy="1185324"/>
          </a:xfrm>
          <a:prstGeom prst="rect">
            <a:avLst/>
          </a:prstGeom>
        </p:spPr>
        <p:txBody>
          <a:bodyPr wrap="square">
            <a:spAutoFit/>
          </a:bodyPr>
          <a:lstStyle/>
          <a:p>
            <a:pPr>
              <a:lnSpc>
                <a:spcPts val="4200"/>
              </a:lnSpc>
            </a:pP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Glosario </a:t>
            </a:r>
            <a:b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br>
            <a:r>
              <a:rPr lang="es-ES" sz="4000">
                <a:solidFill>
                  <a:schemeClr val="tx1">
                    <a:lumMod val="85000"/>
                    <a:lumOff val="15000"/>
                  </a:schemeClr>
                </a:solidFill>
                <a:latin typeface="DM Serif Display" pitchFamily="2" charset="0"/>
                <a:ea typeface="Times New Roman" panose="02020603050405020304" pitchFamily="18" charset="0"/>
                <a:cs typeface="Times New Roman" panose="02020603050405020304" pitchFamily="18" charset="0"/>
              </a:rPr>
              <a:t>de términos</a:t>
            </a:r>
            <a:endParaRPr lang="es-ES" sz="4000">
              <a:solidFill>
                <a:schemeClr val="tx1">
                  <a:lumMod val="85000"/>
                  <a:lumOff val="15000"/>
                </a:schemeClr>
              </a:solidFill>
              <a:latin typeface="DM Serif Display" pitchFamily="2" charset="0"/>
            </a:endParaRPr>
          </a:p>
        </p:txBody>
      </p:sp>
      <p:pic>
        <p:nvPicPr>
          <p:cNvPr id="8" name="Imagen 7">
            <a:extLst>
              <a:ext uri="{FF2B5EF4-FFF2-40B4-BE49-F238E27FC236}">
                <a16:creationId xmlns:a16="http://schemas.microsoft.com/office/drawing/2014/main" id="{A5DDB660-FAF9-234A-AF7B-48A45966AF84}"/>
              </a:ext>
            </a:extLst>
          </p:cNvPr>
          <p:cNvPicPr>
            <a:picLocks noChangeAspect="1"/>
          </p:cNvPicPr>
          <p:nvPr/>
        </p:nvPicPr>
        <p:blipFill>
          <a:blip r:embed="rId2"/>
          <a:srcRect/>
          <a:stretch/>
        </p:blipFill>
        <p:spPr>
          <a:xfrm>
            <a:off x="-101600" y="3457815"/>
            <a:ext cx="12369800" cy="3534880"/>
          </a:xfrm>
          <a:prstGeom prst="rect">
            <a:avLst/>
          </a:prstGeom>
        </p:spPr>
      </p:pic>
      <p:grpSp>
        <p:nvGrpSpPr>
          <p:cNvPr id="3" name="Grupo 2">
            <a:extLst>
              <a:ext uri="{FF2B5EF4-FFF2-40B4-BE49-F238E27FC236}">
                <a16:creationId xmlns:a16="http://schemas.microsoft.com/office/drawing/2014/main" id="{92EDFC05-0B47-6C18-9BC4-D3942AF320AB}"/>
              </a:ext>
            </a:extLst>
          </p:cNvPr>
          <p:cNvGrpSpPr/>
          <p:nvPr/>
        </p:nvGrpSpPr>
        <p:grpSpPr>
          <a:xfrm>
            <a:off x="766736" y="5994100"/>
            <a:ext cx="3903956" cy="476250"/>
            <a:chOff x="643469" y="6033429"/>
            <a:chExt cx="3903956" cy="476250"/>
          </a:xfrm>
        </p:grpSpPr>
        <p:pic>
          <p:nvPicPr>
            <p:cNvPr id="4" name="Imagen 3">
              <a:extLst>
                <a:ext uri="{FF2B5EF4-FFF2-40B4-BE49-F238E27FC236}">
                  <a16:creationId xmlns:a16="http://schemas.microsoft.com/office/drawing/2014/main" id="{6F36F384-D52B-5C0A-749F-AB1DACE9C0C5}"/>
                </a:ext>
              </a:extLst>
            </p:cNvPr>
            <p:cNvPicPr>
              <a:picLocks noChangeAspect="1"/>
            </p:cNvPicPr>
            <p:nvPr/>
          </p:nvPicPr>
          <p:blipFill>
            <a:blip r:embed="rId3"/>
            <a:stretch>
              <a:fillRect/>
            </a:stretch>
          </p:blipFill>
          <p:spPr>
            <a:xfrm>
              <a:off x="643469" y="6195575"/>
              <a:ext cx="800069" cy="253697"/>
            </a:xfrm>
            <a:prstGeom prst="rect">
              <a:avLst/>
            </a:prstGeom>
          </p:spPr>
        </p:pic>
        <p:pic>
          <p:nvPicPr>
            <p:cNvPr id="5" name="Imagen 4">
              <a:extLst>
                <a:ext uri="{FF2B5EF4-FFF2-40B4-BE49-F238E27FC236}">
                  <a16:creationId xmlns:a16="http://schemas.microsoft.com/office/drawing/2014/main" id="{B99139DA-EAF4-36A1-E7DC-0E8995FB127D}"/>
                </a:ext>
              </a:extLst>
            </p:cNvPr>
            <p:cNvPicPr>
              <a:picLocks noChangeAspect="1"/>
            </p:cNvPicPr>
            <p:nvPr/>
          </p:nvPicPr>
          <p:blipFill>
            <a:blip r:embed="rId4"/>
            <a:stretch>
              <a:fillRect/>
            </a:stretch>
          </p:blipFill>
          <p:spPr>
            <a:xfrm>
              <a:off x="3345894" y="6033429"/>
              <a:ext cx="1201531" cy="476250"/>
            </a:xfrm>
            <a:prstGeom prst="rect">
              <a:avLst/>
            </a:prstGeom>
          </p:spPr>
        </p:pic>
      </p:grpSp>
      <p:pic>
        <p:nvPicPr>
          <p:cNvPr id="6" name="Imagen 5" descr="Imagen que contiene Logotipo&#10;&#10;Descripción generada automáticamente">
            <a:extLst>
              <a:ext uri="{FF2B5EF4-FFF2-40B4-BE49-F238E27FC236}">
                <a16:creationId xmlns:a16="http://schemas.microsoft.com/office/drawing/2014/main" id="{4B5D3B45-429F-9A04-C34E-C83D439429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84578" y="6054507"/>
            <a:ext cx="1466810" cy="355436"/>
          </a:xfrm>
          <a:prstGeom prst="rect">
            <a:avLst/>
          </a:prstGeom>
        </p:spPr>
      </p:pic>
    </p:spTree>
    <p:extLst>
      <p:ext uri="{BB962C8B-B14F-4D97-AF65-F5344CB8AC3E}">
        <p14:creationId xmlns:p14="http://schemas.microsoft.com/office/powerpoint/2010/main" val="5790001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0F1BA-F75D-80E9-C6D5-182424313BE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3FDBCDC-4870-1976-5F10-05B71127807C}"/>
              </a:ext>
            </a:extLst>
          </p:cNvPr>
          <p:cNvSpPr/>
          <p:nvPr/>
        </p:nvSpPr>
        <p:spPr>
          <a:xfrm>
            <a:off x="638668" y="1075606"/>
            <a:ext cx="4074261" cy="303481"/>
          </a:xfrm>
          <a:prstGeom prst="rect">
            <a:avLst/>
          </a:prstGeom>
        </p:spPr>
        <p:txBody>
          <a:bodyPr wrap="square">
            <a:spAutoFit/>
          </a:bodyPr>
          <a:lstStyle/>
          <a:p>
            <a:pPr>
              <a:lnSpc>
                <a:spcPts val="1800"/>
              </a:lnSpc>
            </a:pPr>
            <a:r>
              <a:rPr lang="es-ES" sz="1200">
                <a:solidFill>
                  <a:schemeClr val="tx1">
                    <a:lumMod val="75000"/>
                    <a:lumOff val="25000"/>
                  </a:schemeClr>
                </a:solidFill>
                <a:latin typeface="Montserrat Medium" pitchFamily="2" charset="77"/>
                <a:ea typeface="Times New Roman" panose="02020603050405020304" pitchFamily="18" charset="0"/>
                <a:cs typeface="Times New Roman" panose="02020603050405020304" pitchFamily="18" charset="0"/>
              </a:rPr>
              <a:t>GLOSARIO DE TÉRMINOS</a:t>
            </a:r>
            <a:endParaRPr lang="es-ES" sz="1200">
              <a:solidFill>
                <a:schemeClr val="tx1">
                  <a:lumMod val="75000"/>
                  <a:lumOff val="25000"/>
                </a:schemeClr>
              </a:solidFill>
              <a:latin typeface="Montserrat Medium" pitchFamily="2" charset="77"/>
            </a:endParaRPr>
          </a:p>
        </p:txBody>
      </p:sp>
      <p:sp>
        <p:nvSpPr>
          <p:cNvPr id="12" name="Rectángulo 11">
            <a:extLst>
              <a:ext uri="{FF2B5EF4-FFF2-40B4-BE49-F238E27FC236}">
                <a16:creationId xmlns:a16="http://schemas.microsoft.com/office/drawing/2014/main" id="{A25B502C-2F73-C6A3-1A2E-CA1B444BF5DE}"/>
              </a:ext>
            </a:extLst>
          </p:cNvPr>
          <p:cNvSpPr/>
          <p:nvPr/>
        </p:nvSpPr>
        <p:spPr>
          <a:xfrm>
            <a:off x="638668" y="1478984"/>
            <a:ext cx="4928755" cy="4182748"/>
          </a:xfrm>
          <a:prstGeom prst="rect">
            <a:avLst/>
          </a:prstGeom>
        </p:spPr>
        <p:txBody>
          <a:bodyPr wrap="square">
            <a:spAutoFit/>
          </a:bodyPr>
          <a:lstStyle/>
          <a:p>
            <a:pPr>
              <a:lnSpc>
                <a:spcPts val="1600"/>
              </a:lnSpc>
            </a:pPr>
            <a:r>
              <a:rPr lang="es-ES" sz="1200" b="1" kern="0">
                <a:solidFill>
                  <a:srgbClr val="F5272D"/>
                </a:solidFill>
                <a:latin typeface="Montserrat SemiBold" pitchFamily="2" charset="77"/>
                <a:cs typeface="Times New Roman" panose="02020603050405020304" pitchFamily="18" charset="0"/>
              </a:rPr>
              <a:t>Turista</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Persona que se desplaza a un destino distinto de su residencia habitual, pernoctando al menos una noche</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F5272D"/>
                </a:solidFill>
                <a:latin typeface="Montserrat SemiBold" pitchFamily="2" charset="77"/>
                <a:cs typeface="Times New Roman" panose="02020603050405020304" pitchFamily="18" charset="0"/>
              </a:rPr>
              <a:t>Visitante</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Persona que viaja a un destino distinto del de su residencia habitual pero no pernocta</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F5272D"/>
                </a:solidFill>
                <a:latin typeface="Montserrat SemiBold" pitchFamily="2" charset="77"/>
                <a:cs typeface="Times New Roman" panose="02020603050405020304" pitchFamily="18" charset="0"/>
              </a:rPr>
              <a:t>Turismo nacional / interno</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Conjunto de turistas y visitantes residentes en España que se desplazan a otro punto dentro del territorio nacional</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F5272D"/>
                </a:solidFill>
                <a:latin typeface="Montserrat SemiBold" pitchFamily="2" charset="77"/>
                <a:cs typeface="Times New Roman" panose="02020603050405020304" pitchFamily="18" charset="0"/>
              </a:rPr>
              <a:t>Turismo internacional / receptor</a:t>
            </a:r>
            <a:br>
              <a:rPr lang="es-ES" sz="1200" b="1" kern="0">
                <a:solidFill>
                  <a:srgbClr val="F5272D"/>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Turistas procedentes de otros países que visitan el destino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F5272D"/>
                </a:solidFill>
                <a:latin typeface="Montserrat SemiBold" pitchFamily="2" charset="77"/>
                <a:cs typeface="Times New Roman" panose="02020603050405020304" pitchFamily="18" charset="0"/>
              </a:rPr>
              <a:t>Afluencia turística</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Número total de llegadas de turistas y visitantes a un destino en un periodo de tiempo determinado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
        <p:nvSpPr>
          <p:cNvPr id="3" name="Rectángulo 2">
            <a:extLst>
              <a:ext uri="{FF2B5EF4-FFF2-40B4-BE49-F238E27FC236}">
                <a16:creationId xmlns:a16="http://schemas.microsoft.com/office/drawing/2014/main" id="{4794660A-F323-7E0B-E13F-C388316A964C}"/>
              </a:ext>
            </a:extLst>
          </p:cNvPr>
          <p:cNvSpPr/>
          <p:nvPr/>
        </p:nvSpPr>
        <p:spPr>
          <a:xfrm>
            <a:off x="6345562" y="1478984"/>
            <a:ext cx="5462125" cy="4593117"/>
          </a:xfrm>
          <a:prstGeom prst="rect">
            <a:avLst/>
          </a:prstGeom>
        </p:spPr>
        <p:txBody>
          <a:bodyPr wrap="square">
            <a:spAutoFit/>
          </a:bodyPr>
          <a:lstStyle/>
          <a:p>
            <a:pPr>
              <a:lnSpc>
                <a:spcPts val="1600"/>
              </a:lnSpc>
            </a:pPr>
            <a:r>
              <a:rPr lang="es-ES" sz="1200" b="1" kern="0">
                <a:solidFill>
                  <a:srgbClr val="F5272D"/>
                </a:solidFill>
                <a:latin typeface="Montserrat SemiBold" pitchFamily="2" charset="77"/>
                <a:cs typeface="Times New Roman" panose="02020603050405020304" pitchFamily="18" charset="0"/>
              </a:rPr>
              <a:t>Mercados emisores</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Países o regiones de origen de los turistas que viajan hacia un destino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F5272D"/>
                </a:solidFill>
                <a:latin typeface="Montserrat SemiBold" pitchFamily="2" charset="77"/>
                <a:cs typeface="Times New Roman" panose="02020603050405020304" pitchFamily="18" charset="0"/>
              </a:rPr>
              <a:t>Gasto medio por persona/estancia</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Promedio del gasto total realizado por cada turista durante toda su estancia en el destino</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F5272D"/>
                </a:solidFill>
                <a:latin typeface="Montserrat SemiBold" pitchFamily="2" charset="77"/>
                <a:cs typeface="Times New Roman" panose="02020603050405020304" pitchFamily="18" charset="0"/>
              </a:rPr>
              <a:t>Gasto medio por ticket/compra</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Promedio de gasto realizado en cada transacción o compra individual</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a:solidFill>
                  <a:srgbClr val="F5272D"/>
                </a:solidFill>
                <a:latin typeface="Montserrat SemiBold" pitchFamily="2" charset="77"/>
                <a:cs typeface="Times New Roman" panose="02020603050405020304" pitchFamily="18" charset="0"/>
              </a:rPr>
              <a:t>Tarifa media diaria (ADR)</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Ingreso medio obtenido por habitación ocupada en un día</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r>
              <a:rPr lang="es-ES" sz="1200" b="1" kern="0" err="1">
                <a:solidFill>
                  <a:srgbClr val="F5272D"/>
                </a:solidFill>
                <a:latin typeface="Montserrat SemiBold" pitchFamily="2" charset="77"/>
                <a:cs typeface="Times New Roman" panose="02020603050405020304" pitchFamily="18" charset="0"/>
              </a:rPr>
              <a:t>RevPAR</a:t>
            </a:r>
            <a:r>
              <a:rPr lang="es-ES" sz="1200" b="1" kern="0">
                <a:solidFill>
                  <a:srgbClr val="F5272D"/>
                </a:solidFill>
                <a:latin typeface="Montserrat SemiBold" pitchFamily="2" charset="77"/>
                <a:cs typeface="Times New Roman" panose="02020603050405020304" pitchFamily="18" charset="0"/>
              </a:rPr>
              <a:t> (</a:t>
            </a:r>
            <a:r>
              <a:rPr lang="es-ES" sz="1200" b="1" kern="0" err="1">
                <a:solidFill>
                  <a:srgbClr val="F5272D"/>
                </a:solidFill>
                <a:latin typeface="Montserrat SemiBold" pitchFamily="2" charset="77"/>
                <a:cs typeface="Times New Roman" panose="02020603050405020304" pitchFamily="18" charset="0"/>
              </a:rPr>
              <a:t>Revenue</a:t>
            </a:r>
            <a:r>
              <a:rPr lang="es-ES" sz="1200" b="1" kern="0">
                <a:solidFill>
                  <a:srgbClr val="F5272D"/>
                </a:solidFill>
                <a:latin typeface="Montserrat SemiBold" pitchFamily="2" charset="77"/>
                <a:cs typeface="Times New Roman" panose="02020603050405020304" pitchFamily="18" charset="0"/>
              </a:rPr>
              <a:t> per </a:t>
            </a:r>
            <a:r>
              <a:rPr lang="es-ES" sz="1200" b="1" kern="0" err="1">
                <a:solidFill>
                  <a:srgbClr val="F5272D"/>
                </a:solidFill>
                <a:latin typeface="Montserrat SemiBold" pitchFamily="2" charset="77"/>
                <a:cs typeface="Times New Roman" panose="02020603050405020304" pitchFamily="18" charset="0"/>
              </a:rPr>
              <a:t>Available</a:t>
            </a:r>
            <a:r>
              <a:rPr lang="es-ES" sz="1200" b="1" kern="0">
                <a:solidFill>
                  <a:srgbClr val="F5272D"/>
                </a:solidFill>
                <a:latin typeface="Montserrat SemiBold" pitchFamily="2" charset="77"/>
                <a:cs typeface="Times New Roman" panose="02020603050405020304" pitchFamily="18" charset="0"/>
              </a:rPr>
              <a:t> </a:t>
            </a:r>
            <a:r>
              <a:rPr lang="es-ES" sz="1200" b="1" kern="0" err="1">
                <a:solidFill>
                  <a:srgbClr val="F5272D"/>
                </a:solidFill>
                <a:latin typeface="Montserrat SemiBold" pitchFamily="2" charset="77"/>
                <a:cs typeface="Times New Roman" panose="02020603050405020304" pitchFamily="18" charset="0"/>
              </a:rPr>
              <a:t>Room</a:t>
            </a:r>
            <a:r>
              <a:rPr lang="es-ES" sz="1200" b="1" kern="0">
                <a:solidFill>
                  <a:srgbClr val="F5272D"/>
                </a:solidFill>
                <a:latin typeface="Montserrat SemiBold" pitchFamily="2" charset="77"/>
                <a:cs typeface="Times New Roman" panose="02020603050405020304" pitchFamily="18" charset="0"/>
              </a:rPr>
              <a:t>)</a:t>
            </a:r>
            <a:br>
              <a:rPr lang="es-ES" sz="1200" b="1" kern="0">
                <a:solidFill>
                  <a:schemeClr val="tx1">
                    <a:lumMod val="75000"/>
                    <a:lumOff val="25000"/>
                  </a:schemeClr>
                </a:solidFill>
                <a:latin typeface="Montserrat SemiBold" pitchFamily="2" charset="77"/>
                <a:cs typeface="Times New Roman" panose="02020603050405020304" pitchFamily="18" charset="0"/>
              </a:rPr>
            </a:br>
            <a:r>
              <a:rPr lang="es-ES" sz="1200" kern="0">
                <a:solidFill>
                  <a:schemeClr val="tx1">
                    <a:lumMod val="75000"/>
                    <a:lumOff val="25000"/>
                  </a:schemeClr>
                </a:solidFill>
                <a:latin typeface="Montserrat" pitchFamily="2" charset="77"/>
                <a:cs typeface="Times New Roman" panose="02020603050405020304" pitchFamily="18" charset="0"/>
              </a:rPr>
              <a:t>Ingreso medio generado por habitación disponible, independientemente de su ocupación</a:t>
            </a: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a:p>
            <a:pPr>
              <a:lnSpc>
                <a:spcPts val="1600"/>
              </a:lnSpc>
            </a:pPr>
            <a:endParaRPr lang="es-ES" sz="1200" kern="0">
              <a:solidFill>
                <a:schemeClr val="tx1">
                  <a:lumMod val="75000"/>
                  <a:lumOff val="25000"/>
                </a:schemeClr>
              </a:solidFill>
              <a:latin typeface="Montserrat" pitchFamily="2" charset="77"/>
              <a:cs typeface="Times New Roman" panose="02020603050405020304" pitchFamily="18" charset="0"/>
            </a:endParaRPr>
          </a:p>
        </p:txBody>
      </p:sp>
    </p:spTree>
    <p:extLst>
      <p:ext uri="{BB962C8B-B14F-4D97-AF65-F5344CB8AC3E}">
        <p14:creationId xmlns:p14="http://schemas.microsoft.com/office/powerpoint/2010/main" val="208903403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6296</Words>
  <Application>Microsoft Office PowerPoint</Application>
  <PresentationFormat>Panorámica</PresentationFormat>
  <Paragraphs>394</Paragraphs>
  <Slides>49</Slides>
  <Notes>13</Notes>
  <HiddenSlides>0</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49</vt:i4>
      </vt:variant>
    </vt:vector>
  </HeadingPairs>
  <TitlesOfParts>
    <vt:vector size="61" baseType="lpstr">
      <vt:lpstr>Aptos</vt:lpstr>
      <vt:lpstr>Aptos Display</vt:lpstr>
      <vt:lpstr>Arial</vt:lpstr>
      <vt:lpstr>Calibri</vt:lpstr>
      <vt:lpstr>Calibri Light</vt:lpstr>
      <vt:lpstr>DM Serif Display</vt:lpstr>
      <vt:lpstr>Montserrat</vt:lpstr>
      <vt:lpstr>Montserrat Medium</vt:lpstr>
      <vt:lpstr>Montserrat SemiBold</vt:lpstr>
      <vt:lpstr>Symbol</vt:lpstr>
      <vt:lpstr>Tema de Office</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Maite</dc:creator>
  <cp:lastModifiedBy>Pere Lloret</cp:lastModifiedBy>
  <cp:revision>2</cp:revision>
  <dcterms:created xsi:type="dcterms:W3CDTF">2025-09-15T10:04:52Z</dcterms:created>
  <dcterms:modified xsi:type="dcterms:W3CDTF">2026-03-15T11:18:50Z</dcterms:modified>
</cp:coreProperties>
</file>