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  <p:sldMasterId id="2147483660" r:id="rId2"/>
  </p:sldMasterIdLst>
  <p:notesMasterIdLst>
    <p:notesMasterId r:id="rId12"/>
  </p:notesMasterIdLst>
  <p:sldIdLst>
    <p:sldId id="256" r:id="rId3"/>
    <p:sldId id="257" r:id="rId4"/>
    <p:sldId id="303" r:id="rId5"/>
    <p:sldId id="261" r:id="rId6"/>
    <p:sldId id="306" r:id="rId7"/>
    <p:sldId id="308" r:id="rId8"/>
    <p:sldId id="309" r:id="rId9"/>
    <p:sldId id="271" r:id="rId10"/>
    <p:sldId id="301" r:id="rId11"/>
  </p:sldIdLst>
  <p:sldSz cx="12192000" cy="6858000"/>
  <p:notesSz cx="6858000" cy="9144000"/>
  <p:embeddedFontLst>
    <p:embeddedFont>
      <p:font typeface="DM Serif Display" pitchFamily="2" charset="0"/>
      <p:regular r:id="rId13"/>
      <p:italic r:id="rId14"/>
    </p:embeddedFont>
    <p:embeddedFont>
      <p:font typeface="Montserrat" pitchFamily="2" charset="0"/>
      <p:regular r:id="rId15"/>
      <p:bold r:id="rId16"/>
      <p:italic r:id="rId17"/>
      <p:boldItalic r:id="rId18"/>
    </p:embeddedFont>
    <p:embeddedFont>
      <p:font typeface="Montserrat Medium" pitchFamily="2" charset="0"/>
      <p:regular r:id="rId19"/>
      <p:italic r:id="rId20"/>
    </p:embeddedFont>
    <p:embeddedFont>
      <p:font typeface="Montserrat SemiBold" pitchFamily="2" charset="0"/>
      <p:regular r:id="rId21"/>
      <p:bold r:id="rId22"/>
      <p:italic r:id="rId23"/>
      <p:boldItalic r:id="rId24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296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orient="horz" pos="822" userDrawn="1">
          <p15:clr>
            <a:srgbClr val="A4A3A4"/>
          </p15:clr>
        </p15:guide>
        <p15:guide id="5" orient="horz" pos="3861" userDrawn="1">
          <p15:clr>
            <a:srgbClr val="A4A3A4"/>
          </p15:clr>
        </p15:guide>
        <p15:guide id="6" pos="7355" userDrawn="1">
          <p15:clr>
            <a:srgbClr val="A4A3A4"/>
          </p15:clr>
        </p15:guide>
        <p15:guide id="7" orient="horz" pos="1321" userDrawn="1">
          <p15:clr>
            <a:srgbClr val="A4A3A4"/>
          </p15:clr>
        </p15:guide>
        <p15:guide id="8" orient="horz" pos="4042" userDrawn="1">
          <p15:clr>
            <a:srgbClr val="A4A3A4"/>
          </p15:clr>
        </p15:guide>
        <p15:guide id="9" orient="horz" pos="33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B42"/>
    <a:srgbClr val="71CFA9"/>
    <a:srgbClr val="95C21E"/>
    <a:srgbClr val="04A2B6"/>
    <a:srgbClr val="27649F"/>
    <a:srgbClr val="009AA7"/>
    <a:srgbClr val="76B463"/>
    <a:srgbClr val="5176B8"/>
    <a:srgbClr val="04145E"/>
    <a:srgbClr val="F0C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5C8B9C-3ED9-4FAE-8B86-54F30592F8F5}" v="6" dt="2026-02-26T19:34:03.3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00"/>
    <p:restoredTop sz="94615"/>
  </p:normalViewPr>
  <p:slideViewPr>
    <p:cSldViewPr snapToGrid="0">
      <p:cViewPr varScale="1">
        <p:scale>
          <a:sx n="97" d="100"/>
          <a:sy n="97" d="100"/>
        </p:scale>
        <p:origin x="1278" y="306"/>
      </p:cViewPr>
      <p:guideLst>
        <p:guide orient="horz" pos="2160"/>
        <p:guide pos="3296"/>
        <p:guide pos="3840"/>
        <p:guide orient="horz" pos="822"/>
        <p:guide orient="horz" pos="3861"/>
        <p:guide pos="7355"/>
        <p:guide orient="horz" pos="1321"/>
        <p:guide orient="horz" pos="4042"/>
        <p:guide orient="horz" pos="33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21" d="100"/>
          <a:sy n="121" d="100"/>
        </p:scale>
        <p:origin x="448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9.fntdata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2.fntdata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re Lloret" userId="7910d177-ec33-4b32-99c4-b326d77bd835" providerId="ADAL" clId="{74AC9018-D152-48B8-8D96-46F61B528486}"/>
    <pc:docChg chg="custSel delSld modSld">
      <pc:chgData name="Pere Lloret" userId="7910d177-ec33-4b32-99c4-b326d77bd835" providerId="ADAL" clId="{74AC9018-D152-48B8-8D96-46F61B528486}" dt="2026-02-26T19:34:28.633" v="32" actId="20577"/>
      <pc:docMkLst>
        <pc:docMk/>
      </pc:docMkLst>
      <pc:sldChg chg="modSp mod">
        <pc:chgData name="Pere Lloret" userId="7910d177-ec33-4b32-99c4-b326d77bd835" providerId="ADAL" clId="{74AC9018-D152-48B8-8D96-46F61B528486}" dt="2026-02-26T19:34:28.633" v="32" actId="20577"/>
        <pc:sldMkLst>
          <pc:docMk/>
          <pc:sldMk cId="800913457" sldId="256"/>
        </pc:sldMkLst>
        <pc:spChg chg="mod">
          <ac:chgData name="Pere Lloret" userId="7910d177-ec33-4b32-99c4-b326d77bd835" providerId="ADAL" clId="{74AC9018-D152-48B8-8D96-46F61B528486}" dt="2026-02-26T19:34:28.633" v="32" actId="20577"/>
          <ac:spMkLst>
            <pc:docMk/>
            <pc:sldMk cId="800913457" sldId="256"/>
            <ac:spMk id="15" creationId="{B8E12F29-AEFF-1648-82DB-A98A3FE6A988}"/>
          </ac:spMkLst>
        </pc:spChg>
      </pc:sldChg>
      <pc:sldChg chg="modSp mod">
        <pc:chgData name="Pere Lloret" userId="7910d177-ec33-4b32-99c4-b326d77bd835" providerId="ADAL" clId="{74AC9018-D152-48B8-8D96-46F61B528486}" dt="2026-02-26T19:34:03.369" v="29"/>
        <pc:sldMkLst>
          <pc:docMk/>
          <pc:sldMk cId="2119977243" sldId="271"/>
        </pc:sldMkLst>
        <pc:spChg chg="mod">
          <ac:chgData name="Pere Lloret" userId="7910d177-ec33-4b32-99c4-b326d77bd835" providerId="ADAL" clId="{74AC9018-D152-48B8-8D96-46F61B528486}" dt="2026-02-26T19:33:57.894" v="26" actId="20577"/>
          <ac:spMkLst>
            <pc:docMk/>
            <pc:sldMk cId="2119977243" sldId="271"/>
            <ac:spMk id="10" creationId="{E5585DDF-1162-364C-93D6-09AB71A7B6BE}"/>
          </ac:spMkLst>
        </pc:spChg>
        <pc:spChg chg="mod">
          <ac:chgData name="Pere Lloret" userId="7910d177-ec33-4b32-99c4-b326d77bd835" providerId="ADAL" clId="{74AC9018-D152-48B8-8D96-46F61B528486}" dt="2026-02-26T19:34:03.369" v="29"/>
          <ac:spMkLst>
            <pc:docMk/>
            <pc:sldMk cId="2119977243" sldId="271"/>
            <ac:spMk id="11" creationId="{0B5F7BD0-6DBF-5447-8B94-BC6D8E119919}"/>
          </ac:spMkLst>
        </pc:spChg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892734568" sldId="272"/>
        </pc:sldMkLst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3094545759" sldId="273"/>
        </pc:sldMkLst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942651061" sldId="276"/>
        </pc:sldMkLst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2142191861" sldId="278"/>
        </pc:sldMkLst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1794738533" sldId="282"/>
        </pc:sldMkLst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634277675" sldId="283"/>
        </pc:sldMkLst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1022500339" sldId="286"/>
        </pc:sldMkLst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108231340" sldId="288"/>
        </pc:sldMkLst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3390521575" sldId="289"/>
        </pc:sldMkLst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2642786589" sldId="296"/>
        </pc:sldMkLst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2089034034" sldId="298"/>
        </pc:sldMkLst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2641551217" sldId="299"/>
        </pc:sldMkLst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289521520" sldId="300"/>
        </pc:sldMkLst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1709473529" sldId="302"/>
        </pc:sldMkLst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693038405" sldId="304"/>
        </pc:sldMkLst>
      </pc:sldChg>
      <pc:sldChg chg="del">
        <pc:chgData name="Pere Lloret" userId="7910d177-ec33-4b32-99c4-b326d77bd835" providerId="ADAL" clId="{74AC9018-D152-48B8-8D96-46F61B528486}" dt="2026-02-26T19:34:19.977" v="30" actId="2696"/>
        <pc:sldMkLst>
          <pc:docMk/>
          <pc:sldMk cId="42374455" sldId="305"/>
        </pc:sldMkLst>
      </pc:sldChg>
      <pc:sldChg chg="addSp delSp modSp mod">
        <pc:chgData name="Pere Lloret" userId="7910d177-ec33-4b32-99c4-b326d77bd835" providerId="ADAL" clId="{74AC9018-D152-48B8-8D96-46F61B528486}" dt="2026-02-26T19:33:01.207" v="10" actId="20577"/>
        <pc:sldMkLst>
          <pc:docMk/>
          <pc:sldMk cId="206667791" sldId="306"/>
        </pc:sldMkLst>
        <pc:spChg chg="add del mod">
          <ac:chgData name="Pere Lloret" userId="7910d177-ec33-4b32-99c4-b326d77bd835" providerId="ADAL" clId="{74AC9018-D152-48B8-8D96-46F61B528486}" dt="2026-02-26T19:32:54.341" v="1" actId="478"/>
          <ac:spMkLst>
            <pc:docMk/>
            <pc:sldMk cId="206667791" sldId="306"/>
            <ac:spMk id="2" creationId="{20B23717-D6C5-9BB7-1F89-0A1B436A610C}"/>
          </ac:spMkLst>
        </pc:spChg>
        <pc:spChg chg="add mod">
          <ac:chgData name="Pere Lloret" userId="7910d177-ec33-4b32-99c4-b326d77bd835" providerId="ADAL" clId="{74AC9018-D152-48B8-8D96-46F61B528486}" dt="2026-02-26T19:33:01.207" v="10" actId="20577"/>
          <ac:spMkLst>
            <pc:docMk/>
            <pc:sldMk cId="206667791" sldId="306"/>
            <ac:spMk id="3" creationId="{A9DB14CB-C47F-34CC-BE48-2C3A5CC95EBD}"/>
          </ac:spMkLst>
        </pc:spChg>
        <pc:spChg chg="del">
          <ac:chgData name="Pere Lloret" userId="7910d177-ec33-4b32-99c4-b326d77bd835" providerId="ADAL" clId="{74AC9018-D152-48B8-8D96-46F61B528486}" dt="2026-02-26T19:32:57.270" v="2" actId="478"/>
          <ac:spMkLst>
            <pc:docMk/>
            <pc:sldMk cId="206667791" sldId="306"/>
            <ac:spMk id="12" creationId="{51C9942B-0A87-DD42-BC8A-4FE73ECEC448}"/>
          </ac:spMkLst>
        </pc:spChg>
      </pc:sldChg>
      <pc:sldChg chg="del">
        <pc:chgData name="Pere Lloret" userId="7910d177-ec33-4b32-99c4-b326d77bd835" providerId="ADAL" clId="{74AC9018-D152-48B8-8D96-46F61B528486}" dt="2026-02-26T19:33:12.972" v="11" actId="2696"/>
        <pc:sldMkLst>
          <pc:docMk/>
          <pc:sldMk cId="2554342447" sldId="307"/>
        </pc:sldMkLst>
      </pc:sldChg>
      <pc:sldChg chg="modSp mod">
        <pc:chgData name="Pere Lloret" userId="7910d177-ec33-4b32-99c4-b326d77bd835" providerId="ADAL" clId="{74AC9018-D152-48B8-8D96-46F61B528486}" dt="2026-02-26T19:33:29.184" v="19" actId="20577"/>
        <pc:sldMkLst>
          <pc:docMk/>
          <pc:sldMk cId="3955974490" sldId="308"/>
        </pc:sldMkLst>
        <pc:spChg chg="mod">
          <ac:chgData name="Pere Lloret" userId="7910d177-ec33-4b32-99c4-b326d77bd835" providerId="ADAL" clId="{74AC9018-D152-48B8-8D96-46F61B528486}" dt="2026-02-26T19:33:29.184" v="19" actId="20577"/>
          <ac:spMkLst>
            <pc:docMk/>
            <pc:sldMk cId="3955974490" sldId="308"/>
            <ac:spMk id="12" creationId="{51C9942B-0A87-DD42-BC8A-4FE73ECEC448}"/>
          </ac:spMkLst>
        </pc:spChg>
      </pc:sldChg>
      <pc:sldChg chg="modSp mod">
        <pc:chgData name="Pere Lloret" userId="7910d177-ec33-4b32-99c4-b326d77bd835" providerId="ADAL" clId="{74AC9018-D152-48B8-8D96-46F61B528486}" dt="2026-02-26T19:33:41.351" v="23"/>
        <pc:sldMkLst>
          <pc:docMk/>
          <pc:sldMk cId="4162713853" sldId="309"/>
        </pc:sldMkLst>
        <pc:spChg chg="mod">
          <ac:chgData name="Pere Lloret" userId="7910d177-ec33-4b32-99c4-b326d77bd835" providerId="ADAL" clId="{74AC9018-D152-48B8-8D96-46F61B528486}" dt="2026-02-26T19:33:41.351" v="23"/>
          <ac:spMkLst>
            <pc:docMk/>
            <pc:sldMk cId="4162713853" sldId="309"/>
            <ac:spMk id="12" creationId="{51C9942B-0A87-DD42-BC8A-4FE73ECEC448}"/>
          </ac:spMkLst>
        </pc:spChg>
      </pc:sldChg>
      <pc:sldChg chg="del">
        <pc:chgData name="Pere Lloret" userId="7910d177-ec33-4b32-99c4-b326d77bd835" providerId="ADAL" clId="{74AC9018-D152-48B8-8D96-46F61B528486}" dt="2026-02-26T19:33:49.591" v="24" actId="2696"/>
        <pc:sldMkLst>
          <pc:docMk/>
          <pc:sldMk cId="3703214421" sldId="310"/>
        </pc:sldMkLst>
      </pc:sldChg>
      <pc:sldChg chg="del">
        <pc:chgData name="Pere Lloret" userId="7910d177-ec33-4b32-99c4-b326d77bd835" providerId="ADAL" clId="{74AC9018-D152-48B8-8D96-46F61B528486}" dt="2026-02-26T19:33:49.591" v="24" actId="2696"/>
        <pc:sldMkLst>
          <pc:docMk/>
          <pc:sldMk cId="3667758382" sldId="311"/>
        </pc:sldMkLst>
      </pc:sldChg>
      <pc:sldChg chg="del">
        <pc:chgData name="Pere Lloret" userId="7910d177-ec33-4b32-99c4-b326d77bd835" providerId="ADAL" clId="{74AC9018-D152-48B8-8D96-46F61B528486}" dt="2026-02-26T19:33:49.591" v="24" actId="2696"/>
        <pc:sldMkLst>
          <pc:docMk/>
          <pc:sldMk cId="4096904241" sldId="31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Nacional</c:v>
                </c:pt>
              </c:strCache>
            </c:strRef>
          </c:tx>
          <c:spPr>
            <a:solidFill>
              <a:srgbClr val="04A2B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 Medium" pitchFamily="2" charset="77"/>
                    <a:ea typeface="+mn-ea"/>
                    <a:cs typeface="+mn-cs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Hoja1!$B$2:$B$7</c:f>
              <c:numCache>
                <c:formatCode>#,##0</c:formatCode>
                <c:ptCount val="6"/>
                <c:pt idx="0">
                  <c:v>13208</c:v>
                </c:pt>
                <c:pt idx="1">
                  <c:v>31624</c:v>
                </c:pt>
                <c:pt idx="2">
                  <c:v>31223</c:v>
                </c:pt>
                <c:pt idx="3">
                  <c:v>29340</c:v>
                </c:pt>
                <c:pt idx="4">
                  <c:v>35862</c:v>
                </c:pt>
                <c:pt idx="5">
                  <c:v>35412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0C-A44B-9A3E-D03477D00EF6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Columna2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Hoja1!$C$2:$C$7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1-A40C-A44B-9A3E-D03477D00EF6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Columna3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Hoja1!$D$2:$D$7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2-A40C-A44B-9A3E-D03477D00E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overlap val="100"/>
        <c:axId val="1752506752"/>
        <c:axId val="1752508384"/>
      </c:barChart>
      <c:catAx>
        <c:axId val="1752506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ea typeface="+mn-ea"/>
                <a:cs typeface="+mn-cs"/>
              </a:defRPr>
            </a:pPr>
            <a:endParaRPr lang="es-ES"/>
          </a:p>
        </c:txPr>
        <c:crossAx val="1752508384"/>
        <c:crosses val="autoZero"/>
        <c:auto val="1"/>
        <c:lblAlgn val="ctr"/>
        <c:lblOffset val="100"/>
        <c:noMultiLvlLbl val="0"/>
      </c:catAx>
      <c:valAx>
        <c:axId val="175250838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1752506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Internacional</c:v>
                </c:pt>
              </c:strCache>
            </c:strRef>
          </c:tx>
          <c:spPr>
            <a:solidFill>
              <a:srgbClr val="95C21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ontserrat Medium" pitchFamily="2" charset="77"/>
                    <a:ea typeface="+mn-ea"/>
                    <a:cs typeface="+mn-cs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Hoja1!$B$2:$B$7</c:f>
              <c:numCache>
                <c:formatCode>#,##0</c:formatCode>
                <c:ptCount val="6"/>
                <c:pt idx="0">
                  <c:v>50224</c:v>
                </c:pt>
                <c:pt idx="1">
                  <c:v>37769</c:v>
                </c:pt>
                <c:pt idx="2">
                  <c:v>61687</c:v>
                </c:pt>
                <c:pt idx="3">
                  <c:v>83055</c:v>
                </c:pt>
                <c:pt idx="4">
                  <c:v>103733</c:v>
                </c:pt>
                <c:pt idx="5">
                  <c:v>103908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75-BA49-8E7C-7D747273B70F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Columna2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Hoja1!$C$2:$C$7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1-6E75-BA49-8E7C-7D747273B70F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Columna3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Hoja1!$D$2:$D$7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2-6E75-BA49-8E7C-7D747273B7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overlap val="100"/>
        <c:axId val="1752506752"/>
        <c:axId val="1752508384"/>
      </c:barChart>
      <c:catAx>
        <c:axId val="1752506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ea typeface="+mn-ea"/>
                <a:cs typeface="+mn-cs"/>
              </a:defRPr>
            </a:pPr>
            <a:endParaRPr lang="es-ES"/>
          </a:p>
        </c:txPr>
        <c:crossAx val="1752508384"/>
        <c:crosses val="autoZero"/>
        <c:auto val="1"/>
        <c:lblAlgn val="ctr"/>
        <c:lblOffset val="100"/>
        <c:noMultiLvlLbl val="0"/>
      </c:catAx>
      <c:valAx>
        <c:axId val="175250838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1752506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Nacional</c:v>
                </c:pt>
              </c:strCache>
            </c:strRef>
          </c:tx>
          <c:spPr>
            <a:solidFill>
              <a:srgbClr val="04A2B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04A2B6"/>
                    </a:solidFill>
                    <a:latin typeface="Montserrat Medium" pitchFamily="2" charset="77"/>
                    <a:ea typeface="+mn-ea"/>
                    <a:cs typeface="+mn-cs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Hoja1!$A$2:$A$7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Hoja1!$B$2:$B$7</c:f>
              <c:numCache>
                <c:formatCode>#,##0</c:formatCode>
                <c:ptCount val="6"/>
                <c:pt idx="0">
                  <c:v>13208</c:v>
                </c:pt>
                <c:pt idx="1">
                  <c:v>31624</c:v>
                </c:pt>
                <c:pt idx="2">
                  <c:v>31223</c:v>
                </c:pt>
                <c:pt idx="3">
                  <c:v>29340</c:v>
                </c:pt>
                <c:pt idx="4">
                  <c:v>35862</c:v>
                </c:pt>
                <c:pt idx="5">
                  <c:v>35412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05-714B-8870-CAB7D9B7314C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Internacional</c:v>
                </c:pt>
              </c:strCache>
            </c:strRef>
          </c:tx>
          <c:spPr>
            <a:solidFill>
              <a:srgbClr val="95C21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95C21E"/>
                    </a:solidFill>
                    <a:latin typeface="Montserrat Medium" pitchFamily="2" charset="77"/>
                    <a:ea typeface="+mn-ea"/>
                    <a:cs typeface="+mn-cs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Hoja1!$A$2:$A$7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Hoja1!$C$2:$C$7</c:f>
              <c:numCache>
                <c:formatCode>#,##0</c:formatCode>
                <c:ptCount val="6"/>
                <c:pt idx="0">
                  <c:v>50224</c:v>
                </c:pt>
                <c:pt idx="1">
                  <c:v>37769</c:v>
                </c:pt>
                <c:pt idx="2">
                  <c:v>61687</c:v>
                </c:pt>
                <c:pt idx="3">
                  <c:v>83055</c:v>
                </c:pt>
                <c:pt idx="4">
                  <c:v>103733</c:v>
                </c:pt>
                <c:pt idx="5">
                  <c:v>103908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05-714B-8870-CAB7D9B7314C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Afluencia total</c:v>
                </c:pt>
              </c:strCache>
            </c:strRef>
          </c:tx>
          <c:spPr>
            <a:solidFill>
              <a:srgbClr val="27649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27649F"/>
                    </a:solidFill>
                    <a:latin typeface="Montserrat Medium" pitchFamily="2" charset="77"/>
                    <a:ea typeface="+mn-ea"/>
                    <a:cs typeface="+mn-cs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Hoja1!$A$2:$A$7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Hoja1!$D$2:$D$7</c:f>
              <c:numCache>
                <c:formatCode>#,##0</c:formatCode>
                <c:ptCount val="6"/>
                <c:pt idx="0">
                  <c:v>63432</c:v>
                </c:pt>
                <c:pt idx="1">
                  <c:v>69393</c:v>
                </c:pt>
                <c:pt idx="2">
                  <c:v>92910</c:v>
                </c:pt>
                <c:pt idx="3">
                  <c:v>112395</c:v>
                </c:pt>
                <c:pt idx="4">
                  <c:v>139595</c:v>
                </c:pt>
                <c:pt idx="5">
                  <c:v>139320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E05-714B-8870-CAB7D9B7314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6"/>
        <c:overlap val="-90"/>
        <c:axId val="1752506752"/>
        <c:axId val="1752508384"/>
      </c:barChart>
      <c:catAx>
        <c:axId val="17525067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cap="all" spc="120" normalizeH="0" baseline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ea typeface="+mn-ea"/>
                <a:cs typeface="+mn-cs"/>
              </a:defRPr>
            </a:pPr>
            <a:endParaRPr lang="es-ES"/>
          </a:p>
        </c:txPr>
        <c:crossAx val="1752508384"/>
        <c:crosses val="autoZero"/>
        <c:auto val="1"/>
        <c:lblAlgn val="ctr"/>
        <c:lblOffset val="100"/>
        <c:noMultiLvlLbl val="0"/>
      </c:catAx>
      <c:valAx>
        <c:axId val="175250838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1752506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403791018285971"/>
          <c:y val="0.13663237435316952"/>
          <c:w val="0.86112784109493967"/>
          <c:h val="0.79649697538779163"/>
        </c:manualLayout>
      </c:layout>
      <c:lineChart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2022</c:v>
                </c:pt>
              </c:strCache>
            </c:strRef>
          </c:tx>
          <c:spPr>
            <a:ln w="25400" cap="rnd">
              <a:solidFill>
                <a:srgbClr val="27649F"/>
              </a:solidFill>
              <a:prstDash val="sysDot"/>
              <a:round/>
            </a:ln>
            <a:effectLst/>
          </c:spPr>
          <c:marker>
            <c:symbol val="circle"/>
            <c:size val="4"/>
            <c:spPr>
              <a:solidFill>
                <a:srgbClr val="27649F"/>
              </a:solidFill>
              <a:ln w="9525">
                <a:solidFill>
                  <a:srgbClr val="27649F"/>
                </a:solidFill>
              </a:ln>
              <a:effectLst/>
            </c:spPr>
          </c:marker>
          <c:cat>
            <c:strRef>
              <c:f>Hoja1!$A$2:$A$13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Hoja1!$B$2:$B$13</c:f>
              <c:numCache>
                <c:formatCode>#,##0</c:formatCode>
                <c:ptCount val="12"/>
                <c:pt idx="0">
                  <c:v>1407</c:v>
                </c:pt>
                <c:pt idx="1">
                  <c:v>1119</c:v>
                </c:pt>
                <c:pt idx="2">
                  <c:v>982</c:v>
                </c:pt>
                <c:pt idx="3">
                  <c:v>2997</c:v>
                </c:pt>
                <c:pt idx="4">
                  <c:v>2365</c:v>
                </c:pt>
                <c:pt idx="5">
                  <c:v>3441</c:v>
                </c:pt>
                <c:pt idx="6">
                  <c:v>5078</c:v>
                </c:pt>
                <c:pt idx="7">
                  <c:v>5283</c:v>
                </c:pt>
                <c:pt idx="8">
                  <c:v>2836</c:v>
                </c:pt>
                <c:pt idx="9">
                  <c:v>1491</c:v>
                </c:pt>
                <c:pt idx="10">
                  <c:v>1211</c:v>
                </c:pt>
                <c:pt idx="11">
                  <c:v>1130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85C-E641-A149-D96BD218E4AC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2023</c:v>
                </c:pt>
              </c:strCache>
            </c:strRef>
          </c:tx>
          <c:spPr>
            <a:ln w="25400" cap="rnd">
              <a:solidFill>
                <a:srgbClr val="95C21E"/>
              </a:solidFill>
              <a:prstDash val="sysDot"/>
              <a:round/>
            </a:ln>
            <a:effectLst/>
          </c:spPr>
          <c:marker>
            <c:symbol val="circle"/>
            <c:size val="4"/>
            <c:spPr>
              <a:solidFill>
                <a:srgbClr val="95C21E"/>
              </a:solidFill>
              <a:ln w="9525">
                <a:solidFill>
                  <a:srgbClr val="95C21E"/>
                </a:solidFill>
              </a:ln>
              <a:effectLst/>
            </c:spPr>
          </c:marker>
          <c:cat>
            <c:strRef>
              <c:f>Hoja1!$A$2:$A$13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Hoja1!$C$2:$C$13</c:f>
              <c:numCache>
                <c:formatCode>#,##0</c:formatCode>
                <c:ptCount val="12"/>
                <c:pt idx="0">
                  <c:v>1470</c:v>
                </c:pt>
                <c:pt idx="1">
                  <c:v>833</c:v>
                </c:pt>
                <c:pt idx="2">
                  <c:v>1317</c:v>
                </c:pt>
                <c:pt idx="3">
                  <c:v>3296</c:v>
                </c:pt>
                <c:pt idx="4">
                  <c:v>2649</c:v>
                </c:pt>
                <c:pt idx="5">
                  <c:v>2759</c:v>
                </c:pt>
                <c:pt idx="6">
                  <c:v>6670</c:v>
                </c:pt>
                <c:pt idx="7">
                  <c:v>7669</c:v>
                </c:pt>
                <c:pt idx="8">
                  <c:v>3164</c:v>
                </c:pt>
                <c:pt idx="9">
                  <c:v>2294</c:v>
                </c:pt>
                <c:pt idx="10">
                  <c:v>1783</c:v>
                </c:pt>
                <c:pt idx="11">
                  <c:v>1958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85C-E641-A149-D96BD218E4AC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2024</c:v>
                </c:pt>
              </c:strCache>
            </c:strRef>
          </c:tx>
          <c:spPr>
            <a:ln w="25400" cap="rnd">
              <a:solidFill>
                <a:srgbClr val="04A2B6"/>
              </a:solidFill>
              <a:prstDash val="sysDot"/>
              <a:round/>
            </a:ln>
            <a:effectLst/>
          </c:spPr>
          <c:marker>
            <c:symbol val="circle"/>
            <c:size val="4"/>
            <c:spPr>
              <a:solidFill>
                <a:srgbClr val="04A2B6"/>
              </a:solidFill>
              <a:ln w="9525">
                <a:solidFill>
                  <a:srgbClr val="04A2B6"/>
                </a:solidFill>
              </a:ln>
              <a:effectLst/>
            </c:spPr>
          </c:marker>
          <c:cat>
            <c:strRef>
              <c:f>Hoja1!$A$2:$A$13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Hoja1!$D$2:$D$13</c:f>
              <c:numCache>
                <c:formatCode>#,##0</c:formatCode>
                <c:ptCount val="12"/>
                <c:pt idx="0">
                  <c:v>2428</c:v>
                </c:pt>
                <c:pt idx="1">
                  <c:v>1652</c:v>
                </c:pt>
                <c:pt idx="2">
                  <c:v>2308</c:v>
                </c:pt>
                <c:pt idx="3">
                  <c:v>3449</c:v>
                </c:pt>
                <c:pt idx="4">
                  <c:v>2659</c:v>
                </c:pt>
                <c:pt idx="5">
                  <c:v>3211</c:v>
                </c:pt>
                <c:pt idx="6">
                  <c:v>5539</c:v>
                </c:pt>
                <c:pt idx="7">
                  <c:v>6994</c:v>
                </c:pt>
                <c:pt idx="8">
                  <c:v>3278</c:v>
                </c:pt>
                <c:pt idx="9">
                  <c:v>1343</c:v>
                </c:pt>
                <c:pt idx="10" formatCode="General">
                  <c:v>883</c:v>
                </c:pt>
                <c:pt idx="11">
                  <c:v>1665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85C-E641-A149-D96BD218E4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52506752"/>
        <c:axId val="1752508384"/>
      </c:lineChart>
      <c:catAx>
        <c:axId val="1752506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Montserrat SemiBold" pitchFamily="2" charset="77"/>
                <a:ea typeface="+mn-ea"/>
                <a:cs typeface="+mn-cs"/>
              </a:defRPr>
            </a:pPr>
            <a:endParaRPr lang="es-ES"/>
          </a:p>
        </c:txPr>
        <c:crossAx val="1752508384"/>
        <c:crosses val="autoZero"/>
        <c:auto val="1"/>
        <c:lblAlgn val="ctr"/>
        <c:lblOffset val="100"/>
        <c:noMultiLvlLbl val="0"/>
      </c:catAx>
      <c:valAx>
        <c:axId val="17525083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2">
                    <a:lumMod val="75000"/>
                  </a:schemeClr>
                </a:solidFill>
                <a:latin typeface="Montserrat Medium" pitchFamily="2" charset="77"/>
                <a:ea typeface="+mn-ea"/>
                <a:cs typeface="+mn-cs"/>
              </a:defRPr>
            </a:pPr>
            <a:endParaRPr lang="es-ES"/>
          </a:p>
        </c:txPr>
        <c:crossAx val="17525067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1136887250993083"/>
          <c:y val="2.0458845517953225E-3"/>
          <c:w val="0.88632378811931234"/>
          <c:h val="6.64057578168507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07A26F-784E-7F42-834D-0E6D7273BEEA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A88507-070F-6E43-B3F5-F34F7AEA089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5556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A88507-070F-6E43-B3F5-F34F7AEA0891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8887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E6EFF949-F758-974B-B668-77FD70F28728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  <a:alpha val="0"/>
                </a:schemeClr>
              </a:gs>
              <a:gs pos="0">
                <a:srgbClr val="009AA7">
                  <a:alpha val="40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370AE5EE-A9C3-4B4D-A52E-0DCF008F99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8571"/>
          <a:stretch/>
        </p:blipFill>
        <p:spPr>
          <a:xfrm>
            <a:off x="0" y="0"/>
            <a:ext cx="2612571" cy="6858000"/>
          </a:xfrm>
          <a:prstGeom prst="rect">
            <a:avLst/>
          </a:prstGeom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20C6D742-E2A2-0C45-9596-717DC794ECB6}"/>
              </a:ext>
            </a:extLst>
          </p:cNvPr>
          <p:cNvGrpSpPr/>
          <p:nvPr userDrawn="1"/>
        </p:nvGrpSpPr>
        <p:grpSpPr>
          <a:xfrm>
            <a:off x="371142" y="6122731"/>
            <a:ext cx="1930011" cy="255101"/>
            <a:chOff x="371142" y="6122731"/>
            <a:chExt cx="1930011" cy="255101"/>
          </a:xfrm>
        </p:grpSpPr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0B783E35-9B10-E74D-B342-3D1914A60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1142" y="6124135"/>
              <a:ext cx="800069" cy="253697"/>
            </a:xfrm>
            <a:prstGeom prst="rect">
              <a:avLst/>
            </a:prstGeom>
          </p:spPr>
        </p:pic>
        <p:pic>
          <p:nvPicPr>
            <p:cNvPr id="17" name="Gráfico 16">
              <a:extLst>
                <a:ext uri="{FF2B5EF4-FFF2-40B4-BE49-F238E27FC236}">
                  <a16:creationId xmlns:a16="http://schemas.microsoft.com/office/drawing/2014/main" id="{234EA441-67AA-A647-881E-AAAD4CE97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51036" y="6122731"/>
              <a:ext cx="950117" cy="254256"/>
            </a:xfrm>
            <a:prstGeom prst="rect">
              <a:avLst/>
            </a:prstGeom>
          </p:spPr>
        </p:pic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28DD2DB-6EB2-E047-A690-19DC5E706481}"/>
              </a:ext>
            </a:extLst>
          </p:cNvPr>
          <p:cNvSpPr/>
          <p:nvPr userDrawn="1"/>
        </p:nvSpPr>
        <p:spPr>
          <a:xfrm>
            <a:off x="3089227" y="430374"/>
            <a:ext cx="62295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000" b="1" dirty="0">
                <a:solidFill>
                  <a:schemeClr val="bg2">
                    <a:lumMod val="75000"/>
                  </a:schemeClr>
                </a:solidFill>
                <a:latin typeface="Montserrat SemiBold" pitchFamily="2" charset="77"/>
              </a:rPr>
              <a:t>INFORME DE ANÁLISIS DE DATOS | SMART OFFICE DIPUTACIÓ DE VALÈNCIA | ENE – DIC 25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F33B0896-D2A3-FB42-9772-F603F0FF34B7}"/>
              </a:ext>
            </a:extLst>
          </p:cNvPr>
          <p:cNvCxnSpPr>
            <a:cxnSpLocks/>
          </p:cNvCxnSpPr>
          <p:nvPr userDrawn="1"/>
        </p:nvCxnSpPr>
        <p:spPr>
          <a:xfrm>
            <a:off x="3175085" y="692311"/>
            <a:ext cx="848351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1411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EA7FC328-EDBF-FE4F-A7D1-59696ED5F0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2" r="53929"/>
          <a:stretch/>
        </p:blipFill>
        <p:spPr>
          <a:xfrm>
            <a:off x="-1" y="0"/>
            <a:ext cx="5617029" cy="6858000"/>
          </a:xfrm>
          <a:prstGeom prst="rect">
            <a:avLst/>
          </a:prstGeom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20C6D742-E2A2-0C45-9596-717DC794ECB6}"/>
              </a:ext>
            </a:extLst>
          </p:cNvPr>
          <p:cNvGrpSpPr/>
          <p:nvPr userDrawn="1"/>
        </p:nvGrpSpPr>
        <p:grpSpPr>
          <a:xfrm>
            <a:off x="464926" y="6122731"/>
            <a:ext cx="1930011" cy="255101"/>
            <a:chOff x="371142" y="6122731"/>
            <a:chExt cx="1930011" cy="255101"/>
          </a:xfrm>
        </p:grpSpPr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0B783E35-9B10-E74D-B342-3D1914A60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1142" y="6124135"/>
              <a:ext cx="800069" cy="253697"/>
            </a:xfrm>
            <a:prstGeom prst="rect">
              <a:avLst/>
            </a:prstGeom>
          </p:spPr>
        </p:pic>
        <p:pic>
          <p:nvPicPr>
            <p:cNvPr id="17" name="Gráfico 16">
              <a:extLst>
                <a:ext uri="{FF2B5EF4-FFF2-40B4-BE49-F238E27FC236}">
                  <a16:creationId xmlns:a16="http://schemas.microsoft.com/office/drawing/2014/main" id="{234EA441-67AA-A647-881E-AAAD4CE97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51036" y="6122731"/>
              <a:ext cx="950117" cy="254256"/>
            </a:xfrm>
            <a:prstGeom prst="rect">
              <a:avLst/>
            </a:prstGeom>
          </p:spPr>
        </p:pic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28DD2DB-6EB2-E047-A690-19DC5E706481}"/>
              </a:ext>
            </a:extLst>
          </p:cNvPr>
          <p:cNvSpPr/>
          <p:nvPr userDrawn="1"/>
        </p:nvSpPr>
        <p:spPr>
          <a:xfrm>
            <a:off x="5821603" y="378615"/>
            <a:ext cx="62295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000" b="1" dirty="0">
                <a:solidFill>
                  <a:schemeClr val="bg2">
                    <a:lumMod val="75000"/>
                  </a:schemeClr>
                </a:solidFill>
                <a:latin typeface="Montserrat SemiBold" pitchFamily="2" charset="77"/>
              </a:rPr>
              <a:t>INFORME DE ANÁLISIS DE DATOS | SMART OFFICE DIPUTACIÓ DE VALÈNCIA | ENE – DIC 25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F33B0896-D2A3-FB42-9772-F603F0FF34B7}"/>
              </a:ext>
            </a:extLst>
          </p:cNvPr>
          <p:cNvCxnSpPr>
            <a:cxnSpLocks/>
          </p:cNvCxnSpPr>
          <p:nvPr userDrawn="1"/>
        </p:nvCxnSpPr>
        <p:spPr>
          <a:xfrm>
            <a:off x="6090484" y="692311"/>
            <a:ext cx="5568116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7456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41F36F4C-0F77-CD42-AFF4-DD9470EA70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" r="-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ABB43BDF-C85F-274A-B957-5A95745A7701}"/>
              </a:ext>
            </a:extLst>
          </p:cNvPr>
          <p:cNvSpPr/>
          <p:nvPr userDrawn="1"/>
        </p:nvSpPr>
        <p:spPr>
          <a:xfrm>
            <a:off x="650828" y="430374"/>
            <a:ext cx="62295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000" b="1" dirty="0">
                <a:solidFill>
                  <a:schemeClr val="bg1"/>
                </a:solidFill>
                <a:latin typeface="Montserrat SemiBold" pitchFamily="2" charset="77"/>
              </a:rPr>
              <a:t>INFORME DE ANÁLISIS DE DATOS | SMART OFFICE DIPUTACIÓ DE VALÈNCIA | ENE – DIC 25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2B20494-2225-4049-B190-6A378E833FE5}"/>
              </a:ext>
            </a:extLst>
          </p:cNvPr>
          <p:cNvCxnSpPr>
            <a:cxnSpLocks/>
          </p:cNvCxnSpPr>
          <p:nvPr userDrawn="1"/>
        </p:nvCxnSpPr>
        <p:spPr>
          <a:xfrm>
            <a:off x="743962" y="692311"/>
            <a:ext cx="1070948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upo 13">
            <a:extLst>
              <a:ext uri="{FF2B5EF4-FFF2-40B4-BE49-F238E27FC236}">
                <a16:creationId xmlns:a16="http://schemas.microsoft.com/office/drawing/2014/main" id="{F6B2B9FE-60BC-5F43-BBD6-BAD9BDFEC1FF}"/>
              </a:ext>
            </a:extLst>
          </p:cNvPr>
          <p:cNvGrpSpPr/>
          <p:nvPr userDrawn="1"/>
        </p:nvGrpSpPr>
        <p:grpSpPr>
          <a:xfrm>
            <a:off x="699388" y="6122731"/>
            <a:ext cx="1930011" cy="255101"/>
            <a:chOff x="371142" y="6122731"/>
            <a:chExt cx="1930011" cy="255101"/>
          </a:xfrm>
        </p:grpSpPr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9B7DF8F1-164B-1342-9E3F-32457075B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1142" y="6124135"/>
              <a:ext cx="800069" cy="253697"/>
            </a:xfrm>
            <a:prstGeom prst="rect">
              <a:avLst/>
            </a:prstGeom>
          </p:spPr>
        </p:pic>
        <p:pic>
          <p:nvPicPr>
            <p:cNvPr id="16" name="Gráfico 15">
              <a:extLst>
                <a:ext uri="{FF2B5EF4-FFF2-40B4-BE49-F238E27FC236}">
                  <a16:creationId xmlns:a16="http://schemas.microsoft.com/office/drawing/2014/main" id="{82FAD779-EB8A-DC4B-A859-3749A6F40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51036" y="6122731"/>
              <a:ext cx="950117" cy="2542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75631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1B0B03-3A96-AA47-96A5-367F5A9FE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153541-B962-8049-9C9A-20835E89D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55D430-5020-9F46-A754-F18E0D845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BB93-E753-1B47-980C-5C2927CF442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2960E7-5107-4C49-ADA5-CD8E30B41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5BDB9-793F-6149-8D38-40881A8A9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F0C0E-6B36-FE41-995F-17DD5FD4E3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3137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902E80-DC37-6B46-958B-5536BCE89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5089E4-58B4-7E4D-A389-499D103027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473EEF9-E661-CE4F-B898-BFF4B0F7C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C9FD7B-E7BC-024E-8E4C-97E35A43E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BB93-E753-1B47-980C-5C2927CF442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18E8A4-F883-FE46-BB08-B7FADDBEA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6F053D-D9CF-4C4B-90BA-FE303C544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F0C0E-6B36-FE41-995F-17DD5FD4E3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5381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5EB26C-9185-D844-A60E-E8C8741A6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8E8FC9-A795-0A48-8FC5-DA012865E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B8DCBDF-DFD5-A647-8BB5-28EFE9C84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BBDB481-BE36-CF4F-A261-C6214ECA74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06CE9F1-8E87-2F43-9ACC-F3E29C7483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359626-EB36-DD41-8F9D-A94C2F0E3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BB93-E753-1B47-980C-5C2927CF442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EBD3DC-8F7C-1B4A-9E96-954C94505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639BFEA-7E1A-5A45-ABC9-B29F559DD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F0C0E-6B36-FE41-995F-17DD5FD4E3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6888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198808-6418-A64B-B456-048963DC5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48FC616-58C0-BE4A-8A6E-52A233FB8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BB93-E753-1B47-980C-5C2927CF442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55D42DC-0930-9B48-8220-DA083C263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ED36BC8-DF8D-6F46-BA2B-D7FC39E5A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F0C0E-6B36-FE41-995F-17DD5FD4E3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3387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9CD30FE-B598-4F43-9F49-D9887D3D8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BB93-E753-1B47-980C-5C2927CF442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F7803AC-ACB0-3740-A0CE-DB432E41A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D7ECD6-9EAE-E540-A12C-724331C0D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F0C0E-6B36-FE41-995F-17DD5FD4E3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0253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B91668-213C-BE4F-B83F-2AF6E3BA0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D8A542-AF38-1E4A-96DD-39BB46F34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8054C6-7BE0-4941-A80F-AE934AFFFC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D9E9BE9-8613-FD42-B5EC-0FB5D2D92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BB93-E753-1B47-980C-5C2927CF442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D809AA1-D8C7-674B-82ED-332E39E17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E5BE6F-375C-EA4B-B4AE-7ED1D0F0F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F0C0E-6B36-FE41-995F-17DD5FD4E3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1728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ABAC5B-59F2-E94A-9E98-618CBB0FA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275C564-3375-784F-953B-C043A16049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67E6B11-4EF3-FB49-A277-3CCDF1783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8D4422-9A64-C84C-ADA2-80E875A3B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BB93-E753-1B47-980C-5C2927CF442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253235-4A3C-DC45-BEF3-388A4DAD7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ED6E7E-393C-3C49-808D-CC4F7AAE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F0C0E-6B36-FE41-995F-17DD5FD4E3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4139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E164D2-DE86-9B47-922A-0961D6C98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F4AA528-67AB-594F-8F49-6D7F282CD7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24EE8E-17CC-744E-8AB2-427171929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BB93-E753-1B47-980C-5C2927CF442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EF750D-A8EF-B740-8975-5E85BB3F8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C788B9-20C3-BF45-88E6-7D8D1BB60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F0C0E-6B36-FE41-995F-17DD5FD4E3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7525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9DDBCDB-A05F-3745-9388-85749F6DFC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E7C68E1-8A15-E343-B37F-03713632C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A0C50C-973E-D84F-AE7B-CEDAC8D6F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4BB93-E753-1B47-980C-5C2927CF442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4EFFF4-07DB-4C43-9D59-F865EDD82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CD5D0D-CAFA-B545-9330-E56BCFF0E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F0C0E-6B36-FE41-995F-17DD5FD4E3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09137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796904-3761-164A-CB13-E49930F53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6C1A17-0F07-3F1D-E7FE-8DBAE8AF2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1EAFB1-E85E-B2E9-48C5-6F6DCF8C1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C3AB5-09D1-44F9-A73B-901079EB8B7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16C656-E288-C7E1-E7AF-7CD8FBE76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53D6F6-0299-3894-747C-6CB3AC842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C7DF3-F41E-46B6-99FF-B8924323D1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9541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67A90-90EA-24A6-83E8-A0E436BA4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51677F-484A-7C57-8910-1FC78EB97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BEDC19-1263-D133-19F9-879E9FBF1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C3AB5-09D1-44F9-A73B-901079EB8B7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B0D96B-2DCB-5E16-310E-2750DF078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2A6306-863C-DCE3-B012-B047CA0F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C7DF3-F41E-46B6-99FF-B8924323D1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81833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2EF9DB-C3DD-0B2C-9B6D-4EB8D2963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5242A52-D0E5-B1EB-3505-392574AB8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014CDF-75DC-98D8-E368-BF79BD7DE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C3AB5-09D1-44F9-A73B-901079EB8B7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9FC60F-A664-AE9F-9EE4-C65044FF3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63CAD1-7C2F-8EE5-BB93-73159C029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C7DF3-F41E-46B6-99FF-B8924323D1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25659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1E8-0335-7484-8784-D28233A56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22E319-D3B2-CE31-72AC-4947E041CB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A9E43DE-29C2-E6D1-8321-14BE7EB06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8CED10-D4A4-D862-862B-8A0102C0E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C3AB5-09D1-44F9-A73B-901079EB8B7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0173BBF-74C0-1475-879A-40A31E558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B543645-5C62-1ADF-35C4-24B8CACA2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C7DF3-F41E-46B6-99FF-B8924323D1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05518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1CB4CD-DB36-38F5-551B-B24B15CEB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061DAFF-061A-2768-5084-26148A671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0AE0E2-32CE-6CED-3CA7-B5A61202B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236FC0C-DE3E-7F48-9A63-32EDECA007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BE2E3D2-DB3E-E48D-E819-4C38BD2B8E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970E9DC-6207-AB08-6196-8AA7C0E48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C3AB5-09D1-44F9-A73B-901079EB8B7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EE47B46-A906-039D-DD97-2CDA017A5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2E3AE35-4E9D-97F5-80BF-29172F592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C7DF3-F41E-46B6-99FF-B8924323D1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06814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9ABF35-F0CC-783D-4B10-6F3ADCC4C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AEAA89-7378-E606-690D-84282CD4E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C3AB5-09D1-44F9-A73B-901079EB8B7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FC9EB78-B4C8-C921-7E98-06A2449DD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4956437-53FC-04A1-9CA4-CCBAC1407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C7DF3-F41E-46B6-99FF-B8924323D1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81221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A9CFF1C-FB7F-499B-CEF7-BE26FFBE9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C3AB5-09D1-44F9-A73B-901079EB8B7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C3ED19F-53EE-6AC8-8F87-6EB4A6A5A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AD167E-80D1-E542-3FF0-7A6158BDA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C7DF3-F41E-46B6-99FF-B8924323D1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8178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3F72A4-8530-EA3C-21EE-50DA297AB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50BE9D-DAFF-1BA7-D48B-346E26FA7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79CEC10-9821-0301-F36C-5C6CE3752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F739328-245C-8696-F875-85EC1CCD9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C3AB5-09D1-44F9-A73B-901079EB8B7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2D4AB1-76F6-731A-D181-264166D35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5EE67A-A795-1653-0CC1-D5039BAAE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C7DF3-F41E-46B6-99FF-B8924323D1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26990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12DB89-EFCE-193F-C879-1989DBA53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562A323-0968-5A9B-4678-4D53F93B60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30E1E5E-2979-5ABE-4A1C-B3947936EB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F553CE0-7E1C-24CB-5426-9C3F86D9E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C3AB5-09D1-44F9-A73B-901079EB8B7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8E5EC3-B336-1B0B-8A1F-D0E26934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DA69C6F-217E-3704-7092-7987EEBD6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C7DF3-F41E-46B6-99FF-B8924323D1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90289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978135-C256-8BD3-DE47-1A588730B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8B77F9A-62AA-1500-BF40-FEE290BA2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611238-6756-6397-1B32-D9F19606E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C3AB5-09D1-44F9-A73B-901079EB8B7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54FB5A-4D94-A104-3A51-29C3B94D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D9EAB8-31CB-4D56-365C-ECC477C73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C7DF3-F41E-46B6-99FF-B8924323D1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2535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532C61C-8238-2E16-8AC3-02E38D919B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B4BB3E2-6358-E995-7A18-DC02B715D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216D6F-C9D2-780B-FBC3-B4E87009E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C3AB5-09D1-44F9-A73B-901079EB8B7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70DE7B-522C-B215-A4CE-442DB8807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3E1EF3-FB6C-DD87-A9A9-97E44B032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C7DF3-F41E-46B6-99FF-B8924323D1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4397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2774093-B221-A849-AB39-C6711070C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DB75B39-C2EE-7D4B-A2E7-210EA5356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AF8A87-1D60-284E-97D8-C4C0E30448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4BB93-E753-1B47-980C-5C2927CF442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EEB2B9-7607-1242-99FD-176D0D2678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35ECEB-679F-A343-BE65-D72E4D46B5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F0C0E-6B36-FE41-995F-17DD5FD4E3C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1390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2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52B9769-6CA2-F143-40A3-97BBE1490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03E919-B5BD-F587-D7A3-97F3289E2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DA5140-DFE3-6577-B958-E8AFCEA6D7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0C3AB5-09D1-44F9-A73B-901079EB8B73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8F6DB3-1D9C-73D9-C8F3-375AFCEBB3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1E8CEE-A073-F425-0719-C9D4F7081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8C7DF3-F41E-46B6-99FF-B8924323D11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8881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>
            <a:extLst>
              <a:ext uri="{FF2B5EF4-FFF2-40B4-BE49-F238E27FC236}">
                <a16:creationId xmlns:a16="http://schemas.microsoft.com/office/drawing/2014/main" id="{3493FEE5-4870-BE47-9754-6E18BB9CF6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3429000"/>
            <a:ext cx="12191999" cy="34290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0A0CD324-6DCD-BA49-A073-078E28E36644}"/>
              </a:ext>
            </a:extLst>
          </p:cNvPr>
          <p:cNvSpPr txBox="1"/>
          <p:nvPr/>
        </p:nvSpPr>
        <p:spPr>
          <a:xfrm>
            <a:off x="5406190" y="1427748"/>
            <a:ext cx="6336632" cy="1709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6200"/>
              </a:lnSpc>
            </a:pPr>
            <a:r>
              <a:rPr lang="es-ES" sz="6000" dirty="0">
                <a:solidFill>
                  <a:srgbClr val="003B42"/>
                </a:solidFill>
                <a:latin typeface="DM Serif Display" pitchFamily="2" charset="0"/>
              </a:rPr>
              <a:t>Informe de análisis de datos 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4095491-979B-8B42-8429-26E7A11D640F}"/>
              </a:ext>
            </a:extLst>
          </p:cNvPr>
          <p:cNvSpPr/>
          <p:nvPr/>
        </p:nvSpPr>
        <p:spPr>
          <a:xfrm>
            <a:off x="5406190" y="3713150"/>
            <a:ext cx="4660250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500" dirty="0">
                <a:solidFill>
                  <a:schemeClr val="bg1"/>
                </a:solidFill>
                <a:latin typeface="Montserrat Medium" pitchFamily="2" charset="77"/>
              </a:rPr>
              <a:t>SMART OFFICE </a:t>
            </a:r>
            <a:br>
              <a:rPr lang="es-ES" sz="2500" dirty="0">
                <a:solidFill>
                  <a:schemeClr val="bg1"/>
                </a:solidFill>
                <a:latin typeface="Montserrat Medium" pitchFamily="2" charset="77"/>
              </a:rPr>
            </a:br>
            <a:r>
              <a:rPr lang="es-ES" sz="2500" dirty="0">
                <a:solidFill>
                  <a:schemeClr val="bg1"/>
                </a:solidFill>
                <a:latin typeface="Montserrat Medium" pitchFamily="2" charset="77"/>
              </a:rPr>
              <a:t>DIPUTACIÓN DE VALÉNCIA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8E12F29-AEFF-1648-82DB-A98A3FE6A988}"/>
              </a:ext>
            </a:extLst>
          </p:cNvPr>
          <p:cNvSpPr/>
          <p:nvPr/>
        </p:nvSpPr>
        <p:spPr>
          <a:xfrm>
            <a:off x="10428394" y="476672"/>
            <a:ext cx="114165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" sz="1200" b="1">
                <a:solidFill>
                  <a:srgbClr val="04145E"/>
                </a:solidFill>
                <a:latin typeface="Montserrat SemiBold" pitchFamily="2" charset="77"/>
              </a:rPr>
              <a:t>ENE– DIC 25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CB952129-EAF5-D649-B757-DF7A3A13A482}"/>
              </a:ext>
            </a:extLst>
          </p:cNvPr>
          <p:cNvGrpSpPr/>
          <p:nvPr/>
        </p:nvGrpSpPr>
        <p:grpSpPr>
          <a:xfrm>
            <a:off x="5392870" y="5685182"/>
            <a:ext cx="3420501" cy="452108"/>
            <a:chOff x="371142" y="6122731"/>
            <a:chExt cx="1930011" cy="255101"/>
          </a:xfrm>
        </p:grpSpPr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D64FA567-A495-784F-9357-2A8E7113F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1142" y="6124135"/>
              <a:ext cx="800069" cy="253697"/>
            </a:xfrm>
            <a:prstGeom prst="rect">
              <a:avLst/>
            </a:prstGeom>
          </p:spPr>
        </p:pic>
        <p:pic>
          <p:nvPicPr>
            <p:cNvPr id="16" name="Gráfico 15">
              <a:extLst>
                <a:ext uri="{FF2B5EF4-FFF2-40B4-BE49-F238E27FC236}">
                  <a16:creationId xmlns:a16="http://schemas.microsoft.com/office/drawing/2014/main" id="{66214A28-8633-3B48-BA5B-16108F80A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51036" y="6122731"/>
              <a:ext cx="950117" cy="254256"/>
            </a:xfrm>
            <a:prstGeom prst="rect">
              <a:avLst/>
            </a:prstGeom>
          </p:spPr>
        </p:pic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B93466DD-87CE-BC44-9C40-B3F1ACBDC3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6952" y="1624083"/>
            <a:ext cx="3650919" cy="383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13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B6F25006-079D-9F4E-A6E4-46DFA4DA8B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74207D7-0887-9E41-83A9-E3CE80D740FD}"/>
              </a:ext>
            </a:extLst>
          </p:cNvPr>
          <p:cNvSpPr txBox="1"/>
          <p:nvPr/>
        </p:nvSpPr>
        <p:spPr>
          <a:xfrm>
            <a:off x="731838" y="1460636"/>
            <a:ext cx="5364162" cy="914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6200"/>
              </a:lnSpc>
            </a:pPr>
            <a:r>
              <a:rPr lang="es-ES" sz="6000" dirty="0">
                <a:solidFill>
                  <a:schemeClr val="bg1"/>
                </a:solidFill>
                <a:latin typeface="DM Serif Display" pitchFamily="2" charset="0"/>
              </a:rPr>
              <a:t>Índice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AE3194D-BA72-7946-B686-0B4FF8284B2D}"/>
              </a:ext>
            </a:extLst>
          </p:cNvPr>
          <p:cNvSpPr/>
          <p:nvPr/>
        </p:nvSpPr>
        <p:spPr>
          <a:xfrm>
            <a:off x="731838" y="3865364"/>
            <a:ext cx="2276201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</a:pPr>
            <a:r>
              <a:rPr lang="es-ES" sz="8200" dirty="0">
                <a:solidFill>
                  <a:schemeClr val="bg1"/>
                </a:solidFill>
                <a:latin typeface="DM Serif Display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  <a:p>
            <a:pPr algn="ctr">
              <a:lnSpc>
                <a:spcPts val="2600"/>
              </a:lnSpc>
              <a:spcBef>
                <a:spcPts val="2000"/>
              </a:spcBef>
            </a:pPr>
            <a:r>
              <a:rPr lang="es-ES" sz="2400" dirty="0">
                <a:solidFill>
                  <a:schemeClr val="bg1"/>
                </a:solidFill>
                <a:latin typeface="Montserrat Medium" pitchFamily="2" charset="77"/>
                <a:cs typeface="Times New Roman" panose="02020603050405020304" pitchFamily="18" charset="0"/>
              </a:rPr>
              <a:t>Afluencia</a:t>
            </a:r>
            <a:br>
              <a:rPr lang="es-ES" sz="2400" dirty="0">
                <a:solidFill>
                  <a:schemeClr val="bg1"/>
                </a:solidFill>
                <a:latin typeface="Montserrat Medium" pitchFamily="2" charset="77"/>
                <a:cs typeface="Times New Roman" panose="02020603050405020304" pitchFamily="18" charset="0"/>
              </a:rPr>
            </a:br>
            <a:r>
              <a:rPr lang="es-ES" sz="2400" dirty="0">
                <a:solidFill>
                  <a:schemeClr val="bg1"/>
                </a:solidFill>
                <a:latin typeface="Montserrat Medium" pitchFamily="2" charset="77"/>
                <a:cs typeface="Times New Roman" panose="02020603050405020304" pitchFamily="18" charset="0"/>
              </a:rPr>
              <a:t>turística</a:t>
            </a:r>
            <a:endParaRPr lang="es-ES" sz="2400" dirty="0">
              <a:solidFill>
                <a:schemeClr val="bg1"/>
              </a:solidFill>
              <a:latin typeface="Montserrat Medium" pitchFamily="2" charset="77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209F9F7-B8EE-9C46-95BA-913323E8363B}"/>
              </a:ext>
            </a:extLst>
          </p:cNvPr>
          <p:cNvSpPr/>
          <p:nvPr/>
        </p:nvSpPr>
        <p:spPr>
          <a:xfrm>
            <a:off x="3727032" y="3865364"/>
            <a:ext cx="2003948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</a:pPr>
            <a:r>
              <a:rPr lang="es-ES" sz="82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  <a:t>02</a:t>
            </a:r>
          </a:p>
          <a:p>
            <a:pPr algn="ctr">
              <a:lnSpc>
                <a:spcPts val="2600"/>
              </a:lnSpc>
              <a:spcBef>
                <a:spcPts val="2000"/>
              </a:spcBef>
            </a:pPr>
            <a:r>
              <a:rPr lang="es-ES" sz="2400" dirty="0">
                <a:solidFill>
                  <a:schemeClr val="bg1"/>
                </a:solidFill>
                <a:latin typeface="Montserrat Medium" pitchFamily="2" charset="77"/>
                <a:cs typeface="Times New Roman" panose="02020603050405020304" pitchFamily="18" charset="0"/>
              </a:rPr>
              <a:t>Gasto</a:t>
            </a:r>
            <a:br>
              <a:rPr lang="es-ES" sz="2400" dirty="0">
                <a:solidFill>
                  <a:schemeClr val="bg1"/>
                </a:solidFill>
                <a:latin typeface="Montserrat Medium" pitchFamily="2" charset="77"/>
                <a:cs typeface="Times New Roman" panose="02020603050405020304" pitchFamily="18" charset="0"/>
              </a:rPr>
            </a:br>
            <a:r>
              <a:rPr lang="es-ES" sz="2400" dirty="0">
                <a:solidFill>
                  <a:schemeClr val="bg1"/>
                </a:solidFill>
                <a:latin typeface="Montserrat Medium" pitchFamily="2" charset="77"/>
                <a:cs typeface="Times New Roman" panose="02020603050405020304" pitchFamily="18" charset="0"/>
              </a:rPr>
              <a:t>turístico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D00B25A-E893-D340-9FC2-AFDE28AAAA50}"/>
              </a:ext>
            </a:extLst>
          </p:cNvPr>
          <p:cNvSpPr/>
          <p:nvPr/>
        </p:nvSpPr>
        <p:spPr>
          <a:xfrm>
            <a:off x="6449973" y="3865364"/>
            <a:ext cx="2003948" cy="1220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</a:pPr>
            <a:r>
              <a:rPr lang="es-ES" sz="82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  <a:t>03</a:t>
            </a:r>
          </a:p>
          <a:p>
            <a:pPr algn="ctr">
              <a:lnSpc>
                <a:spcPts val="2600"/>
              </a:lnSpc>
              <a:spcBef>
                <a:spcPts val="2000"/>
              </a:spcBef>
            </a:pPr>
            <a:r>
              <a:rPr lang="es-ES" sz="2400" dirty="0">
                <a:solidFill>
                  <a:schemeClr val="bg1"/>
                </a:solidFill>
                <a:latin typeface="Montserrat Medium" pitchFamily="2" charset="77"/>
                <a:cs typeface="Times New Roman" panose="02020603050405020304" pitchFamily="18" charset="0"/>
              </a:rPr>
              <a:t>Ocupación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0AC8B80-2FA6-0EFB-03B8-45D522513162}"/>
              </a:ext>
            </a:extLst>
          </p:cNvPr>
          <p:cNvSpPr/>
          <p:nvPr/>
        </p:nvSpPr>
        <p:spPr>
          <a:xfrm>
            <a:off x="9172914" y="3865363"/>
            <a:ext cx="2003948" cy="15542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</a:pPr>
            <a:r>
              <a:rPr lang="es-ES" sz="82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  <a:t>04</a:t>
            </a:r>
          </a:p>
          <a:p>
            <a:pPr algn="ctr">
              <a:lnSpc>
                <a:spcPts val="2600"/>
              </a:lnSpc>
              <a:spcBef>
                <a:spcPts val="2000"/>
              </a:spcBef>
            </a:pPr>
            <a:r>
              <a:rPr lang="es-ES" sz="2400" dirty="0">
                <a:solidFill>
                  <a:schemeClr val="bg1"/>
                </a:solidFill>
                <a:latin typeface="Montserrat Medium" pitchFamily="2" charset="77"/>
                <a:cs typeface="Times New Roman" panose="02020603050405020304" pitchFamily="18" charset="0"/>
              </a:rPr>
              <a:t>Glosario de términos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6E963DA-3627-4643-9A0D-E3DB198EB4F1}"/>
              </a:ext>
            </a:extLst>
          </p:cNvPr>
          <p:cNvCxnSpPr>
            <a:cxnSpLocks/>
          </p:cNvCxnSpPr>
          <p:nvPr/>
        </p:nvCxnSpPr>
        <p:spPr>
          <a:xfrm>
            <a:off x="1882588" y="4532221"/>
            <a:ext cx="82968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ipse 15">
            <a:extLst>
              <a:ext uri="{FF2B5EF4-FFF2-40B4-BE49-F238E27FC236}">
                <a16:creationId xmlns:a16="http://schemas.microsoft.com/office/drawing/2014/main" id="{620F1599-A92D-D945-B7C4-7CB814A1E037}"/>
              </a:ext>
            </a:extLst>
          </p:cNvPr>
          <p:cNvSpPr/>
          <p:nvPr/>
        </p:nvSpPr>
        <p:spPr>
          <a:xfrm>
            <a:off x="1857508" y="4489680"/>
            <a:ext cx="86109" cy="861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EE9C1C4-1E88-DF4E-A65B-0218C95B4041}"/>
              </a:ext>
            </a:extLst>
          </p:cNvPr>
          <p:cNvSpPr/>
          <p:nvPr/>
        </p:nvSpPr>
        <p:spPr>
          <a:xfrm>
            <a:off x="4659940" y="4489680"/>
            <a:ext cx="86109" cy="861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 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6E2A3A38-001C-B04E-8512-7DD2433DC171}"/>
              </a:ext>
            </a:extLst>
          </p:cNvPr>
          <p:cNvSpPr/>
          <p:nvPr/>
        </p:nvSpPr>
        <p:spPr>
          <a:xfrm>
            <a:off x="7396244" y="4489680"/>
            <a:ext cx="86109" cy="861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 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77ADEF3-D508-7944-8B71-F8B0C8E68F62}"/>
              </a:ext>
            </a:extLst>
          </p:cNvPr>
          <p:cNvSpPr/>
          <p:nvPr/>
        </p:nvSpPr>
        <p:spPr>
          <a:xfrm>
            <a:off x="10128448" y="4489680"/>
            <a:ext cx="86109" cy="8610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 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F8E69BE-D07F-3A4F-8882-5E887A5543CA}"/>
              </a:ext>
            </a:extLst>
          </p:cNvPr>
          <p:cNvGrpSpPr/>
          <p:nvPr/>
        </p:nvGrpSpPr>
        <p:grpSpPr>
          <a:xfrm>
            <a:off x="8460336" y="1672046"/>
            <a:ext cx="3215727" cy="425042"/>
            <a:chOff x="371142" y="6122731"/>
            <a:chExt cx="1930011" cy="255101"/>
          </a:xfrm>
        </p:grpSpPr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88E82B3C-48F0-C34B-B79D-EC52F3637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1142" y="6124135"/>
              <a:ext cx="800069" cy="253697"/>
            </a:xfrm>
            <a:prstGeom prst="rect">
              <a:avLst/>
            </a:prstGeom>
          </p:spPr>
        </p:pic>
        <p:pic>
          <p:nvPicPr>
            <p:cNvPr id="20" name="Gráfico 19">
              <a:extLst>
                <a:ext uri="{FF2B5EF4-FFF2-40B4-BE49-F238E27FC236}">
                  <a16:creationId xmlns:a16="http://schemas.microsoft.com/office/drawing/2014/main" id="{84854DF8-2967-5941-BF61-FE80C4C63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51036" y="6122731"/>
              <a:ext cx="950117" cy="2542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06890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1AAF08B-AB44-6547-891C-337A413BF743}"/>
              </a:ext>
            </a:extLst>
          </p:cNvPr>
          <p:cNvSpPr/>
          <p:nvPr/>
        </p:nvSpPr>
        <p:spPr>
          <a:xfrm>
            <a:off x="3072247" y="1638685"/>
            <a:ext cx="3542865" cy="1552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5500"/>
              </a:lnSpc>
            </a:pPr>
            <a:r>
              <a:rPr lang="es-ES" sz="6000" dirty="0">
                <a:solidFill>
                  <a:srgbClr val="003B42"/>
                </a:solidFill>
                <a:latin typeface="DM Serif Display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Afluencia</a:t>
            </a:r>
          </a:p>
          <a:p>
            <a:pPr>
              <a:lnSpc>
                <a:spcPts val="5500"/>
              </a:lnSpc>
            </a:pPr>
            <a:r>
              <a:rPr lang="es-ES" sz="6000" dirty="0">
                <a:solidFill>
                  <a:srgbClr val="003B42"/>
                </a:solidFill>
                <a:latin typeface="DM Serif Display" pitchFamily="2" charset="0"/>
                <a:cs typeface="Times New Roman" panose="02020603050405020304" pitchFamily="18" charset="0"/>
              </a:rPr>
              <a:t>turística</a:t>
            </a:r>
            <a:endParaRPr lang="es-ES" sz="6000" dirty="0">
              <a:solidFill>
                <a:srgbClr val="003B42"/>
              </a:solidFill>
              <a:latin typeface="DM Serif Display" pitchFamily="2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BCF689F-2CE8-BE49-9F6A-A5E2C1489191}"/>
              </a:ext>
            </a:extLst>
          </p:cNvPr>
          <p:cNvSpPr/>
          <p:nvPr/>
        </p:nvSpPr>
        <p:spPr>
          <a:xfrm>
            <a:off x="-1" y="2488517"/>
            <a:ext cx="2600326" cy="1436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</a:pPr>
            <a:r>
              <a:rPr lang="es-ES" sz="25000" dirty="0">
                <a:solidFill>
                  <a:schemeClr val="bg1">
                    <a:alpha val="50000"/>
                  </a:schemeClr>
                </a:solidFill>
                <a:latin typeface="DM Serif Display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s-ES" sz="25000" dirty="0">
              <a:solidFill>
                <a:schemeClr val="bg1">
                  <a:alpha val="50000"/>
                </a:schemeClr>
              </a:solidFill>
              <a:latin typeface="DM Serif Display" pitchFamily="2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2CD379A-46E8-C541-B9EF-6F680410F2FC}"/>
              </a:ext>
            </a:extLst>
          </p:cNvPr>
          <p:cNvSpPr/>
          <p:nvPr/>
        </p:nvSpPr>
        <p:spPr>
          <a:xfrm>
            <a:off x="3116010" y="4903021"/>
            <a:ext cx="8456865" cy="18144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Lorem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ipsum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dolor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sit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amet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,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consectetur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adipiscing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elit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, sed do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eiusmod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tempor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incididunt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ut labore et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dolore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magna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aliqua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. Ut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enim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ad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minim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veniam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, quis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nostrud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exercitation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ullamco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laboris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nisi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ut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aliquip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ex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ea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commodo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consequat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.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Duis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aute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irure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dolor in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reprehenderit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in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voluptate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velit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esse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cillum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dolore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eu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fugiat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nulla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pariatur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.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Excepteur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sint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occaecat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cupidatat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non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proident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, sunt in culpa qui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officia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deserunt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mollit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anim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id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est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laborum</a:t>
            </a:r>
            <a:r>
              <a:rPr lang="es-ES" sz="1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es-ES" sz="1400" kern="1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pto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62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51C9942B-0A87-DD42-BC8A-4FE73ECEC448}"/>
              </a:ext>
            </a:extLst>
          </p:cNvPr>
          <p:cNvSpPr/>
          <p:nvPr/>
        </p:nvSpPr>
        <p:spPr>
          <a:xfrm>
            <a:off x="398584" y="1905696"/>
            <a:ext cx="4833816" cy="192411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15875">
              <a:lnSpc>
                <a:spcPts val="1600"/>
              </a:lnSpc>
              <a:spcAft>
                <a:spcPts val="0"/>
              </a:spcAft>
              <a:buClr>
                <a:srgbClr val="00325C"/>
              </a:buClr>
              <a:buSzPct val="100000"/>
            </a:pPr>
            <a:r>
              <a:rPr lang="es-ES" sz="1150" b="1" kern="0" dirty="0">
                <a:solidFill>
                  <a:schemeClr val="bg1"/>
                </a:solidFill>
                <a:latin typeface="Montserrat SemiBold" pitchFamily="2" charset="77"/>
                <a:cs typeface="Times New Roman" panose="02020603050405020304" pitchFamily="18" charset="0"/>
              </a:rPr>
              <a:t>Turismo nacional  </a:t>
            </a:r>
          </a:p>
          <a:p>
            <a:pPr marL="15875">
              <a:lnSpc>
                <a:spcPts val="1600"/>
              </a:lnSpc>
              <a:spcAft>
                <a:spcPts val="0"/>
              </a:spcAft>
            </a:pP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Lorem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ipsum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dolor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sit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amet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consectetur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adipiscing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elit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sed do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eiusmod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tempor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incididunt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ut labore et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dolore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magna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aliqua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Ut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enim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ad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minim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veniam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quis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nostrud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exercitation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ullamco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laboris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nisi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ut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aliquip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ex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ea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commodo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consequat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Duis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aute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irure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dolor in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reprehenderit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in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voluptate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velit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esse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cillum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dolore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eu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fugiat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nulla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pariatur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Excepteur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sint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occaecat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cupidatat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non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proident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sunt in culpa qui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officia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deserunt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mollit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anim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id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est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laborum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E4DD25C5-9885-1642-9115-ECDE11E0F9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4676771"/>
              </p:ext>
            </p:extLst>
          </p:nvPr>
        </p:nvGraphicFramePr>
        <p:xfrm>
          <a:off x="6096000" y="1207478"/>
          <a:ext cx="5501834" cy="5285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ectángulo 9">
            <a:extLst>
              <a:ext uri="{FF2B5EF4-FFF2-40B4-BE49-F238E27FC236}">
                <a16:creationId xmlns:a16="http://schemas.microsoft.com/office/drawing/2014/main" id="{B9CFB1B3-EEBF-7A4A-95DC-933AEFC8FA3F}"/>
              </a:ext>
            </a:extLst>
          </p:cNvPr>
          <p:cNvSpPr/>
          <p:nvPr/>
        </p:nvSpPr>
        <p:spPr>
          <a:xfrm>
            <a:off x="427652" y="999740"/>
            <a:ext cx="4709123" cy="825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2800"/>
              </a:lnSpc>
              <a:spcAft>
                <a:spcPts val="0"/>
              </a:spcAft>
              <a:buClr>
                <a:srgbClr val="074F6A"/>
              </a:buClr>
            </a:pPr>
            <a:r>
              <a:rPr lang="es-ES" sz="28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  <a:t>Principales resultados </a:t>
            </a:r>
            <a:br>
              <a:rPr lang="es-ES" sz="28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</a:br>
            <a:r>
              <a:rPr lang="es-ES" sz="28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  <a:t>del periodo 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7F32BBA-4526-CC4C-B41D-7DD33EB0F698}"/>
              </a:ext>
            </a:extLst>
          </p:cNvPr>
          <p:cNvSpPr/>
          <p:nvPr/>
        </p:nvSpPr>
        <p:spPr>
          <a:xfrm>
            <a:off x="457200" y="369025"/>
            <a:ext cx="2618510" cy="3034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s-ES" sz="1000" b="1" dirty="0">
                <a:solidFill>
                  <a:schemeClr val="bg1"/>
                </a:solidFill>
                <a:latin typeface="Montserrat Medium" pitchFamily="2" charset="77"/>
                <a:ea typeface="Times New Roman" panose="02020603050405020304" pitchFamily="18" charset="0"/>
                <a:cs typeface="Times New Roman" panose="02020603050405020304" pitchFamily="18" charset="0"/>
              </a:rPr>
              <a:t>AFLUENCIA TURÍSTICA</a:t>
            </a:r>
            <a:endParaRPr lang="es-ES" sz="1000" b="1" dirty="0">
              <a:solidFill>
                <a:schemeClr val="bg1"/>
              </a:solidFill>
              <a:latin typeface="Montserrat Medium" pitchFamily="2" charset="77"/>
            </a:endParaRP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789F6CE8-74DC-7C4F-89DC-B0CE5239A684}"/>
              </a:ext>
            </a:extLst>
          </p:cNvPr>
          <p:cNvCxnSpPr>
            <a:cxnSpLocks/>
          </p:cNvCxnSpPr>
          <p:nvPr/>
        </p:nvCxnSpPr>
        <p:spPr>
          <a:xfrm>
            <a:off x="521677" y="693791"/>
            <a:ext cx="152986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7214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AF8EC7F7-7EB5-3A48-A4FC-34583BCC66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975507"/>
              </p:ext>
            </p:extLst>
          </p:nvPr>
        </p:nvGraphicFramePr>
        <p:xfrm>
          <a:off x="6096000" y="1113692"/>
          <a:ext cx="5501834" cy="5384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Rectángulo 12">
            <a:extLst>
              <a:ext uri="{FF2B5EF4-FFF2-40B4-BE49-F238E27FC236}">
                <a16:creationId xmlns:a16="http://schemas.microsoft.com/office/drawing/2014/main" id="{C9F2CB46-974F-FA46-A0DF-9BBB28B6E8E2}"/>
              </a:ext>
            </a:extLst>
          </p:cNvPr>
          <p:cNvSpPr/>
          <p:nvPr/>
        </p:nvSpPr>
        <p:spPr>
          <a:xfrm>
            <a:off x="457200" y="369025"/>
            <a:ext cx="2618510" cy="3034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s-ES" sz="1000" b="1" dirty="0">
                <a:solidFill>
                  <a:schemeClr val="bg1"/>
                </a:solidFill>
                <a:latin typeface="Montserrat Medium" pitchFamily="2" charset="77"/>
                <a:ea typeface="Times New Roman" panose="02020603050405020304" pitchFamily="18" charset="0"/>
                <a:cs typeface="Times New Roman" panose="02020603050405020304" pitchFamily="18" charset="0"/>
              </a:rPr>
              <a:t>AFLUENCIA TURÍSTICA</a:t>
            </a:r>
            <a:endParaRPr lang="es-ES" sz="1000" b="1" dirty="0">
              <a:solidFill>
                <a:schemeClr val="bg1"/>
              </a:solidFill>
              <a:latin typeface="Montserrat Medium" pitchFamily="2" charset="77"/>
            </a:endParaRP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71A2D61B-5B16-7442-A1AD-A4F77FBF39A6}"/>
              </a:ext>
            </a:extLst>
          </p:cNvPr>
          <p:cNvCxnSpPr>
            <a:cxnSpLocks/>
          </p:cNvCxnSpPr>
          <p:nvPr/>
        </p:nvCxnSpPr>
        <p:spPr>
          <a:xfrm>
            <a:off x="521677" y="693791"/>
            <a:ext cx="152986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5FCBB9D-F35F-B840-BCDF-EB4FAF6C9BF3}"/>
              </a:ext>
            </a:extLst>
          </p:cNvPr>
          <p:cNvSpPr/>
          <p:nvPr/>
        </p:nvSpPr>
        <p:spPr>
          <a:xfrm>
            <a:off x="427652" y="999740"/>
            <a:ext cx="4709123" cy="825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2800"/>
              </a:lnSpc>
              <a:spcAft>
                <a:spcPts val="0"/>
              </a:spcAft>
              <a:buClr>
                <a:srgbClr val="074F6A"/>
              </a:buClr>
            </a:pPr>
            <a:r>
              <a:rPr lang="es-ES" sz="28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  <a:t>Principales resultados </a:t>
            </a:r>
            <a:br>
              <a:rPr lang="es-ES" sz="28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</a:br>
            <a:r>
              <a:rPr lang="es-ES" sz="28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  <a:t>del periodo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9DB14CB-C47F-34CC-BE48-2C3A5CC95EBD}"/>
              </a:ext>
            </a:extLst>
          </p:cNvPr>
          <p:cNvSpPr/>
          <p:nvPr/>
        </p:nvSpPr>
        <p:spPr>
          <a:xfrm>
            <a:off x="398584" y="1905696"/>
            <a:ext cx="4833816" cy="192411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15875">
              <a:lnSpc>
                <a:spcPts val="1600"/>
              </a:lnSpc>
              <a:spcAft>
                <a:spcPts val="0"/>
              </a:spcAft>
              <a:buClr>
                <a:srgbClr val="00325C"/>
              </a:buClr>
              <a:buSzPct val="100000"/>
            </a:pPr>
            <a:r>
              <a:rPr lang="es-ES" sz="1150" b="1" kern="0" dirty="0">
                <a:solidFill>
                  <a:schemeClr val="bg1"/>
                </a:solidFill>
                <a:latin typeface="Montserrat SemiBold" pitchFamily="2" charset="77"/>
                <a:cs typeface="Times New Roman" panose="02020603050405020304" pitchFamily="18" charset="0"/>
              </a:rPr>
              <a:t>Turismo internacional  </a:t>
            </a:r>
          </a:p>
          <a:p>
            <a:pPr marL="15875">
              <a:lnSpc>
                <a:spcPts val="1600"/>
              </a:lnSpc>
              <a:spcAft>
                <a:spcPts val="0"/>
              </a:spcAft>
            </a:pP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Lorem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ipsum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dolor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sit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amet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consectetur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adipiscing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elit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sed do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eiusmod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tempor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incididunt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ut labore et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dolore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magna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aliqua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Ut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enim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ad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minim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veniam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quis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nostrud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exercitation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ullamco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laboris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nisi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ut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aliquip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ex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ea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commodo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consequat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Duis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aute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irure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dolor in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reprehenderit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in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voluptate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velit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esse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cillum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dolore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eu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fugiat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nulla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pariatur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Excepteur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sint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occaecat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cupidatat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non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proident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sunt in culpa qui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officia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deserunt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mollit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anim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id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est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laborum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667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51C9942B-0A87-DD42-BC8A-4FE73ECEC448}"/>
              </a:ext>
            </a:extLst>
          </p:cNvPr>
          <p:cNvSpPr/>
          <p:nvPr/>
        </p:nvSpPr>
        <p:spPr>
          <a:xfrm>
            <a:off x="398584" y="1905696"/>
            <a:ext cx="4833815" cy="2001061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15875">
              <a:lnSpc>
                <a:spcPts val="1600"/>
              </a:lnSpc>
              <a:spcAft>
                <a:spcPts val="600"/>
              </a:spcAft>
            </a:pP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Lorem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ipsum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dolor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sit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amet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consectetur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adipiscing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elit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sed do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eiusmod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tempor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incididunt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ut labore et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dolore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magna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aliqua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Ut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enim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ad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minim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veniam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quis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nostrud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exercitation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ullamco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laboris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nisi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ut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aliquip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ex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ea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commodo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consequat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Duis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aute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irure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dolor in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reprehenderit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in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voluptate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velit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esse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cillum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dolore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eu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fugiat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nulla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pariatur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Excepteur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sint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occaecat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cupidatat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non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proident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sunt in culpa qui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officia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deserunt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mollit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anim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id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est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15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laborum</a:t>
            </a:r>
            <a:r>
              <a:rPr lang="es-ES" sz="115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</a:t>
            </a:r>
          </a:p>
          <a:p>
            <a:pPr marL="15875">
              <a:lnSpc>
                <a:spcPts val="1600"/>
              </a:lnSpc>
              <a:spcAft>
                <a:spcPts val="600"/>
              </a:spcAft>
            </a:pPr>
            <a:endParaRPr lang="es-ES" sz="1150" kern="0" dirty="0">
              <a:solidFill>
                <a:schemeClr val="bg1"/>
              </a:solidFill>
              <a:latin typeface="Montserrat" pitchFamily="2" charset="77"/>
              <a:cs typeface="Times New Roman" panose="02020603050405020304" pitchFamily="18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9F2CB46-974F-FA46-A0DF-9BBB28B6E8E2}"/>
              </a:ext>
            </a:extLst>
          </p:cNvPr>
          <p:cNvSpPr/>
          <p:nvPr/>
        </p:nvSpPr>
        <p:spPr>
          <a:xfrm>
            <a:off x="457200" y="369025"/>
            <a:ext cx="2618510" cy="3034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s-ES" sz="1000" b="1" dirty="0">
                <a:solidFill>
                  <a:schemeClr val="bg1"/>
                </a:solidFill>
                <a:latin typeface="Montserrat Medium" pitchFamily="2" charset="77"/>
                <a:ea typeface="Times New Roman" panose="02020603050405020304" pitchFamily="18" charset="0"/>
                <a:cs typeface="Times New Roman" panose="02020603050405020304" pitchFamily="18" charset="0"/>
              </a:rPr>
              <a:t>AFLUENCIA TURÍSTICA</a:t>
            </a:r>
            <a:endParaRPr lang="es-ES" sz="1000" b="1" dirty="0">
              <a:solidFill>
                <a:schemeClr val="bg1"/>
              </a:solidFill>
              <a:latin typeface="Montserrat Medium" pitchFamily="2" charset="77"/>
            </a:endParaRP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71A2D61B-5B16-7442-A1AD-A4F77FBF39A6}"/>
              </a:ext>
            </a:extLst>
          </p:cNvPr>
          <p:cNvCxnSpPr>
            <a:cxnSpLocks/>
          </p:cNvCxnSpPr>
          <p:nvPr/>
        </p:nvCxnSpPr>
        <p:spPr>
          <a:xfrm>
            <a:off x="521677" y="693791"/>
            <a:ext cx="152986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4C7ED280-2256-1E4D-A043-08BFE50BDB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2952716"/>
              </p:ext>
            </p:extLst>
          </p:nvPr>
        </p:nvGraphicFramePr>
        <p:xfrm>
          <a:off x="6095999" y="1723292"/>
          <a:ext cx="5501835" cy="4797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ángulo 8">
            <a:extLst>
              <a:ext uri="{FF2B5EF4-FFF2-40B4-BE49-F238E27FC236}">
                <a16:creationId xmlns:a16="http://schemas.microsoft.com/office/drawing/2014/main" id="{17DD0ADA-76DB-F44D-A907-4A634FCFEBE4}"/>
              </a:ext>
            </a:extLst>
          </p:cNvPr>
          <p:cNvSpPr/>
          <p:nvPr/>
        </p:nvSpPr>
        <p:spPr>
          <a:xfrm>
            <a:off x="6095999" y="1022873"/>
            <a:ext cx="5580063" cy="282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875" algn="ctr">
              <a:lnSpc>
                <a:spcPts val="1600"/>
              </a:lnSpc>
              <a:buClr>
                <a:srgbClr val="00325C"/>
              </a:buClr>
              <a:buSzPct val="100000"/>
            </a:pPr>
            <a:r>
              <a:rPr lang="es-ES" sz="1100" b="1" kern="0" dirty="0">
                <a:solidFill>
                  <a:schemeClr val="bg1"/>
                </a:solidFill>
                <a:highlight>
                  <a:srgbClr val="04A2B6"/>
                </a:highlight>
                <a:latin typeface="Montserrat SemiBold" pitchFamily="2" charset="77"/>
                <a:cs typeface="Times New Roman" panose="02020603050405020304" pitchFamily="18" charset="0"/>
              </a:rPr>
              <a:t> Turismo nacional</a:t>
            </a:r>
            <a:r>
              <a:rPr lang="es-ES" sz="1100" b="1" kern="0" dirty="0">
                <a:solidFill>
                  <a:srgbClr val="04A2B6"/>
                </a:solidFill>
                <a:highlight>
                  <a:srgbClr val="04A2B6"/>
                </a:highlight>
                <a:latin typeface="Montserrat SemiBold" pitchFamily="2" charset="77"/>
                <a:cs typeface="Times New Roman" panose="02020603050405020304" pitchFamily="18" charset="0"/>
              </a:rPr>
              <a:t>.</a:t>
            </a:r>
            <a:r>
              <a:rPr lang="es-ES" sz="1100" b="1" kern="0" dirty="0">
                <a:solidFill>
                  <a:schemeClr val="bg1"/>
                </a:solidFill>
                <a:latin typeface="Montserrat SemiBold" pitchFamily="2" charset="77"/>
                <a:cs typeface="Times New Roman" panose="02020603050405020304" pitchFamily="18" charset="0"/>
              </a:rPr>
              <a:t>     </a:t>
            </a:r>
            <a:r>
              <a:rPr lang="es-ES" sz="1100" b="1" kern="0" dirty="0">
                <a:solidFill>
                  <a:srgbClr val="95C21E"/>
                </a:solidFill>
                <a:highlight>
                  <a:srgbClr val="95C21E"/>
                </a:highlight>
                <a:latin typeface="Montserrat SemiBold" pitchFamily="2" charset="77"/>
                <a:cs typeface="Times New Roman" panose="02020603050405020304" pitchFamily="18" charset="0"/>
              </a:rPr>
              <a:t> </a:t>
            </a:r>
            <a:r>
              <a:rPr lang="es-ES" sz="1100" b="1" kern="0" dirty="0">
                <a:solidFill>
                  <a:schemeClr val="bg1"/>
                </a:solidFill>
                <a:highlight>
                  <a:srgbClr val="95C21E"/>
                </a:highlight>
                <a:latin typeface="Montserrat SemiBold" pitchFamily="2" charset="77"/>
                <a:cs typeface="Times New Roman" panose="02020603050405020304" pitchFamily="18" charset="0"/>
              </a:rPr>
              <a:t>Turismo internacional</a:t>
            </a:r>
            <a:r>
              <a:rPr lang="es-ES" sz="1100" b="1" kern="0" dirty="0">
                <a:solidFill>
                  <a:srgbClr val="95C21E"/>
                </a:solidFill>
                <a:highlight>
                  <a:srgbClr val="95C21E"/>
                </a:highlight>
                <a:latin typeface="Montserrat SemiBold" pitchFamily="2" charset="77"/>
                <a:cs typeface="Times New Roman" panose="02020603050405020304" pitchFamily="18" charset="0"/>
              </a:rPr>
              <a:t>.</a:t>
            </a:r>
            <a:r>
              <a:rPr lang="es-ES" sz="1100" b="1" kern="0" dirty="0">
                <a:solidFill>
                  <a:schemeClr val="bg1"/>
                </a:solidFill>
                <a:latin typeface="Montserrat SemiBold" pitchFamily="2" charset="77"/>
                <a:cs typeface="Times New Roman" panose="02020603050405020304" pitchFamily="18" charset="0"/>
              </a:rPr>
              <a:t>     </a:t>
            </a:r>
            <a:r>
              <a:rPr lang="es-ES" sz="1100" b="1" kern="0" dirty="0">
                <a:solidFill>
                  <a:srgbClr val="27649F"/>
                </a:solidFill>
                <a:highlight>
                  <a:srgbClr val="27649F"/>
                </a:highlight>
                <a:latin typeface="Montserrat SemiBold" pitchFamily="2" charset="77"/>
                <a:cs typeface="Times New Roman" panose="02020603050405020304" pitchFamily="18" charset="0"/>
              </a:rPr>
              <a:t> </a:t>
            </a:r>
            <a:r>
              <a:rPr lang="es-ES" sz="1100" b="1" kern="0" dirty="0">
                <a:solidFill>
                  <a:schemeClr val="bg1"/>
                </a:solidFill>
                <a:highlight>
                  <a:srgbClr val="27649F"/>
                </a:highlight>
                <a:latin typeface="Montserrat SemiBold" pitchFamily="2" charset="77"/>
                <a:cs typeface="Times New Roman" panose="02020603050405020304" pitchFamily="18" charset="0"/>
              </a:rPr>
              <a:t>Afluencia total</a:t>
            </a:r>
            <a:r>
              <a:rPr lang="es-ES" sz="1100" b="1" kern="0" dirty="0">
                <a:solidFill>
                  <a:srgbClr val="27649F"/>
                </a:solidFill>
                <a:highlight>
                  <a:srgbClr val="27649F"/>
                </a:highlight>
                <a:latin typeface="Montserrat SemiBold" pitchFamily="2" charset="77"/>
                <a:cs typeface="Times New Roman" panose="02020603050405020304" pitchFamily="18" charset="0"/>
              </a:rPr>
              <a:t>.</a:t>
            </a:r>
            <a:endParaRPr lang="es-ES" sz="1100" b="1" kern="0" dirty="0">
              <a:solidFill>
                <a:srgbClr val="27649F"/>
              </a:solidFill>
              <a:highlight>
                <a:srgbClr val="27649F"/>
              </a:highlight>
              <a:latin typeface="Montserrat" pitchFamily="2" charset="77"/>
              <a:cs typeface="Times New Roman" panose="02020603050405020304" pitchFamily="18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16F3FC8-DA67-C442-A825-FE4460C9371D}"/>
              </a:ext>
            </a:extLst>
          </p:cNvPr>
          <p:cNvSpPr/>
          <p:nvPr/>
        </p:nvSpPr>
        <p:spPr>
          <a:xfrm>
            <a:off x="427652" y="999740"/>
            <a:ext cx="4709123" cy="825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2800"/>
              </a:lnSpc>
              <a:spcAft>
                <a:spcPts val="0"/>
              </a:spcAft>
              <a:buClr>
                <a:srgbClr val="074F6A"/>
              </a:buClr>
            </a:pPr>
            <a:r>
              <a:rPr lang="es-ES" sz="28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  <a:t>Principales resultados </a:t>
            </a:r>
            <a:br>
              <a:rPr lang="es-ES" sz="28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</a:br>
            <a:r>
              <a:rPr lang="es-ES" sz="28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  <a:t>del periodo </a:t>
            </a:r>
          </a:p>
        </p:txBody>
      </p:sp>
    </p:spTree>
    <p:extLst>
      <p:ext uri="{BB962C8B-B14F-4D97-AF65-F5344CB8AC3E}">
        <p14:creationId xmlns:p14="http://schemas.microsoft.com/office/powerpoint/2010/main" val="3955974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51C9942B-0A87-DD42-BC8A-4FE73ECEC448}"/>
              </a:ext>
            </a:extLst>
          </p:cNvPr>
          <p:cNvSpPr/>
          <p:nvPr/>
        </p:nvSpPr>
        <p:spPr>
          <a:xfrm>
            <a:off x="398584" y="1892249"/>
            <a:ext cx="4833815" cy="221503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15875">
              <a:lnSpc>
                <a:spcPct val="115000"/>
              </a:lnSpc>
              <a:spcAft>
                <a:spcPts val="0"/>
              </a:spcAft>
              <a:buClr>
                <a:srgbClr val="00325C"/>
              </a:buClr>
              <a:buSzPct val="100000"/>
            </a:pPr>
            <a:r>
              <a:rPr lang="es-ES" sz="1200" b="1" kern="0" dirty="0">
                <a:solidFill>
                  <a:schemeClr val="bg1"/>
                </a:solidFill>
                <a:latin typeface="Montserrat SemiBold" pitchFamily="2" charset="77"/>
                <a:cs typeface="Times New Roman" panose="02020603050405020304" pitchFamily="18" charset="0"/>
              </a:rPr>
              <a:t>Turismo nacional  </a:t>
            </a:r>
          </a:p>
          <a:p>
            <a:pPr marL="15875">
              <a:lnSpc>
                <a:spcPts val="1600"/>
              </a:lnSpc>
              <a:spcAft>
                <a:spcPts val="600"/>
              </a:spcAft>
            </a:pP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Lorem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ipsum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dolor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sit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amet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consectetur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adipiscing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elit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sed do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eiusmod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tempor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incididunt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ut labore et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dolore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magna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aliqua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Ut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enim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ad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minim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veniam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quis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nostrud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exercitation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ullamco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laboris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nisi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ut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aliquip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ex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ea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commodo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consequat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Duis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aute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irure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dolor in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reprehenderit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in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voluptate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velit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esse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cillum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dolore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eu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fugiat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nulla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pariatur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Excepteur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sint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occaecat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cupidatat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non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proident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sunt in culpa qui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officia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deserunt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mollit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anim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id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est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2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laborum</a:t>
            </a:r>
            <a:r>
              <a:rPr lang="es-ES" sz="12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</a:t>
            </a:r>
          </a:p>
          <a:p>
            <a:pPr marL="15875">
              <a:lnSpc>
                <a:spcPts val="1600"/>
              </a:lnSpc>
              <a:spcAft>
                <a:spcPts val="600"/>
              </a:spcAft>
            </a:pPr>
            <a:endParaRPr lang="es-ES" sz="1200" kern="0" dirty="0">
              <a:solidFill>
                <a:schemeClr val="bg1"/>
              </a:solidFill>
              <a:latin typeface="Montserrat" pitchFamily="2" charset="77"/>
              <a:cs typeface="Times New Roman" panose="02020603050405020304" pitchFamily="18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9CFB1B3-EEBF-7A4A-95DC-933AEFC8FA3F}"/>
              </a:ext>
            </a:extLst>
          </p:cNvPr>
          <p:cNvSpPr/>
          <p:nvPr/>
        </p:nvSpPr>
        <p:spPr>
          <a:xfrm>
            <a:off x="427652" y="999740"/>
            <a:ext cx="4709123" cy="825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buClr>
                <a:srgbClr val="074F6A"/>
              </a:buClr>
            </a:pPr>
            <a:r>
              <a:rPr lang="es-ES" sz="28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  <a:t>Evolución reciente </a:t>
            </a:r>
            <a:br>
              <a:rPr lang="es-ES" sz="28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</a:br>
            <a:r>
              <a:rPr lang="es-ES" sz="28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  <a:t>y lectura de tendencias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9F2CB46-974F-FA46-A0DF-9BBB28B6E8E2}"/>
              </a:ext>
            </a:extLst>
          </p:cNvPr>
          <p:cNvSpPr/>
          <p:nvPr/>
        </p:nvSpPr>
        <p:spPr>
          <a:xfrm>
            <a:off x="457200" y="369025"/>
            <a:ext cx="2618510" cy="3034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s-ES" sz="1000" b="1" dirty="0">
                <a:solidFill>
                  <a:schemeClr val="bg1"/>
                </a:solidFill>
                <a:latin typeface="Montserrat Medium" pitchFamily="2" charset="77"/>
                <a:ea typeface="Times New Roman" panose="02020603050405020304" pitchFamily="18" charset="0"/>
                <a:cs typeface="Times New Roman" panose="02020603050405020304" pitchFamily="18" charset="0"/>
              </a:rPr>
              <a:t>AFLUENCIA TURÍSTICA</a:t>
            </a:r>
            <a:endParaRPr lang="es-ES" sz="1000" b="1" dirty="0">
              <a:solidFill>
                <a:schemeClr val="bg1"/>
              </a:solidFill>
              <a:latin typeface="Montserrat Medium" pitchFamily="2" charset="77"/>
            </a:endParaRP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71A2D61B-5B16-7442-A1AD-A4F77FBF39A6}"/>
              </a:ext>
            </a:extLst>
          </p:cNvPr>
          <p:cNvCxnSpPr>
            <a:cxnSpLocks/>
          </p:cNvCxnSpPr>
          <p:nvPr/>
        </p:nvCxnSpPr>
        <p:spPr>
          <a:xfrm>
            <a:off x="521677" y="693791"/>
            <a:ext cx="152986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20BEBA1D-0125-EF48-AAB9-E146271162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8675465"/>
              </p:ext>
            </p:extLst>
          </p:nvPr>
        </p:nvGraphicFramePr>
        <p:xfrm>
          <a:off x="6096000" y="1304925"/>
          <a:ext cx="5697415" cy="52248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62713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270CDAAA-E423-4241-B0DB-04E6C5AC5E05}"/>
              </a:ext>
            </a:extLst>
          </p:cNvPr>
          <p:cNvSpPr/>
          <p:nvPr/>
        </p:nvSpPr>
        <p:spPr>
          <a:xfrm>
            <a:off x="638668" y="1075606"/>
            <a:ext cx="4074261" cy="3034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s-ES" sz="1200" dirty="0">
                <a:solidFill>
                  <a:schemeClr val="bg1"/>
                </a:solidFill>
                <a:latin typeface="Montserrat Medium" pitchFamily="2" charset="77"/>
                <a:ea typeface="Times New Roman" panose="02020603050405020304" pitchFamily="18" charset="0"/>
                <a:cs typeface="Times New Roman" panose="02020603050405020304" pitchFamily="18" charset="0"/>
              </a:rPr>
              <a:t>AFLUENCIA TURÍSTICA</a:t>
            </a:r>
            <a:endParaRPr lang="es-ES" sz="1200" dirty="0">
              <a:solidFill>
                <a:schemeClr val="bg1"/>
              </a:solidFill>
              <a:latin typeface="Montserrat Medium" pitchFamily="2" charset="77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9982C3D-B931-114F-A527-E7F3B6610129}"/>
              </a:ext>
            </a:extLst>
          </p:cNvPr>
          <p:cNvSpPr/>
          <p:nvPr/>
        </p:nvSpPr>
        <p:spPr>
          <a:xfrm>
            <a:off x="638668" y="1392995"/>
            <a:ext cx="7139240" cy="474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buClr>
                <a:srgbClr val="074F6A"/>
              </a:buClr>
            </a:pPr>
            <a:r>
              <a:rPr lang="es-ES" sz="2800" dirty="0">
                <a:solidFill>
                  <a:schemeClr val="bg1"/>
                </a:solidFill>
                <a:latin typeface="DM Serif Display" pitchFamily="2" charset="0"/>
                <a:cs typeface="Times New Roman" panose="02020603050405020304" pitchFamily="18" charset="0"/>
              </a:rPr>
              <a:t>Conclusiones y resultados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5585DDF-1162-364C-93D6-09AB71A7B6BE}"/>
              </a:ext>
            </a:extLst>
          </p:cNvPr>
          <p:cNvSpPr/>
          <p:nvPr/>
        </p:nvSpPr>
        <p:spPr>
          <a:xfrm>
            <a:off x="638669" y="2020610"/>
            <a:ext cx="526181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875">
              <a:lnSpc>
                <a:spcPts val="1600"/>
              </a:lnSpc>
              <a:spcAft>
                <a:spcPts val="0"/>
              </a:spcAft>
            </a:pP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Lorem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ipsum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dolor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sit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amet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consectetur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adipiscing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elit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sed do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eiusmod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tempor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incididunt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ut labore et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dolore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magna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aliqua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Ut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enim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ad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minim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veniam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quis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nostrud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exercitation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ullamco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laboris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nisi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ut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aliquip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ex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ea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commodo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consequat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Duis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aute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irure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dolor in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reprehenderit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in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voluptate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velit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esse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cillum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dolore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eu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fugiat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nulla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pariatur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Excepteur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sint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occaecat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cupidatat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non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proident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sunt in culpa qui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officia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deserunt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mollit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anim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id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est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laborum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B5F7BD0-6DBF-5447-8B94-BC6D8E119919}"/>
              </a:ext>
            </a:extLst>
          </p:cNvPr>
          <p:cNvSpPr/>
          <p:nvPr/>
        </p:nvSpPr>
        <p:spPr>
          <a:xfrm>
            <a:off x="6291521" y="2020610"/>
            <a:ext cx="5261810" cy="26549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Lorem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ipsum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dolor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sit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amet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consectetur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adipiscing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elit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sed do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eiusmod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tempor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incididunt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ut labore et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dolore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magna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aliqua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Ut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enim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ad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minim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veniam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quis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nostrud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exercitation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ullamco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laboris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nisi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ut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aliquip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ex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ea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commodo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consequat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Duis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aute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irure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dolor in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reprehenderit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in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voluptate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velit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esse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cillum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dolore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eu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fugiat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nulla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pariatur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Excepteur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sint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occaecat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cupidatat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non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proident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, sunt in culpa qui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officia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deserunt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mollit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anim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id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est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 </a:t>
            </a:r>
            <a:r>
              <a:rPr lang="es-ES" sz="1400" kern="0" dirty="0" err="1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laborum</a:t>
            </a:r>
            <a:r>
              <a:rPr lang="es-ES" sz="1400" kern="0" dirty="0">
                <a:solidFill>
                  <a:schemeClr val="bg1"/>
                </a:solidFill>
                <a:latin typeface="Montserrat" pitchFamily="2" charset="77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15000"/>
              </a:lnSpc>
              <a:spcAft>
                <a:spcPts val="800"/>
              </a:spcAft>
            </a:pPr>
            <a:endParaRPr lang="es-ES" sz="1400" kern="0" dirty="0">
              <a:solidFill>
                <a:schemeClr val="bg1"/>
              </a:solidFill>
              <a:latin typeface="Montserrat" pitchFamily="2" charset="7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977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7A48E-A992-45B2-387F-9D7784ECB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A54073F4-BECA-4244-87C9-98ADE53CB4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0A0CD324-6DCD-BA49-A073-078E28E36644}"/>
              </a:ext>
            </a:extLst>
          </p:cNvPr>
          <p:cNvSpPr txBox="1"/>
          <p:nvPr/>
        </p:nvSpPr>
        <p:spPr>
          <a:xfrm>
            <a:off x="929056" y="2377835"/>
            <a:ext cx="10260863" cy="839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6200"/>
              </a:lnSpc>
            </a:pPr>
            <a:r>
              <a:rPr lang="es-ES" sz="4000" dirty="0">
                <a:solidFill>
                  <a:schemeClr val="bg1"/>
                </a:solidFill>
                <a:latin typeface="DM Serif Display" pitchFamily="2" charset="0"/>
              </a:rPr>
              <a:t>Informe de análisis de datos 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4095491-979B-8B42-8429-26E7A11D640F}"/>
              </a:ext>
            </a:extLst>
          </p:cNvPr>
          <p:cNvSpPr/>
          <p:nvPr/>
        </p:nvSpPr>
        <p:spPr>
          <a:xfrm>
            <a:off x="3713902" y="3165421"/>
            <a:ext cx="46907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600" dirty="0">
                <a:solidFill>
                  <a:schemeClr val="bg1"/>
                </a:solidFill>
                <a:latin typeface="Montserrat Medium" pitchFamily="2" charset="77"/>
              </a:rPr>
              <a:t>SMART OFFICE DIPUTACIÓN DE VALÉNCIA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73B6F16C-54F4-3E42-8154-73204DB5AB81}"/>
              </a:ext>
            </a:extLst>
          </p:cNvPr>
          <p:cNvGrpSpPr/>
          <p:nvPr/>
        </p:nvGrpSpPr>
        <p:grpSpPr>
          <a:xfrm>
            <a:off x="4385750" y="5423925"/>
            <a:ext cx="3420501" cy="452108"/>
            <a:chOff x="371142" y="6122731"/>
            <a:chExt cx="1930011" cy="255101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17082C2F-9498-9E42-97DB-9683ECA4B2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1142" y="6124135"/>
              <a:ext cx="800069" cy="253697"/>
            </a:xfrm>
            <a:prstGeom prst="rect">
              <a:avLst/>
            </a:prstGeom>
          </p:spPr>
        </p:pic>
        <p:pic>
          <p:nvPicPr>
            <p:cNvPr id="14" name="Gráfico 13">
              <a:extLst>
                <a:ext uri="{FF2B5EF4-FFF2-40B4-BE49-F238E27FC236}">
                  <a16:creationId xmlns:a16="http://schemas.microsoft.com/office/drawing/2014/main" id="{3E5386C9-F033-1F4D-AFF0-481487400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51036" y="6122731"/>
              <a:ext cx="950117" cy="2542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99399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637</Words>
  <Application>Microsoft Office PowerPoint</Application>
  <PresentationFormat>Panorámica</PresentationFormat>
  <Paragraphs>42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9</vt:i4>
      </vt:variant>
    </vt:vector>
  </HeadingPairs>
  <TitlesOfParts>
    <vt:vector size="20" baseType="lpstr">
      <vt:lpstr>DM Serif Display</vt:lpstr>
      <vt:lpstr>Calibri Light</vt:lpstr>
      <vt:lpstr>Montserrat SemiBold</vt:lpstr>
      <vt:lpstr>Aptos Display</vt:lpstr>
      <vt:lpstr>Arial</vt:lpstr>
      <vt:lpstr>Montserrat Medium</vt:lpstr>
      <vt:lpstr>Aptos</vt:lpstr>
      <vt:lpstr>Montserrat</vt:lpstr>
      <vt:lpstr>Calibri</vt:lpstr>
      <vt:lpstr>Tema de Office</vt:lpstr>
      <vt:lpstr>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Maite</dc:creator>
  <cp:lastModifiedBy>Pere Lloret</cp:lastModifiedBy>
  <cp:revision>11</cp:revision>
  <dcterms:created xsi:type="dcterms:W3CDTF">2025-09-15T10:04:52Z</dcterms:created>
  <dcterms:modified xsi:type="dcterms:W3CDTF">2026-02-26T19:34:29Z</dcterms:modified>
</cp:coreProperties>
</file>