
<file path=[Content_Types].xml><?xml version="1.0" encoding="utf-8"?>
<ns0:Types xmlns:ns0="http://schemas.openxmlformats.org/package/2006/content-types">
  <ns0:Default Extension="emf" ContentType="image/x-emf"/>
  <ns0:Default Extension="fntdata" ContentType="application/x-fontdata"/>
  <ns0:Default Extension="jpg" ContentType="image/jpeg"/>
  <ns0:Default Extension="png" ContentType="image/png"/>
  <ns0:Default Extension="rels" ContentType="application/vnd.openxmlformats-package.relationships+xml"/>
  <ns0:Default Extension="svg" ContentType="image/svg+xml"/>
  <ns0:Default Extension="xlsx" ContentType="application/vnd.openxmlformats-officedocument.spreadsheetml.sheet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Masters/slideMaster2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12.xml" ContentType="application/vnd.openxmlformats-officedocument.presentationml.slideLayout+xml"/>
  <ns0:Override PartName="/ppt/slideLayouts/slideLayout13.xml" ContentType="application/vnd.openxmlformats-officedocument.presentationml.slideLayout+xml"/>
  <ns0:Override PartName="/ppt/slideLayouts/slideLayout14.xml" ContentType="application/vnd.openxmlformats-officedocument.presentationml.slideLayout+xml"/>
  <ns0:Override PartName="/ppt/slideLayouts/slideLayout15.xml" ContentType="application/vnd.openxmlformats-officedocument.presentationml.slideLayout+xml"/>
  <ns0:Override PartName="/ppt/slideLayouts/slideLayout16.xml" ContentType="application/vnd.openxmlformats-officedocument.presentationml.slideLayout+xml"/>
  <ns0:Override PartName="/ppt/slideLayouts/slideLayout17.xml" ContentType="application/vnd.openxmlformats-officedocument.presentationml.slideLayout+xml"/>
  <ns0:Override PartName="/ppt/slideLayouts/slideLayout18.xml" ContentType="application/vnd.openxmlformats-officedocument.presentationml.slideLayout+xml"/>
  <ns0:Override PartName="/ppt/slideLayouts/slideLayout19.xml" ContentType="application/vnd.openxmlformats-officedocument.presentationml.slideLayout+xml"/>
  <ns0:Override PartName="/ppt/slideLayouts/slideLayout20.xml" ContentType="application/vnd.openxmlformats-officedocument.presentationml.slideLayout+xml"/>
  <ns0:Override PartName="/ppt/slideLayouts/slideLayout21.xml" ContentType="application/vnd.openxmlformats-officedocument.presentationml.slideLayout+xml"/>
  <ns0:Override PartName="/ppt/slideLayouts/slideLayout22.xml" ContentType="application/vnd.openxmlformats-officedocument.presentationml.slideLayout+xml"/>
  <ns0:Override PartName="/ppt/slideLayouts/slideLayout23.xml" ContentType="application/vnd.openxmlformats-officedocument.presentationml.slideLayout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notesSlides/notesSlide1.xml" ContentType="application/vnd.openxmlformats-officedocument.presentationml.notesSlide+xml"/>
  <ns0:Override PartName="/ppt/charts/chart1.xml" ContentType="application/vnd.openxmlformats-officedocument.drawingml.chart+xml"/>
  <ns0:Override PartName="/ppt/charts/style1.xml" ContentType="application/vnd.ms-office.chartstyle+xml"/>
  <ns0:Override PartName="/ppt/charts/colors1.xml" ContentType="application/vnd.ms-office.chartcolorstyle+xml"/>
  <ns0:Override PartName="/ppt/charts/chart2.xml" ContentType="application/vnd.openxmlformats-officedocument.drawingml.chart+xml"/>
  <ns0:Override PartName="/ppt/charts/style2.xml" ContentType="application/vnd.ms-office.chartstyle+xml"/>
  <ns0:Override PartName="/ppt/charts/colors2.xml" ContentType="application/vnd.ms-office.chartcolorstyle+xml"/>
  <ns0:Override PartName="/ppt/charts/chart3.xml" ContentType="application/vnd.openxmlformats-officedocument.drawingml.chart+xml"/>
  <ns0:Override PartName="/ppt/charts/style3.xml" ContentType="application/vnd.ms-office.chartstyle+xml"/>
  <ns0:Override PartName="/ppt/charts/colors3.xml" ContentType="application/vnd.ms-office.chartcolorstyle+xml"/>
  <ns0:Override PartName="/ppt/charts/chart4.xml" ContentType="application/vnd.openxmlformats-officedocument.drawingml.chart+xml"/>
  <ns0:Override PartName="/ppt/charts/style4.xml" ContentType="application/vnd.ms-office.chartstyle+xml"/>
  <ns0:Override PartName="/ppt/charts/colors4.xml" ContentType="application/vnd.ms-office.chartcolorstyle+xml"/>
  <ns0:Override PartName="/ppt/changesInfos/changesInfo1.xml" ContentType="application/vnd.ms-powerpoint.changesinfo+xml"/>
  <ns0:Override PartName="/ppt/revisionInfo.xml" ContentType="application/vnd.ms-powerpoint.revisioninfo+xml"/>
  <ns0:Override PartName="/docProps/core.xml" ContentType="application/vnd.openxmlformats-package.core-properties+xml"/>
  <ns0:Override PartName="/docProps/app.xml" ContentType="application/vnd.openxmlformats-officedocument.extended-properties+xml"/>
  <ns0:Override PartName="/ppt/charts/chart5.xml" ContentType="application/vnd.openxmlformats-officedocument.drawingml.chart+xml"/>
  <ns0:Override PartName="/ppt/charts/chart6.xml" ContentType="application/vnd.openxmlformats-officedocument.drawingml.chart+xml"/>
  <ns0:Override PartName="/ppt/charts/chart7.xml" ContentType="application/vnd.openxmlformats-officedocument.drawingml.chart+xml"/>
  <ns0:Override PartName="/ppt/charts/chart8.xml" ContentType="application/vnd.openxmlformats-officedocument.drawingml.chart+xml"/>
  <ns0:Override PartName="/ppt/charts/chart9.xml" ContentType="application/vnd.openxmlformats-officedocument.drawingml.chart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</ns0: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embedTrueTypeFonts="1" autoCompressPictures="0">
  <p:sldMasterIdLst>
    <p:sldMasterId id="2147483648" r:id="rId1"/>
    <p:sldMasterId id="2147483660" r:id="rId2"/>
  </p:sldMasterIdLst>
  <p:notesMasterIdLst>
    <p:notesMasterId r:id="rId12"/>
  </p:notesMasterIdLst>
  <p:sldIdLst>
    <p:sldId id="256" r:id="rId3"/>
    <p:sldId id="257" r:id="rId4"/>
    <p:sldId id="303" r:id="rId5"/>
    <p:sldId id="261" r:id="rId6"/>
    <p:sldId id="306" r:id="rId7"/>
    <p:sldId id="308" r:id="rId8"/>
    <p:sldId id="309" r:id="rId9"/>
    <p:sldId id="271" r:id="rId10"/>
    <p:sldId id="301" r:id="rId11"/>
    <p:sldId id="310" r:id="rId31"/>
    <p:sldId id="311" r:id="rId32"/>
    <p:sldId id="312" r:id="rId33"/>
    <p:sldId id="313" r:id="rId34"/>
    <p:sldId id="314" r:id="rId35"/>
    <p:sldId id="315" r:id="rId36"/>
    <p:sldId id="316" r:id="rId37"/>
    <p:sldId id="317" r:id="rId38"/>
    <p:sldId id="318" r:id="rId39"/>
  </p:sldIdLst>
  <p:sldSz cx="12192000" cy="6858000"/>
  <p:notesSz cx="6858000" cy="9144000"/>
  <p:embeddedFontLst>
    <p:embeddedFont>
      <p:font typeface="DM Serif Display" pitchFamily="2" charset="0"/>
      <p:regular r:id="rId13"/>
      <p:italic r:id="rId14"/>
    </p:embeddedFont>
    <p:embeddedFont>
      <p:font typeface="Montserrat" pitchFamily="2" charset="0"/>
      <p:regular r:id="rId15"/>
      <p:bold r:id="rId16"/>
      <p:italic r:id="rId17"/>
      <p:boldItalic r:id="rId18"/>
    </p:embeddedFont>
    <p:embeddedFont>
      <p:font typeface="Montserrat Medium" pitchFamily="2" charset="0"/>
      <p:regular r:id="rId19"/>
      <p:italic r:id="rId20"/>
    </p:embeddedFont>
    <p:embeddedFont>
      <p:font typeface="Montserrat SemiBold" pitchFamily="2" charset="0"/>
      <p:regular r:id="rId21"/>
      <p:bold r:id="rId22"/>
      <p:italic r:id="rId23"/>
      <p:boldItalic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2160" userDrawn="1">
          <ns3:clr>
            <a:srgbClr val="A4A3A4"/>
          </ns3:clr>
        </ns3:guide>
        <ns3:guide id="2" pos="3296" userDrawn="1">
          <ns3:clr>
            <a:srgbClr val="A4A3A4"/>
          </ns3:clr>
        </ns3:guide>
        <ns3:guide id="3" pos="3840" userDrawn="1">
          <ns3:clr>
            <a:srgbClr val="A4A3A4"/>
          </ns3:clr>
        </ns3:guide>
        <ns3:guide id="4" orient="horz" pos="822" userDrawn="1">
          <ns3:clr>
            <a:srgbClr val="A4A3A4"/>
          </ns3:clr>
        </ns3:guide>
        <ns3:guide id="5" orient="horz" pos="3861" userDrawn="1">
          <ns3:clr>
            <a:srgbClr val="A4A3A4"/>
          </ns3:clr>
        </ns3:guide>
        <ns3:guide id="6" pos="7355" userDrawn="1">
          <ns3:clr>
            <a:srgbClr val="A4A3A4"/>
          </ns3:clr>
        </ns3:guide>
        <ns3:guide id="7" orient="horz" pos="1321" userDrawn="1">
          <ns3:clr>
            <a:srgbClr val="A4A3A4"/>
          </ns3:clr>
        </ns3:guide>
        <ns3:guide id="8" orient="horz" pos="4042" userDrawn="1">
          <ns3:clr>
            <a:srgbClr val="A4A3A4"/>
          </ns3:clr>
        </ns3:guide>
        <ns3:guide id="9" orient="horz" pos="3339" userDrawn="1">
          <ns3:clr>
            <a:srgbClr val="A4A3A4"/>
          </ns3:clr>
        </ns3:guide>
      </ns3:sldGuideLst>
    </p:ext>
    <p:ext uri="{2D200454-40CA-4A62-9FC3-DE9A4176ACB9}">
      <ns3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B42"/>
    <a:srgbClr val="71CFA9"/>
    <a:srgbClr val="95C21E"/>
    <a:srgbClr val="04A2B6"/>
    <a:srgbClr val="27649F"/>
    <a:srgbClr val="009AA7"/>
    <a:srgbClr val="76B463"/>
    <a:srgbClr val="5176B8"/>
    <a:srgbClr val="04145E"/>
    <a:srgbClr val="F0C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5C8B9C-3ED9-4FAE-8B86-54F30592F8F5}" v="6" dt="2026-02-26T19:34:03.3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00"/>
    <p:restoredTop sz="94615"/>
  </p:normalViewPr>
  <p:slideViewPr>
    <p:cSldViewPr snapToGrid="0">
      <p:cViewPr varScale="1">
        <p:scale>
          <a:sx n="97" d="100"/>
          <a:sy n="97" d="100"/>
        </p:scale>
        <p:origin x="1278" y="306"/>
      </p:cViewPr>
      <p:guideLst>
        <p:guide orient="horz" pos="2160"/>
        <p:guide pos="3296"/>
        <p:guide pos="3840"/>
        <p:guide orient="horz" pos="822"/>
        <p:guide orient="horz" pos="3861"/>
        <p:guide pos="7355"/>
        <p:guide orient="horz" pos="1321"/>
        <p:guide orient="horz" pos="4042"/>
        <p:guide orient="horz" pos="33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21" d="100"/>
          <a:sy n="121" d="100"/>
        </p:scale>
        <p:origin x="4488" y="176"/>
      </p:cViewPr>
      <p:guideLst/>
    </p:cSldViewPr>
  </p:notesViewPr>
  <p:gridSpacing cx="72008" cy="72008"/>
</p:viewPr>
</file>

<file path=ppt/_rels/presentation.xml.rels><?xml version="1.0" encoding="UTF-8"?><ns0:Relationships xmlns:ns0="http://schemas.openxmlformats.org/package/2006/relationships"><ns0:Relationship Id="rId8" Type="http://schemas.openxmlformats.org/officeDocument/2006/relationships/slide" Target="slides/slide6.xml"/><ns0:Relationship Id="rId13" Type="http://schemas.openxmlformats.org/officeDocument/2006/relationships/font" Target="fonts/font1.fntdata"/><ns0:Relationship Id="rId18" Type="http://schemas.openxmlformats.org/officeDocument/2006/relationships/font" Target="fonts/font6.fntdata"/><ns0:Relationship Id="rId26" Type="http://schemas.openxmlformats.org/officeDocument/2006/relationships/viewProps" Target="viewProps.xml"/><ns0:Relationship Id="rId3" Type="http://schemas.openxmlformats.org/officeDocument/2006/relationships/slide" Target="slides/slide1.xml"/><ns0:Relationship Id="rId21" Type="http://schemas.openxmlformats.org/officeDocument/2006/relationships/font" Target="fonts/font9.fntdata"/><ns0:Relationship Id="rId7" Type="http://schemas.openxmlformats.org/officeDocument/2006/relationships/slide" Target="slides/slide5.xml"/><ns0:Relationship Id="rId12" Type="http://schemas.openxmlformats.org/officeDocument/2006/relationships/notesMaster" Target="notesMasters/notesMaster1.xml"/><ns0:Relationship Id="rId17" Type="http://schemas.openxmlformats.org/officeDocument/2006/relationships/font" Target="fonts/font5.fntdata"/><ns0:Relationship Id="rId25" Type="http://schemas.openxmlformats.org/officeDocument/2006/relationships/presProps" Target="presProps.xml"/><ns0:Relationship Id="rId2" Type="http://schemas.openxmlformats.org/officeDocument/2006/relationships/slideMaster" Target="slideMasters/slideMaster2.xml"/><ns0:Relationship Id="rId16" Type="http://schemas.openxmlformats.org/officeDocument/2006/relationships/font" Target="fonts/font4.fntdata"/><ns0:Relationship Id="rId20" Type="http://schemas.openxmlformats.org/officeDocument/2006/relationships/font" Target="fonts/font8.fntdata"/><ns0:Relationship Id="rId29" Type="http://schemas.microsoft.com/office/2016/11/relationships/changesInfo" Target="changesInfos/changesInfo1.xml"/><ns0:Relationship Id="rId1" Type="http://schemas.openxmlformats.org/officeDocument/2006/relationships/slideMaster" Target="slideMasters/slideMaster1.xml"/><ns0:Relationship Id="rId6" Type="http://schemas.openxmlformats.org/officeDocument/2006/relationships/slide" Target="slides/slide4.xml"/><ns0:Relationship Id="rId11" Type="http://schemas.openxmlformats.org/officeDocument/2006/relationships/slide" Target="slides/slide9.xml"/><ns0:Relationship Id="rId24" Type="http://schemas.openxmlformats.org/officeDocument/2006/relationships/font" Target="fonts/font12.fntdata"/><ns0:Relationship Id="rId5" Type="http://schemas.openxmlformats.org/officeDocument/2006/relationships/slide" Target="slides/slide3.xml"/><ns0:Relationship Id="rId15" Type="http://schemas.openxmlformats.org/officeDocument/2006/relationships/font" Target="fonts/font3.fntdata"/><ns0:Relationship Id="rId23" Type="http://schemas.openxmlformats.org/officeDocument/2006/relationships/font" Target="fonts/font11.fntdata"/><ns0:Relationship Id="rId28" Type="http://schemas.openxmlformats.org/officeDocument/2006/relationships/tableStyles" Target="tableStyles.xml"/><ns0:Relationship Id="rId10" Type="http://schemas.openxmlformats.org/officeDocument/2006/relationships/slide" Target="slides/slide8.xml"/><ns0:Relationship Id="rId19" Type="http://schemas.openxmlformats.org/officeDocument/2006/relationships/font" Target="fonts/font7.fntdata"/><ns0:Relationship Id="rId4" Type="http://schemas.openxmlformats.org/officeDocument/2006/relationships/slide" Target="slides/slide2.xml"/><ns0:Relationship Id="rId9" Type="http://schemas.openxmlformats.org/officeDocument/2006/relationships/slide" Target="slides/slide7.xml"/><ns0:Relationship Id="rId14" Type="http://schemas.openxmlformats.org/officeDocument/2006/relationships/font" Target="fonts/font2.fntdata"/><ns0:Relationship Id="rId22" Type="http://schemas.openxmlformats.org/officeDocument/2006/relationships/font" Target="fonts/font10.fntdata"/><ns0:Relationship Id="rId27" Type="http://schemas.openxmlformats.org/officeDocument/2006/relationships/theme" Target="theme/theme1.xml"/><ns0:Relationship Id="rId30" Type="http://schemas.microsoft.com/office/2015/10/relationships/revisionInfo" Target="revisionInfo.xml"/><ns0:Relationship Id="rId31" Type="http://schemas.openxmlformats.org/officeDocument/2006/relationships/slide" Target="slides/slide10.xml"/><ns0:Relationship Id="rId32" Type="http://schemas.openxmlformats.org/officeDocument/2006/relationships/slide" Target="slides/slide11.xml"/><ns0:Relationship Id="rId33" Type="http://schemas.openxmlformats.org/officeDocument/2006/relationships/slide" Target="slides/slide12.xml"/><ns0:Relationship Id="rId34" Type="http://schemas.openxmlformats.org/officeDocument/2006/relationships/slide" Target="slides/slide13.xml"/><ns0:Relationship Id="rId35" Type="http://schemas.openxmlformats.org/officeDocument/2006/relationships/slide" Target="slides/slide14.xml"/><ns0:Relationship Id="rId36" Type="http://schemas.openxmlformats.org/officeDocument/2006/relationships/slide" Target="slides/slide15.xml"/><ns0:Relationship Id="rId37" Type="http://schemas.openxmlformats.org/officeDocument/2006/relationships/slide" Target="slides/slide16.xml"/><ns0:Relationship Id="rId38" Type="http://schemas.openxmlformats.org/officeDocument/2006/relationships/slide" Target="slides/slide17.xml"/><ns0:Relationship Id="rId39" Type="http://schemas.openxmlformats.org/officeDocument/2006/relationships/slide" Target="slides/slide18.xml"/></ns0: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re Lloret" userId="7910d177-ec33-4b32-99c4-b326d77bd835" providerId="ADAL" clId="{74AC9018-D152-48B8-8D96-46F61B528486}"/>
    <pc:docChg chg="custSel delSld modSld">
      <pc:chgData name="Pere Lloret" userId="7910d177-ec33-4b32-99c4-b326d77bd835" providerId="ADAL" clId="{74AC9018-D152-48B8-8D96-46F61B528486}" dt="2026-02-26T19:34:28.633" v="32" actId="20577"/>
      <pc:docMkLst>
        <pc:docMk/>
      </pc:docMkLst>
      <pc:sldChg chg="modSp mod">
        <pc:chgData name="Pere Lloret" userId="7910d177-ec33-4b32-99c4-b326d77bd835" providerId="ADAL" clId="{74AC9018-D152-48B8-8D96-46F61B528486}" dt="2026-02-26T19:34:28.633" v="32" actId="20577"/>
        <pc:sldMkLst>
          <pc:docMk/>
          <pc:sldMk cId="800913457" sldId="256"/>
        </pc:sldMkLst>
        <pc:spChg chg="mod">
          <ac:chgData name="Pere Lloret" userId="7910d177-ec33-4b32-99c4-b326d77bd835" providerId="ADAL" clId="{74AC9018-D152-48B8-8D96-46F61B528486}" dt="2026-02-26T19:34:28.633" v="32" actId="20577"/>
          <ac:spMkLst>
            <pc:docMk/>
            <pc:sldMk cId="800913457" sldId="256"/>
            <ac:spMk id="15" creationId="{B8E12F29-AEFF-1648-82DB-A98A3FE6A988}"/>
          </ac:spMkLst>
        </pc:spChg>
      </pc:sldChg>
      <pc:sldChg chg="modSp mod">
        <pc:chgData name="Pere Lloret" userId="7910d177-ec33-4b32-99c4-b326d77bd835" providerId="ADAL" clId="{74AC9018-D152-48B8-8D96-46F61B528486}" dt="2026-02-26T19:34:03.369" v="29"/>
        <pc:sldMkLst>
          <pc:docMk/>
          <pc:sldMk cId="2119977243" sldId="271"/>
        </pc:sldMkLst>
        <pc:spChg chg="mod">
          <ac:chgData name="Pere Lloret" userId="7910d177-ec33-4b32-99c4-b326d77bd835" providerId="ADAL" clId="{74AC9018-D152-48B8-8D96-46F61B528486}" dt="2026-02-26T19:33:57.894" v="26" actId="20577"/>
          <ac:spMkLst>
            <pc:docMk/>
            <pc:sldMk cId="2119977243" sldId="271"/>
            <ac:spMk id="10" creationId="{E5585DDF-1162-364C-93D6-09AB71A7B6BE}"/>
          </ac:spMkLst>
        </pc:spChg>
        <pc:spChg chg="mod">
          <ac:chgData name="Pere Lloret" userId="7910d177-ec33-4b32-99c4-b326d77bd835" providerId="ADAL" clId="{74AC9018-D152-48B8-8D96-46F61B528486}" dt="2026-02-26T19:34:03.369" v="29"/>
          <ac:spMkLst>
            <pc:docMk/>
            <pc:sldMk cId="2119977243" sldId="271"/>
            <ac:spMk id="11" creationId="{0B5F7BD0-6DBF-5447-8B94-BC6D8E119919}"/>
          </ac:spMkLst>
        </pc:spChg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892734568" sldId="272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3094545759" sldId="273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942651061" sldId="276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142191861" sldId="278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794738533" sldId="282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634277675" sldId="283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022500339" sldId="286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08231340" sldId="288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3390521575" sldId="289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642786589" sldId="296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089034034" sldId="298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641551217" sldId="299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89521520" sldId="300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709473529" sldId="302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693038405" sldId="304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42374455" sldId="305"/>
        </pc:sldMkLst>
      </pc:sldChg>
      <pc:sldChg chg="addSp delSp modSp mod">
        <pc:chgData name="Pere Lloret" userId="7910d177-ec33-4b32-99c4-b326d77bd835" providerId="ADAL" clId="{74AC9018-D152-48B8-8D96-46F61B528486}" dt="2026-02-26T19:33:01.207" v="10" actId="20577"/>
        <pc:sldMkLst>
          <pc:docMk/>
          <pc:sldMk cId="206667791" sldId="306"/>
        </pc:sldMkLst>
        <pc:spChg chg="add del mod">
          <ac:chgData name="Pere Lloret" userId="7910d177-ec33-4b32-99c4-b326d77bd835" providerId="ADAL" clId="{74AC9018-D152-48B8-8D96-46F61B528486}" dt="2026-02-26T19:32:54.341" v="1" actId="478"/>
          <ac:spMkLst>
            <pc:docMk/>
            <pc:sldMk cId="206667791" sldId="306"/>
            <ac:spMk id="2" creationId="{20B23717-D6C5-9BB7-1F89-0A1B436A610C}"/>
          </ac:spMkLst>
        </pc:spChg>
        <pc:spChg chg="add mod">
          <ac:chgData name="Pere Lloret" userId="7910d177-ec33-4b32-99c4-b326d77bd835" providerId="ADAL" clId="{74AC9018-D152-48B8-8D96-46F61B528486}" dt="2026-02-26T19:33:01.207" v="10" actId="20577"/>
          <ac:spMkLst>
            <pc:docMk/>
            <pc:sldMk cId="206667791" sldId="306"/>
            <ac:spMk id="3" creationId="{A9DB14CB-C47F-34CC-BE48-2C3A5CC95EBD}"/>
          </ac:spMkLst>
        </pc:spChg>
        <pc:spChg chg="del">
          <ac:chgData name="Pere Lloret" userId="7910d177-ec33-4b32-99c4-b326d77bd835" providerId="ADAL" clId="{74AC9018-D152-48B8-8D96-46F61B528486}" dt="2026-02-26T19:32:57.270" v="2" actId="478"/>
          <ac:spMkLst>
            <pc:docMk/>
            <pc:sldMk cId="206667791" sldId="306"/>
            <ac:spMk id="12" creationId="{51C9942B-0A87-DD42-BC8A-4FE73ECEC448}"/>
          </ac:spMkLst>
        </pc:spChg>
      </pc:sldChg>
      <pc:sldChg chg="del">
        <pc:chgData name="Pere Lloret" userId="7910d177-ec33-4b32-99c4-b326d77bd835" providerId="ADAL" clId="{74AC9018-D152-48B8-8D96-46F61B528486}" dt="2026-02-26T19:33:12.972" v="11" actId="2696"/>
        <pc:sldMkLst>
          <pc:docMk/>
          <pc:sldMk cId="2554342447" sldId="307"/>
        </pc:sldMkLst>
      </pc:sldChg>
      <pc:sldChg chg="modSp mod">
        <pc:chgData name="Pere Lloret" userId="7910d177-ec33-4b32-99c4-b326d77bd835" providerId="ADAL" clId="{74AC9018-D152-48B8-8D96-46F61B528486}" dt="2026-02-26T19:33:29.184" v="19" actId="20577"/>
        <pc:sldMkLst>
          <pc:docMk/>
          <pc:sldMk cId="3955974490" sldId="308"/>
        </pc:sldMkLst>
        <pc:spChg chg="mod">
          <ac:chgData name="Pere Lloret" userId="7910d177-ec33-4b32-99c4-b326d77bd835" providerId="ADAL" clId="{74AC9018-D152-48B8-8D96-46F61B528486}" dt="2026-02-26T19:33:29.184" v="19" actId="20577"/>
          <ac:spMkLst>
            <pc:docMk/>
            <pc:sldMk cId="3955974490" sldId="308"/>
            <ac:spMk id="12" creationId="{51C9942B-0A87-DD42-BC8A-4FE73ECEC448}"/>
          </ac:spMkLst>
        </pc:spChg>
      </pc:sldChg>
      <pc:sldChg chg="modSp mod">
        <pc:chgData name="Pere Lloret" userId="7910d177-ec33-4b32-99c4-b326d77bd835" providerId="ADAL" clId="{74AC9018-D152-48B8-8D96-46F61B528486}" dt="2026-02-26T19:33:41.351" v="23"/>
        <pc:sldMkLst>
          <pc:docMk/>
          <pc:sldMk cId="4162713853" sldId="309"/>
        </pc:sldMkLst>
        <pc:spChg chg="mod">
          <ac:chgData name="Pere Lloret" userId="7910d177-ec33-4b32-99c4-b326d77bd835" providerId="ADAL" clId="{74AC9018-D152-48B8-8D96-46F61B528486}" dt="2026-02-26T19:33:41.351" v="23"/>
          <ac:spMkLst>
            <pc:docMk/>
            <pc:sldMk cId="4162713853" sldId="309"/>
            <ac:spMk id="12" creationId="{51C9942B-0A87-DD42-BC8A-4FE73ECEC448}"/>
          </ac:spMkLst>
        </pc:spChg>
      </pc:sldChg>
      <pc:sldChg chg="del">
        <pc:chgData name="Pere Lloret" userId="7910d177-ec33-4b32-99c4-b326d77bd835" providerId="ADAL" clId="{74AC9018-D152-48B8-8D96-46F61B528486}" dt="2026-02-26T19:33:49.591" v="24" actId="2696"/>
        <pc:sldMkLst>
          <pc:docMk/>
          <pc:sldMk cId="3703214421" sldId="310"/>
        </pc:sldMkLst>
      </pc:sldChg>
      <pc:sldChg chg="del">
        <pc:chgData name="Pere Lloret" userId="7910d177-ec33-4b32-99c4-b326d77bd835" providerId="ADAL" clId="{74AC9018-D152-48B8-8D96-46F61B528486}" dt="2026-02-26T19:33:49.591" v="24" actId="2696"/>
        <pc:sldMkLst>
          <pc:docMk/>
          <pc:sldMk cId="3667758382" sldId="311"/>
        </pc:sldMkLst>
      </pc:sldChg>
      <pc:sldChg chg="del">
        <pc:chgData name="Pere Lloret" userId="7910d177-ec33-4b32-99c4-b326d77bd835" providerId="ADAL" clId="{74AC9018-D152-48B8-8D96-46F61B528486}" dt="2026-02-26T19:33:49.591" v="24" actId="2696"/>
        <pc:sldMkLst>
          <pc:docMk/>
          <pc:sldMk cId="4096904241" sldId="312"/>
        </pc:sldMkLst>
      </pc:sldChg>
    </pc:docChg>
  </pc:docChgLst>
</pc:chgInfo>
</file>

<file path=ppt/charts/_rels/chart1.xml.rels><?xml version="1.0" encoding="UTF-8"?>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?>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?>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?>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Nacional</c:v>
                </c:pt>
              </c:strCache>
            </c:strRef>
          </c:tx>
          <a:spPr>
            <a:solidFill>
              <a:srgbClr val="04A2B6"/>
            </a:solidFill>
            <a:ln>
              <a:noFill/>
            </a:ln>
            <a:effectLst/>
          </a:spPr>
          <c:cat>
            <c:numRef>
              <c:f>Hoja1!$A$2:$A$8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Hoja1!$B$2:$B$8</c:f>
              <c:numCache>
                <c:formatCode>#,##0</c:formatCode>
                <c:ptCount val="7"/>
                <c:pt idx="0">
                  <c:v>2288081</c:v>
                </c:pt>
                <c:pt idx="1">
                  <c:v>2684325</c:v>
                </c:pt>
                <c:pt idx="2">
                  <c:v>3388935</c:v>
                </c:pt>
                <c:pt idx="3">
                  <c:v>3834256</c:v>
                </c:pt>
                <c:pt idx="4">
                  <c:v>4741685</c:v>
                </c:pt>
                <c:pt idx="5">
                  <c:v>4723705</c:v>
                </c:pt>
                <c:pt idx="6">
                  <c:v>3492802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Internacional</c:v>
                </c:pt>
              </c:strCache>
            </c:strRef>
          </c:tx>
          <a:spPr>
            <a:solidFill>
              <a:srgbClr val="95C21E"/>
            </a:solidFill>
            <a:ln>
              <a:noFill/>
            </a:ln>
            <a:effectLst/>
          </a:spPr>
          <c:cat>
            <c:numRef>
              <c:f>Hoja1!$A$2:$A$8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Hoja1!$B$2:$B$8</c:f>
              <c:numCache>
                <c:formatCode>#,##0</c:formatCode>
                <c:ptCount val="7"/>
                <c:pt idx="0">
                  <c:v>1176757</c:v>
                </c:pt>
                <c:pt idx="1">
                  <c:v>1073481</c:v>
                </c:pt>
                <c:pt idx="2">
                  <c:v>1264586</c:v>
                </c:pt>
                <c:pt idx="3">
                  <c:v>2017370</c:v>
                </c:pt>
                <c:pt idx="4">
                  <c:v>2600825</c:v>
                </c:pt>
                <c:pt idx="5">
                  <c:v>3172865</c:v>
                </c:pt>
                <c:pt idx="6">
                  <c:v>3605939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Nacional</c:v>
                </c:pt>
              </c:strCache>
            </c:strRef>
          </c:tx>
          <a:spPr>
            <a:solidFill>
              <a:srgbClr val="04A2B6"/>
            </a:solidFill>
            <a:ln>
              <a:noFill/>
            </a:ln>
            <a:effectLst/>
          </a:spP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Hoja1!$B$2:$B$13</c:f>
              <c:numCache>
                <c:formatCode>#,##0</c:formatCode>
                <c:ptCount val="12"/>
                <c:pt idx="0">
                  <c:v>275404</c:v>
                </c:pt>
                <c:pt idx="1">
                  <c:v>263556</c:v>
                </c:pt>
                <c:pt idx="2">
                  <c:v>322211</c:v>
                </c:pt>
                <c:pt idx="3">
                  <c:v>277201</c:v>
                </c:pt>
                <c:pt idx="4">
                  <c:v>282788</c:v>
                </c:pt>
                <c:pt idx="5">
                  <c:v>340611</c:v>
                </c:pt>
                <c:pt idx="6">
                  <c:v>346390</c:v>
                </c:pt>
                <c:pt idx="7">
                  <c:v>351352</c:v>
                </c:pt>
                <c:pt idx="8">
                  <c:v>279823</c:v>
                </c:pt>
                <c:pt idx="9">
                  <c:v>266456</c:v>
                </c:pt>
                <c:pt idx="10">
                  <c:v>266673</c:v>
                </c:pt>
                <c:pt idx="11">
                  <c:v>220337</c:v>
                </c:pt>
              </c:numCache>
            </c:numRef>
          </c:val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Internacional</c:v>
                </c:pt>
              </c:strCache>
            </c:strRef>
          </c:tx>
          <a:spPr>
            <a:solidFill>
              <a:srgbClr val="95C21E"/>
            </a:solidFill>
            <a:ln>
              <a:noFill/>
            </a:ln>
            <a:effectLst/>
          </a:spP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Hoja1!$C$2:$C$13</c:f>
              <c:numCache>
                <c:formatCode>#,##0</c:formatCode>
                <c:ptCount val="12"/>
                <c:pt idx="0">
                  <c:v>214290</c:v>
                </c:pt>
                <c:pt idx="1">
                  <c:v>220274</c:v>
                </c:pt>
                <c:pt idx="2">
                  <c:v>281206</c:v>
                </c:pt>
                <c:pt idx="3">
                  <c:v>307076</c:v>
                </c:pt>
                <c:pt idx="4">
                  <c:v>323234</c:v>
                </c:pt>
                <c:pt idx="5">
                  <c:v>315016</c:v>
                </c:pt>
                <c:pt idx="6">
                  <c:v>351614</c:v>
                </c:pt>
                <c:pt idx="7">
                  <c:v>377230</c:v>
                </c:pt>
                <c:pt idx="8">
                  <c:v>317358</c:v>
                </c:pt>
                <c:pt idx="9">
                  <c:v>341696</c:v>
                </c:pt>
                <c:pt idx="10">
                  <c:v>291298</c:v>
                </c:pt>
                <c:pt idx="11">
                  <c:v>265647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06"/>
        <c:overlap val="-9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cap="all" spc="120" normalizeH="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403791018285971"/>
          <c:y val="0.13663237435316952"/>
          <c:w val="0.86112784109493967"/>
          <c:h val="0.79649697538779163"/>
        </c:manualLayout>
      </c:layout>
      <c:lineChart>
        <c:grouping val="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Turistas internacionales 2025</c:v>
                </c:pt>
              </c:strCache>
            </c:strRef>
          </c:tx>
          <a:spPr>
            <a:solidFill>
              <a:srgbClr val="95C21E"/>
            </a:solidFill>
            <a:ln>
              <a:noFill/>
            </a:ln>
            <a:effectLst/>
          </a:spPr>
          <c:cat>
            <c:strRef>
              <c:f>Hoja1!$A$2:$A$6</c:f>
              <c:strCache>
                <c:ptCount val="5"/>
                <c:pt idx="0">
                  <c:v>Francia</c:v>
                </c:pt>
                <c:pt idx="1">
                  <c:v>Italia</c:v>
                </c:pt>
                <c:pt idx="2">
                  <c:v>Reino Unido</c:v>
                </c:pt>
                <c:pt idx="3">
                  <c:v>Países Bajos</c:v>
                </c:pt>
                <c:pt idx="4">
                  <c:v>Alemania</c:v>
                </c:pt>
              </c:strCache>
            </c:strRef>
          </c:cat>
          <c:val>
            <c:numRef>
              <c:f>Hoja1!$B$2:$B$6</c:f>
              <c:numCache>
                <c:formatCode>#,##0</c:formatCode>
                <c:ptCount val="5"/>
                <c:pt idx="0">
                  <c:v>444971</c:v>
                </c:pt>
                <c:pt idx="1">
                  <c:v>371921</c:v>
                </c:pt>
                <c:pt idx="2">
                  <c:v>353207</c:v>
                </c:pt>
                <c:pt idx="3">
                  <c:v>319749</c:v>
                </c:pt>
                <c:pt idx="4">
                  <c:v>293500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52506752"/>
        <c:axId val="1752508384"/>
      </c:line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2">
                    <a:lumMod val="75000"/>
                  </a:schemeClr>
                </a:solidFill>
                <a:latin typeface="Montserrat Medium" pitchFamily="2" charset="77"/>
                <a:ea typeface="+mn-ea"/>
                <a:cs typeface="+mn-cs"/>
              </a:defRPr>
            </a:pPr>
            <a:endParaRPr lang="es-ES"/>
          </a:p>
        </c:txPr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1136887250993083"/>
          <c:y val="2.0458845517953225E-3"/>
          <c:w val="0.88632378811931234"/>
          <c:h val="6.640575781685077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Ocupación hotelera 2025 (%)</c:v>
                </c:pt>
              </c:strCache>
            </c:strRef>
          </c:tx>
          <a:spPr>
            <a:solidFill>
              <a:srgbClr val="003B42"/>
            </a:solidFill>
            <a:ln>
              <a:noFill/>
            </a:ln>
            <a:effectLst/>
          </a:spP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Hoja1!$B$2:$B$13</c:f>
              <c:numCache>
                <c:formatCode>#,##0</c:formatCode>
                <c:ptCount val="12"/>
                <c:pt idx="0">
                  <c:v>43.3</c:v>
                </c:pt>
                <c:pt idx="1">
                  <c:v>51.4</c:v>
                </c:pt>
                <c:pt idx="2">
                  <c:v>52.7</c:v>
                </c:pt>
                <c:pt idx="3">
                  <c:v>60.3</c:v>
                </c:pt>
                <c:pt idx="4">
                  <c:v>60.9</c:v>
                </c:pt>
                <c:pt idx="5">
                  <c:v>64.8</c:v>
                </c:pt>
                <c:pt idx="6">
                  <c:v>68.8</c:v>
                </c:pt>
                <c:pt idx="7">
                  <c:v>75.2</c:v>
                </c:pt>
                <c:pt idx="8">
                  <c:v>65.6</c:v>
                </c:pt>
                <c:pt idx="9">
                  <c:v>59.5</c:v>
                </c:pt>
                <c:pt idx="10">
                  <c:v>52.9</c:v>
                </c:pt>
                <c:pt idx="11">
                  <c:v>46.5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Pernoctaciones 2025</c:v>
                </c:pt>
              </c:strCache>
            </c:strRef>
          </c:tx>
          <a:spPr>
            <a:solidFill>
              <a:srgbClr val="04A2B6"/>
            </a:solidFill>
            <a:ln>
              <a:noFill/>
            </a:ln>
            <a:effectLst/>
          </a:spP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Hoja1!$B$2:$B$13</c:f>
              <c:numCache>
                <c:formatCode>#,##0</c:formatCode>
                <c:ptCount val="12"/>
                <c:pt idx="0">
                  <c:v>899825</c:v>
                </c:pt>
                <c:pt idx="1">
                  <c:v>1016560</c:v>
                </c:pt>
                <c:pt idx="2">
                  <c:v>1324094</c:v>
                </c:pt>
                <c:pt idx="3">
                  <c:v>1527930</c:v>
                </c:pt>
                <c:pt idx="4">
                  <c:v>1626156</c:v>
                </c:pt>
                <c:pt idx="5">
                  <c:v>1702258</c:v>
                </c:pt>
                <c:pt idx="6">
                  <c:v>1872368</c:v>
                </c:pt>
                <c:pt idx="7">
                  <c:v>2079928</c:v>
                </c:pt>
                <c:pt idx="8">
                  <c:v>1712846</c:v>
                </c:pt>
                <c:pt idx="9">
                  <c:v>1497340</c:v>
                </c:pt>
                <c:pt idx="10">
                  <c:v>1225952</c:v>
                </c:pt>
                <c:pt idx="11">
                  <c:v>1006223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Establecimientos</c:v>
                </c:pt>
              </c:strCache>
            </c:strRef>
          </c:tx>
          <a:spPr>
            <a:solidFill>
              <a:srgbClr val="003B42"/>
            </a:solidFill>
            <a:ln>
              <a:noFill/>
            </a:ln>
            <a:effectLst/>
          </a:spPr>
          <c:cat>
            <c:strRef>
              <c:f>Hoja1!$A$2:$A$8</c:f>
              <c:strCache>
                <c:ptCount val="7"/>
                <c:pt idx="0">
                  <c:v>PENSIÓN</c:v>
                </c:pt>
                <c:pt idx="1">
                  <c:v>2 ESTRELLAS</c:v>
                </c:pt>
                <c:pt idx="2">
                  <c:v>3 ESTRELLAS</c:v>
                </c:pt>
                <c:pt idx="3">
                  <c:v>1 ESTRELLA</c:v>
                </c:pt>
                <c:pt idx="4">
                  <c:v>4 ESTRELLAS</c:v>
                </c:pt>
                <c:pt idx="5">
                  <c:v/>
                </c:pt>
                <c:pt idx="6">
                  <c:v>5 ESTRELLAS</c:v>
                </c:pt>
              </c:strCache>
            </c:strRef>
          </c:cat>
          <c:val>
            <c:numRef>
              <c:f>Hoja1!$B$2:$B$8</c:f>
              <c:numCache>
                <c:formatCode>#,##0</c:formatCode>
                <c:ptCount val="7"/>
                <c:pt idx="0">
                  <c:v>105</c:v>
                </c:pt>
                <c:pt idx="1">
                  <c:v>104</c:v>
                </c:pt>
                <c:pt idx="2">
                  <c:v>95</c:v>
                </c:pt>
                <c:pt idx="3">
                  <c:v>87</c:v>
                </c:pt>
                <c:pt idx="4">
                  <c:v>87</c:v>
                </c:pt>
                <c:pt idx="5">
                  <c:v>77</c:v>
                </c:pt>
                <c:pt idx="6">
                  <c:v>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VUT 2025</c:v>
                </c:pt>
              </c:strCache>
            </c:strRef>
          </c:tx>
          <a:spPr>
            <a:solidFill>
              <a:srgbClr val="F5A623"/>
            </a:solidFill>
            <a:ln>
              <a:noFill/>
            </a:ln>
            <a:effectLst/>
          </a:spPr>
          <c:cat>
            <c:strRef>
              <c:f>Hoja1!$A$2:$A$6</c:f>
              <c:strCache>
                <c:ptCount val="5"/>
                <c:pt idx="0">
                  <c:v>OLIVA</c:v>
                </c:pt>
                <c:pt idx="1">
                  <c:v>CULLERA</c:v>
                </c:pt>
                <c:pt idx="2">
                  <c:v>SAGUNT/SAGUNTO</c:v>
                </c:pt>
                <c:pt idx="3">
                  <c:v>CANET D'EN BERENGUER</c:v>
                </c:pt>
                <c:pt idx="4">
                  <c:v>ALBORAIA</c:v>
                </c:pt>
              </c:strCache>
            </c:strRef>
          </c:cat>
          <c:val>
            <c:numRef>
              <c:f>Hoja1!$B$2:$B$6</c:f>
              <c:numCache>
                <c:formatCode>#,##0</c:formatCode>
                <c:ptCount val="5"/>
                <c:pt idx="0">
                  <c:v>1463</c:v>
                </c:pt>
                <c:pt idx="1">
                  <c:v>1421</c:v>
                </c:pt>
                <c:pt idx="2">
                  <c:v>597</c:v>
                </c:pt>
                <c:pt idx="3">
                  <c:v>569</c:v>
                </c:pt>
                <c:pt idx="4">
                  <c:v>429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Alojamiento</c:v>
                </c:pt>
              </c:strCache>
            </c:strRef>
          </c:tx>
          <a:spPr>
            <a:solidFill>
              <a:srgbClr val="003B42"/>
            </a:solidFill>
            <a:ln>
              <a:noFill/>
            </a:ln>
            <a:effectLst/>
          </a:spPr>
          <c:cat>
            <c:strRef>
              <c:f>Hoja1!$A$2:$A$5</c:f>
              <c:strCache>
                <c:ptCount val="4"/>
                <c:pt idx="0">
                  <c:v>Ene 25</c:v>
                </c:pt>
                <c:pt idx="1">
                  <c:v>Abr 25</c:v>
                </c:pt>
                <c:pt idx="2">
                  <c:v>Jul 25</c:v>
                </c:pt>
                <c:pt idx="3">
                  <c:v>Oct 25</c:v>
                </c:pt>
              </c:strCache>
            </c:strRef>
          </c:cat>
          <c:val>
            <c:numRef>
              <c:f>Hoja1!$B$2:$B$5</c:f>
              <c:numCache>
                <c:formatCode>#,##0</c:formatCode>
                <c:ptCount val="4"/>
                <c:pt idx="0">
                  <c:v>8314</c:v>
                </c:pt>
                <c:pt idx="1">
                  <c:v>9901</c:v>
                </c:pt>
                <c:pt idx="2">
                  <c:v>10474</c:v>
                </c:pt>
                <c:pt idx="3">
                  <c:v>8406</c:v>
                </c:pt>
              </c:numCache>
            </c:numRef>
          </c:val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Restauración</c:v>
                </c:pt>
              </c:strCache>
            </c:strRef>
          </c:tx>
          <a:spPr>
            <a:solidFill>
              <a:srgbClr val="04A2B6"/>
            </a:solidFill>
            <a:ln>
              <a:noFill/>
            </a:ln>
            <a:effectLst/>
          </a:spPr>
          <c:cat>
            <c:strRef>
              <c:f>Hoja1!$A$2:$A$5</c:f>
              <c:strCache>
                <c:ptCount val="4"/>
                <c:pt idx="0">
                  <c:v>Ene 25</c:v>
                </c:pt>
                <c:pt idx="1">
                  <c:v>Abr 25</c:v>
                </c:pt>
                <c:pt idx="2">
                  <c:v>Jul 25</c:v>
                </c:pt>
                <c:pt idx="3">
                  <c:v>Oct 25</c:v>
                </c:pt>
              </c:strCache>
            </c:strRef>
          </c:cat>
          <c:val>
            <c:numRef>
              <c:f>Hoja1!$C$2:$C$5</c:f>
              <c:numCache>
                <c:formatCode>#,##0</c:formatCode>
                <c:ptCount val="4"/>
                <c:pt idx="0">
                  <c:v>79868</c:v>
                </c:pt>
                <c:pt idx="1">
                  <c:v>82822</c:v>
                </c:pt>
                <c:pt idx="2">
                  <c:v>80652</c:v>
                </c:pt>
                <c:pt idx="3">
                  <c:v>79769</c:v>
                </c:pt>
              </c:numCache>
            </c:numRef>
          </c:val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Agencias de viaje</c:v>
                </c:pt>
              </c:strCache>
            </c:strRef>
          </c:tx>
          <a:spPr>
            <a:solidFill>
              <a:srgbClr val="95C21E"/>
            </a:solidFill>
            <a:ln>
              <a:noFill/>
            </a:ln>
            <a:effectLst/>
          </a:spPr>
          <c:cat>
            <c:strRef>
              <c:f>Hoja1!$A$2:$A$5</c:f>
              <c:strCache>
                <c:ptCount val="4"/>
                <c:pt idx="0">
                  <c:v>Ene 25</c:v>
                </c:pt>
                <c:pt idx="1">
                  <c:v>Abr 25</c:v>
                </c:pt>
                <c:pt idx="2">
                  <c:v>Jul 25</c:v>
                </c:pt>
                <c:pt idx="3">
                  <c:v>Oct 25</c:v>
                </c:pt>
              </c:strCache>
            </c:strRef>
          </c:cat>
          <c:val>
            <c:numRef>
              <c:f>Hoja1!$D$2:$D$5</c:f>
              <c:numCache>
                <c:formatCode>#,##0</c:formatCode>
                <c:ptCount val="4"/>
                <c:pt idx="0">
                  <c:v>2797</c:v>
                </c:pt>
                <c:pt idx="1">
                  <c:v>2891</c:v>
                </c:pt>
                <c:pt idx="2">
                  <c:v>2840</c:v>
                </c:pt>
                <c:pt idx="3">
                  <c:v>2779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06"/>
        <c:overlap val="-9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cap="all" spc="120" normalizeH="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064" b="0" i="0" u="none" strike="noStrike" kern="1200" baseline="0"/>
    <cs:bodyPr rot="-5400000" spcFirstLastPara="1" vertOverflow="clip" horzOverflow="clip" vert="horz" wrap="square" lIns="38100" tIns="19050" rIns="38100" bIns="19050" anchor="ctr" anchorCtr="1">
      <a:spAutoFit/>
    </cs:bodyPr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07A26F-784E-7F42-834D-0E6D7273BEEA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A88507-070F-6E43-B3F5-F34F7AEA089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5556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A88507-070F-6E43-B3F5-F34F7AEA089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8887126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E6EFF949-F758-974B-B668-77FD70F28728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1">
                  <a:lumMod val="5000"/>
                  <a:lumOff val="95000"/>
                  <a:alpha val="0"/>
                </a:schemeClr>
              </a:gs>
              <a:gs pos="0">
                <a:srgbClr val="009AA7">
                  <a:alpha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370AE5EE-A9C3-4B4D-A52E-0DCF008F99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8571"/>
          <a:stretch/>
        </p:blipFill>
        <p:spPr>
          <a:xfrm>
            <a:off x="0" y="0"/>
            <a:ext cx="2612571" cy="6858000"/>
          </a:xfrm>
          <a:prstGeom prst="rect">
            <a:avLst/>
          </a:prstGeom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20C6D742-E2A2-0C45-9596-717DC794ECB6}"/>
              </a:ext>
            </a:extLst>
          </p:cNvPr>
          <p:cNvGrpSpPr/>
          <p:nvPr userDrawn="1"/>
        </p:nvGrpSpPr>
        <p:grpSpPr>
          <a:xfrm>
            <a:off x="371142" y="6122731"/>
            <a:ext cx="1930011" cy="255101"/>
            <a:chOff x="371142" y="6122731"/>
            <a:chExt cx="1930011" cy="255101"/>
          </a:xfrm>
        </p:grpSpPr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0B783E35-9B10-E74D-B342-3D1914A604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7" name="Gráfico 16">
              <a:extLst>
                <a:ext uri="{FF2B5EF4-FFF2-40B4-BE49-F238E27FC236}">
                  <a16:creationId xmlns:a16="http://schemas.microsoft.com/office/drawing/2014/main" id="{234EA441-67AA-A647-881E-AAAD4CE97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28DD2DB-6EB2-E047-A690-19DC5E706481}"/>
              </a:ext>
            </a:extLst>
          </p:cNvPr>
          <p:cNvSpPr/>
          <p:nvPr userDrawn="1"/>
        </p:nvSpPr>
        <p:spPr>
          <a:xfrm>
            <a:off x="3089227" y="430374"/>
            <a:ext cx="622959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000" b="1" dirty="0">
                <a:solidFill>
                  <a:schemeClr val="bg2">
                    <a:lumMod val="75000"/>
                  </a:schemeClr>
                </a:solidFill>
                <a:latin typeface="Montserrat SemiBold" pitchFamily="2" charset="77"/>
              </a:rPr>
              <a:t>INFORME DE ANÁLISIS DE DATOS | SMART OFFICE DIPUTACIÓ DE VALÈNCIA | ENE – DIC 25</a:t>
            </a:r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F33B0896-D2A3-FB42-9772-F603F0FF34B7}"/>
              </a:ext>
            </a:extLst>
          </p:cNvPr>
          <p:cNvCxnSpPr>
            <a:cxnSpLocks/>
          </p:cNvCxnSpPr>
          <p:nvPr userDrawn="1"/>
        </p:nvCxnSpPr>
        <p:spPr>
          <a:xfrm>
            <a:off x="3175085" y="692311"/>
            <a:ext cx="848351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411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n 20">
            <a:extLst>
              <a:ext uri="{FF2B5EF4-FFF2-40B4-BE49-F238E27FC236}">
                <a16:creationId xmlns:a16="http://schemas.microsoft.com/office/drawing/2014/main" id="{EA7FC328-EDBF-FE4F-A7D1-59696ED5F02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2" r="53929"/>
          <a:stretch/>
        </p:blipFill>
        <p:spPr>
          <a:xfrm>
            <a:off x="-1" y="0"/>
            <a:ext cx="5617029" cy="6858000"/>
          </a:xfrm>
          <a:prstGeom prst="rect">
            <a:avLst/>
          </a:prstGeom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20C6D742-E2A2-0C45-9596-717DC794ECB6}"/>
              </a:ext>
            </a:extLst>
          </p:cNvPr>
          <p:cNvGrpSpPr/>
          <p:nvPr userDrawn="1"/>
        </p:nvGrpSpPr>
        <p:grpSpPr>
          <a:xfrm>
            <a:off x="464926" y="6122731"/>
            <a:ext cx="1930011" cy="255101"/>
            <a:chOff x="371142" y="6122731"/>
            <a:chExt cx="1930011" cy="255101"/>
          </a:xfrm>
        </p:grpSpPr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0B783E35-9B10-E74D-B342-3D1914A604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7" name="Gráfico 16">
              <a:extLst>
                <a:ext uri="{FF2B5EF4-FFF2-40B4-BE49-F238E27FC236}">
                  <a16:creationId xmlns:a16="http://schemas.microsoft.com/office/drawing/2014/main" id="{234EA441-67AA-A647-881E-AAAD4CE97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28DD2DB-6EB2-E047-A690-19DC5E706481}"/>
              </a:ext>
            </a:extLst>
          </p:cNvPr>
          <p:cNvSpPr/>
          <p:nvPr userDrawn="1"/>
        </p:nvSpPr>
        <p:spPr>
          <a:xfrm>
            <a:off x="5821603" y="378615"/>
            <a:ext cx="622959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000" b="1" dirty="0">
                <a:solidFill>
                  <a:schemeClr val="bg2">
                    <a:lumMod val="75000"/>
                  </a:schemeClr>
                </a:solidFill>
                <a:latin typeface="Montserrat SemiBold" pitchFamily="2" charset="77"/>
              </a:rPr>
              <a:t>INFORME DE ANÁLISIS DE DATOS | SMART OFFICE DIPUTACIÓ DE VALÈNCIA | ENE – DIC 25</a:t>
            </a:r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F33B0896-D2A3-FB42-9772-F603F0FF34B7}"/>
              </a:ext>
            </a:extLst>
          </p:cNvPr>
          <p:cNvCxnSpPr>
            <a:cxnSpLocks/>
          </p:cNvCxnSpPr>
          <p:nvPr userDrawn="1"/>
        </p:nvCxnSpPr>
        <p:spPr>
          <a:xfrm>
            <a:off x="6090484" y="692311"/>
            <a:ext cx="5568116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7456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n 21">
            <a:extLst>
              <a:ext uri="{FF2B5EF4-FFF2-40B4-BE49-F238E27FC236}">
                <a16:creationId xmlns:a16="http://schemas.microsoft.com/office/drawing/2014/main" id="{41F36F4C-0F77-CD42-AFF4-DD9470EA70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" r="-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ABB43BDF-C85F-274A-B957-5A95745A7701}"/>
              </a:ext>
            </a:extLst>
          </p:cNvPr>
          <p:cNvSpPr/>
          <p:nvPr userDrawn="1"/>
        </p:nvSpPr>
        <p:spPr>
          <a:xfrm>
            <a:off x="650828" y="430374"/>
            <a:ext cx="622959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SemiBold" pitchFamily="2" charset="77"/>
              </a:rPr>
              <a:t>INFORME DE ANÁLISIS DE DATOS | SMART OFFICE DIPUTACIÓ DE VALÈNCIA | ENE – DIC 25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2B20494-2225-4049-B190-6A378E833FE5}"/>
              </a:ext>
            </a:extLst>
          </p:cNvPr>
          <p:cNvCxnSpPr>
            <a:cxnSpLocks/>
          </p:cNvCxnSpPr>
          <p:nvPr userDrawn="1"/>
        </p:nvCxnSpPr>
        <p:spPr>
          <a:xfrm>
            <a:off x="743962" y="692311"/>
            <a:ext cx="1070948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6B2B9FE-60BC-5F43-BBD6-BAD9BDFEC1FF}"/>
              </a:ext>
            </a:extLst>
          </p:cNvPr>
          <p:cNvGrpSpPr/>
          <p:nvPr userDrawn="1"/>
        </p:nvGrpSpPr>
        <p:grpSpPr>
          <a:xfrm>
            <a:off x="699388" y="6122731"/>
            <a:ext cx="1930011" cy="255101"/>
            <a:chOff x="371142" y="6122731"/>
            <a:chExt cx="1930011" cy="255101"/>
          </a:xfrm>
        </p:grpSpPr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9B7DF8F1-164B-1342-9E3F-32457075B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6" name="Gráfico 15">
              <a:extLst>
                <a:ext uri="{FF2B5EF4-FFF2-40B4-BE49-F238E27FC236}">
                  <a16:creationId xmlns:a16="http://schemas.microsoft.com/office/drawing/2014/main" id="{82FAD779-EB8A-DC4B-A859-3749A6F409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75631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1B0B03-3A96-AA47-96A5-367F5A9FE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153541-B962-8049-9C9A-20835E89D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55D430-5020-9F46-A754-F18E0D84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2960E7-5107-4C49-ADA5-CD8E30B41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5BDB9-793F-6149-8D38-40881A8A9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3137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902E80-DC37-6B46-958B-5536BCE89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5089E4-58B4-7E4D-A389-499D10302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473EEF9-E661-CE4F-B898-BFF4B0F7C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C9FD7B-E7BC-024E-8E4C-97E35A43E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018E8A4-F883-FE46-BB08-B7FADDBE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D6F053D-D9CF-4C4B-90BA-FE303C544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5381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5EB26C-9185-D844-A60E-E8C8741A6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8E8FC9-A795-0A48-8FC5-DA012865E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B8DCBDF-DFD5-A647-8BB5-28EFE9C84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BBDB481-BE36-CF4F-A261-C6214ECA74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06CE9F1-8E87-2F43-9ACC-F3E29C748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D359626-EB36-DD41-8F9D-A94C2F0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8EBD3DC-8F7C-1B4A-9E96-954C94505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639BFEA-7E1A-5A45-ABC9-B29F559DD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6888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198808-6418-A64B-B456-048963DC5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48FC616-58C0-BE4A-8A6E-52A233FB8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55D42DC-0930-9B48-8220-DA083C263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ED36BC8-DF8D-6F46-BA2B-D7FC39E5A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3387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9CD30FE-B598-4F43-9F49-D9887D3D8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F7803AC-ACB0-3740-A0CE-DB432E41A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D7ECD6-9EAE-E540-A12C-724331C0D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02537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B91668-213C-BE4F-B83F-2AF6E3BA0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D8A542-AF38-1E4A-96DD-39BB46F34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8054C6-7BE0-4941-A80F-AE934AFFFC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D9E9BE9-8613-FD42-B5EC-0FB5D2D92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D809AA1-D8C7-674B-82ED-332E39E1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4E5BE6F-375C-EA4B-B4AE-7ED1D0F0F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1728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ABAC5B-59F2-E94A-9E98-618CBB0FA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275C564-3375-784F-953B-C043A16049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67E6B11-4EF3-FB49-A277-3CCDF1783E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48D4422-9A64-C84C-ADA2-80E875A3B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4253235-4A3C-DC45-BEF3-388A4DAD7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7ED6E7E-393C-3C49-808D-CC4F7AAEB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4139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E164D2-DE86-9B47-922A-0961D6C98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F4AA528-67AB-594F-8F49-6D7F282CD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24EE8E-17CC-744E-8AB2-427171929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EF750D-A8EF-B740-8975-5E85BB3F8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C788B9-20C3-BF45-88E6-7D8D1BB60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75259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9DDBCDB-A05F-3745-9388-85749F6DFC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E7C68E1-8A15-E343-B37F-03713632CA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A0C50C-973E-D84F-AE7B-CEDAC8D6F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F4EFFF4-07DB-4C43-9D59-F865EDD82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CD5D0D-CAFA-B545-9330-E56BCFF0E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9137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796904-3761-164A-CB13-E49930F53F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6C1A17-0F07-3F1D-E7FE-8DBAE8AF2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31EAFB1-E85E-B2E9-48C5-6F6DCF8C1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16C656-E288-C7E1-E7AF-7CD8FBE76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53D6F6-0299-3894-747C-6CB3AC842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95412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467A90-90EA-24A6-83E8-A0E436BA4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51677F-484A-7C57-8910-1FC78EB975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BEDC19-1263-D133-19F9-879E9FBF1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B0D96B-2DCB-5E16-310E-2750DF078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2A6306-863C-DCE3-B012-B047CA0F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81833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2EF9DB-C3DD-0B2C-9B6D-4EB8D2963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242A52-D0E5-B1EB-3505-392574AB8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014CDF-75DC-98D8-E368-BF79BD7DE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89FC60F-A664-AE9F-9EE4-C65044FF3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863CAD1-7C2F-8EE5-BB93-73159C029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525659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1E8-0335-7484-8784-D28233A56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E22E319-D3B2-CE31-72AC-4947E041CB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A9E43DE-29C2-E6D1-8321-14BE7EB06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8CED10-D4A4-D862-862B-8A0102C0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0173BBF-74C0-1475-879A-40A31E558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B543645-5C62-1ADF-35C4-24B8CACA2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05518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1CB4CD-DB36-38F5-551B-B24B15CEB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061DAFF-061A-2768-5084-26148A671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40AE0E2-32CE-6CED-3CA7-B5A61202B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236FC0C-DE3E-7F48-9A63-32EDECA007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BE2E3D2-DB3E-E48D-E819-4C38BD2B8E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970E9DC-6207-AB08-6196-8AA7C0E48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EE47B46-A906-039D-DD97-2CDA017A5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2E3AE35-4E9D-97F5-80BF-29172F59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06814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9ABF35-F0CC-783D-4B10-6F3ADCC4C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1AEAA89-7378-E606-690D-84282CD4E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FC9EB78-B4C8-C921-7E98-06A2449D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4956437-53FC-04A1-9CA4-CCBAC140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1221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A9CFF1C-FB7F-499B-CEF7-BE26FFBE9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3ED19F-53EE-6AC8-8F87-6EB4A6A5A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CAD167E-80D1-E542-3FF0-7A6158BDA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8178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F72A4-8530-EA3C-21EE-50DA297AB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950BE9D-DAFF-1BA7-D48B-346E26FA7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79CEC10-9821-0301-F36C-5C6CE3752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F739328-245C-8696-F875-85EC1CCD9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2D4AB1-76F6-731A-D181-264166D35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95EE67A-A795-1653-0CC1-D5039BAA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26990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12DB89-EFCE-193F-C879-1989DBA53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562A323-0968-5A9B-4678-4D53F93B60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30E1E5E-2979-5ABE-4A1C-B3947936EB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553CE0-7E1C-24CB-5426-9C3F86D9E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68E5EC3-B336-1B0B-8A1F-D0E269341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DA69C6F-217E-3704-7092-7987EEBD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902890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978135-C256-8BD3-DE47-1A588730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8B77F9A-62AA-1500-BF40-FEE290BA2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611238-6756-6397-1B32-D9F19606E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54FB5A-4D94-A104-3A51-29C3B94D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D9EAB8-31CB-4D56-365C-ECC477C7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2535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532C61C-8238-2E16-8AC3-02E38D919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B4BB3E2-6358-E995-7A18-DC02B715D4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216D6F-C9D2-780B-FBC3-B4E87009E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70DE7B-522C-B215-A4CE-442DB8807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3E1EF3-FB6C-DD87-A9A9-97E44B032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439730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2774093-B221-A849-AB39-C6711070C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B75B39-C2EE-7D4B-A2E7-210EA5356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5AF8A87-1D60-284E-97D8-C4C0E3044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EEB2B9-7607-1242-99FD-176D0D2678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35ECEB-679F-A343-BE65-D72E4D46B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1390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52B9769-6CA2-F143-40A3-97BBE1490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603E919-B5BD-F587-D7A3-97F3289E2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DA5140-DFE3-6577-B958-E8AFCEA6D7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8F6DB3-1D9C-73D9-C8F3-375AFCEBB3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A1E8CEE-A073-F425-0719-C9D4F7081C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88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sv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a16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id="{3493FEE5-4870-BE47-9754-6E18BB9CF6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3429000"/>
            <a:ext cx="12191999" cy="34290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id="{0A0CD324-6DCD-BA49-A073-078E28E36644}"/>
              </a:ext>
            </a:extLst>
          </p:cNvPr>
          <p:cNvSpPr txBox="1"/>
          <p:nvPr/>
        </p:nvSpPr>
        <p:spPr>
          <a:xfrm>
            <a:off x="5406190" y="1427748"/>
            <a:ext cx="6336632" cy="1709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</a:rPr>
              <a:t>Informe de análisis de datos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id="{B4095491-979B-8B42-8429-26E7A11D640F}"/>
              </a:ext>
            </a:extLst>
          </p:cNvPr>
          <p:cNvSpPr/>
          <p:nvPr/>
        </p:nvSpPr>
        <p:spPr>
          <a:xfrm>
            <a:off x="5406190" y="3713150"/>
            <a:ext cx="4660250" cy="8617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500" dirty="0">
                <a:solidFill>
                  <a:schemeClr val="bg1"/>
                </a:solidFill>
                <a:latin typeface="Montserrat Medium" pitchFamily="2" charset="77"/>
              </a:rPr>
              <a:t>SMART OFFICE</a:t>
            </a:r>
          </a:p>
          <a:p>
            <a:r>
              <a:rPr lang="es-ES" sz="2500" dirty="0">
                <a:solidFill>
                  <a:schemeClr val="bg1"/>
                </a:solidFill>
                <a:latin typeface="Montserrat Medium" pitchFamily="2" charset="77"/>
              </a:rPr>
              <a:t>DIPUTACIÓN DE VALÈNCIA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id="{B8E12F29-AEFF-1648-82DB-A98A3FE6A988}"/>
              </a:ext>
            </a:extLst>
          </p:cNvPr>
          <p:cNvSpPr/>
          <p:nvPr/>
        </p:nvSpPr>
        <p:spPr>
          <a:xfrm>
            <a:off x="10428394" y="476672"/>
            <a:ext cx="11416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200" b="1">
                <a:solidFill>
                  <a:srgbClr val="04145E"/>
                </a:solidFill>
                <a:latin typeface="Montserrat SemiBold" pitchFamily="2" charset="77"/>
              </a:rPr>
              <a:t>ENE–DIC 2025</a:t>
            </a:r>
          </a:p>
        </p:txBody>
      </p:sp>
      <p:grpSp>
        <p:nvGrpSpPr>
          <p:cNvPr id="13" name="Grupo 12">
            <a:extLst>
              <a:ext uri="{FF2B5EF4-FFF2-40B4-BE49-F238E27FC236}">
                <a16:creationId id="{CB952129-EAF5-D649-B757-DF7A3A13A482}"/>
              </a:ext>
            </a:extLst>
          </p:cNvPr>
          <p:cNvGrpSpPr/>
          <p:nvPr/>
        </p:nvGrpSpPr>
        <p:grpSpPr>
          <a:xfrm>
            <a:off x="5392870" y="5685182"/>
            <a:ext cx="3420501" cy="452108"/>
            <a:chOff x="371142" y="6122731"/>
            <a:chExt cx="1930011" cy="255101"/>
          </a:xfrm>
        </p:grpSpPr>
        <p:pic>
          <p:nvPicPr>
            <p:cNvPr id="14" name="Imagen 13">
              <a:extLst>
                <a:ext uri="{FF2B5EF4-FFF2-40B4-BE49-F238E27FC236}">
                  <a16:creationId id="{D64FA567-A495-784F-9357-2A8E7113F0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6" name="Gráfico 15">
              <a:extLst>
                <a:ext uri="{FF2B5EF4-FFF2-40B4-BE49-F238E27FC236}">
                  <a16:creationId id="{66214A28-8633-3B48-BA5B-16108F80A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pic>
        <p:nvPicPr>
          <p:cNvPr id="4" name="Gráfico 3">
            <a:extLst>
              <a:ext uri="{FF2B5EF4-FFF2-40B4-BE49-F238E27FC236}">
                <a16:creationId id="{B93466DD-87CE-BC44-9C40-B3F1ACBDC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r:embed="rId7"/>
              </a:ext>
            </a:extLst>
          </a:blip>
          <a:stretch>
            <a:fillRect/>
          </a:stretch>
        </p:blipFill>
        <p:spPr>
          <a:xfrm>
            <a:off x="976952" y="1624083"/>
            <a:ext cx="3650919" cy="3837391"/>
          </a:xfrm>
          <a:prstGeom prst="rect">
            <a:avLst/>
          </a:prstGeom>
        </p:spPr>
      </p:pic>
    </p:spTree>
    <p:extLst>
      <p:ext uri="{BB962C8B-B14F-4D97-AF65-F5344CB8AC3E}">
        <ns5:creationId val="800913457"/>
      </p:ext>
    </p:extLst>
  </p:cSld>
  <p:clrMapOvr>
    <a:masterClrMapping/>
  </p:clrMapOvr>
</p:sld>
</file>

<file path=ppt/slides/slide2.xml><?xml version="1.0" encoding="utf-8"?>
<p:sld xmlns:a="http://schemas.openxmlformats.org/drawingml/2006/main" xmlns:a16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n 20">
            <a:extLst>
              <a:ext uri="{FF2B5EF4-FFF2-40B4-BE49-F238E27FC236}">
                <a16:creationId id="{B6F25006-079D-9F4E-A6E4-46DFA4DA8B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id="{774207D7-0887-9E41-83A9-E3CE80D740FD}"/>
              </a:ext>
            </a:extLst>
          </p:cNvPr>
          <p:cNvSpPr txBox="1"/>
          <p:nvPr/>
        </p:nvSpPr>
        <p:spPr>
          <a:xfrm>
            <a:off x="731838" y="1460636"/>
            <a:ext cx="5364162" cy="914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200"/>
              </a:lnSpc>
            </a:pPr>
            <a:r>
              <a:rPr lang="es-ES" sz="6000" dirty="0">
                <a:solidFill>
                  <a:schemeClr val="bg1"/>
                </a:solidFill>
                <a:latin typeface="DM Serif Display" pitchFamily="2" charset="0"/>
              </a:rPr>
              <a:t>Índice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id="{EAE3194D-BA72-7946-B686-0B4FF8284B2D}"/>
              </a:ext>
            </a:extLst>
          </p:cNvPr>
          <p:cNvSpPr/>
          <p:nvPr/>
        </p:nvSpPr>
        <p:spPr>
          <a:xfrm>
            <a:off x="731838" y="3865364"/>
            <a:ext cx="2276201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Afluencia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turística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id="{A209F9F7-B8EE-9C46-95BA-913323E8363B}"/>
              </a:ext>
            </a:extLst>
          </p:cNvPr>
          <p:cNvSpPr/>
          <p:nvPr/>
        </p:nvSpPr>
        <p:spPr>
          <a:xfrm>
            <a:off x="3727032" y="3865364"/>
            <a:ext cx="2003948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02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Ocupación</a:t>
            </a:r>
          </a:p>
        </p:txBody>
      </p:sp>
      <p:sp>
        <p:nvSpPr>
          <p:cNvPr id="6" name="Rectángulo 5">
            <a:extLst>
              <a:ext uri="{FF2B5EF4-FFF2-40B4-BE49-F238E27FC236}">
                <a16:creationId id="{1D00B25A-E893-D340-9FC2-AFDE28AAAA50}"/>
              </a:ext>
            </a:extLst>
          </p:cNvPr>
          <p:cNvSpPr/>
          <p:nvPr/>
        </p:nvSpPr>
        <p:spPr>
          <a:xfrm>
            <a:off x="6449973" y="3865364"/>
            <a:ext cx="2003948" cy="12208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03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Oferta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turística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id="{70AC8B80-2FA6-0EFB-03B8-45D522513162}"/>
              </a:ext>
            </a:extLst>
          </p:cNvPr>
          <p:cNvSpPr/>
          <p:nvPr/>
        </p:nvSpPr>
        <p:spPr>
          <a:xfrm>
            <a:off x="9172914" y="3865363"/>
            <a:ext cx="2003948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04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Empleo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turístico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id="{C6E963DA-3627-4643-9A0D-E3DB198EB4F1}"/>
              </a:ext>
            </a:extLst>
          </p:cNvPr>
          <p:cNvCxnSpPr>
            <a:cxnSpLocks/>
          </p:cNvCxnSpPr>
          <p:nvPr/>
        </p:nvCxnSpPr>
        <p:spPr>
          <a:xfrm>
            <a:off x="1882588" y="4532221"/>
            <a:ext cx="82968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lipse 15">
            <a:extLst>
              <a:ext uri="{FF2B5EF4-FFF2-40B4-BE49-F238E27FC236}">
                <a16:creationId id="{620F1599-A92D-D945-B7C4-7CB814A1E037}"/>
              </a:ext>
            </a:extLst>
          </p:cNvPr>
          <p:cNvSpPr/>
          <p:nvPr/>
        </p:nvSpPr>
        <p:spPr>
          <a:xfrm>
            <a:off x="1857508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Elipse 16">
            <a:extLst>
              <a:ext uri="{FF2B5EF4-FFF2-40B4-BE49-F238E27FC236}">
                <a16:creationId id="{6EE9C1C4-1E88-DF4E-A65B-0218C95B4041}"/>
              </a:ext>
            </a:extLst>
          </p:cNvPr>
          <p:cNvSpPr/>
          <p:nvPr/>
        </p:nvSpPr>
        <p:spPr>
          <a:xfrm>
            <a:off x="4659940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 xml:space="preserve"> </a:t>
            </a:r>
          </a:p>
        </p:txBody>
      </p:sp>
      <p:sp>
        <p:nvSpPr>
          <p:cNvPr id="18" name="Elipse 17">
            <a:extLst>
              <a:ext uri="{FF2B5EF4-FFF2-40B4-BE49-F238E27FC236}">
                <a16:creationId id="{6E2A3A38-001C-B04E-8512-7DD2433DC171}"/>
              </a:ext>
            </a:extLst>
          </p:cNvPr>
          <p:cNvSpPr/>
          <p:nvPr/>
        </p:nvSpPr>
        <p:spPr>
          <a:xfrm>
            <a:off x="7396244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 xml:space="preserve"> </a:t>
            </a:r>
          </a:p>
        </p:txBody>
      </p:sp>
      <p:sp>
        <p:nvSpPr>
          <p:cNvPr id="19" name="Elipse 18">
            <a:extLst>
              <a:ext uri="{FF2B5EF4-FFF2-40B4-BE49-F238E27FC236}">
                <a16:creationId id="{377ADEF3-D508-7944-8B71-F8B0C8E68F62}"/>
              </a:ext>
            </a:extLst>
          </p:cNvPr>
          <p:cNvSpPr/>
          <p:nvPr/>
        </p:nvSpPr>
        <p:spPr>
          <a:xfrm>
            <a:off x="10128448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 xml:space="preserve"> 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id="{7F8E69BE-D07F-3A4F-8882-5E887A5543CA}"/>
              </a:ext>
            </a:extLst>
          </p:cNvPr>
          <p:cNvGrpSpPr/>
          <p:nvPr/>
        </p:nvGrpSpPr>
        <p:grpSpPr>
          <a:xfrm>
            <a:off x="8460336" y="1672046"/>
            <a:ext cx="3215727" cy="425042"/>
            <a:chOff x="371142" y="6122731"/>
            <a:chExt cx="1930011" cy="255101"/>
          </a:xfrm>
        </p:grpSpPr>
        <p:pic>
          <p:nvPicPr>
            <p:cNvPr id="15" name="Imagen 14">
              <a:extLst>
                <a:ext uri="{FF2B5EF4-FFF2-40B4-BE49-F238E27FC236}">
                  <a16:creationId id="{88E82B3C-48F0-C34B-B79D-EC52F3637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20" name="Gráfico 19">
              <a:extLst>
                <a:ext uri="{FF2B5EF4-FFF2-40B4-BE49-F238E27FC236}">
                  <a16:creationId id="{84854DF8-2967-5941-BF61-FE80C4C638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006890645"/>
      </p:ext>
    </p:extLst>
  </p:cSld>
  <p:clrMapOvr>
    <a:masterClrMapping/>
  </p:clrMapOvr>
</p:sld>
</file>

<file path=ppt/slides/slide3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Afluencia</a:t>
            </a:r>
          </a:p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turística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La provincia de Valencia registró 7.098.741 turistas en 2025 (-10.1% respecto a 2024). El turismo internacional alcanzó 3.605.939 visitantes (++13.6%), consolidando la recuperación post-pandémica. El turismo nacional registró 3.492.802 viajeros.</a:t>
            </a:r>
          </a:p>
        </p:txBody>
      </p:sp>
    </p:spTree>
    <p:extLst>
      <p:ext uri="{BB962C8B-B14F-4D97-AF65-F5344CB8AC3E}">
        <ns3:creationId val="263262923"/>
      </p:ext>
    </p:extLst>
  </p:cSld>
  <p:clrMapOvr>
    <a:masterClrMapping/>
  </p:clrMapOvr>
</p:sld>
</file>

<file path=ppt/slides/slide4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El turismo nacional hacia Valencia registró 3.492.802 visitantes en 2025, -26.1% respecto a 2024. Madrid (1.052.141 turistas), Alicante y Castellón son los principales mercados emisores nacionales. La demanda interna supone el 49% del total.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Principales resultados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del periodo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5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Gráfico 10">
            <a:extLst>
              <a:ext uri="{FF2B5EF4-FFF2-40B4-BE49-F238E27FC236}">
                <a16:creationId id="{AF8EC7F7-7EB5-3A48-A4FC-34583BCC66CF}"/>
              </a:ext>
            </a:extLst>
          </p:cNvPr>
          <p:cNvGraphicFramePr/>
          <p:nvPr>
            <p:extLst>
              <p:ext uri="{D42A27DB-BD31-4B8C-83A1-F6EECF244321}">
                <ns3:modId val="314975507"/>
              </p:ext>
            </p:extLst>
          </p:nvPr>
        </p:nvGraphicFramePr>
        <p:xfrm>
          <a:off x="6096000" y="1113692"/>
          <a:ext cx="5501834" cy="5384091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3" name="Rectángulo 12">
            <a:extLst>
              <a:ext uri="{FF2B5EF4-FFF2-40B4-BE49-F238E27FC236}">
                <a16:creationId id="{C9F2CB46-974F-FA46-A0DF-9BBB28B6E8E2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1A2D61B-5B16-7442-A1AD-A4F77FBF39A6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ángulo 15">
            <a:extLst>
              <a:ext uri="{FF2B5EF4-FFF2-40B4-BE49-F238E27FC236}">
                <a16:creationId id="{15FCBB9D-F35F-B840-BCDF-EB4FAF6C9BF3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Principales resultados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del periodo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id="{A9DB14CB-C47F-34CC-BE48-2C3A5CC95EBD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El turismo internacional hacia Valencia alcanzó 3.605.939 visitantes en 2025, +13.6% respecto a 2024. Los principales mercados emisores son Francia, Italia, Reino Unido. Francia lidera con 444.971 turistas (+6.5%).</a:t>
            </a:r>
          </a:p>
        </p:txBody>
      </p:sp>
    </p:spTree>
    <p:extLst>
      <p:ext uri="{BB962C8B-B14F-4D97-AF65-F5344CB8AC3E}">
        <ns3:creationId val="206667791"/>
      </p:ext>
    </p:extLst>
  </p:cSld>
  <p:clrMapOvr>
    <a:masterClrMapping/>
  </p:clrMapOvr>
</p:sld>
</file>

<file path=ppt/slides/slide6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5" cy="2001061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 distribución mensual de 2025 muestra una clara estacionalidad veraniega. Los meses de julio y agosto concentran la mayor afluencia. El turismo internacional es especialmente relevante en los meses de verano y otoño. El total anual asciende a 7.098.741 visitantes.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C9F2CB46-974F-FA46-A0DF-9BBB28B6E8E2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1A2D61B-5B16-7442-A1AD-A4F77FBF39A6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Gráfico 7">
            <a:extLst>
              <a:ext uri="{FF2B5EF4-FFF2-40B4-BE49-F238E27FC236}">
                <a16:creationId id="{4C7ED280-2256-1E4D-A043-08BFE50BDB24}"/>
              </a:ext>
            </a:extLst>
          </p:cNvPr>
          <p:cNvGraphicFramePr/>
          <p:nvPr>
            <p:extLst>
              <p:ext uri="{D42A27DB-BD31-4B8C-83A1-F6EECF244321}">
                <ns3:modId val="3872952716"/>
              </p:ext>
            </p:extLst>
          </p:nvPr>
        </p:nvGraphicFramePr>
        <p:xfrm>
          <a:off x="6095999" y="1723292"/>
          <a:ext cx="5501835" cy="4797935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9" name="Rectángulo 8">
            <a:extLst>
              <a:ext uri="{FF2B5EF4-FFF2-40B4-BE49-F238E27FC236}">
                <a16:creationId id="{17DD0ADA-76DB-F44D-A907-4A634FCFEBE4}"/>
              </a:ext>
            </a:extLst>
          </p:cNvPr>
          <p:cNvSpPr/>
          <p:nvPr/>
        </p:nvSpPr>
        <p:spPr>
          <a:xfrm>
            <a:off x="6095999" y="1022873"/>
            <a:ext cx="5580063" cy="28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100" b="1" kern="0" dirty="0">
                <a:solidFill>
                  <a:schemeClr val="bg1"/>
                </a:solidFill>
                <a:highlight>
                  <a:srgbClr val="04A2B6"/>
                </a:highlight>
                <a:latin typeface="Montserrat SemiBold" pitchFamily="2" charset="77"/>
                <a:cs typeface="Times New Roman" panose="02020603050405020304" pitchFamily="18" charset="0"/>
              </a:rPr>
              <a:t>Turismo nacional.          Turismo internacional.          Afluencia total.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id="{716F3FC8-DA67-C442-A825-FE4460C9371D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Principales resultados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del periodo</a:t>
            </a:r>
          </a:p>
        </p:txBody>
      </p:sp>
    </p:spTree>
    <p:extLst>
      <p:ext uri="{BB962C8B-B14F-4D97-AF65-F5344CB8AC3E}">
        <ns3:creationId val="3955974490"/>
      </p:ext>
    </p:extLst>
  </p:cSld>
  <p:clrMapOvr>
    <a:masterClrMapping/>
  </p:clrMapOvr>
</p:sld>
</file>

<file path=ppt/slides/slide7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892249"/>
            <a:ext cx="4833815" cy="221503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Principales mercados emisores internacionales: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Francia: 444.971 (+6.5%)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Italia: 371.921 (+24.9%)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Reino Unido: 353.207 (+8.9%)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/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Principales mercados nacionales: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Madrid: 1.052.141 (-24.6%)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Alicante/Alacant: 663.943 (-24.1%)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Castellón/Castelló: 380.630 (-29.9%)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Evolución reciente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y lectura de tendencias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C9F2CB46-974F-FA46-A0DF-9BBB28B6E8E2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1A2D61B-5B16-7442-A1AD-A4F77FBF39A6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Gráfico 10">
            <a:extLst>
              <a:ext uri="{FF2B5EF4-FFF2-40B4-BE49-F238E27FC236}">
                <a16:creationId id="{20BEBA1D-0125-EF48-AAB9-E14627116207}"/>
              </a:ext>
            </a:extLst>
          </p:cNvPr>
          <p:cNvGraphicFramePr/>
          <p:nvPr>
            <p:extLst>
              <p:ext uri="{D42A27DB-BD31-4B8C-83A1-F6EECF244321}">
                <ns3:modId val="3528675465"/>
              </p:ext>
            </p:extLst>
          </p:nvPr>
        </p:nvGraphicFramePr>
        <p:xfrm>
          <a:off x="6096000" y="1304925"/>
          <a:ext cx="5697415" cy="5224829"/>
        </p:xfrm>
        <a:graphic>
          <a:graphicData uri="http://schemas.openxmlformats.org/drawingml/2006/chart">
            <c:chart r:id="rId2"/>
          </a:graphicData>
        </a:graphic>
      </p:graphicFrame>
    </p:spTree>
    <p:extLst>
      <p:ext uri="{BB962C8B-B14F-4D97-AF65-F5344CB8AC3E}">
        <ns3:creationId val="4162713853"/>
      </p:ext>
    </p:extLst>
  </p:cSld>
  <p:clrMapOvr>
    <a:masterClrMapping/>
  </p:clrMapOvr>
</p:sld>
</file>

<file path=ppt/slides/slide8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id="{270CDAAA-E423-4241-B0DB-04E6C5AC5E05}"/>
              </a:ext>
            </a:extLst>
          </p:cNvPr>
          <p:cNvSpPr/>
          <p:nvPr/>
        </p:nvSpPr>
        <p:spPr>
          <a:xfrm>
            <a:off x="638668" y="1075606"/>
            <a:ext cx="4074261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200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id="{69982C3D-B931-114F-A527-E7F3B6610129}"/>
              </a:ext>
            </a:extLst>
          </p:cNvPr>
          <p:cNvSpPr/>
          <p:nvPr/>
        </p:nvSpPr>
        <p:spPr>
          <a:xfrm>
            <a:off x="638668" y="1392995"/>
            <a:ext cx="7139240" cy="4744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Conclusiones y resultados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E5585DDF-1162-364C-93D6-09AB71A7B6BE}"/>
              </a:ext>
            </a:extLst>
          </p:cNvPr>
          <p:cNvSpPr/>
          <p:nvPr/>
        </p:nvSpPr>
        <p:spPr>
          <a:xfrm>
            <a:off x="638669" y="2020610"/>
            <a:ext cx="526181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El turismo internacional creció +13.6% en 2025, alcanzando 3.605.939 visitantes (50.8% del total). Francia, Italia y Reino Unido son los tres principales mercados emisores. La tendencia creciente desde 2020 se consolida en 2025.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id="{0B5F7BD0-6DBF-5447-8B94-BC6D8E119919}"/>
              </a:ext>
            </a:extLst>
          </p:cNvPr>
          <p:cNvSpPr/>
          <p:nvPr/>
        </p:nvSpPr>
        <p:spPr>
          <a:xfrm>
            <a:off x="6291521" y="2020610"/>
            <a:ext cx="5261810" cy="26549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El turismo nacional registró 3.492.802 visitantes en 2025 (49.2% del total). La caída del +26.1% respecto a 2024 se explica por la disponibilidad parcial de datos anuales. Madrid, Alicante y Castellón son los principales orígenes nacionales.</a:t>
            </a:r>
          </a:p>
        </p:txBody>
      </p:sp>
    </p:spTree>
    <p:extLst>
      <p:ext uri="{BB962C8B-B14F-4D97-AF65-F5344CB8AC3E}">
        <ns3:creationId val="2119977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7A48E-A992-45B2-387F-9D7784ECB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A54073F4-BECA-4244-87C9-98ADE53CB4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0A0CD324-6DCD-BA49-A073-078E28E36644}"/>
              </a:ext>
            </a:extLst>
          </p:cNvPr>
          <p:cNvSpPr txBox="1"/>
          <p:nvPr/>
        </p:nvSpPr>
        <p:spPr>
          <a:xfrm>
            <a:off x="929056" y="2377835"/>
            <a:ext cx="10260863" cy="839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6200"/>
              </a:lnSpc>
            </a:pPr>
            <a:r>
              <a:rPr lang="es-ES" sz="4000" dirty="0">
                <a:solidFill>
                  <a:schemeClr val="bg1"/>
                </a:solidFill>
                <a:latin typeface="DM Serif Display" pitchFamily="2" charset="0"/>
              </a:rPr>
              <a:t xml:space="preserve">Informe de análisis de datos 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B4095491-979B-8B42-8429-26E7A11D640F}"/>
              </a:ext>
            </a:extLst>
          </p:cNvPr>
          <p:cNvSpPr/>
          <p:nvPr/>
        </p:nvSpPr>
        <p:spPr>
          <a:xfrm>
            <a:off x="3713902" y="3165421"/>
            <a:ext cx="469070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Montserrat Medium" pitchFamily="2" charset="77"/>
              </a:rPr>
              <a:t>SMART OFFICE DIPUTACIÓN DE VALÉNCIA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3B6F16C-54F4-3E42-8154-73204DB5AB81}"/>
              </a:ext>
            </a:extLst>
          </p:cNvPr>
          <p:cNvGrpSpPr/>
          <p:nvPr/>
        </p:nvGrpSpPr>
        <p:grpSpPr>
          <a:xfrm>
            <a:off x="4385750" y="5423925"/>
            <a:ext cx="3420501" cy="452108"/>
            <a:chOff x="371142" y="6122731"/>
            <a:chExt cx="1930011" cy="255101"/>
          </a:xfrm>
        </p:grpSpPr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17082C2F-9498-9E42-97DB-9683ECA4B2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4" name="Gráfico 13">
              <a:extLst>
                <a:ext uri="{FF2B5EF4-FFF2-40B4-BE49-F238E27FC236}">
                  <a16:creationId xmlns:a16="http://schemas.microsoft.com/office/drawing/2014/main" id="{3E5386C9-F033-1F4D-AFF0-48148740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939960"/>
      </p:ext>
    </p:extLst>
  </p:cSld>
  <p:clrMapOvr>
    <a:masterClrMapping/>
  </p:clrMapOvr>
</p:sld>
</file>

<file path=ppt/slides/slide10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Ocupación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Las pernoctaciones hoteleras en Valencia ascendieron a 17.491.480 en 2025 (-1.0%). Los viajeros en establecimientos hoteleros alcanzaron 7.378.071, con una estancia media de 2,24 noches.</a:t>
            </a:r>
          </a:p>
        </p:txBody>
      </p:sp>
    </p:spTree>
    <p:extLst>
      <p:ext uri="{BB962C8B-B14F-4D97-AF65-F5344CB8AC3E}">
        <ns3:creationId val="263262923"/>
      </p:ext>
    </p:extLst>
  </p:cSld>
  <p:clrMapOvr>
    <a:masterClrMapping/>
  </p:clrMapOvr>
</p:sld>
</file>

<file path=ppt/slides/slide11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El grado de ocupación hotelera en Valencia alcanzó el 58,5% de media anual en 2025 (-3.1%). El punto álgido se registró en agosto (75,2%), mientras que enero fue el mes con menor actividad (43,3%).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Grado de ocupación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hotelera mensual 2025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OCUPACIÓN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12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Las pernoctaciones hoteleras en 2025 totalizaron 17.491.480, con Agosto como mes de mayor actividad. La estancia media es de 2,24 noches. Se registraron 7.378.071 viajeros en total.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Pernoctaciones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mensuales 2025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OCUPACIÓN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13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Oferta</a:t>
            </a:r>
          </a:p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turística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La oferta turística reglada en la provincia de Valencia cuenta con 565 establecimientos hoteleros activos (47.036 plazas), 7.949 viviendas de uso turístico (38.463 plazas) y 48 campings. La oferta total supera las 85.499 plazas registradas.</a:t>
            </a:r>
          </a:p>
        </p:txBody>
      </p:sp>
    </p:spTree>
    <p:extLst>
      <p:ext uri="{BB962C8B-B14F-4D97-AF65-F5344CB8AC3E}">
        <ns3:creationId val="263262923"/>
      </p:ext>
    </p:extLst>
  </p:cSld>
  <p:clrMapOvr>
    <a:masterClrMapping/>
  </p:clrMapOvr>
</p:sld>
</file>

<file path=ppt/slides/slide14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La planta hotelera de Valencia comprende 565 establecimientos activos con 47.036 plazas. PENSIÓN: 105 establecimientos (2.131 plazas). 2 ESTRELLAS: 104 establecimientos (6.446 plazas). 3 ESTRELLAS: 95 establecimientos (11.271 plazas).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Establecimientos hoteleros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por categoría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OFERTA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15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Valencia cuenta con 7.949 VUT registradas con 38.463 plazas totales. Oliva y Cullera concentran la mayor oferta con 1.463 y 1.421 VUT respectivamente. La distribución geográfica muestra una concentración en municipios costeros de las comarcas de La Safor y L'Horta.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Viviendas de uso turístico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(VUT) – Top municipios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OFERTA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16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Empleo</a:t>
            </a:r>
          </a:p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turístico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El sector turístico en Valencia genera 90.954 afiliados a la Seguridad Social en el último trimestre disponible. La hostelería (alojamiento y restauración) concentra la mayor parte del empleo turístico, con notable estacionalidad en los meses de verano.</a:t>
            </a:r>
          </a:p>
        </p:txBody>
      </p:sp>
    </p:spTree>
    <p:extLst>
      <p:ext uri="{BB962C8B-B14F-4D97-AF65-F5344CB8AC3E}">
        <ns3:creationId val="263262923"/>
      </p:ext>
    </p:extLst>
  </p:cSld>
  <p:clrMapOvr>
    <a:masterClrMapping/>
  </p:clrMapOvr>
</p:sld>
</file>

<file path=ppt/slides/slide17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En octubre 2025, el sector de alojamiento contaba con 8.406 afiliados y restauración con 79.769. El pico estival (julio) alcanzó 10.474 en alojamiento y 80.652 en restauración, reflejando la fuerte estacionalidad del sector. Las agencias de viaje mantienen una plantilla más estable durante el año.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Afiliados a la Seguridad Social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por sectores (2025)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EMPLEO TURÍSTICO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18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id="{270CDAAA-E423-4241-B0DB-04E6C5AC5E05}"/>
              </a:ext>
            </a:extLst>
          </p:cNvPr>
          <p:cNvSpPr/>
          <p:nvPr/>
        </p:nvSpPr>
        <p:spPr>
          <a:xfrm>
            <a:off x="638668" y="1075606"/>
            <a:ext cx="4074261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200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GLOSARIO DE TÉRMINOS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id="{69982C3D-B931-114F-A527-E7F3B6610129}"/>
              </a:ext>
            </a:extLst>
          </p:cNvPr>
          <p:cNvSpPr/>
          <p:nvPr/>
        </p:nvSpPr>
        <p:spPr>
          <a:xfrm>
            <a:off x="638668" y="1392995"/>
            <a:ext cx="7139240" cy="4744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Definiciones y metodología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E5585DDF-1162-364C-93D6-09AB71A7B6BE}"/>
              </a:ext>
            </a:extLst>
          </p:cNvPr>
          <p:cNvSpPr/>
          <p:nvPr/>
        </p:nvSpPr>
        <p:spPr>
          <a:xfrm>
            <a:off x="638669" y="2020610"/>
            <a:ext cx="526181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Turismo receptor: Visitantes no residentes que viajan a la provincia desde el extranjero (INE - Movimientos Turísticos).</a:t>
            </a:r>
          </a:p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Turismo interno: Visitantes residentes en España que viajan dentro del territorio nacional a Valencia.</a:t>
            </a:r>
          </a:p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Pernoctaciones: Número de noches que los viajeros pernoctan en establecimientos hoteleros reglados.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id="{0B5F7BD0-6DBF-5447-8B94-BC6D8E119919}"/>
              </a:ext>
            </a:extLst>
          </p:cNvPr>
          <p:cNvSpPr/>
          <p:nvPr/>
        </p:nvSpPr>
        <p:spPr>
          <a:xfrm>
            <a:off x="6291521" y="2020610"/>
            <a:ext cx="5261810" cy="26549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VUT (Vivienda de Uso Turístico): Inmueble cedido con fines turísticos registrado en el Registro de Turismo de la C. Valenciana.</a:t>
            </a:r>
          </a:p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Grado de ocupación: Porcentaje de plazas o habitaciones ocupadas respecto al total disponible (EOH - INE).</a:t>
            </a:r>
          </a:p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Fuentes: INE (Estadística de Movimientos Turísticos, EOH, EPA), GVA Turismo, Seguridad Social.</a:t>
            </a:r>
          </a:p>
        </p:txBody>
      </p:sp>
    </p:spTree>
    <p:extLst>
      <p:ext uri="{BB962C8B-B14F-4D97-AF65-F5344CB8AC3E}">
        <ns3:creationId val="21199772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637</Words>
  <Application>Microsoft Office PowerPoint</Application>
  <PresentationFormat>Panorámica</PresentationFormat>
  <Paragraphs>42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9</vt:i4>
      </vt:variant>
    </vt:vector>
  </HeadingPairs>
  <TitlesOfParts>
    <vt:vector size="20" baseType="lpstr">
      <vt:lpstr>DM Serif Display</vt:lpstr>
      <vt:lpstr>Calibri Light</vt:lpstr>
      <vt:lpstr>Montserrat SemiBold</vt:lpstr>
      <vt:lpstr>Aptos Display</vt:lpstr>
      <vt:lpstr>Arial</vt:lpstr>
      <vt:lpstr>Montserrat Medium</vt:lpstr>
      <vt:lpstr>Aptos</vt:lpstr>
      <vt:lpstr>Montserrat</vt:lpstr>
      <vt:lpstr>Calibri</vt:lpstr>
      <vt:lpstr>Tema de Office</vt:lpstr>
      <vt:lpstr>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Maite</dc:creator>
  <cp:lastModifiedBy>Pere Lloret</cp:lastModifiedBy>
  <cp:revision>11</cp:revision>
  <dcterms:created xsi:type="dcterms:W3CDTF">2025-09-15T10:04:52Z</dcterms:created>
  <dcterms:modified xsi:type="dcterms:W3CDTF">2026-02-26T19:34:29Z</dcterms:modified>
</cp:coreProperties>
</file>