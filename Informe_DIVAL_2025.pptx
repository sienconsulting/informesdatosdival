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339" r:id="rId60"/>
    <p:sldId id="340" r:id="rId61"/>
    <p:sldId id="341" r:id="rId62"/>
    <p:sldId id="342" r:id="rId63"/>
    <p:sldId id="343" r:id="rId64"/>
    <p:sldId id="344" r:id="rId65"/>
    <p:sldId id="345" r:id="rId66"/>
    <p:sldId id="346" r:id="rId67"/>
    <p:sldId id="347" r:id="rId68"/>
    <p:sldId id="348" r:id="rId69"/>
    <p:sldId id="349" r:id="rId70"/>
    <p:sldId id="350" r:id="rId71"/>
    <p:sldId id="351" r:id="rId72"/>
  </p:sldIdLst>
  <p:sldSz cx="12192000" cy="6858000"/>
  <p:notesSz cx="6858000" cy="9144000"/>
  <p:embeddedFontLst>
    <p:embeddedFont>
      <p:font typeface="DM Serif Display" pitchFamily="2" charset="0"/>
      <p:regular r:id="rId13"/>
      <p:italic r:id="rId14"/>
    </p:embeddedFont>
    <p:embeddedFont>
      <p:font typeface="Montserrat" pitchFamily="2" charset="0"/>
      <p:regular r:id="rId15"/>
      <p:bold r:id="rId16"/>
      <p:italic r:id="rId17"/>
      <p:boldItalic r:id="rId18"/>
    </p:embeddedFont>
    <p:embeddedFont>
      <p:font typeface="Montserrat Medium" pitchFamily="2" charset="0"/>
      <p:regular r:id="rId19"/>
      <p:italic r:id="rId20"/>
    </p:embeddedFont>
    <p:embeddedFont>
      <p:font typeface="Montserrat SemiBold" pitchFamily="2" charset="0"/>
      <p:regular r:id="rId21"/>
      <p:bold r:id="rId22"/>
      <p:italic r:id="rId23"/>
      <p:boldItalic r:id="rId2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9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822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  <p15:guide id="6" pos="7355" userDrawn="1">
          <p15:clr>
            <a:srgbClr val="A4A3A4"/>
          </p15:clr>
        </p15:guide>
        <p15:guide id="7" orient="horz" pos="1321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42"/>
    <a:srgbClr val="71CFA9"/>
    <a:srgbClr val="95C21E"/>
    <a:srgbClr val="04A2B6"/>
    <a:srgbClr val="27649F"/>
    <a:srgbClr val="009AA7"/>
    <a:srgbClr val="76B463"/>
    <a:srgbClr val="5176B8"/>
    <a:srgbClr val="04145E"/>
    <a:srgbClr val="F0C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C8B9C-3ED9-4FAE-8B86-54F30592F8F5}" v="6" dt="2026-02-26T19:34:0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15"/>
  </p:normalViewPr>
  <p:slideViewPr>
    <p:cSldViewPr snapToGrid="0">
      <p:cViewPr varScale="1">
        <p:scale>
          <a:sx n="97" d="100"/>
          <a:sy n="97" d="100"/>
        </p:scale>
        <p:origin x="1278" y="306"/>
      </p:cViewPr>
      <p:guideLst>
        <p:guide orient="horz" pos="2160"/>
        <p:guide pos="3296"/>
        <p:guide pos="3840"/>
        <p:guide orient="horz" pos="822"/>
        <p:guide orient="horz" pos="3861"/>
        <p:guide pos="7355"/>
        <p:guide orient="horz" pos="1321"/>
        <p:guide orient="horz" pos="4042"/>
        <p:guide orient="horz" pos="33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1" d="100"/>
          <a:sy n="121" d="100"/>
        </p:scale>
        <p:origin x="4488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0" Type="http://schemas.openxmlformats.org/officeDocument/2006/relationships/slide" Target="slides/slide49.xml"/><Relationship Id="rId71" Type="http://schemas.openxmlformats.org/officeDocument/2006/relationships/slide" Target="slides/slide50.xml"/><Relationship Id="rId7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 Lloret" userId="7910d177-ec33-4b32-99c4-b326d77bd835" providerId="ADAL" clId="{74AC9018-D152-48B8-8D96-46F61B528486}"/>
    <pc:docChg chg="custSel delSld modSld">
      <pc:chgData name="Pere Lloret" userId="7910d177-ec33-4b32-99c4-b326d77bd835" providerId="ADAL" clId="{74AC9018-D152-48B8-8D96-46F61B528486}" dt="2026-02-26T19:34:28.633" v="32" actId="20577"/>
      <pc:docMkLst>
        <pc:docMk/>
      </pc:docMkLst>
      <pc:sldChg chg="modSp mod">
        <pc:chgData name="Pere Lloret" userId="7910d177-ec33-4b32-99c4-b326d77bd835" providerId="ADAL" clId="{74AC9018-D152-48B8-8D96-46F61B528486}" dt="2026-02-26T19:34:28.633" v="32" actId="20577"/>
        <pc:sldMkLst>
          <pc:docMk/>
          <pc:sldMk cId="800913457" sldId="256"/>
        </pc:sldMkLst>
        <pc:spChg chg="mod">
          <ac:chgData name="Pere Lloret" userId="7910d177-ec33-4b32-99c4-b326d77bd835" providerId="ADAL" clId="{74AC9018-D152-48B8-8D96-46F61B528486}" dt="2026-02-26T19:34:28.633" v="32" actId="20577"/>
          <ac:spMkLst>
            <pc:docMk/>
            <pc:sldMk cId="800913457" sldId="256"/>
            <ac:spMk id="15" creationId="{B8E12F29-AEFF-1648-82DB-A98A3FE6A988}"/>
          </ac:spMkLst>
        </pc:spChg>
      </pc:sldChg>
      <pc:sldChg chg="modSp mod">
        <pc:chgData name="Pere Lloret" userId="7910d177-ec33-4b32-99c4-b326d77bd835" providerId="ADAL" clId="{74AC9018-D152-48B8-8D96-46F61B528486}" dt="2026-02-26T19:34:03.369" v="29"/>
        <pc:sldMkLst>
          <pc:docMk/>
          <pc:sldMk cId="2119977243" sldId="271"/>
        </pc:sldMkLst>
        <pc:spChg chg="mod">
          <ac:chgData name="Pere Lloret" userId="7910d177-ec33-4b32-99c4-b326d77bd835" providerId="ADAL" clId="{74AC9018-D152-48B8-8D96-46F61B528486}" dt="2026-02-26T19:33:57.894" v="26" actId="20577"/>
          <ac:spMkLst>
            <pc:docMk/>
            <pc:sldMk cId="2119977243" sldId="271"/>
            <ac:spMk id="10" creationId="{E5585DDF-1162-364C-93D6-09AB71A7B6BE}"/>
          </ac:spMkLst>
        </pc:spChg>
        <pc:spChg chg="mod">
          <ac:chgData name="Pere Lloret" userId="7910d177-ec33-4b32-99c4-b326d77bd835" providerId="ADAL" clId="{74AC9018-D152-48B8-8D96-46F61B528486}" dt="2026-02-26T19:34:03.369" v="29"/>
          <ac:spMkLst>
            <pc:docMk/>
            <pc:sldMk cId="2119977243" sldId="271"/>
            <ac:spMk id="11" creationId="{0B5F7BD0-6DBF-5447-8B94-BC6D8E119919}"/>
          </ac:spMkLst>
        </pc:spChg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892734568" sldId="27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3094545759" sldId="273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942651061" sldId="27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142191861" sldId="27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794738533" sldId="28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634277675" sldId="283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022500339" sldId="28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08231340" sldId="28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3390521575" sldId="289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642786589" sldId="29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089034034" sldId="29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641551217" sldId="299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89521520" sldId="300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709473529" sldId="30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693038405" sldId="304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42374455" sldId="305"/>
        </pc:sldMkLst>
      </pc:sldChg>
      <pc:sldChg chg="addSp delSp modSp mod">
        <pc:chgData name="Pere Lloret" userId="7910d177-ec33-4b32-99c4-b326d77bd835" providerId="ADAL" clId="{74AC9018-D152-48B8-8D96-46F61B528486}" dt="2026-02-26T19:33:01.207" v="10" actId="20577"/>
        <pc:sldMkLst>
          <pc:docMk/>
          <pc:sldMk cId="206667791" sldId="306"/>
        </pc:sldMkLst>
        <pc:spChg chg="add del mod">
          <ac:chgData name="Pere Lloret" userId="7910d177-ec33-4b32-99c4-b326d77bd835" providerId="ADAL" clId="{74AC9018-D152-48B8-8D96-46F61B528486}" dt="2026-02-26T19:32:54.341" v="1" actId="478"/>
          <ac:spMkLst>
            <pc:docMk/>
            <pc:sldMk cId="206667791" sldId="306"/>
            <ac:spMk id="2" creationId="{20B23717-D6C5-9BB7-1F89-0A1B436A610C}"/>
          </ac:spMkLst>
        </pc:spChg>
        <pc:spChg chg="add mod">
          <ac:chgData name="Pere Lloret" userId="7910d177-ec33-4b32-99c4-b326d77bd835" providerId="ADAL" clId="{74AC9018-D152-48B8-8D96-46F61B528486}" dt="2026-02-26T19:33:01.207" v="10" actId="20577"/>
          <ac:spMkLst>
            <pc:docMk/>
            <pc:sldMk cId="206667791" sldId="306"/>
            <ac:spMk id="3" creationId="{A9DB14CB-C47F-34CC-BE48-2C3A5CC95EBD}"/>
          </ac:spMkLst>
        </pc:spChg>
        <pc:spChg chg="del">
          <ac:chgData name="Pere Lloret" userId="7910d177-ec33-4b32-99c4-b326d77bd835" providerId="ADAL" clId="{74AC9018-D152-48B8-8D96-46F61B528486}" dt="2026-02-26T19:32:57.270" v="2" actId="478"/>
          <ac:spMkLst>
            <pc:docMk/>
            <pc:sldMk cId="206667791" sldId="306"/>
            <ac:spMk id="12" creationId="{51C9942B-0A87-DD42-BC8A-4FE73ECEC448}"/>
          </ac:spMkLst>
        </pc:spChg>
      </pc:sldChg>
      <pc:sldChg chg="del">
        <pc:chgData name="Pere Lloret" userId="7910d177-ec33-4b32-99c4-b326d77bd835" providerId="ADAL" clId="{74AC9018-D152-48B8-8D96-46F61B528486}" dt="2026-02-26T19:33:12.972" v="11" actId="2696"/>
        <pc:sldMkLst>
          <pc:docMk/>
          <pc:sldMk cId="2554342447" sldId="307"/>
        </pc:sldMkLst>
      </pc:sldChg>
      <pc:sldChg chg="modSp mod">
        <pc:chgData name="Pere Lloret" userId="7910d177-ec33-4b32-99c4-b326d77bd835" providerId="ADAL" clId="{74AC9018-D152-48B8-8D96-46F61B528486}" dt="2026-02-26T19:33:29.184" v="19" actId="20577"/>
        <pc:sldMkLst>
          <pc:docMk/>
          <pc:sldMk cId="3955974490" sldId="308"/>
        </pc:sldMkLst>
        <pc:spChg chg="mod">
          <ac:chgData name="Pere Lloret" userId="7910d177-ec33-4b32-99c4-b326d77bd835" providerId="ADAL" clId="{74AC9018-D152-48B8-8D96-46F61B528486}" dt="2026-02-26T19:33:29.184" v="19" actId="20577"/>
          <ac:spMkLst>
            <pc:docMk/>
            <pc:sldMk cId="3955974490" sldId="308"/>
            <ac:spMk id="12" creationId="{51C9942B-0A87-DD42-BC8A-4FE73ECEC448}"/>
          </ac:spMkLst>
        </pc:spChg>
      </pc:sldChg>
      <pc:sldChg chg="modSp mod">
        <pc:chgData name="Pere Lloret" userId="7910d177-ec33-4b32-99c4-b326d77bd835" providerId="ADAL" clId="{74AC9018-D152-48B8-8D96-46F61B528486}" dt="2026-02-26T19:33:41.351" v="23"/>
        <pc:sldMkLst>
          <pc:docMk/>
          <pc:sldMk cId="4162713853" sldId="309"/>
        </pc:sldMkLst>
        <pc:spChg chg="mod">
          <ac:chgData name="Pere Lloret" userId="7910d177-ec33-4b32-99c4-b326d77bd835" providerId="ADAL" clId="{74AC9018-D152-48B8-8D96-46F61B528486}" dt="2026-02-26T19:33:41.351" v="23"/>
          <ac:spMkLst>
            <pc:docMk/>
            <pc:sldMk cId="4162713853" sldId="309"/>
            <ac:spMk id="12" creationId="{51C9942B-0A87-DD42-BC8A-4FE73ECEC448}"/>
          </ac:spMkLst>
        </pc:spChg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3703214421" sldId="310"/>
        </pc:sldMkLst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3667758382" sldId="311"/>
        </pc:sldMkLst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4096904241" sldId="312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13208</c:v>
                </c:pt>
                <c:pt idx="1">
                  <c:v>31624</c:v>
                </c:pt>
                <c:pt idx="2">
                  <c:v>31223</c:v>
                </c:pt>
                <c:pt idx="3">
                  <c:v>29340</c:v>
                </c:pt>
                <c:pt idx="4">
                  <c:v>35862</c:v>
                </c:pt>
                <c:pt idx="5">
                  <c:v>35412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C-A44B-9A3E-D03477D00EF6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A40C-A44B-9A3E-D03477D00EF6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A40C-A44B-9A3E-D03477D00E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95C2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50224</c:v>
                </c:pt>
                <c:pt idx="1">
                  <c:v>37769</c:v>
                </c:pt>
                <c:pt idx="2">
                  <c:v>61687</c:v>
                </c:pt>
                <c:pt idx="3">
                  <c:v>83055</c:v>
                </c:pt>
                <c:pt idx="4">
                  <c:v>103733</c:v>
                </c:pt>
                <c:pt idx="5">
                  <c:v>103908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5-BA49-8E7C-7D747273B70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6E75-BA49-8E7C-7D747273B70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6E75-BA49-8E7C-7D747273B7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4A2B6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13208</c:v>
                </c:pt>
                <c:pt idx="1">
                  <c:v>31624</c:v>
                </c:pt>
                <c:pt idx="2">
                  <c:v>31223</c:v>
                </c:pt>
                <c:pt idx="3">
                  <c:v>29340</c:v>
                </c:pt>
                <c:pt idx="4">
                  <c:v>35862</c:v>
                </c:pt>
                <c:pt idx="5">
                  <c:v>35412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5-714B-8870-CAB7D9B7314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95C2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95C21E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#,##0</c:formatCode>
                <c:ptCount val="6"/>
                <c:pt idx="0">
                  <c:v>50224</c:v>
                </c:pt>
                <c:pt idx="1">
                  <c:v>37769</c:v>
                </c:pt>
                <c:pt idx="2">
                  <c:v>61687</c:v>
                </c:pt>
                <c:pt idx="3">
                  <c:v>83055</c:v>
                </c:pt>
                <c:pt idx="4">
                  <c:v>103733</c:v>
                </c:pt>
                <c:pt idx="5">
                  <c:v>103908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05-714B-8870-CAB7D9B7314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Afluencia total</c:v>
                </c:pt>
              </c:strCache>
            </c:strRef>
          </c:tx>
          <c:spPr>
            <a:solidFill>
              <a:srgbClr val="27649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27649F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#,##0</c:formatCode>
                <c:ptCount val="6"/>
                <c:pt idx="0">
                  <c:v>63432</c:v>
                </c:pt>
                <c:pt idx="1">
                  <c:v>69393</c:v>
                </c:pt>
                <c:pt idx="2">
                  <c:v>92910</c:v>
                </c:pt>
                <c:pt idx="3">
                  <c:v>112395</c:v>
                </c:pt>
                <c:pt idx="4">
                  <c:v>139595</c:v>
                </c:pt>
                <c:pt idx="5">
                  <c:v>139320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05-714B-8870-CAB7D9B731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6"/>
        <c:overlap val="-9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spc="12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03791018285971"/>
          <c:y val="0.13663237435316952"/>
          <c:w val="0.86112784109493967"/>
          <c:h val="0.79649697538779163"/>
        </c:manualLayout>
      </c:layout>
      <c:lineChart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2022</c:v>
                </c:pt>
              </c:strCache>
            </c:strRef>
          </c:tx>
          <c:spPr>
            <a:ln w="25400" cap="rnd">
              <a:solidFill>
                <a:srgbClr val="27649F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27649F"/>
              </a:solidFill>
              <a:ln w="9525">
                <a:solidFill>
                  <a:srgbClr val="27649F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Hoja1!$B$2:$B$13</c:f>
              <c:numCache>
                <c:formatCode>#,##0</c:formatCode>
                <c:ptCount val="12"/>
                <c:pt idx="0">
                  <c:v>1407</c:v>
                </c:pt>
                <c:pt idx="1">
                  <c:v>1119</c:v>
                </c:pt>
                <c:pt idx="2">
                  <c:v>982</c:v>
                </c:pt>
                <c:pt idx="3">
                  <c:v>2997</c:v>
                </c:pt>
                <c:pt idx="4">
                  <c:v>2365</c:v>
                </c:pt>
                <c:pt idx="5">
                  <c:v>3441</c:v>
                </c:pt>
                <c:pt idx="6">
                  <c:v>5078</c:v>
                </c:pt>
                <c:pt idx="7">
                  <c:v>5283</c:v>
                </c:pt>
                <c:pt idx="8">
                  <c:v>2836</c:v>
                </c:pt>
                <c:pt idx="9">
                  <c:v>1491</c:v>
                </c:pt>
                <c:pt idx="10">
                  <c:v>1211</c:v>
                </c:pt>
                <c:pt idx="11">
                  <c:v>1130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5C-E641-A149-D96BD218E4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2023</c:v>
                </c:pt>
              </c:strCache>
            </c:strRef>
          </c:tx>
          <c:spPr>
            <a:ln w="25400" cap="rnd">
              <a:solidFill>
                <a:srgbClr val="95C21E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95C21E"/>
              </a:solidFill>
              <a:ln w="9525">
                <a:solidFill>
                  <a:srgbClr val="95C21E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Hoja1!$C$2:$C$13</c:f>
              <c:numCache>
                <c:formatCode>#,##0</c:formatCode>
                <c:ptCount val="12"/>
                <c:pt idx="0">
                  <c:v>1470</c:v>
                </c:pt>
                <c:pt idx="1">
                  <c:v>833</c:v>
                </c:pt>
                <c:pt idx="2">
                  <c:v>1317</c:v>
                </c:pt>
                <c:pt idx="3">
                  <c:v>3296</c:v>
                </c:pt>
                <c:pt idx="4">
                  <c:v>2649</c:v>
                </c:pt>
                <c:pt idx="5">
                  <c:v>2759</c:v>
                </c:pt>
                <c:pt idx="6">
                  <c:v>6670</c:v>
                </c:pt>
                <c:pt idx="7">
                  <c:v>7669</c:v>
                </c:pt>
                <c:pt idx="8">
                  <c:v>3164</c:v>
                </c:pt>
                <c:pt idx="9">
                  <c:v>2294</c:v>
                </c:pt>
                <c:pt idx="10">
                  <c:v>1783</c:v>
                </c:pt>
                <c:pt idx="11">
                  <c:v>1958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5C-E641-A149-D96BD218E4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rnd">
              <a:solidFill>
                <a:srgbClr val="04A2B6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04A2B6"/>
              </a:solidFill>
              <a:ln w="9525">
                <a:solidFill>
                  <a:srgbClr val="04A2B6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Hoja1!$D$2:$D$13</c:f>
              <c:numCache>
                <c:formatCode>#,##0</c:formatCode>
                <c:ptCount val="12"/>
                <c:pt idx="0">
                  <c:v>2428</c:v>
                </c:pt>
                <c:pt idx="1">
                  <c:v>1652</c:v>
                </c:pt>
                <c:pt idx="2">
                  <c:v>2308</c:v>
                </c:pt>
                <c:pt idx="3">
                  <c:v>3449</c:v>
                </c:pt>
                <c:pt idx="4">
                  <c:v>2659</c:v>
                </c:pt>
                <c:pt idx="5">
                  <c:v>3211</c:v>
                </c:pt>
                <c:pt idx="6">
                  <c:v>5539</c:v>
                </c:pt>
                <c:pt idx="7">
                  <c:v>6994</c:v>
                </c:pt>
                <c:pt idx="8">
                  <c:v>3278</c:v>
                </c:pt>
                <c:pt idx="9">
                  <c:v>1343</c:v>
                </c:pt>
                <c:pt idx="10" formatCode="General">
                  <c:v>883</c:v>
                </c:pt>
                <c:pt idx="11">
                  <c:v>1665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5C-E641-A149-D96BD218E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2506752"/>
        <c:axId val="1752508384"/>
      </c:line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2">
                    <a:lumMod val="75000"/>
                  </a:schemeClr>
                </a:solidFill>
                <a:latin typeface="Montserrat Medium" pitchFamily="2" charset="77"/>
                <a:ea typeface="+mn-ea"/>
                <a:cs typeface="+mn-cs"/>
              </a:defRPr>
            </a:pPr>
            <a:endParaRPr lang="es-ES"/>
          </a:p>
        </c:txPr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136887250993083"/>
          <c:y val="2.0458845517953225E-3"/>
          <c:w val="0.88632378811931234"/>
          <c:h val="6.64057578168507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2288081</c:v>
                </c:pt>
                <c:pt idx="1">
                  <c:v>2684325</c:v>
                </c:pt>
                <c:pt idx="2">
                  <c:v>3388935</c:v>
                </c:pt>
                <c:pt idx="3">
                  <c:v>3834256</c:v>
                </c:pt>
                <c:pt idx="4">
                  <c:v>4741685</c:v>
                </c:pt>
                <c:pt idx="5">
                  <c:v>4723705</c:v>
                </c:pt>
                <c:pt idx="6">
                  <c:v>3492802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1176757</c:v>
                </c:pt>
                <c:pt idx="1">
                  <c:v>1073481</c:v>
                </c:pt>
                <c:pt idx="2">
                  <c:v>1264586</c:v>
                </c:pt>
                <c:pt idx="3">
                  <c:v>2017370</c:v>
                </c:pt>
                <c:pt idx="4">
                  <c:v>2600825</c:v>
                </c:pt>
                <c:pt idx="5">
                  <c:v>3172865</c:v>
                </c:pt>
                <c:pt idx="6">
                  <c:v>3605939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Turistes internacionals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1176757</c:v>
                </c:pt>
                <c:pt idx="1">
                  <c:v>1073481</c:v>
                </c:pt>
                <c:pt idx="2">
                  <c:v>1264586</c:v>
                </c:pt>
                <c:pt idx="3">
                  <c:v>2017370</c:v>
                </c:pt>
                <c:pt idx="4">
                  <c:v>2600825</c:v>
                </c:pt>
                <c:pt idx="5">
                  <c:v>3172865</c:v>
                </c:pt>
                <c:pt idx="6">
                  <c:v>3605939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Turistes nacionals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2288081</c:v>
                </c:pt>
                <c:pt idx="1">
                  <c:v>2684325</c:v>
                </c:pt>
                <c:pt idx="2">
                  <c:v>3388935</c:v>
                </c:pt>
                <c:pt idx="3">
                  <c:v>3834256</c:v>
                </c:pt>
                <c:pt idx="4">
                  <c:v>4741685</c:v>
                </c:pt>
                <c:pt idx="5">
                  <c:v>4723705</c:v>
                </c:pt>
                <c:pt idx="6">
                  <c:v>3492802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275404</c:v>
                </c:pt>
                <c:pt idx="1">
                  <c:v>263556</c:v>
                </c:pt>
                <c:pt idx="2">
                  <c:v>322211</c:v>
                </c:pt>
                <c:pt idx="3">
                  <c:v>277201</c:v>
                </c:pt>
                <c:pt idx="4">
                  <c:v>282788</c:v>
                </c:pt>
                <c:pt idx="5">
                  <c:v>340611</c:v>
                </c:pt>
                <c:pt idx="6">
                  <c:v>346390</c:v>
                </c:pt>
                <c:pt idx="7">
                  <c:v>351352</c:v>
                </c:pt>
                <c:pt idx="8">
                  <c:v>279823</c:v>
                </c:pt>
                <c:pt idx="9">
                  <c:v>266456</c:v>
                </c:pt>
                <c:pt idx="10">
                  <c:v>266673</c:v>
                </c:pt>
                <c:pt idx="11">
                  <c:v>220337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214290</c:v>
                </c:pt>
                <c:pt idx="1">
                  <c:v>220274</c:v>
                </c:pt>
                <c:pt idx="2">
                  <c:v>281206</c:v>
                </c:pt>
                <c:pt idx="3">
                  <c:v>307076</c:v>
                </c:pt>
                <c:pt idx="4">
                  <c:v>323234</c:v>
                </c:pt>
                <c:pt idx="5">
                  <c:v>315016</c:v>
                </c:pt>
                <c:pt idx="6">
                  <c:v>351614</c:v>
                </c:pt>
                <c:pt idx="7">
                  <c:v>377230</c:v>
                </c:pt>
                <c:pt idx="8">
                  <c:v>317358</c:v>
                </c:pt>
                <c:pt idx="9">
                  <c:v>341696</c:v>
                </c:pt>
                <c:pt idx="10">
                  <c:v>291298</c:v>
                </c:pt>
                <c:pt idx="11">
                  <c:v>265647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BBBBBB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200075</c:v>
                </c:pt>
                <c:pt idx="1">
                  <c:v>190711</c:v>
                </c:pt>
                <c:pt idx="2">
                  <c:v>250898</c:v>
                </c:pt>
                <c:pt idx="3">
                  <c:v>272377</c:v>
                </c:pt>
                <c:pt idx="4">
                  <c:v>296730</c:v>
                </c:pt>
                <c:pt idx="5">
                  <c:v>279172</c:v>
                </c:pt>
                <c:pt idx="6">
                  <c:v>317608</c:v>
                </c:pt>
                <c:pt idx="7">
                  <c:v>344006</c:v>
                </c:pt>
                <c:pt idx="8">
                  <c:v>293787</c:v>
                </c:pt>
                <c:pt idx="9">
                  <c:v>307293</c:v>
                </c:pt>
                <c:pt idx="10">
                  <c:v>203077</c:v>
                </c:pt>
                <c:pt idx="11">
                  <c:v>217131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003B4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214290</c:v>
                </c:pt>
                <c:pt idx="1">
                  <c:v>220274</c:v>
                </c:pt>
                <c:pt idx="2">
                  <c:v>281206</c:v>
                </c:pt>
                <c:pt idx="3">
                  <c:v>307076</c:v>
                </c:pt>
                <c:pt idx="4">
                  <c:v>323234</c:v>
                </c:pt>
                <c:pt idx="5">
                  <c:v>315016</c:v>
                </c:pt>
                <c:pt idx="6">
                  <c:v>351614</c:v>
                </c:pt>
                <c:pt idx="7">
                  <c:v>377230</c:v>
                </c:pt>
                <c:pt idx="8">
                  <c:v>317358</c:v>
                </c:pt>
                <c:pt idx="9">
                  <c:v>341696</c:v>
                </c:pt>
                <c:pt idx="10">
                  <c:v>291298</c:v>
                </c:pt>
                <c:pt idx="11">
                  <c:v>265647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BBBBBB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327852</c:v>
                </c:pt>
                <c:pt idx="1">
                  <c:v>321955</c:v>
                </c:pt>
                <c:pt idx="2">
                  <c:v>495722</c:v>
                </c:pt>
                <c:pt idx="3">
                  <c:v>372838</c:v>
                </c:pt>
                <c:pt idx="4">
                  <c:v>338580</c:v>
                </c:pt>
                <c:pt idx="5">
                  <c:v>366016</c:v>
                </c:pt>
                <c:pt idx="6">
                  <c:v>551974</c:v>
                </c:pt>
                <c:pt idx="7">
                  <c:v>539361</c:v>
                </c:pt>
                <c:pt idx="8">
                  <c:v>427165</c:v>
                </c:pt>
                <c:pt idx="9">
                  <c:v>364368</c:v>
                </c:pt>
                <c:pt idx="10">
                  <c:v>306051</c:v>
                </c:pt>
                <c:pt idx="11">
                  <c:v>311823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04A2B6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275404</c:v>
                </c:pt>
                <c:pt idx="1">
                  <c:v>263556</c:v>
                </c:pt>
                <c:pt idx="2">
                  <c:v>322211</c:v>
                </c:pt>
                <c:pt idx="3">
                  <c:v>277201</c:v>
                </c:pt>
                <c:pt idx="4">
                  <c:v>282788</c:v>
                </c:pt>
                <c:pt idx="5">
                  <c:v>340611</c:v>
                </c:pt>
                <c:pt idx="6">
                  <c:v>346390</c:v>
                </c:pt>
                <c:pt idx="7">
                  <c:v>351352</c:v>
                </c:pt>
                <c:pt idx="8">
                  <c:v>279823</c:v>
                </c:pt>
                <c:pt idx="9">
                  <c:v>266456</c:v>
                </c:pt>
                <c:pt idx="10">
                  <c:v>266673</c:v>
                </c:pt>
                <c:pt idx="11">
                  <c:v>220337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Turistes 2025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Sheet1!$A$2:$A$11</c:f>
              <c:strCache>
                <c:ptCount val="10"/>
                <c:pt idx="0">
                  <c:v>Francia</c:v>
                </c:pt>
                <c:pt idx="1">
                  <c:v>Italia</c:v>
                </c:pt>
                <c:pt idx="2">
                  <c:v>Reino Unido</c:v>
                </c:pt>
                <c:pt idx="3">
                  <c:v>Países Bajos</c:v>
                </c:pt>
                <c:pt idx="4">
                  <c:v>Alemania</c:v>
                </c:pt>
                <c:pt idx="5">
                  <c:v>Suiza</c:v>
                </c:pt>
                <c:pt idx="6">
                  <c:v>EE.UU.</c:v>
                </c:pt>
                <c:pt idx="7">
                  <c:v>Polonia</c:v>
                </c:pt>
                <c:pt idx="8">
                  <c:v>Bélgica</c:v>
                </c:pt>
                <c:pt idx="9">
                  <c:v>Noruega/Escand.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444971</c:v>
                </c:pt>
                <c:pt idx="1">
                  <c:v>371921</c:v>
                </c:pt>
                <c:pt idx="2">
                  <c:v>353207</c:v>
                </c:pt>
                <c:pt idx="3">
                  <c:v>319749</c:v>
                </c:pt>
                <c:pt idx="4">
                  <c:v>293500</c:v>
                </c:pt>
                <c:pt idx="5">
                  <c:v>202369</c:v>
                </c:pt>
                <c:pt idx="6">
                  <c:v>172639</c:v>
                </c:pt>
                <c:pt idx="7">
                  <c:v>119391</c:v>
                </c:pt>
                <c:pt idx="8">
                  <c:v>105000</c:v>
                </c:pt>
                <c:pt idx="9">
                  <c:v>88000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Turistes nacionals 2025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Sheet1!$A$2:$A$11</c:f>
              <c:strCache>
                <c:ptCount val="10"/>
                <c:pt idx="0">
                  <c:v>Madrid</c:v>
                </c:pt>
                <c:pt idx="1">
                  <c:v>Alicante</c:v>
                </c:pt>
                <c:pt idx="2">
                  <c:v>Castellón</c:v>
                </c:pt>
                <c:pt idx="3">
                  <c:v>Barcelona</c:v>
                </c:pt>
                <c:pt idx="4">
                  <c:v>Murcia</c:v>
                </c:pt>
                <c:pt idx="5">
                  <c:v>Albacete</c:v>
                </c:pt>
                <c:pt idx="6">
                  <c:v>Cuenca</c:v>
                </c:pt>
                <c:pt idx="7">
                  <c:v>Zaragoza</c:v>
                </c:pt>
                <c:pt idx="8">
                  <c:v>Teruel</c:v>
                </c:pt>
                <c:pt idx="9">
                  <c:v>Illes Balears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1052141</c:v>
                </c:pt>
                <c:pt idx="1">
                  <c:v>663943</c:v>
                </c:pt>
                <c:pt idx="2">
                  <c:v>380630</c:v>
                </c:pt>
                <c:pt idx="3">
                  <c:v>250606</c:v>
                </c:pt>
                <c:pt idx="4">
                  <c:v>162746</c:v>
                </c:pt>
                <c:pt idx="5">
                  <c:v>154254</c:v>
                </c:pt>
                <c:pt idx="6">
                  <c:v>91407</c:v>
                </c:pt>
                <c:pt idx="7">
                  <c:v>86771</c:v>
                </c:pt>
                <c:pt idx="8">
                  <c:v>85268</c:v>
                </c:pt>
                <c:pt idx="9">
                  <c:v>70353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Sheet1!$A$2:$A$13</c:f>
              <c:strCache>
                <c:ptCount val="12"/>
                <c:pt idx="0">
                  <c:v>València</c:v>
                </c:pt>
                <c:pt idx="1">
                  <c:v>La Safor</c:v>
                </c:pt>
                <c:pt idx="2">
                  <c:v>L'Horta Sud</c:v>
                </c:pt>
                <c:pt idx="3">
                  <c:v>L'Horta Nord</c:v>
                </c:pt>
                <c:pt idx="4">
                  <c:v>El Camp de Morvedre</c:v>
                </c:pt>
                <c:pt idx="5">
                  <c:v>La Ribera Baixa</c:v>
                </c:pt>
                <c:pt idx="6">
                  <c:v>El Camp de Túria</c:v>
                </c:pt>
                <c:pt idx="7">
                  <c:v>La Ribera Alta</c:v>
                </c:pt>
                <c:pt idx="8">
                  <c:v>La Vall d'Albaida</c:v>
                </c:pt>
                <c:pt idx="9">
                  <c:v>La Hoya de Buñol</c:v>
                </c:pt>
                <c:pt idx="10">
                  <c:v>La Costera</c:v>
                </c:pt>
                <c:pt idx="11">
                  <c:v>La Plana de Utiel-Requ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1813587</c:v>
                </c:pt>
                <c:pt idx="1">
                  <c:v>577950</c:v>
                </c:pt>
                <c:pt idx="2">
                  <c:v>189909</c:v>
                </c:pt>
                <c:pt idx="3">
                  <c:v>200329</c:v>
                </c:pt>
                <c:pt idx="4">
                  <c:v>212525</c:v>
                </c:pt>
                <c:pt idx="5">
                  <c:v>155731</c:v>
                </c:pt>
                <c:pt idx="6">
                  <c:v>76258</c:v>
                </c:pt>
                <c:pt idx="7">
                  <c:v>44415</c:v>
                </c:pt>
                <c:pt idx="8">
                  <c:v>54659</c:v>
                </c:pt>
                <c:pt idx="9">
                  <c:v>31275</c:v>
                </c:pt>
                <c:pt idx="10">
                  <c:v>37707</c:v>
                </c:pt>
                <c:pt idx="11">
                  <c:v>48776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Sheet1!$A$2:$A$13</c:f>
              <c:strCache>
                <c:ptCount val="12"/>
                <c:pt idx="0">
                  <c:v>València</c:v>
                </c:pt>
                <c:pt idx="1">
                  <c:v>La Safor</c:v>
                </c:pt>
                <c:pt idx="2">
                  <c:v>L'Horta Sud</c:v>
                </c:pt>
                <c:pt idx="3">
                  <c:v>L'Horta Nord</c:v>
                </c:pt>
                <c:pt idx="4">
                  <c:v>El Camp de Morvedre</c:v>
                </c:pt>
                <c:pt idx="5">
                  <c:v>La Ribera Baixa</c:v>
                </c:pt>
                <c:pt idx="6">
                  <c:v>El Camp de Túria</c:v>
                </c:pt>
                <c:pt idx="7">
                  <c:v>La Ribera Alta</c:v>
                </c:pt>
                <c:pt idx="8">
                  <c:v>La Vall d'Albaida</c:v>
                </c:pt>
                <c:pt idx="9">
                  <c:v>La Hoya de Buñol</c:v>
                </c:pt>
                <c:pt idx="10">
                  <c:v>La Costera</c:v>
                </c:pt>
                <c:pt idx="11">
                  <c:v>La Plana de Utiel-Requ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1992628</c:v>
                </c:pt>
                <c:pt idx="1">
                  <c:v>250256</c:v>
                </c:pt>
                <c:pt idx="2">
                  <c:v>331859</c:v>
                </c:pt>
                <c:pt idx="3">
                  <c:v>260130</c:v>
                </c:pt>
                <c:pt idx="4">
                  <c:v>130547</c:v>
                </c:pt>
                <c:pt idx="5">
                  <c:v>89310</c:v>
                </c:pt>
                <c:pt idx="6">
                  <c:v>155356</c:v>
                </c:pt>
                <c:pt idx="7">
                  <c:v>142495</c:v>
                </c:pt>
                <c:pt idx="8">
                  <c:v>54596</c:v>
                </c:pt>
                <c:pt idx="9">
                  <c:v>70509</c:v>
                </c:pt>
                <c:pt idx="10">
                  <c:v>54783</c:v>
                </c:pt>
                <c:pt idx="11">
                  <c:v>29952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Internacional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Sheet1!$A$2:$A$17</c:f>
              <c:strCache>
                <c:ptCount val="16"/>
                <c:pt idx="0">
                  <c:v>Los Serranos</c:v>
                </c:pt>
                <c:pt idx="1">
                  <c:v>La Ribera Alta</c:v>
                </c:pt>
                <c:pt idx="2">
                  <c:v>La Hoya de Buñol</c:v>
                </c:pt>
                <c:pt idx="3">
                  <c:v>El Camp de Túria</c:v>
                </c:pt>
                <c:pt idx="4">
                  <c:v>L'Horta Sud</c:v>
                </c:pt>
                <c:pt idx="5">
                  <c:v>La Costera</c:v>
                </c:pt>
                <c:pt idx="6">
                  <c:v>La Canal de Navarrés</c:v>
                </c:pt>
                <c:pt idx="7">
                  <c:v>L'Horta Nord</c:v>
                </c:pt>
                <c:pt idx="8">
                  <c:v>València</c:v>
                </c:pt>
                <c:pt idx="9">
                  <c:v>La Vall d'Albaida</c:v>
                </c:pt>
                <c:pt idx="10">
                  <c:v>El Camp de Morvedre</c:v>
                </c:pt>
                <c:pt idx="11">
                  <c:v>La Plana de Utiel-Requ</c:v>
                </c:pt>
                <c:pt idx="12">
                  <c:v>La Ribera Baixa</c:v>
                </c:pt>
                <c:pt idx="13">
                  <c:v>La Safor</c:v>
                </c:pt>
                <c:pt idx="14">
                  <c:v>El Valle de Cofrentes-</c:v>
                </c:pt>
                <c:pt idx="15">
                  <c:v>El Rincón de Ademuz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85.2</c:v>
                </c:pt>
                <c:pt idx="1">
                  <c:v>76.2</c:v>
                </c:pt>
                <c:pt idx="2">
                  <c:v>69.3</c:v>
                </c:pt>
                <c:pt idx="3">
                  <c:v>67.1</c:v>
                </c:pt>
                <c:pt idx="4">
                  <c:v>63.6</c:v>
                </c:pt>
                <c:pt idx="5">
                  <c:v>59.2</c:v>
                </c:pt>
                <c:pt idx="6">
                  <c:v>58.6</c:v>
                </c:pt>
                <c:pt idx="7">
                  <c:v>56.5</c:v>
                </c:pt>
                <c:pt idx="8">
                  <c:v>52.4</c:v>
                </c:pt>
                <c:pt idx="9">
                  <c:v>50.0</c:v>
                </c:pt>
                <c:pt idx="10">
                  <c:v>38.1</c:v>
                </c:pt>
                <c:pt idx="11">
                  <c:v>38.0</c:v>
                </c:pt>
                <c:pt idx="12">
                  <c:v>36.4</c:v>
                </c:pt>
                <c:pt idx="13">
                  <c:v>30.2</c:v>
                </c:pt>
                <c:pt idx="14">
                  <c:v>28.1</c:v>
                </c:pt>
                <c:pt idx="15">
                  <c:v>20.5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Var. % 2024→2025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Sheet1!$A$2:$A$17</c:f>
              <c:strCache>
                <c:ptCount val="16"/>
                <c:pt idx="0">
                  <c:v>La Hoya de Buñol</c:v>
                </c:pt>
                <c:pt idx="1">
                  <c:v>El Valle de Cofrentes-</c:v>
                </c:pt>
                <c:pt idx="2">
                  <c:v>El Camp de Túria</c:v>
                </c:pt>
                <c:pt idx="3">
                  <c:v>València</c:v>
                </c:pt>
                <c:pt idx="4">
                  <c:v>La Ribera Baixa</c:v>
                </c:pt>
                <c:pt idx="5">
                  <c:v>La Ribera Alta</c:v>
                </c:pt>
                <c:pt idx="6">
                  <c:v>L'Horta Sud</c:v>
                </c:pt>
                <c:pt idx="7">
                  <c:v>L'Horta Nord</c:v>
                </c:pt>
                <c:pt idx="8">
                  <c:v>Los Serranos</c:v>
                </c:pt>
                <c:pt idx="9">
                  <c:v>La Plana de Utiel-Requ</c:v>
                </c:pt>
                <c:pt idx="10">
                  <c:v>La Safor</c:v>
                </c:pt>
                <c:pt idx="11">
                  <c:v>La Canal de Navarrés</c:v>
                </c:pt>
                <c:pt idx="12">
                  <c:v>La Costera</c:v>
                </c:pt>
                <c:pt idx="13">
                  <c:v>El Camp de Morvedre</c:v>
                </c:pt>
                <c:pt idx="14">
                  <c:v>La Vall d'Albaida</c:v>
                </c:pt>
                <c:pt idx="15">
                  <c:v>El Rincón de Ademuz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-0.6</c:v>
                </c:pt>
                <c:pt idx="1">
                  <c:v>-2.3</c:v>
                </c:pt>
                <c:pt idx="2">
                  <c:v>-5.4</c:v>
                </c:pt>
                <c:pt idx="3">
                  <c:v>-5.5</c:v>
                </c:pt>
                <c:pt idx="4">
                  <c:v>-10.1</c:v>
                </c:pt>
                <c:pt idx="5">
                  <c:v>-10.1</c:v>
                </c:pt>
                <c:pt idx="6">
                  <c:v>-10.5</c:v>
                </c:pt>
                <c:pt idx="7">
                  <c:v>-13.5</c:v>
                </c:pt>
                <c:pt idx="8">
                  <c:v>-14.5</c:v>
                </c:pt>
                <c:pt idx="9">
                  <c:v>-17.5</c:v>
                </c:pt>
                <c:pt idx="10">
                  <c:v>-17.6</c:v>
                </c:pt>
                <c:pt idx="11">
                  <c:v>-17.7</c:v>
                </c:pt>
                <c:pt idx="12">
                  <c:v>-20.2</c:v>
                </c:pt>
                <c:pt idx="13">
                  <c:v>-21.4</c:v>
                </c:pt>
                <c:pt idx="14">
                  <c:v>-33.8</c:v>
                </c:pt>
                <c:pt idx="15">
                  <c:v>-37.6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BBBBBB"/>
            </a:solidFill>
          </c:spP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904292</c:v>
                </c:pt>
                <c:pt idx="1">
                  <c:v>1065429</c:v>
                </c:pt>
                <c:pt idx="2">
                  <c:v>1546286</c:v>
                </c:pt>
                <c:pt idx="3">
                  <c:v>1529602</c:v>
                </c:pt>
                <c:pt idx="4">
                  <c:v>1697701</c:v>
                </c:pt>
                <c:pt idx="5">
                  <c:v>1704942</c:v>
                </c:pt>
                <c:pt idx="6">
                  <c:v>1928108</c:v>
                </c:pt>
                <c:pt idx="7">
                  <c:v>2110558</c:v>
                </c:pt>
                <c:pt idx="8">
                  <c:v>1758612</c:v>
                </c:pt>
                <c:pt idx="9">
                  <c:v>1452354</c:v>
                </c:pt>
                <c:pt idx="10">
                  <c:v>1079964</c:v>
                </c:pt>
                <c:pt idx="11">
                  <c:v>896090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899825</c:v>
                </c:pt>
                <c:pt idx="1">
                  <c:v>1016560</c:v>
                </c:pt>
                <c:pt idx="2">
                  <c:v>1324094</c:v>
                </c:pt>
                <c:pt idx="3">
                  <c:v>1527930</c:v>
                </c:pt>
                <c:pt idx="4">
                  <c:v>1626156</c:v>
                </c:pt>
                <c:pt idx="5">
                  <c:v>1702258</c:v>
                </c:pt>
                <c:pt idx="6">
                  <c:v>1872368</c:v>
                </c:pt>
                <c:pt idx="7">
                  <c:v>2079928</c:v>
                </c:pt>
                <c:pt idx="8">
                  <c:v>1712846</c:v>
                </c:pt>
                <c:pt idx="9">
                  <c:v>1497340</c:v>
                </c:pt>
                <c:pt idx="10">
                  <c:v>1225952</c:v>
                </c:pt>
                <c:pt idx="11">
                  <c:v>1006223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BBBBBB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45.3</c:v>
                </c:pt>
                <c:pt idx="1">
                  <c:v>53.4</c:v>
                </c:pt>
                <c:pt idx="2">
                  <c:v>61.0</c:v>
                </c:pt>
                <c:pt idx="3">
                  <c:v>62.2</c:v>
                </c:pt>
                <c:pt idx="4">
                  <c:v>65.2</c:v>
                </c:pt>
                <c:pt idx="5">
                  <c:v>66.4</c:v>
                </c:pt>
                <c:pt idx="6">
                  <c:v>71.4</c:v>
                </c:pt>
                <c:pt idx="7">
                  <c:v>76.2</c:v>
                </c:pt>
                <c:pt idx="8">
                  <c:v>69.1</c:v>
                </c:pt>
                <c:pt idx="9">
                  <c:v>60.8</c:v>
                </c:pt>
                <c:pt idx="10">
                  <c:v>50.6</c:v>
                </c:pt>
                <c:pt idx="11">
                  <c:v>43.3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003B4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43.3</c:v>
                </c:pt>
                <c:pt idx="1">
                  <c:v>51.4</c:v>
                </c:pt>
                <c:pt idx="2">
                  <c:v>52.7</c:v>
                </c:pt>
                <c:pt idx="3">
                  <c:v>60.3</c:v>
                </c:pt>
                <c:pt idx="4">
                  <c:v>60.9</c:v>
                </c:pt>
                <c:pt idx="5">
                  <c:v>64.8</c:v>
                </c:pt>
                <c:pt idx="6">
                  <c:v>68.8</c:v>
                </c:pt>
                <c:pt idx="7">
                  <c:v>75.2</c:v>
                </c:pt>
                <c:pt idx="8">
                  <c:v>65.6</c:v>
                </c:pt>
                <c:pt idx="9">
                  <c:v>59.5</c:v>
                </c:pt>
                <c:pt idx="10">
                  <c:v>52.9</c:v>
                </c:pt>
                <c:pt idx="11">
                  <c:v>46.5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Estada mitjana (nits)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1.78</c:v>
                </c:pt>
                <c:pt idx="1">
                  <c:v>1.92</c:v>
                </c:pt>
                <c:pt idx="2">
                  <c:v>2.01</c:v>
                </c:pt>
                <c:pt idx="3">
                  <c:v>1.97</c:v>
                </c:pt>
                <c:pt idx="4">
                  <c:v>2.03</c:v>
                </c:pt>
                <c:pt idx="5">
                  <c:v>1.81</c:v>
                </c:pt>
                <c:pt idx="6">
                  <c:v>2.88</c:v>
                </c:pt>
                <c:pt idx="7">
                  <c:v>2.97</c:v>
                </c:pt>
                <c:pt idx="8">
                  <c:v>2.14</c:v>
                </c:pt>
                <c:pt idx="9">
                  <c:v>1.99</c:v>
                </c:pt>
                <c:pt idx="10">
                  <c:v>2.39</c:v>
                </c:pt>
                <c:pt idx="11">
                  <c:v>2.54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Turisme internacional</c:v>
                </c:pt>
              </c:strCache>
            </c:strRef>
          </c:tx>
          <c:spPr>
            <a:ln w="25400">
              <a:solidFill>
                <a:srgbClr val="003B4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71.3</c:v>
                </c:pt>
                <c:pt idx="1">
                  <c:v>73.3</c:v>
                </c:pt>
                <c:pt idx="2">
                  <c:v>93.6</c:v>
                </c:pt>
                <c:pt idx="3">
                  <c:v>102.2</c:v>
                </c:pt>
                <c:pt idx="4">
                  <c:v>107.6</c:v>
                </c:pt>
                <c:pt idx="5">
                  <c:v>104.8</c:v>
                </c:pt>
                <c:pt idx="6">
                  <c:v>117.0</c:v>
                </c:pt>
                <c:pt idx="7">
                  <c:v>125.5</c:v>
                </c:pt>
                <c:pt idx="8">
                  <c:v>105.6</c:v>
                </c:pt>
                <c:pt idx="9">
                  <c:v>113.7</c:v>
                </c:pt>
                <c:pt idx="10">
                  <c:v>96.9</c:v>
                </c:pt>
                <c:pt idx="11">
                  <c:v>88.4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Turisme nacional</c:v>
                </c:pt>
              </c:strCache>
            </c:strRef>
          </c:tx>
          <c:spPr>
            <a:ln w="25400">
              <a:solidFill>
                <a:srgbClr val="04A2B6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94.6</c:v>
                </c:pt>
                <c:pt idx="1">
                  <c:v>90.5</c:v>
                </c:pt>
                <c:pt idx="2">
                  <c:v>110.7</c:v>
                </c:pt>
                <c:pt idx="3">
                  <c:v>95.2</c:v>
                </c:pt>
                <c:pt idx="4">
                  <c:v>97.2</c:v>
                </c:pt>
                <c:pt idx="5">
                  <c:v>117.0</c:v>
                </c:pt>
                <c:pt idx="6">
                  <c:v>119.0</c:v>
                </c:pt>
                <c:pt idx="7">
                  <c:v>120.7</c:v>
                </c:pt>
                <c:pt idx="8">
                  <c:v>96.1</c:v>
                </c:pt>
                <c:pt idx="9">
                  <c:v>91.5</c:v>
                </c:pt>
                <c:pt idx="10">
                  <c:v>91.6</c:v>
                </c:pt>
                <c:pt idx="11">
                  <c:v>75.7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Pernoctacions</c:v>
                </c:pt>
              </c:strCache>
            </c:strRef>
          </c:tx>
          <c:spPr>
            <a:ln w="25400">
              <a:solidFill>
                <a:srgbClr val="95C21E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Gen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61.7</c:v>
                </c:pt>
                <c:pt idx="1">
                  <c:v>69.7</c:v>
                </c:pt>
                <c:pt idx="2">
                  <c:v>90.8</c:v>
                </c:pt>
                <c:pt idx="3">
                  <c:v>104.8</c:v>
                </c:pt>
                <c:pt idx="4">
                  <c:v>111.6</c:v>
                </c:pt>
                <c:pt idx="5">
                  <c:v>116.8</c:v>
                </c:pt>
                <c:pt idx="6">
                  <c:v>128.5</c:v>
                </c:pt>
                <c:pt idx="7">
                  <c:v>142.7</c:v>
                </c:pt>
                <c:pt idx="8">
                  <c:v>117.5</c:v>
                </c:pt>
                <c:pt idx="9">
                  <c:v>102.7</c:v>
                </c:pt>
                <c:pt idx="10">
                  <c:v>84.1</c:v>
                </c:pt>
                <c:pt idx="11">
                  <c:v>69.0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Establiments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Sheet1!$A$2:$A$8</c:f>
              <c:strCache>
                <c:ptCount val="7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  <c:pt idx="5">
                  <c:v>PENSIÓN</c:v>
                </c:pt>
                <c:pt idx="6">
                  <c:v>SENSE CATEG.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</c:v>
                </c:pt>
                <c:pt idx="1">
                  <c:v>104</c:v>
                </c:pt>
                <c:pt idx="2">
                  <c:v>95</c:v>
                </c:pt>
                <c:pt idx="3">
                  <c:v>87</c:v>
                </c:pt>
                <c:pt idx="4">
                  <c:v>10</c:v>
                </c:pt>
                <c:pt idx="5">
                  <c:v>105</c:v>
                </c:pt>
                <c:pt idx="6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Places (÷10)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Sheet1!$A$2:$A$8</c:f>
              <c:strCache>
                <c:ptCount val="7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  <c:pt idx="5">
                  <c:v>PENSIÓN</c:v>
                </c:pt>
                <c:pt idx="6">
                  <c:v>SENSE CATEG.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394</c:v>
                </c:pt>
                <c:pt idx="1">
                  <c:v>644</c:v>
                </c:pt>
                <c:pt idx="2">
                  <c:v>1127</c:v>
                </c:pt>
                <c:pt idx="3">
                  <c:v>1965</c:v>
                </c:pt>
                <c:pt idx="4">
                  <c:v>213</c:v>
                </c:pt>
                <c:pt idx="5">
                  <c:v>213</c:v>
                </c:pt>
                <c:pt idx="6">
                  <c:v>144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Places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Sheet1!$A$2:$A$11</c:f>
              <c:strCache>
                <c:ptCount val="10"/>
                <c:pt idx="0">
                  <c:v>Valencia</c:v>
                </c:pt>
                <c:pt idx="1">
                  <c:v>La Safor</c:v>
                </c:pt>
                <c:pt idx="2">
                  <c:v>L'Horta Oest</c:v>
                </c:pt>
                <c:pt idx="3">
                  <c:v>L'Horta Nord</c:v>
                </c:pt>
                <c:pt idx="4">
                  <c:v>La Ribera Baixa</c:v>
                </c:pt>
                <c:pt idx="5">
                  <c:v>L'Horta Sud</c:v>
                </c:pt>
                <c:pt idx="6">
                  <c:v>El Camp De Morvedre</c:v>
                </c:pt>
                <c:pt idx="7">
                  <c:v>El Valle De Cofrentes-</c:v>
                </c:pt>
                <c:pt idx="8">
                  <c:v>La Plana De Utiel-Requ</c:v>
                </c:pt>
                <c:pt idx="9">
                  <c:v>El Camp De Turia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23789</c:v>
                </c:pt>
                <c:pt idx="1">
                  <c:v>7366</c:v>
                </c:pt>
                <c:pt idx="2">
                  <c:v>3712</c:v>
                </c:pt>
                <c:pt idx="3">
                  <c:v>2970</c:v>
                </c:pt>
                <c:pt idx="4">
                  <c:v>2076</c:v>
                </c:pt>
                <c:pt idx="5">
                  <c:v>1491</c:v>
                </c:pt>
                <c:pt idx="6">
                  <c:v>1206</c:v>
                </c:pt>
                <c:pt idx="7">
                  <c:v>817</c:v>
                </c:pt>
                <c:pt idx="8">
                  <c:v>686</c:v>
                </c:pt>
                <c:pt idx="9">
                  <c:v>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Establiments (×10)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Sheet1!$A$2:$A$11</c:f>
              <c:strCache>
                <c:ptCount val="10"/>
                <c:pt idx="0">
                  <c:v>Valencia</c:v>
                </c:pt>
                <c:pt idx="1">
                  <c:v>La Safor</c:v>
                </c:pt>
                <c:pt idx="2">
                  <c:v>L'Horta Oest</c:v>
                </c:pt>
                <c:pt idx="3">
                  <c:v>L'Horta Nord</c:v>
                </c:pt>
                <c:pt idx="4">
                  <c:v>La Ribera Baixa</c:v>
                </c:pt>
                <c:pt idx="5">
                  <c:v>L'Horta Sud</c:v>
                </c:pt>
                <c:pt idx="6">
                  <c:v>El Camp De Morvedre</c:v>
                </c:pt>
                <c:pt idx="7">
                  <c:v>El Valle De Cofrentes-</c:v>
                </c:pt>
                <c:pt idx="8">
                  <c:v>La Plana De Utiel-Requ</c:v>
                </c:pt>
                <c:pt idx="9">
                  <c:v>El Camp De Turia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2700</c:v>
                </c:pt>
                <c:pt idx="1">
                  <c:v>500</c:v>
                </c:pt>
                <c:pt idx="2">
                  <c:v>310</c:v>
                </c:pt>
                <c:pt idx="3">
                  <c:v>250</c:v>
                </c:pt>
                <c:pt idx="4">
                  <c:v>300</c:v>
                </c:pt>
                <c:pt idx="5">
                  <c:v>150</c:v>
                </c:pt>
                <c:pt idx="6">
                  <c:v>150</c:v>
                </c:pt>
                <c:pt idx="7">
                  <c:v>80</c:v>
                </c:pt>
                <c:pt idx="8">
                  <c:v>240</c:v>
                </c:pt>
                <c:pt idx="9">
                  <c:v>220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VUT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Sheet1!$A$2:$A$11</c:f>
              <c:strCache>
                <c:ptCount val="10"/>
                <c:pt idx="0">
                  <c:v>Oliva</c:v>
                </c:pt>
                <c:pt idx="1">
                  <c:v>Cullera</c:v>
                </c:pt>
                <c:pt idx="2">
                  <c:v>Sagunto/Sagunt</c:v>
                </c:pt>
                <c:pt idx="3">
                  <c:v>Canet D'En Berengu</c:v>
                </c:pt>
                <c:pt idx="4">
                  <c:v>Alboraia</c:v>
                </c:pt>
                <c:pt idx="5">
                  <c:v>Gandia</c:v>
                </c:pt>
                <c:pt idx="6">
                  <c:v>Valencia</c:v>
                </c:pt>
                <c:pt idx="7">
                  <c:v>Piles</c:v>
                </c:pt>
                <c:pt idx="8">
                  <c:v>Daimús</c:v>
                </c:pt>
                <c:pt idx="9">
                  <c:v>Tavernes De La Val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1463</c:v>
                </c:pt>
                <c:pt idx="1">
                  <c:v>1421</c:v>
                </c:pt>
                <c:pt idx="2">
                  <c:v>597</c:v>
                </c:pt>
                <c:pt idx="3">
                  <c:v>569</c:v>
                </c:pt>
                <c:pt idx="4">
                  <c:v>429</c:v>
                </c:pt>
                <c:pt idx="5">
                  <c:v>382</c:v>
                </c:pt>
                <c:pt idx="6">
                  <c:v>350</c:v>
                </c:pt>
                <c:pt idx="7">
                  <c:v>298</c:v>
                </c:pt>
                <c:pt idx="8">
                  <c:v>245</c:v>
                </c:pt>
                <c:pt idx="9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VUT per comarca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Sheet1!$A$2:$A$11</c:f>
              <c:strCache>
                <c:ptCount val="10"/>
                <c:pt idx="0">
                  <c:v>La Safor</c:v>
                </c:pt>
                <c:pt idx="1">
                  <c:v>El Camp de Morvedre</c:v>
                </c:pt>
                <c:pt idx="2">
                  <c:v>València</c:v>
                </c:pt>
                <c:pt idx="3">
                  <c:v>L'Horta Nord</c:v>
                </c:pt>
                <c:pt idx="4">
                  <c:v>La Ribera Baixa</c:v>
                </c:pt>
                <c:pt idx="5">
                  <c:v>La Ribera Alta</c:v>
                </c:pt>
                <c:pt idx="6">
                  <c:v>L'Horta Sud</c:v>
                </c:pt>
                <c:pt idx="7">
                  <c:v>La Plana de Utiel-Requ</c:v>
                </c:pt>
                <c:pt idx="8">
                  <c:v>La Vall d'Albaida</c:v>
                </c:pt>
                <c:pt idx="9">
                  <c:v>La Costera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3200</c:v>
                </c:pt>
                <c:pt idx="1">
                  <c:v>1200</c:v>
                </c:pt>
                <c:pt idx="2">
                  <c:v>900</c:v>
                </c:pt>
                <c:pt idx="3">
                  <c:v>650</c:v>
                </c:pt>
                <c:pt idx="4">
                  <c:v>620</c:v>
                </c:pt>
                <c:pt idx="5">
                  <c:v>410</c:v>
                </c:pt>
                <c:pt idx="6">
                  <c:v>350</c:v>
                </c:pt>
                <c:pt idx="7">
                  <c:v>185</c:v>
                </c:pt>
                <c:pt idx="8">
                  <c:v>165</c:v>
                </c:pt>
                <c:pt idx="9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Establiments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Sheet1!$A$2:$A$16</c:f>
              <c:strCache>
                <c:ptCount val="15"/>
                <c:pt idx="0">
                  <c:v>Chulilla</c:v>
                </c:pt>
                <c:pt idx="1">
                  <c:v>Requena</c:v>
                </c:pt>
                <c:pt idx="2">
                  <c:v>Aras De Los Olmos</c:v>
                </c:pt>
                <c:pt idx="3">
                  <c:v>Gátova</c:v>
                </c:pt>
                <c:pt idx="4">
                  <c:v>Bocairent</c:v>
                </c:pt>
                <c:pt idx="5">
                  <c:v>Ayora</c:v>
                </c:pt>
                <c:pt idx="6">
                  <c:v>Chella</c:v>
                </c:pt>
                <c:pt idx="7">
                  <c:v>Enguera</c:v>
                </c:pt>
                <c:pt idx="8">
                  <c:v>Venta Del Moro</c:v>
                </c:pt>
                <c:pt idx="9">
                  <c:v>Xàtiva</c:v>
                </c:pt>
                <c:pt idx="10">
                  <c:v>Chelva</c:v>
                </c:pt>
                <c:pt idx="11">
                  <c:v>Villargordo Del Ca</c:v>
                </c:pt>
                <c:pt idx="12">
                  <c:v>Alpuente</c:v>
                </c:pt>
                <c:pt idx="13">
                  <c:v>Bicorp</c:v>
                </c:pt>
                <c:pt idx="14">
                  <c:v>Cortes De Pallás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</c:v>
                </c:pt>
                <c:pt idx="1">
                  <c:v>17</c:v>
                </c:pt>
                <c:pt idx="2">
                  <c:v>17</c:v>
                </c:pt>
                <c:pt idx="3">
                  <c:v>15</c:v>
                </c:pt>
                <c:pt idx="4">
                  <c:v>14</c:v>
                </c:pt>
                <c:pt idx="5">
                  <c:v>14</c:v>
                </c:pt>
                <c:pt idx="6">
                  <c:v>13</c:v>
                </c:pt>
                <c:pt idx="7">
                  <c:v>13</c:v>
                </c:pt>
                <c:pt idx="8">
                  <c:v>12</c:v>
                </c:pt>
                <c:pt idx="9">
                  <c:v>9</c:v>
                </c:pt>
                <c:pt idx="10">
                  <c:v>9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Places</c:v>
                </c:pt>
              </c:strCache>
            </c:strRef>
          </c:tx>
          <c:spPr>
            <a:solidFill>
              <a:srgbClr val="95C21E"/>
            </a:solidFill>
          </c:spPr>
          <c:cat>
            <c:strRef>
              <c:f>Sheet1!$A$2:$A$16</c:f>
              <c:strCache>
                <c:ptCount val="15"/>
                <c:pt idx="0">
                  <c:v>Chulilla</c:v>
                </c:pt>
                <c:pt idx="1">
                  <c:v>Requena</c:v>
                </c:pt>
                <c:pt idx="2">
                  <c:v>Aras De Los Olmos</c:v>
                </c:pt>
                <c:pt idx="3">
                  <c:v>Gátova</c:v>
                </c:pt>
                <c:pt idx="4">
                  <c:v>Bocairent</c:v>
                </c:pt>
                <c:pt idx="5">
                  <c:v>Ayora</c:v>
                </c:pt>
                <c:pt idx="6">
                  <c:v>Chella</c:v>
                </c:pt>
                <c:pt idx="7">
                  <c:v>Enguera</c:v>
                </c:pt>
                <c:pt idx="8">
                  <c:v>Venta Del Moro</c:v>
                </c:pt>
                <c:pt idx="9">
                  <c:v>Xàtiva</c:v>
                </c:pt>
                <c:pt idx="10">
                  <c:v>Chelva</c:v>
                </c:pt>
                <c:pt idx="11">
                  <c:v>Villargordo Del Ca</c:v>
                </c:pt>
                <c:pt idx="12">
                  <c:v>Alpuente</c:v>
                </c:pt>
                <c:pt idx="13">
                  <c:v>Bicorp</c:v>
                </c:pt>
                <c:pt idx="14">
                  <c:v>Cortes De Pallás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122</c:v>
                </c:pt>
                <c:pt idx="1">
                  <c:v>159</c:v>
                </c:pt>
                <c:pt idx="2">
                  <c:v>93</c:v>
                </c:pt>
                <c:pt idx="3">
                  <c:v>57</c:v>
                </c:pt>
                <c:pt idx="4">
                  <c:v>148</c:v>
                </c:pt>
                <c:pt idx="5">
                  <c:v>115</c:v>
                </c:pt>
                <c:pt idx="6">
                  <c:v>114</c:v>
                </c:pt>
                <c:pt idx="7">
                  <c:v>108</c:v>
                </c:pt>
                <c:pt idx="8">
                  <c:v>91</c:v>
                </c:pt>
                <c:pt idx="9">
                  <c:v>78</c:v>
                </c:pt>
                <c:pt idx="10">
                  <c:v>59</c:v>
                </c:pt>
                <c:pt idx="11">
                  <c:v>62</c:v>
                </c:pt>
                <c:pt idx="12">
                  <c:v>53</c:v>
                </c:pt>
                <c:pt idx="13">
                  <c:v>60</c:v>
                </c:pt>
                <c:pt idx="14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Places</c:v>
                </c:pt>
              </c:strCache>
            </c:strRef>
          </c:tx>
          <c:spPr>
            <a:solidFill>
              <a:srgbClr val="95C21E"/>
            </a:solidFill>
          </c:spPr>
          <c:cat>
            <c:strRef>
              <c:f>Sheet1!$A$2:$A$9</c:f>
              <c:strCache>
                <c:ptCount val="8"/>
                <c:pt idx="0">
                  <c:v>Oliva</c:v>
                </c:pt>
                <c:pt idx="1">
                  <c:v>Sueca</c:v>
                </c:pt>
                <c:pt idx="2">
                  <c:v>Gandia</c:v>
                </c:pt>
                <c:pt idx="3">
                  <c:v>Puçol</c:v>
                </c:pt>
                <c:pt idx="4">
                  <c:v>València</c:v>
                </c:pt>
                <c:pt idx="5">
                  <c:v>Enguera</c:v>
                </c:pt>
                <c:pt idx="6">
                  <c:v>Bocairent</c:v>
                </c:pt>
                <c:pt idx="7">
                  <c:v>Cullera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4533</c:v>
                </c:pt>
                <c:pt idx="1">
                  <c:v>4300</c:v>
                </c:pt>
                <c:pt idx="2">
                  <c:v>1880</c:v>
                </c:pt>
                <c:pt idx="3">
                  <c:v>1692</c:v>
                </c:pt>
                <c:pt idx="4">
                  <c:v>1021</c:v>
                </c:pt>
                <c:pt idx="5">
                  <c:v>886</c:v>
                </c:pt>
                <c:pt idx="6">
                  <c:v>737</c:v>
                </c:pt>
                <c:pt idx="7">
                  <c:v>657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Establiments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Sheet1!$A$2:$A$9</c:f>
              <c:strCache>
                <c:ptCount val="8"/>
                <c:pt idx="0">
                  <c:v>Chulilla</c:v>
                </c:pt>
                <c:pt idx="1">
                  <c:v>Requena</c:v>
                </c:pt>
                <c:pt idx="2">
                  <c:v>Aras De Los Olm</c:v>
                </c:pt>
                <c:pt idx="3">
                  <c:v>Gátova</c:v>
                </c:pt>
                <c:pt idx="4">
                  <c:v>Bocairent</c:v>
                </c:pt>
                <c:pt idx="5">
                  <c:v>Ayora</c:v>
                </c:pt>
                <c:pt idx="6">
                  <c:v>Chella</c:v>
                </c:pt>
                <c:pt idx="7">
                  <c:v>Enguera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17</c:v>
                </c:pt>
                <c:pt idx="2">
                  <c:v>17</c:v>
                </c:pt>
                <c:pt idx="3">
                  <c:v>15</c:v>
                </c:pt>
                <c:pt idx="4">
                  <c:v>14</c:v>
                </c:pt>
                <c:pt idx="5">
                  <c:v>14</c:v>
                </c:pt>
                <c:pt idx="6">
                  <c:v>13</c:v>
                </c:pt>
                <c:pt idx="7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Places</c:v>
                </c:pt>
              </c:strCache>
            </c:strRef>
          </c:tx>
          <c:dPt>
            <c:idx val="0"/>
            <c:spPr>
              <a:solidFill>
                <a:srgbClr val="003B42"/>
              </a:solidFill>
            </c:spPr>
          </c:dPt>
          <c:dPt>
            <c:idx val="1"/>
            <c:spPr>
              <a:solidFill>
                <a:srgbClr val="04A2B6"/>
              </a:solidFill>
            </c:spPr>
          </c:dPt>
          <c:dPt>
            <c:idx val="2"/>
            <c:spPr>
              <a:solidFill>
                <a:srgbClr val="95C21E"/>
              </a:solidFill>
            </c:spPr>
          </c:dPt>
          <c:dPt>
            <c:idx val="3"/>
            <c:spPr>
              <a:solidFill>
                <a:srgbClr val="E87222"/>
              </a:solidFill>
            </c:spPr>
          </c:dPt>
          <c:dPt>
            <c:idx val="4"/>
            <c:spPr>
              <a:solidFill>
                <a:srgbClr val="BBBBBB"/>
              </a:solidFill>
            </c:spPr>
          </c:dPt>
          <c:cat>
            <c:strRef>
              <c:f>Sheet1!$A$2:$A$6</c:f>
              <c:strCache>
                <c:ptCount val="5"/>
                <c:pt idx="0">
                  <c:v>Hotels</c:v>
                </c:pt>
                <c:pt idx="1">
                  <c:v>VUT</c:v>
                </c:pt>
                <c:pt idx="2">
                  <c:v>Càmpings</c:v>
                </c:pt>
                <c:pt idx="3">
                  <c:v>Cases rurals</c:v>
                </c:pt>
                <c:pt idx="4">
                  <c:v>Albergs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47036</c:v>
                </c:pt>
                <c:pt idx="1">
                  <c:v>38463</c:v>
                </c:pt>
                <c:pt idx="2">
                  <c:v>21348</c:v>
                </c:pt>
                <c:pt idx="3">
                  <c:v>2959</c:v>
                </c:pt>
                <c:pt idx="4">
                  <c:v>3623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Allotjament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8314</c:v>
                </c:pt>
                <c:pt idx="1">
                  <c:v>9901</c:v>
                </c:pt>
                <c:pt idx="2">
                  <c:v>10474</c:v>
                </c:pt>
                <c:pt idx="3">
                  <c:v>8406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Restauració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79868</c:v>
                </c:pt>
                <c:pt idx="1">
                  <c:v>82822</c:v>
                </c:pt>
                <c:pt idx="2">
                  <c:v>80652</c:v>
                </c:pt>
                <c:pt idx="3">
                  <c:v>79769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Agències viatge</c:v>
                </c:pt>
              </c:strCache>
            </c:strRef>
          </c:tx>
          <c:spPr>
            <a:solidFill>
              <a:srgbClr val="95C21E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2797</c:v>
                </c:pt>
                <c:pt idx="1">
                  <c:v>2891</c:v>
                </c:pt>
                <c:pt idx="2">
                  <c:v>2840</c:v>
                </c:pt>
                <c:pt idx="3">
                  <c:v>2779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Allotjament</c:v>
                </c:pt>
              </c:strCache>
            </c:strRef>
          </c:tx>
          <c:spPr>
            <a:solidFill>
              <a:srgbClr val="003B42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8314</c:v>
                </c:pt>
                <c:pt idx="1">
                  <c:v>9901</c:v>
                </c:pt>
                <c:pt idx="2">
                  <c:v>10474</c:v>
                </c:pt>
                <c:pt idx="3">
                  <c:v>8406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Restauració</c:v>
                </c:pt>
              </c:strCache>
            </c:strRef>
          </c:tx>
          <c:spPr>
            <a:solidFill>
              <a:srgbClr val="04A2B6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79868</c:v>
                </c:pt>
                <c:pt idx="1">
                  <c:v>82822</c:v>
                </c:pt>
                <c:pt idx="2">
                  <c:v>80652</c:v>
                </c:pt>
                <c:pt idx="3">
                  <c:v>79769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Agències viatge</c:v>
                </c:pt>
              </c:strCache>
            </c:strRef>
          </c:tx>
          <c:spPr>
            <a:solidFill>
              <a:srgbClr val="95C21E"/>
            </a:solidFill>
          </c:spP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2797</c:v>
                </c:pt>
                <c:pt idx="1">
                  <c:v>2891</c:v>
                </c:pt>
                <c:pt idx="2">
                  <c:v>2840</c:v>
                </c:pt>
                <c:pt idx="3">
                  <c:v>2779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Allotjament</c:v>
                </c:pt>
              </c:strCache>
            </c:strRef>
          </c:tx>
          <c:spPr>
            <a:ln w="25400">
              <a:solidFill>
                <a:srgbClr val="003B4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119.1</c:v>
                </c:pt>
                <c:pt idx="2">
                  <c:v>126.0</c:v>
                </c:pt>
                <c:pt idx="3">
                  <c:v>101.1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Restauració</c:v>
                </c:pt>
              </c:strCache>
            </c:strRef>
          </c:tx>
          <c:spPr>
            <a:ln w="25400">
              <a:solidFill>
                <a:srgbClr val="04A2B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103.7</c:v>
                </c:pt>
                <c:pt idx="2">
                  <c:v>101.0</c:v>
                </c:pt>
                <c:pt idx="3">
                  <c:v>99.9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Agències viatge</c:v>
                </c:pt>
              </c:strCache>
            </c:strRef>
          </c:tx>
          <c:spPr>
            <a:ln w="25400">
              <a:solidFill>
                <a:srgbClr val="95C21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(Gen)</c:v>
                </c:pt>
                <c:pt idx="1">
                  <c:v>Q2 (Abr)</c:v>
                </c:pt>
                <c:pt idx="2">
                  <c:v>Q3 (Jul)</c:v>
                </c:pt>
                <c:pt idx="3">
                  <c:v>Q4 (Oct)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103.4</c:v>
                </c:pt>
                <c:pt idx="2">
                  <c:v>101.5</c:v>
                </c:pt>
                <c:pt idx="3">
                  <c:v>99.4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7A26F-784E-7F42-834D-0E6D7273BEEA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88507-070F-6E43-B3F5-F34F7AEA08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555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88507-070F-6E43-B3F5-F34F7AEA089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8871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E6EFF949-F758-974B-B668-77FD70F28728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09AA7">
                  <a:alpha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70AE5EE-A9C3-4B4D-A52E-0DCF008F9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571"/>
          <a:stretch/>
        </p:blipFill>
        <p:spPr>
          <a:xfrm>
            <a:off x="0" y="0"/>
            <a:ext cx="2612571" cy="6858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20C6D742-E2A2-0C45-9596-717DC794ECB6}"/>
              </a:ext>
            </a:extLst>
          </p:cNvPr>
          <p:cNvGrpSpPr/>
          <p:nvPr userDrawn="1"/>
        </p:nvGrpSpPr>
        <p:grpSpPr>
          <a:xfrm>
            <a:off x="371142" y="6122731"/>
            <a:ext cx="1930011" cy="255101"/>
            <a:chOff x="371142" y="6122731"/>
            <a:chExt cx="1930011" cy="255101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B783E35-9B10-E74D-B342-3D1914A60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234EA441-67AA-A647-881E-AAAD4CE97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8DD2DB-6EB2-E047-A690-19DC5E706481}"/>
              </a:ext>
            </a:extLst>
          </p:cNvPr>
          <p:cNvSpPr/>
          <p:nvPr userDrawn="1"/>
        </p:nvSpPr>
        <p:spPr>
          <a:xfrm>
            <a:off x="3089227" y="430374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2">
                    <a:lumMod val="75000"/>
                  </a:schemeClr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3B0896-D2A3-FB42-9772-F603F0FF34B7}"/>
              </a:ext>
            </a:extLst>
          </p:cNvPr>
          <p:cNvCxnSpPr>
            <a:cxnSpLocks/>
          </p:cNvCxnSpPr>
          <p:nvPr userDrawn="1"/>
        </p:nvCxnSpPr>
        <p:spPr>
          <a:xfrm>
            <a:off x="3175085" y="692311"/>
            <a:ext cx="848351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1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EA7FC328-EDBF-FE4F-A7D1-59696ED5F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r="53929"/>
          <a:stretch/>
        </p:blipFill>
        <p:spPr>
          <a:xfrm>
            <a:off x="-1" y="0"/>
            <a:ext cx="5617029" cy="6858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20C6D742-E2A2-0C45-9596-717DC794ECB6}"/>
              </a:ext>
            </a:extLst>
          </p:cNvPr>
          <p:cNvGrpSpPr/>
          <p:nvPr userDrawn="1"/>
        </p:nvGrpSpPr>
        <p:grpSpPr>
          <a:xfrm>
            <a:off x="464926" y="6122731"/>
            <a:ext cx="1930011" cy="255101"/>
            <a:chOff x="371142" y="6122731"/>
            <a:chExt cx="1930011" cy="255101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B783E35-9B10-E74D-B342-3D1914A60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234EA441-67AA-A647-881E-AAAD4CE97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8DD2DB-6EB2-E047-A690-19DC5E706481}"/>
              </a:ext>
            </a:extLst>
          </p:cNvPr>
          <p:cNvSpPr/>
          <p:nvPr userDrawn="1"/>
        </p:nvSpPr>
        <p:spPr>
          <a:xfrm>
            <a:off x="5821603" y="378615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2">
                    <a:lumMod val="75000"/>
                  </a:schemeClr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3B0896-D2A3-FB42-9772-F603F0FF34B7}"/>
              </a:ext>
            </a:extLst>
          </p:cNvPr>
          <p:cNvCxnSpPr>
            <a:cxnSpLocks/>
          </p:cNvCxnSpPr>
          <p:nvPr userDrawn="1"/>
        </p:nvCxnSpPr>
        <p:spPr>
          <a:xfrm>
            <a:off x="6090484" y="692311"/>
            <a:ext cx="556811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45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41F36F4C-0F77-CD42-AFF4-DD9470EA70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-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BB43BDF-C85F-274A-B957-5A95745A7701}"/>
              </a:ext>
            </a:extLst>
          </p:cNvPr>
          <p:cNvSpPr/>
          <p:nvPr userDrawn="1"/>
        </p:nvSpPr>
        <p:spPr>
          <a:xfrm>
            <a:off x="650828" y="430374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2B20494-2225-4049-B190-6A378E833FE5}"/>
              </a:ext>
            </a:extLst>
          </p:cNvPr>
          <p:cNvCxnSpPr>
            <a:cxnSpLocks/>
          </p:cNvCxnSpPr>
          <p:nvPr userDrawn="1"/>
        </p:nvCxnSpPr>
        <p:spPr>
          <a:xfrm>
            <a:off x="743962" y="692311"/>
            <a:ext cx="107094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6B2B9FE-60BC-5F43-BBD6-BAD9BDFEC1FF}"/>
              </a:ext>
            </a:extLst>
          </p:cNvPr>
          <p:cNvGrpSpPr/>
          <p:nvPr userDrawn="1"/>
        </p:nvGrpSpPr>
        <p:grpSpPr>
          <a:xfrm>
            <a:off x="699388" y="6122731"/>
            <a:ext cx="1930011" cy="255101"/>
            <a:chOff x="371142" y="6122731"/>
            <a:chExt cx="1930011" cy="25510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B7DF8F1-164B-1342-9E3F-32457075B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82FAD779-EB8A-DC4B-A859-3749A6F4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563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B0B03-3A96-AA47-96A5-367F5A9F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153541-B962-8049-9C9A-20835E89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5D430-5020-9F46-A754-F18E0D84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960E7-5107-4C49-ADA5-CD8E30B4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5BDB9-793F-6149-8D38-40881A8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313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02E80-DC37-6B46-958B-5536BCE8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089E4-58B4-7E4D-A389-499D10302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73EEF9-E661-CE4F-B898-BFF4B0F7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C9FD7B-E7BC-024E-8E4C-97E35A43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18E8A4-F883-FE46-BB08-B7FADDBE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F053D-D9CF-4C4B-90BA-FE303C54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538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EB26C-9185-D844-A60E-E8C8741A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8E8FC9-A795-0A48-8FC5-DA012865E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8DCBDF-DFD5-A647-8BB5-28EFE9C84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BDB481-BE36-CF4F-A261-C6214ECA7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6CE9F1-8E87-2F43-9ACC-F3E29C748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359626-EB36-DD41-8F9D-A94C2F0E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EBD3DC-8F7C-1B4A-9E96-954C9450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39BFEA-7E1A-5A45-ABC9-B29F559D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688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98808-6418-A64B-B456-048963DC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8FC616-58C0-BE4A-8A6E-52A233F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5D42DC-0930-9B48-8220-DA083C26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D36BC8-DF8D-6F46-BA2B-D7FC39E5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3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CD30FE-B598-4F43-9F49-D9887D3D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7803AC-ACB0-3740-A0CE-DB432E41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D7ECD6-9EAE-E540-A12C-724331C0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5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91668-213C-BE4F-B83F-2AF6E3BA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8A542-AF38-1E4A-96DD-39BB46F34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8054C6-7BE0-4941-A80F-AE934AFFF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9E9BE9-8613-FD42-B5EC-0FB5D2D9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809AA1-D8C7-674B-82ED-332E39E1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E5BE6F-375C-EA4B-B4AE-7ED1D0F0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172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BAC5B-59F2-E94A-9E98-618CBB0FA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75C564-3375-784F-953B-C043A1604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7E6B11-4EF3-FB49-A277-3CCDF1783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8D4422-9A64-C84C-ADA2-80E875A3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253235-4A3C-DC45-BEF3-388A4DAD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D6E7E-393C-3C49-808D-CC4F7AAE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413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164D2-DE86-9B47-922A-0961D6C9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4AA528-67AB-594F-8F49-6D7F282CD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4EE8E-17CC-744E-8AB2-42717192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F750D-A8EF-B740-8975-5E85BB3F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C788B9-20C3-BF45-88E6-7D8D1BB6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52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DDBCDB-A05F-3745-9388-85749F6DF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7C68E1-8A15-E343-B37F-03713632C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A0C50C-973E-D84F-AE7B-CEDAC8D6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4EFFF4-07DB-4C43-9D59-F865EDD8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CD5D0D-CAFA-B545-9330-E56BCFF0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913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96904-3761-164A-CB13-E49930F53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C1A17-0F07-3F1D-E7FE-8DBAE8AF2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1EAFB1-E85E-B2E9-48C5-6F6DCF8C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16C656-E288-C7E1-E7AF-7CD8FBE7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3D6F6-0299-3894-747C-6CB3AC84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9541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67A90-90EA-24A6-83E8-A0E436BA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1677F-484A-7C57-8910-1FC78EB9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BEDC19-1263-D133-19F9-879E9FBF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B0D96B-2DCB-5E16-310E-2750DF07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2A6306-863C-DCE3-B012-B047CA0F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818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EF9DB-C3DD-0B2C-9B6D-4EB8D296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242A52-D0E5-B1EB-3505-392574AB8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014CDF-75DC-98D8-E368-BF79BD7D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FC60F-A664-AE9F-9EE4-C65044FF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3CAD1-7C2F-8EE5-BB93-73159C02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2565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1E8-0335-7484-8784-D28233A5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22E319-D3B2-CE31-72AC-4947E041C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9E43DE-29C2-E6D1-8321-14BE7EB0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8CED10-D4A4-D862-862B-8A0102C0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173BBF-74C0-1475-879A-40A31E5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543645-5C62-1ADF-35C4-24B8CACA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551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CB4CD-DB36-38F5-551B-B24B15CE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61DAFF-061A-2768-5084-26148A67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AE0E2-32CE-6CED-3CA7-B5A61202B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36FC0C-DE3E-7F48-9A63-32EDECA00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E2E3D2-DB3E-E48D-E819-4C38BD2B8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70E9DC-6207-AB08-6196-8AA7C0E4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E47B46-A906-039D-DD97-2CDA017A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E3AE35-4E9D-97F5-80BF-29172F59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0681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ABF35-F0CC-783D-4B10-6F3ADCC4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AEAA89-7378-E606-690D-84282CD4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C9EB78-B4C8-C921-7E98-06A2449D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956437-53FC-04A1-9CA4-CCBAC140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8122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9CFF1C-FB7F-499B-CEF7-BE26FFBE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3ED19F-53EE-6AC8-8F87-6EB4A6A5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AD167E-80D1-E542-3FF0-7A6158BD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17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F72A4-8530-EA3C-21EE-50DA297A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50BE9D-DAFF-1BA7-D48B-346E26FA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9CEC10-9821-0301-F36C-5C6CE3752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739328-245C-8696-F875-85EC1CCD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2D4AB1-76F6-731A-D181-264166D3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5EE67A-A795-1653-0CC1-D5039BAA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699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2DB89-EFCE-193F-C879-1989DBA5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62A323-0968-5A9B-4678-4D53F93B6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0E1E5E-2979-5ABE-4A1C-B3947936E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553CE0-7E1C-24CB-5426-9C3F86D9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8E5EC3-B336-1B0B-8A1F-D0E26934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A69C6F-217E-3704-7092-7987EEBD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028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78135-C256-8BD3-DE47-1A588730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B77F9A-62AA-1500-BF40-FEE290BA2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611238-6756-6397-1B32-D9F19606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4FB5A-4D94-A104-3A51-29C3B94D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9EAB8-31CB-4D56-365C-ECC477C7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2535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32C61C-8238-2E16-8AC3-02E38D919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4BB3E2-6358-E995-7A18-DC02B715D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216D6F-C9D2-780B-FBC3-B4E87009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70DE7B-522C-B215-A4CE-442DB880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3E1EF3-FB6C-DD87-A9A9-97E44B03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43973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774093-B221-A849-AB39-C6711070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B75B39-C2EE-7D4B-A2E7-210EA535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AF8A87-1D60-284E-97D8-C4C0E3044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EB2B9-7607-1242-99FD-176D0D267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5ECEB-679F-A343-BE65-D72E4D46B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139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2B9769-6CA2-F143-40A3-97BBE149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03E919-B5BD-F587-D7A3-97F3289E2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DA5140-DFE3-6577-B958-E8AFCEA6D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F6DB3-1D9C-73D9-C8F3-375AFCEBB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1E8CEE-A073-F425-0719-C9D4F7081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88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3493FEE5-4870-BE47-9754-6E18BB9C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29000"/>
            <a:ext cx="12191999" cy="342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5406190" y="1427748"/>
            <a:ext cx="6336632" cy="170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</a:rPr>
              <a:t>Informe de análisis de datos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5406190" y="3713150"/>
            <a:ext cx="466025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>SMART OFFICE </a:t>
            </a:r>
            <a:b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</a:br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>DIPUTACIÓN DE VALÉNCIA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8E12F29-AEFF-1648-82DB-A98A3FE6A988}"/>
              </a:ext>
            </a:extLst>
          </p:cNvPr>
          <p:cNvSpPr/>
          <p:nvPr/>
        </p:nvSpPr>
        <p:spPr>
          <a:xfrm>
            <a:off x="10428394" y="476672"/>
            <a:ext cx="11416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1200" b="1">
                <a:solidFill>
                  <a:srgbClr val="04145E"/>
                </a:solidFill>
                <a:latin typeface="Montserrat SemiBold" pitchFamily="2" charset="77"/>
              </a:rPr>
              <a:t>ENE– DIC 25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952129-EAF5-D649-B757-DF7A3A13A482}"/>
              </a:ext>
            </a:extLst>
          </p:cNvPr>
          <p:cNvGrpSpPr/>
          <p:nvPr/>
        </p:nvGrpSpPr>
        <p:grpSpPr>
          <a:xfrm>
            <a:off x="5392870" y="5685182"/>
            <a:ext cx="3420501" cy="452108"/>
            <a:chOff x="371142" y="6122731"/>
            <a:chExt cx="1930011" cy="255101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64FA567-A495-784F-9357-2A8E7113F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66214A28-8633-3B48-BA5B-16108F80A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93466DD-87CE-BC44-9C40-B3F1ACBDC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952" y="1624083"/>
            <a:ext cx="3650919" cy="38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1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B6F25006-079D-9F4E-A6E4-46DFA4DA8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74207D7-0887-9E41-83A9-E3CE80D740FD}"/>
              </a:ext>
            </a:extLst>
          </p:cNvPr>
          <p:cNvSpPr txBox="1"/>
          <p:nvPr/>
        </p:nvSpPr>
        <p:spPr>
          <a:xfrm>
            <a:off x="731838" y="1460636"/>
            <a:ext cx="5364162" cy="914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chemeClr val="bg1"/>
                </a:solidFill>
                <a:latin typeface="DM Serif Display" pitchFamily="2" charset="0"/>
              </a:rPr>
              <a:t>Índice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E3194D-BA72-7946-B686-0B4FF8284B2D}"/>
              </a:ext>
            </a:extLst>
          </p:cNvPr>
          <p:cNvSpPr/>
          <p:nvPr/>
        </p:nvSpPr>
        <p:spPr>
          <a:xfrm>
            <a:off x="731838" y="3865364"/>
            <a:ext cx="2276201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Afluencia</a:t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turística</a:t>
            </a:r>
            <a:endParaRPr lang="es-ES" sz="2400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09F9F7-B8EE-9C46-95BA-913323E8363B}"/>
              </a:ext>
            </a:extLst>
          </p:cNvPr>
          <p:cNvSpPr/>
          <p:nvPr/>
        </p:nvSpPr>
        <p:spPr>
          <a:xfrm>
            <a:off x="3727032" y="3865364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02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Gasto</a:t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turístico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00B25A-E893-D340-9FC2-AFDE28AAAA50}"/>
              </a:ext>
            </a:extLst>
          </p:cNvPr>
          <p:cNvSpPr/>
          <p:nvPr/>
        </p:nvSpPr>
        <p:spPr>
          <a:xfrm>
            <a:off x="6449973" y="3865364"/>
            <a:ext cx="2003948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03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Ocupación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AC8B80-2FA6-0EFB-03B8-45D522513162}"/>
              </a:ext>
            </a:extLst>
          </p:cNvPr>
          <p:cNvSpPr/>
          <p:nvPr/>
        </p:nvSpPr>
        <p:spPr>
          <a:xfrm>
            <a:off x="9172914" y="3865363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04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Glosario de términos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6E963DA-3627-4643-9A0D-E3DB198EB4F1}"/>
              </a:ext>
            </a:extLst>
          </p:cNvPr>
          <p:cNvCxnSpPr>
            <a:cxnSpLocks/>
          </p:cNvCxnSpPr>
          <p:nvPr/>
        </p:nvCxnSpPr>
        <p:spPr>
          <a:xfrm>
            <a:off x="1882588" y="4532221"/>
            <a:ext cx="829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620F1599-A92D-D945-B7C4-7CB814A1E037}"/>
              </a:ext>
            </a:extLst>
          </p:cNvPr>
          <p:cNvSpPr/>
          <p:nvPr/>
        </p:nvSpPr>
        <p:spPr>
          <a:xfrm>
            <a:off x="185750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E9C1C4-1E88-DF4E-A65B-0218C95B4041}"/>
              </a:ext>
            </a:extLst>
          </p:cNvPr>
          <p:cNvSpPr/>
          <p:nvPr/>
        </p:nvSpPr>
        <p:spPr>
          <a:xfrm>
            <a:off x="4659940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E2A3A38-001C-B04E-8512-7DD2433DC171}"/>
              </a:ext>
            </a:extLst>
          </p:cNvPr>
          <p:cNvSpPr/>
          <p:nvPr/>
        </p:nvSpPr>
        <p:spPr>
          <a:xfrm>
            <a:off x="7396244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77ADEF3-D508-7944-8B71-F8B0C8E68F62}"/>
              </a:ext>
            </a:extLst>
          </p:cNvPr>
          <p:cNvSpPr/>
          <p:nvPr/>
        </p:nvSpPr>
        <p:spPr>
          <a:xfrm>
            <a:off x="1012844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F8E69BE-D07F-3A4F-8882-5E887A5543CA}"/>
              </a:ext>
            </a:extLst>
          </p:cNvPr>
          <p:cNvGrpSpPr/>
          <p:nvPr/>
        </p:nvGrpSpPr>
        <p:grpSpPr>
          <a:xfrm>
            <a:off x="8460336" y="1672046"/>
            <a:ext cx="3215727" cy="425042"/>
            <a:chOff x="371142" y="6122731"/>
            <a:chExt cx="1930011" cy="25510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8E82B3C-48F0-C34B-B79D-EC52F3637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20" name="Gráfico 19">
              <a:extLst>
                <a:ext uri="{FF2B5EF4-FFF2-40B4-BE49-F238E27FC236}">
                  <a16:creationId xmlns:a16="http://schemas.microsoft.com/office/drawing/2014/main" id="{84854DF8-2967-5941-BF61-FE80C4C63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689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Afluencia</a:t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>turística</a:t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905696"/>
            <a:ext cx="4833816" cy="19241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15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nacional  </a:t>
            </a:r>
          </a:p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E4DD25C5-9885-1642-9115-ECDE11E0F9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676771"/>
              </p:ext>
            </p:extLst>
          </p:nvPr>
        </p:nvGraphicFramePr>
        <p:xfrm>
          <a:off x="6096000" y="1207478"/>
          <a:ext cx="5501834" cy="5285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B9CFB1B3-EEBF-7A4A-95DC-933AEFC8FA3F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7F32BBA-4526-CC4C-B41D-7DD33EB0F698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89F6CE8-74DC-7C4F-89DC-B0CE5239A684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21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F8EC7F7-7EB5-3A48-A4FC-34583BCC66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75507"/>
              </p:ext>
            </p:extLst>
          </p:nvPr>
        </p:nvGraphicFramePr>
        <p:xfrm>
          <a:off x="6096000" y="1113692"/>
          <a:ext cx="5501834" cy="5384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FCBB9D-F35F-B840-BCDF-EB4FAF6C9BF3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DB14CB-C47F-34CC-BE48-2C3A5CC95EBD}"/>
              </a:ext>
            </a:extLst>
          </p:cNvPr>
          <p:cNvSpPr/>
          <p:nvPr/>
        </p:nvSpPr>
        <p:spPr>
          <a:xfrm>
            <a:off x="398584" y="1905696"/>
            <a:ext cx="4833816" cy="19241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15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internacional  </a:t>
            </a:r>
          </a:p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6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905696"/>
            <a:ext cx="4833815" cy="200106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60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endParaRPr lang="es-ES" sz="115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4C7ED280-2256-1E4D-A043-08BFE50BD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952716"/>
              </p:ext>
            </p:extLst>
          </p:nvPr>
        </p:nvGraphicFramePr>
        <p:xfrm>
          <a:off x="6095999" y="1723292"/>
          <a:ext cx="5501835" cy="4797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17DD0ADA-76DB-F44D-A907-4A634FCFEBE4}"/>
              </a:ext>
            </a:extLst>
          </p:cNvPr>
          <p:cNvSpPr/>
          <p:nvPr/>
        </p:nvSpPr>
        <p:spPr>
          <a:xfrm>
            <a:off x="6095999" y="1022873"/>
            <a:ext cx="5580063" cy="28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" algn="ctr">
              <a:lnSpc>
                <a:spcPts val="1600"/>
              </a:lnSpc>
              <a:buClr>
                <a:srgbClr val="00325C"/>
              </a:buClr>
              <a:buSzPct val="100000"/>
            </a:pPr>
            <a:r>
              <a:rPr lang="es-ES" sz="1100" b="1" kern="0" dirty="0">
                <a:solidFill>
                  <a:schemeClr val="bg1"/>
                </a:solidFill>
                <a:highlight>
                  <a:srgbClr val="04A2B6"/>
                </a:highlight>
                <a:latin typeface="Montserrat SemiBold" pitchFamily="2" charset="77"/>
                <a:cs typeface="Times New Roman" panose="02020603050405020304" pitchFamily="18" charset="0"/>
              </a:rPr>
              <a:t> Turismo nacional</a:t>
            </a:r>
            <a:r>
              <a:rPr lang="es-ES" sz="1100" b="1" kern="0" dirty="0">
                <a:solidFill>
                  <a:srgbClr val="04A2B6"/>
                </a:solidFill>
                <a:highlight>
                  <a:srgbClr val="04A2B6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r>
              <a:rPr lang="es-ES" sz="11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     </a:t>
            </a:r>
            <a:r>
              <a:rPr lang="es-ES" sz="1100" b="1" kern="0" dirty="0">
                <a:solidFill>
                  <a:srgbClr val="95C21E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r>
              <a:rPr lang="es-ES" sz="1100" b="1" kern="0" dirty="0">
                <a:solidFill>
                  <a:schemeClr val="bg1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Turismo internacional</a:t>
            </a:r>
            <a:r>
              <a:rPr lang="es-ES" sz="1100" b="1" kern="0" dirty="0">
                <a:solidFill>
                  <a:srgbClr val="95C21E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r>
              <a:rPr lang="es-ES" sz="11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     </a:t>
            </a:r>
            <a:r>
              <a:rPr lang="es-ES" sz="1100" b="1" kern="0" dirty="0">
                <a:solidFill>
                  <a:srgbClr val="27649F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r>
              <a:rPr lang="es-ES" sz="1100" b="1" kern="0" dirty="0">
                <a:solidFill>
                  <a:schemeClr val="bg1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Afluencia total</a:t>
            </a:r>
            <a:r>
              <a:rPr lang="es-ES" sz="1100" b="1" kern="0" dirty="0">
                <a:solidFill>
                  <a:srgbClr val="27649F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endParaRPr lang="es-ES" sz="1100" b="1" kern="0" dirty="0">
              <a:solidFill>
                <a:srgbClr val="27649F"/>
              </a:solidFill>
              <a:highlight>
                <a:srgbClr val="27649F"/>
              </a:highlight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6F3FC8-DA67-C442-A825-FE4460C9371D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</p:spTree>
    <p:extLst>
      <p:ext uri="{BB962C8B-B14F-4D97-AF65-F5344CB8AC3E}">
        <p14:creationId xmlns:p14="http://schemas.microsoft.com/office/powerpoint/2010/main" val="395597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892249"/>
            <a:ext cx="4833815" cy="22150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ct val="1150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2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nacional  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endParaRPr lang="es-ES" sz="120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CFB1B3-EEBF-7A4A-95DC-933AEFC8FA3F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Evolución reciente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y lectura de tendencias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20BEBA1D-0125-EF48-AAB9-E1462711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675465"/>
              </p:ext>
            </p:extLst>
          </p:nvPr>
        </p:nvGraphicFramePr>
        <p:xfrm>
          <a:off x="6096000" y="1304925"/>
          <a:ext cx="5697415" cy="52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271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70CDAAA-E423-4241-B0DB-04E6C5AC5E05}"/>
              </a:ext>
            </a:extLst>
          </p:cNvPr>
          <p:cNvSpPr/>
          <p:nvPr/>
        </p:nvSpPr>
        <p:spPr>
          <a:xfrm>
            <a:off x="638668" y="1075606"/>
            <a:ext cx="4074261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200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200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9982C3D-B931-114F-A527-E7F3B6610129}"/>
              </a:ext>
            </a:extLst>
          </p:cNvPr>
          <p:cNvSpPr/>
          <p:nvPr/>
        </p:nvSpPr>
        <p:spPr>
          <a:xfrm>
            <a:off x="638668" y="1392995"/>
            <a:ext cx="7139240" cy="47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Conclusiones y resultados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585DDF-1162-364C-93D6-09AB71A7B6BE}"/>
              </a:ext>
            </a:extLst>
          </p:cNvPr>
          <p:cNvSpPr/>
          <p:nvPr/>
        </p:nvSpPr>
        <p:spPr>
          <a:xfrm>
            <a:off x="638669" y="2020610"/>
            <a:ext cx="52618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B5F7BD0-6DBF-5447-8B94-BC6D8E119919}"/>
              </a:ext>
            </a:extLst>
          </p:cNvPr>
          <p:cNvSpPr/>
          <p:nvPr/>
        </p:nvSpPr>
        <p:spPr>
          <a:xfrm>
            <a:off x="6291521" y="2020610"/>
            <a:ext cx="5261810" cy="265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ES" sz="140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7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A48E-A992-45B2-387F-9D7784ECB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54073F4-BECA-4244-87C9-98ADE53C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929056" y="2377835"/>
            <a:ext cx="10260863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s-ES" sz="4000" dirty="0">
                <a:solidFill>
                  <a:schemeClr val="bg1"/>
                </a:solidFill>
                <a:latin typeface="DM Serif Display" pitchFamily="2" charset="0"/>
              </a:rPr>
              <a:t>Informe de análisis de datos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3713902" y="3165421"/>
            <a:ext cx="469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Montserrat Medium" pitchFamily="2" charset="77"/>
              </a:rPr>
              <a:t>SMART OFFICE DIPUTACIÓN DE VALÉNCIA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3B6F16C-54F4-3E42-8154-73204DB5AB81}"/>
              </a:ext>
            </a:extLst>
          </p:cNvPr>
          <p:cNvGrpSpPr/>
          <p:nvPr/>
        </p:nvGrpSpPr>
        <p:grpSpPr>
          <a:xfrm>
            <a:off x="4385750" y="5423925"/>
            <a:ext cx="3420501" cy="452108"/>
            <a:chOff x="371142" y="6122731"/>
            <a:chExt cx="1930011" cy="255101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7082C2F-9498-9E42-97DB-9683ECA4B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3E5386C9-F033-1F4D-AFF0-48148740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939960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3493FEE5-4870-BE47-9754-6E18BB9C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29000"/>
            <a:ext cx="12191999" cy="342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5406190" y="1427748"/>
            <a:ext cx="6336632" cy="170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</a:rPr>
              <a:t/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5406190" y="3713150"/>
            <a:ext cx="466025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/>
            </a:r>
            <a:b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</a:br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/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8E12F29-AEFF-1648-82DB-A98A3FE6A988}"/>
              </a:ext>
            </a:extLst>
          </p:cNvPr>
          <p:cNvSpPr/>
          <p:nvPr/>
        </p:nvSpPr>
        <p:spPr>
          <a:xfrm>
            <a:off x="10428394" y="476672"/>
            <a:ext cx="11416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1200" b="1">
                <a:solidFill>
                  <a:srgbClr val="04145E"/>
                </a:solidFill>
                <a:latin typeface="Montserrat SemiBold" pitchFamily="2" charset="77"/>
              </a:rPr>
              <a:t/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952129-EAF5-D649-B757-DF7A3A13A482}"/>
              </a:ext>
            </a:extLst>
          </p:cNvPr>
          <p:cNvGrpSpPr/>
          <p:nvPr/>
        </p:nvGrpSpPr>
        <p:grpSpPr>
          <a:xfrm>
            <a:off x="5392870" y="5685182"/>
            <a:ext cx="3420501" cy="452108"/>
            <a:chOff x="371142" y="6122731"/>
            <a:chExt cx="1930011" cy="255101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64FA567-A495-784F-9357-2A8E7113F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66214A28-8633-3B48-BA5B-16108F80A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93466DD-87CE-BC44-9C40-B3F1ACBDC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952" y="1624083"/>
            <a:ext cx="3650919" cy="38373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000" y="1512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DIPUTACIÓ DE VALÈNCIA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2232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4A2B6"/>
                </a:solidFill>
              </a:rPr>
              <a:t>Informe de dades turístiques · ENE–DIC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55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Smart Office · Diputació de València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B6F25006-079D-9F4E-A6E4-46DFA4DA8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74207D7-0887-9E41-83A9-E3CE80D740FD}"/>
              </a:ext>
            </a:extLst>
          </p:cNvPr>
          <p:cNvSpPr txBox="1"/>
          <p:nvPr/>
        </p:nvSpPr>
        <p:spPr>
          <a:xfrm>
            <a:off x="731838" y="1460636"/>
            <a:ext cx="5364162" cy="914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chemeClr val="bg1"/>
                </a:solidFill>
                <a:latin typeface="DM Serif Display" pitchFamily="2" charset="0"/>
              </a:rPr>
              <a:t/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E3194D-BA72-7946-B686-0B4FF8284B2D}"/>
              </a:ext>
            </a:extLst>
          </p:cNvPr>
          <p:cNvSpPr/>
          <p:nvPr/>
        </p:nvSpPr>
        <p:spPr>
          <a:xfrm>
            <a:off x="731838" y="3865364"/>
            <a:ext cx="2276201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  <a:endParaRPr lang="es-ES" sz="2400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09F9F7-B8EE-9C46-95BA-913323E8363B}"/>
              </a:ext>
            </a:extLst>
          </p:cNvPr>
          <p:cNvSpPr/>
          <p:nvPr/>
        </p:nvSpPr>
        <p:spPr>
          <a:xfrm>
            <a:off x="3727032" y="3865364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00B25A-E893-D340-9FC2-AFDE28AAAA50}"/>
              </a:ext>
            </a:extLst>
          </p:cNvPr>
          <p:cNvSpPr/>
          <p:nvPr/>
        </p:nvSpPr>
        <p:spPr>
          <a:xfrm>
            <a:off x="6449973" y="3865364"/>
            <a:ext cx="2003948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AC8B80-2FA6-0EFB-03B8-45D522513162}"/>
              </a:ext>
            </a:extLst>
          </p:cNvPr>
          <p:cNvSpPr/>
          <p:nvPr/>
        </p:nvSpPr>
        <p:spPr>
          <a:xfrm>
            <a:off x="9172914" y="3865363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/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6E963DA-3627-4643-9A0D-E3DB198EB4F1}"/>
              </a:ext>
            </a:extLst>
          </p:cNvPr>
          <p:cNvCxnSpPr>
            <a:cxnSpLocks/>
          </p:cNvCxnSpPr>
          <p:nvPr/>
        </p:nvCxnSpPr>
        <p:spPr>
          <a:xfrm>
            <a:off x="1882588" y="4532221"/>
            <a:ext cx="829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620F1599-A92D-D945-B7C4-7CB814A1E037}"/>
              </a:ext>
            </a:extLst>
          </p:cNvPr>
          <p:cNvSpPr/>
          <p:nvPr/>
        </p:nvSpPr>
        <p:spPr>
          <a:xfrm>
            <a:off x="185750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E9C1C4-1E88-DF4E-A65B-0218C95B4041}"/>
              </a:ext>
            </a:extLst>
          </p:cNvPr>
          <p:cNvSpPr/>
          <p:nvPr/>
        </p:nvSpPr>
        <p:spPr>
          <a:xfrm>
            <a:off x="4659940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/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E2A3A38-001C-B04E-8512-7DD2433DC171}"/>
              </a:ext>
            </a:extLst>
          </p:cNvPr>
          <p:cNvSpPr/>
          <p:nvPr/>
        </p:nvSpPr>
        <p:spPr>
          <a:xfrm>
            <a:off x="7396244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/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77ADEF3-D508-7944-8B71-F8B0C8E68F62}"/>
              </a:ext>
            </a:extLst>
          </p:cNvPr>
          <p:cNvSpPr/>
          <p:nvPr/>
        </p:nvSpPr>
        <p:spPr>
          <a:xfrm>
            <a:off x="1012844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/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F8E69BE-D07F-3A4F-8882-5E887A5543CA}"/>
              </a:ext>
            </a:extLst>
          </p:cNvPr>
          <p:cNvGrpSpPr/>
          <p:nvPr/>
        </p:nvGrpSpPr>
        <p:grpSpPr>
          <a:xfrm>
            <a:off x="8460336" y="1672046"/>
            <a:ext cx="3215727" cy="425042"/>
            <a:chOff x="371142" y="6122731"/>
            <a:chExt cx="1930011" cy="25510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8E82B3C-48F0-C34B-B79D-EC52F3637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20" name="Gráfico 19">
              <a:extLst>
                <a:ext uri="{FF2B5EF4-FFF2-40B4-BE49-F238E27FC236}">
                  <a16:creationId xmlns:a16="http://schemas.microsoft.com/office/drawing/2014/main" id="{84854DF8-2967-5941-BF61-FE80C4C63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360000" y="180000"/>
            <a:ext cx="54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B42"/>
                </a:solidFill>
              </a:rPr>
              <a:t>ÍNDEX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4000" y="720000"/>
            <a:ext cx="1620000" cy="180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000" y="756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" y="126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" y="162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DDDDD"/>
                </a:solidFill>
              </a:rPr>
              <a:t>Evolució 2019-2025, mercats, comarques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89999" y="720000"/>
            <a:ext cx="1620000" cy="1800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89999" y="756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9999" y="126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9999" y="162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DDDDD"/>
                </a:solidFill>
              </a:rPr>
              <a:t>Pernoctacions, estada, grau d'ocupació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5998" y="720000"/>
            <a:ext cx="1620000" cy="180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5998" y="756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5998" y="126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5998" y="162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DDDDD"/>
                </a:solidFill>
              </a:rPr>
              <a:t>Hotels, VUT, càmpings, cases rurals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1997" y="720000"/>
            <a:ext cx="1620000" cy="1800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1997" y="756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1997" y="126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Treball turístic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1997" y="162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DDDDD"/>
                </a:solidFill>
              </a:rPr>
              <a:t>Afiliats SS per sector i estacionalitat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27996" y="720000"/>
            <a:ext cx="1620000" cy="180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7996" y="756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7996" y="126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7996" y="162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DDDDD"/>
                </a:solidFill>
              </a:rPr>
              <a:t>Anàlisi i perspectiva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72000"/>
            <a:ext cx="118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RESUM EXECUTIU · ENE–DIC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20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7.098.741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Turistes totals
-10.1% vs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8000" y="720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8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3.605.939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8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Internacionals (rècord)
+13.6%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720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2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3.492.802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2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Nacionals
-26.1% vs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" y="1674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17.491.480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Pernoctacions
-1.0% vs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8000" y="1674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8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8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Ocupació hotelera
-3.1% vs 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2000" y="1674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2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113.429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Places registrades
(hotels+VUT+càmpings+rural)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6138000"/>
            <a:ext cx="11832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província de València va registrar 7.098.741 turistes en 2025 (-10.1% respecte a 2024). El turisme internacional va assolir un rècord históric: 3.605.939 visitants (+13.6%). Les pernoctacions hoteleres van sumar 17.491.480 amb una estada mitjana de 2,24 nits. L'oferta reglada supera les 113.429 places.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00" y="827999"/>
            <a:ext cx="1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4A2B6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728000"/>
            <a:ext cx="64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AFLUÈNCIA
TURÍSTICA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4A2B6"/>
                </a:solidFill>
              </a:rPr>
              <a:t>Total 2025: 7.098.741 turistes  ·  Internacional: +13.6%  ·  Nacional: -26.1%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Evolució histórica total 2019–2025 (nacional + internacional)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1260000"/>
            <a:ext cx="2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B42"/>
                </a:solidFill>
              </a:rPr>
              <a:t>Total 2025:
7.098.741
turistes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8000" y="2232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Des de 2019 el total s'ha doblat: de 3.464.838 a 7.098.741 visitants (+104,9%). El turisme internacional ha crescut de forma ininterrompuda, mentre el nacional assoleix el seu segon màxim históric en 2023 i es corregeix en 2025. En termes de pes, el turisme internacional ja representa el 50,8% del total.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Turisme receptor (internacional) — sèrie histórica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868000" y="900000"/>
            <a:ext cx="2160000" cy="1007999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8000" y="1044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3.605.939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162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Turistes internacionals 2025
+13.6% vs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1980000"/>
            <a:ext cx="2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 turisme internacional va assolir 3.605.939 visitants en 2025, un màxim históric i un creixement del +13.6% respecte a 2024. La taxa de creixement anual composta (CAGR) des de 2019 és del 20,5%. França (444.971), Itàlia (371.921, +24.9%) i Regne Unit (353.207) lideren els mercats emissors. EUA (++32.8%) i Polònia (++24.2%) destaquen per crescement.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Turisme intern (nacional) — sèrie histórica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868000" y="900000"/>
            <a:ext cx="2160000" cy="1007999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8000" y="1044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3.492.802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162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Turistes nacionals 2025
-26.1% vs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1980000"/>
            <a:ext cx="2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 turisme nacional cap a València va registrar 3.492.802 visitants en 2025 (-26.1% vs 2024). Madrid (1.052.141, -24.6%) continua liderant, seguit d'Alacant (663.943) i Castelló (380.630). La demanda nacional representa el 49,2% del total. Cal contextualitzar: el nivell de 2025 supera en valor absolut el de 2021 i 2022.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Distribució mensual 2025 — Nacional vs Internacional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L'anàlisi mensual revela estacionalitat estiuenca clara. El turisme internacional supera el nacional d'abril a desembre. El màxim internacional s'assoleix al Ago (377.230 visitants). La tardor mostra bon comportament: l'octubre registra 341.696 turistes internacionals, un dels millors mesos de l'any per a aquest segment.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Turisme internacional: comparativa mensual 2024 vs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 turisme internacional creix en tots els mesos de 2025 respecte a 2024. El major increment es produeix al Nov (+88.221 turistes). L'any acumula 3.605.939 visitants internacionals vs 3.172.865 de 2024 (+13.6%). La tendència alcista és especialment marcada a tardor-hivern.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Turisme nacional: comparativa mensual 2024 vs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 turisme nacional de 2025 presenta variacions negatives en la majoria de mesos. La caiguda és especialment pronunciada al Jul (-37.2%). Cal recordar que 2024 va registrar màxims excepcionals. El nivell de 2025 (3.492.802 visitants) supera els de 2021 i 2022, situant-se com el tercer millor any de la sèrie histórica.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Top 10 mercats emissors internacionals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0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28000" y="900000"/>
            <a:ext cx="27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Francia: 444.971 (+6.5%)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Italia: 371.921 (+24.9%)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Reino Unido: 353.207 (+8.9%)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Países Bajos: 319.749 (+7.7%)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Alemania: 293.500 (+6.0%)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Suiza: 202.369 (-1.1%)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EE.UU.: 172.639 (+32.8%)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Polonia: 119.391 (+24.2%)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Bélgica: 105.000 (+8.5%)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Noruega/Escand.: 88.000 (+5.2%)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Top 10 mercats emissors nacionals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0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28000" y="900000"/>
            <a:ext cx="27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Madrid: 1.052.141 (-24.6%)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Alicante: 663.943 (-24.1%)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Castellón: 380.630 (-29.9%)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Barcelona: 250.606 (-31.0%)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Murcia: 162.746 (-12.5%)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Albacete: 154.254 (-1.9%)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Cuenca: 91.407 (-21.4%)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Zaragoza: 86.771 (-29.0%)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Teruel: 85.268 (-21.3%)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Illes Balears: 70.353 (-18.8%)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Desglose per comarques — Turistes totals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9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92000" y="1080000"/>
            <a:ext cx="190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comarca de València concentra 3.806.215 turistes (52,4% internacionals). La Safor (828.206) és la principal destinació costanera. Les comarques de l'Horta aporten volum significatiu tant de turisme nacional com internacional.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Percentatge de turisme internacional per comarca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Los Serranos és la comarca amb major internacionalització (85,2%). Les comarques de l'interior com Los Serranos i La Ribera Alta presenten perfils sorprenentment internacionals. El Rincón de Ademuz (20,5%) és la que té el perfil més domèstic, reflectint el turisme familiar de La Safor.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AFLUÈNCIA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Variació de turistes per comarca: 2024 vs 2025 (%)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76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48000" y="900000"/>
            <a:ext cx="2052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Totes les comarques registren variació negativa en 2025 respecte a 2024, degut a la correcció del turisme nacional (-26%). La Hoya de Buñol (-0.6%) és la comarca més resilient, gràcies al seu elevat pes del turisme internacional (69% internac.). Les comarques interiors com El Rincón de Ademuz (-37.6%) i La Vall d'Albaida (-33.8%) mostren les majors caigudes, reflex de la seua dependència del turisme domèstic. El paral·lelisme és clar: les comarques amb major internacionalització aguanten millor.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A2B6"/>
                </a:solidFill>
              </a:rPr>
              <a:t>01  AFLUÈNCIA TURÍSTICA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6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043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007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Rècord históric de turisme internacional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3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La província assoleix 3.605.939 visitants internacionals (+13,6%), el màxim de la sèrie histórica. França, Itàlia i Regne Unit lideren.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619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83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Diversificació dels mercats emissors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799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Itàlia (++24.9%), EUA (++32.8%) i Polònia (++24.2%) creixen amb força, ampliant la base internacional i reduint dependències.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95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159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Turisme nacional en correcció moderada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375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El turisme intern registra 3.492.802 visitants (-26.1% vs 2024), tot i que supera els nivells de 2021 i 2022. Madrid domina amb 1.052.141.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771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735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Comarca de València centralitza l'afluència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51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Concentra el 53,6% del total provincial, seguida de La Safor (828.206) com a principal destí costaner.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3347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311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Comarques amb major internacionalització, més resilients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527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La variació per comarca 2024→2025 mostra que les comarques amb elevat pes internacional (La Hoya de Buñol 69%, La Ribera Alta 76%, Los Serranos 85%) aguanten millor la caiguda, mentre que les comarques interiors depenents del turisme domèstic retrocedeixen més.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00" y="827999"/>
            <a:ext cx="1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4A2B6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728000"/>
            <a:ext cx="64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4A2B6"/>
                </a:solidFill>
              </a:rPr>
              <a:t>17.491.480 pernoctacions  ·  Estada 2,24 nits  ·  Ocupació 58.5%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72000"/>
            <a:ext cx="118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  OCUPACIÓ · Principals indicadors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20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17.491.480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Pernoctacions hoteleres
-1.0% vs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8000" y="720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8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7.378.071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8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Viajants als hotels
+0.6% vs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720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2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2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Estada mitjana total
(nits per visitant)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" y="1674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Estada turista nacional
(nits)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8000" y="1674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8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8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Estada turista internacional
(nits)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2000" y="1674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2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58.5%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Ocupació hotelera anual
-3.1% vs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6534000"/>
            <a:ext cx="118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Agost: màxim pernoctacions 2.079.928  ·  Màxima ocupació 75.2% (agost)  ·  Mínim ocupació 43.3% (gener)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Pernoctacions hoteleres mensuals — comparativa 2024 vs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868000" y="900000"/>
            <a:ext cx="2160000" cy="1007999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8000" y="1044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17.491.480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162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Total pernoctacions 2025
-1.0% vs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198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Les pernoctacions hoteleres de 2025 totalitzen 17.491.480, -1.0% respecte als 17.673.938 de 2024. Agost és el mes de major activitat amb 2.079.928 pernoctacions. Les temporades de primavera i tardor mostren comportaments similars entre anys.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Grau d'ocupació hotelera mensual — comparativa 2024 vs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868000" y="900000"/>
            <a:ext cx="2160000" cy="1007999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8000" y="1044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162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Ocupació hotelera 2025
-3.1% vs 60.4%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198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L'ocupació hotelera de 2025 es va situar en el 58.5% de mitjana anual (-3.1% vs 60.4% de 2024). El pic de l'agost arriba al 75.2%, mentre que gener és el mínim (43.3%). La tardor manté bons nivells: octubre al 59.5%.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Estada mitjana mensual i per procedència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432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608000" y="900000"/>
            <a:ext cx="1728000" cy="93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000" y="1044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1620000"/>
            <a:ext cx="17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Nits estada
turista nacional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000" y="1908000"/>
            <a:ext cx="1728000" cy="93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000" y="2052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000" y="2628000"/>
            <a:ext cx="17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Nits estada
turista internacional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000" y="2916000"/>
            <a:ext cx="1728000" cy="93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000" y="306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000" y="3636000"/>
            <a:ext cx="17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Estada mitjana
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000" y="6282000"/>
            <a:ext cx="349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L'estada total és de 2.24 nits. El turista nacional pernocta de mitjana 2.65 nits, enfront de les 1.95 del turista estranger. El màxim mensual s'assoleix a l'agost (2.97 nits).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OCUPACIÓ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Índex d'estacionalitat mensual 2025 (anual = 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L'índex posa de manifest l'estacionalitat diferencial entre segments. El turisme internacional presenta el mínim al Gen (índex 71) i el màxim a l'Ago (126). El turisme nacional té un perfil més pla però amb pic estiuenc acusat. L'amplitud de la corba internacional (54 punts) és inferior a la nacional (45 punts), indicant que el turisme estranger distribueix millor al llarg de l'any.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A2B6"/>
                </a:solidFill>
              </a:rPr>
              <a:t>02  OCUPACIÓ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6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043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007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Pernoctacions estables al voltant dels 17,5 milions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3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Les 17.491.480 pernoctacions de 2025 (-1.0% vs 2024) demostren una demanda hotelera resilient.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619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83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Ocupació hotelera sòlida al 58,5%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799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L'ocupació del 58.5% mostra la competitivitat de la planta hotelera, amb pic d'agost del 75.2% i octubre per damunt del 59.5%.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95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159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Diferencial estada nacional/internacional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375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El turista nacional pernocta 2.65 nits vs 1.95 del turista estranger, reflectint dos models de viatge molt diferenciats.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771999"/>
            <a:ext cx="162000" cy="162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735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Apartaments turístics complementen l'oferta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51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L'ocupació d'apartaments turístics al 43.4% indica la rellevància del segment extrahoteler en el mix d'allotjament.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00" y="827999"/>
            <a:ext cx="1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95C21E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728000"/>
            <a:ext cx="64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OFERTA
TURÍSTICA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C21E"/>
                </a:solidFill>
              </a:rPr>
              <a:t>113.429 places registrades  ·  565 hotels  ·  7949 VUT  ·  48 càmpings  ·  369 cases rurals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72000"/>
            <a:ext cx="118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  OFERTA TURÍSTICA · Resum provincial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20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Hotels i allotjaments
47.036 places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8000" y="720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8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7.949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8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Vivendes d'ús turístic
38.463 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720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2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2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Càmpings
21.348 places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" y="1674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Cases rurals
2.959 places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8000" y="1674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8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8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Albergs
3.623 places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2000" y="1674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2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113.429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Total places reglades
província de València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6534000"/>
            <a:ext cx="118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Les VUT representen el 33,9% de les places totals. La Safor, l'Horta i la comarca de València concentren la major part de l'oferta provincial.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Establiments hotelers per categoria — Establiments i 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Els 565 establiments hotelers sumen 47.036 places. La categoria 4 estrelles (87 estab., 19.652 places) concentra el major volum de places (41,8% del total). Les pensions i allotjaments d'1 estrella representen l'oferta més assequible.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Planta hotelera per comarca — Places i establiments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comarca de Valencia concentra 23.789 places hoteleres (270 establiments), el 50,6% del total provincial. La Safor és la principal comarca costanera amb 7.366 places.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Vivendes d'Ús Turístic (VUT) — Top 12 municipis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486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148000" y="900000"/>
            <a:ext cx="2880000" cy="1007999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00" y="1044000"/>
            <a:ext cx="2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7.949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00" y="162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VUT registrades
38.463 places totals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00" y="1980000"/>
            <a:ext cx="28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Oliva (1.463 VUT) i Cullera (1.421 VUT) lideren, concentrades a La Safor i La Ribera. La distribució reflecteix la demanda d'allotjament familiar en destinacions de sol i platja. Les VUT suposen el 33,9% de les places reglades.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Vivendes d'Ús Turístic (VUT) per comarca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Safor lidera amb 3.200 VUT registrades (15.800 places), seguida de la comarca de València (900 VUT) i El Camp de Morvedre (1.200 VUT). Aquesta distribució contrasta amb la planta hotelera, concentrada a la capital, evidenciant que les VUT cobreixen la demanda residencial del litoral.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Cases rurals i turisme d'interior — Top 15 municipis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Les cases rurals (369 establ., 2.959 places) se concentren a l'interior provincial. Chulilla (21), Requena (17), Aras De Los Olmos (17) encapçalen el rànquing. Zones com Los Serranos, la Canal de Navarrés i la Vall d'Albaida agrupen la major part de l'oferta rural, reforçant la diferenciació del turisme de natura, gastronomia i turisme actiu respecte al litoral.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Càmpings i cases rurals — distribució territorial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1007999"/>
          <a:ext cx="3780000" cy="18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80000" y="864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CÀMPINGS: 48 establ. · 21.348 places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80000" y="3240000"/>
          <a:ext cx="3780000" cy="162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0000" y="3060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CASES RURALS: 369 establ. · 2.959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0000" y="900000"/>
            <a:ext cx="39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</a:rPr>
              <a:t>Càmpings (48 establiments)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Els 48 àrees de càmping sumen 21.348 places. Oliva, Sueca i Gandia concentren la major capacitat. El litoral de La Safor és el principal nucli campista.</a:t>
            </a:r>
          </a:p>
          <a:p>
            <a:pPr algn="l"/>
            <a:r>
              <a:rPr sz="6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444444"/>
                </a:solidFill>
              </a:rPr>
              <a:t>Cases rurals (369 establiments)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Les 369 cases rurals (2.959 places) se distribueixen per l'interior, destacant Chulilla, Requena i Aras de los Olmos. Complementen les destinacions de natura i turisme actiu.</a:t>
            </a:r>
          </a:p>
          <a:p>
            <a:pPr algn="l"/>
            <a:r>
              <a:rPr sz="6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444444"/>
                </a:solidFill>
              </a:rPr>
              <a:t>Albergs: 49 establ. · 3.623 places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OFERTA TURÍSTICA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Distribució de places per tipus d'allotjament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792000"/>
          <a:ext cx="5220000" cy="403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508000" y="1007999"/>
            <a:ext cx="2592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4444"/>
                </a:solidFill>
              </a:rPr>
              <a:t>Total: 113.429 places reglades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Hotels: 47.036 (41,5%)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VUT: 38.463 (33,9%)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Càmpings: 21.348 (18,8%)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Cases rurals: 2.959 (2,6%)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Albergs: 3.623 (3,2%)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5C21E"/>
                </a:solidFill>
              </a:rPr>
              <a:t>03  OFERTA TURÍSTICA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6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043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007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Oferta hotelera diversificada i de qualitat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3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Els 565 hotels (47.036 places) cobreixen tot l'espectre, amb predomini de 3 i 4 estrelles. La comarca de València concentra el 50,6% de la planta hotelera.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619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83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Les VUT consoliden la seva posició com a segon tipus d'allotjament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799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Amb 7.949 habitatges (38.463 places), les VUT representen el 33,9% de l'oferta total. Oliva i Cullera lideren.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95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159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Oferta rural i natural en expansió a l'interior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375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Les 369 cases rurals i 48 càmpings (21.348 places) diversifiquen l'oferta cap a productes de natura, gastronomia i turisme actiu.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771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735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de places supera les 113.000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51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Sumant tots els tipus, la província compta amb 113.429 places reglades, posicionant-la com una de les principals destinacions turístiques d'Espanya.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/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00" y="827999"/>
            <a:ext cx="1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95C21E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728000"/>
            <a:ext cx="64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TREBALL
TURÍSTIC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5C21E"/>
                </a:solidFill>
              </a:rPr>
              <a:t>Màxim 93.966 afiliats (Q3)  ·  Restauració: 80.652 afiliats (juliol)  ·  Allotjament: 10.474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72000"/>
            <a:ext cx="118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04  TREBALL TURÍSTIC · Afiliats Seguretat Social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" y="720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93.966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Afiliats màxim Q3 (juliol)
++3.3% vs Q1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8000" y="720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8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80.652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8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Restauració Q3
85,8% del total turístic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720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2000" y="864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10.474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2000" y="1440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Allotjament Q3
pic estacional juliol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" y="1674000"/>
            <a:ext cx="2736000" cy="846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90.954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Afiliats Q4 (octubre)
base de tardor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8000" y="1674000"/>
            <a:ext cx="2736000" cy="846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8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79.769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8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Restauració Q4
estable respecte Q3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2000" y="1674000"/>
            <a:ext cx="2736000" cy="846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2000" y="1818000"/>
            <a:ext cx="2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2394000"/>
            <a:ext cx="27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Agències de viatge Q1
baixa estacionalitat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TREBALL TURÍSTIC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Evolució trimestral d'afiliats a la Seguretat Social per sector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restauració és el principal ocupador (82.822 afiliats en el pic). L'allotjament mostra l'estacionalitat més marcada: el pic de juliol (10.474) supera en un 26,0% el mínim de gener (8.314). Les agències de viatge presenten plantilla estable al voltant dels 2.826 afiliats.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TREBALL TURÍSTIC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Composició sectorial de l'afiliació turística per trimestre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 restauració domina l'estructura d'afiliació turística al llarg de l'any, representant el 86% del total en el pic de Q3 (80.652 afiliats). L'allotjament, amb el 11% en Q3, és el segment de major elasticitat estacional. Les agències de viatge (2.797–2.891) mantenen una composició estable i amb baixa variació estacional al voltant del 3,1% del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36000"/>
            <a:ext cx="107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TREBALL TURÍSTIC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03999"/>
            <a:ext cx="107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A2B6"/>
                </a:solidFill>
              </a:rPr>
              <a:t>Estacionalitat de l'ocupació — Índex trimestral (Q1 = 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40000" y="72000"/>
            <a:ext cx="468000" cy="468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0000" y="54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80000" y="827999"/>
          <a:ext cx="5580000" cy="388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68000" y="900000"/>
            <a:ext cx="216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L'allotjament presenta la major estacionalitat: passa de 100 a 126 al Q3 (oscil·lació del 26%). La restauració mostra un rang 100–104. Les agències de viatge, amb variació de 4 punts índex, mantenen l'ocupació més estable al llarg de l'any.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5C21E"/>
                </a:solidFill>
              </a:rPr>
              <a:t>04  TREBALL TURÍSTIC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68000"/>
            <a:ext cx="1147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043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007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Sector amb capacitat per a 90.000+ afiliats en temporada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3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El pic de Q3 assoleix 93.966 afiliats, amb un increment estacional del +3.3% respecte a Q1. L'allotjament és el sector de major variació.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619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83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 restauració, base estable de l'ocupació turística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799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Amb 82.822 afiliats al pic i 79.769 al mínim, la restauració representa el motor d'ocupació contínua del sector, amb baixa estacionalitat relativa.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95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159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Agències de viatge: estabilitat i especialització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375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Les 2.891 agències d'afiliats mostren el perfil laboral més estable, reflectint la naturalesa del sector: activitat distribuïda uniformement al llarg de l'any.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771999"/>
            <a:ext cx="162000" cy="162000"/>
          </a:xfrm>
          <a:prstGeom prst="rect">
            <a:avLst/>
          </a:prstGeom>
          <a:solidFill>
            <a:srgbClr val="95C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735999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Potencial de desestacionalització del treball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51999"/>
            <a:ext cx="112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La ràtio Q3/Q1 de 103.3% indica una estacionalitat moderada. Polítiques de desestacionalització podrien reforçar l'ocupació de qualitat.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14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CONCLUSIONS GENERALS I PERSPECTIVA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720000"/>
            <a:ext cx="144000" cy="144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84000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A2B6"/>
                </a:solidFill>
              </a:rPr>
              <a:t>01 · Rècord históric de turisme internacional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112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Amb 3.605.939 visitants estrangers (+13.6%), la província bat el seu màxim históric. França, Itàlia, Regne Unit, Països Baixos i Alemanya lideren. EUA (++32.8%) i Polònia (++24.2%) emergeixen com nous mercats.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78000"/>
            <a:ext cx="144000" cy="144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242000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A2B6"/>
                </a:solidFill>
              </a:rPr>
              <a:t>02 · Posicionament competitiu reforçat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458000"/>
            <a:ext cx="112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El 50,8% del turisme és ja internacional, amb estacionalitat reduïda a tardor i hivern. El diferencial nacional/internacional s'escurça.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836000"/>
            <a:ext cx="144000" cy="144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800000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A2B6"/>
                </a:solidFill>
              </a:rPr>
              <a:t>03 · Infraestructura turística sòlida: 113.000+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016000"/>
            <a:ext cx="112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Hotels (47k places), VUT (38k), càmpings (21k) i oferta rural (3k) garanteixen capacitat i diversificació. L'ocupació hotelera del 58.5% és competitiva.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394000"/>
            <a:ext cx="144000" cy="144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358000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A2B6"/>
                </a:solidFill>
              </a:rPr>
              <a:t>04 · Treball turístic: 90.000+ afiliats en temporada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574000"/>
            <a:ext cx="112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El sector genera ocupació estable i de qualitat al llarg de l'any. La restauració és el gran motor, l'allotjament el de major estacionalitat.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952000"/>
            <a:ext cx="144000" cy="144000"/>
          </a:xfrm>
          <a:prstGeom prst="rect">
            <a:avLst/>
          </a:prstGeom>
          <a:solidFill>
            <a:srgbClr val="04A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2916000"/>
            <a:ext cx="112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A2B6"/>
                </a:solidFill>
              </a:rPr>
              <a:t>05 · Perspectiva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132000"/>
            <a:ext cx="112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</a:rPr>
              <a:t>La tendència d'internacionalització, el creixement de les VUT i les oportunitats en mercats emergents (EUA, Polònia) marquen les prioritats. La clau serà consolidar la demanda de temporada baixa i mantenir la qualitat de l'oferta davant d'una competència global creixent.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72000"/>
            <a:ext cx="118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GLOSARI DE TERMES I FONTS DE 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75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Turisme receptor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972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Visitants no residents a Espanya que viatgen a la província des de l'estranger (INE – Enquesta de Moviments Turístics).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75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INE – Estadística Moviments Turístics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972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Estadística mensual de viajants i pernoctacions per CCAA i província. Font principal d'afluència, mercats i ocupació.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1242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Turisme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1458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Visitants residents a Espanya que viatgen dins del territori nacional cap a la província de València.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1242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GVA Turisme – Registre VIVTUR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458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Registre oficial d'allotjaments de la C. Valenciana: hotels, VUT, càmpings, cases rurals i albergs.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1728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Pernoctació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" y="1944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Cada nit que un viatger pernocta en un establiment d'allotjament turístic reglat (font: EOH–INE).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1728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Seguretat Social – Afiliats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1944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Nombre d'afiliats per sector d'activitat (allotjament, restauració, agències). Freqüència trimestral.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214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VUT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2430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Vivenda d'Ús Turístic: immoble cedit amb finalitats turístiques inscrit al Registre de Turisme de la C. Valenciana.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2214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Smart Office Diputació de València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0" y="2430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Plataforma d'intel·ligència turística provincial que integra totes les fonts per a l'anàlisi agregada.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" y="2700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Grau d'ocupació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000" y="2916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Percentatge de places o habitacions ocupades respecte al total disponible estimat (EOH–INE).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2700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Períodes analitzats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0" y="2916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ENE–DIC 2025. Comparatives respecte a ENE–DIC 2024. Oferta: dades registrals novembre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000" y="318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Estada mitjana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" y="3402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Nombre de nits de mitjana que un viatger pernocta a la destinació per visita.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318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42"/>
                </a:solidFill>
              </a:rPr>
              <a:t>Nota metodológica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0" y="3402000"/>
            <a:ext cx="39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Turisme receptor i intern: dades de moviments a nivell municipal agregades a nivell provincial i comarcal.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60000"/>
            <a:ext cx="12192000" cy="198000"/>
          </a:xfrm>
          <a:prstGeom prst="rect">
            <a:avLst/>
          </a:prstGeom>
          <a:solidFill>
            <a:srgbClr val="003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" y="6660000"/>
            <a:ext cx="1197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Font: INE, GVA Turisme, Seguretat Social · Smart Office Diputació de València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C17A48E-A992-45B2-387F-9D7784ECB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54073F4-BECA-4244-87C9-98ADE53C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929056" y="2377835"/>
            <a:ext cx="10260863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s-ES" sz="4000" dirty="0">
                <a:solidFill>
                  <a:schemeClr val="bg1"/>
                </a:solidFill>
                <a:latin typeface="DM Serif Display" pitchFamily="2" charset="0"/>
              </a:rPr>
              <a:t>Informe de análisis de datos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3713902" y="3165421"/>
            <a:ext cx="469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Montserrat Medium" pitchFamily="2" charset="77"/>
              </a:rPr>
              <a:t>SMART OFFICE DIPUTACIÓN DE VALÉNCIA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3B6F16C-54F4-3E42-8154-73204DB5AB81}"/>
              </a:ext>
            </a:extLst>
          </p:cNvPr>
          <p:cNvGrpSpPr/>
          <p:nvPr/>
        </p:nvGrpSpPr>
        <p:grpSpPr>
          <a:xfrm>
            <a:off x="4385750" y="5423925"/>
            <a:ext cx="3420501" cy="452108"/>
            <a:chOff x="371142" y="6122731"/>
            <a:chExt cx="1930011" cy="255101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7082C2F-9498-9E42-97DB-9683ECA4B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3E5386C9-F033-1F4D-AFF0-48148740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637</Words>
  <Application>Microsoft Office PowerPoint</Application>
  <PresentationFormat>Panorámica</PresentationFormat>
  <Paragraphs>42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DM Serif Display</vt:lpstr>
      <vt:lpstr>Calibri Light</vt:lpstr>
      <vt:lpstr>Montserrat SemiBold</vt:lpstr>
      <vt:lpstr>Aptos Display</vt:lpstr>
      <vt:lpstr>Arial</vt:lpstr>
      <vt:lpstr>Montserrat Medium</vt:lpstr>
      <vt:lpstr>Aptos</vt:lpstr>
      <vt:lpstr>Montserrat</vt:lpstr>
      <vt:lpstr>Calibri</vt:lpstr>
      <vt:lpstr>Tema de Office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Maite</dc:creator>
  <cp:lastModifiedBy>Pere Lloret</cp:lastModifiedBy>
  <cp:revision>11</cp:revision>
  <dcterms:created xsi:type="dcterms:W3CDTF">2025-09-15T10:04:52Z</dcterms:created>
  <dcterms:modified xsi:type="dcterms:W3CDTF">2026-02-26T19:34:29Z</dcterms:modified>
</cp:coreProperties>
</file>